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3"/>
  </p:notesMasterIdLst>
  <p:sldIdLst>
    <p:sldId id="274" r:id="rId2"/>
    <p:sldId id="257" r:id="rId3"/>
    <p:sldId id="258" r:id="rId4"/>
    <p:sldId id="259" r:id="rId5"/>
    <p:sldId id="275" r:id="rId6"/>
    <p:sldId id="260" r:id="rId7"/>
    <p:sldId id="276" r:id="rId8"/>
    <p:sldId id="277" r:id="rId9"/>
    <p:sldId id="278" r:id="rId10"/>
    <p:sldId id="263" r:id="rId11"/>
    <p:sldId id="264" r:id="rId12"/>
    <p:sldId id="279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186" autoAdjust="0"/>
  </p:normalViewPr>
  <p:slideViewPr>
    <p:cSldViewPr snapToGrid="0" snapToObjects="1">
      <p:cViewPr varScale="1">
        <p:scale>
          <a:sx n="99" d="100"/>
          <a:sy n="99" d="100"/>
        </p:scale>
        <p:origin x="1866" y="48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9739-EC9A-4B4E-BDB2-8AD5D172F8E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E9103-3E2A-46F8-ADDC-C07EBC7F4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7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25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0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14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05847-499F-4704-E9F3-3394CB082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F2682-6D1E-4A23-55B1-E6F777E6B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AA322-25BD-EC03-1411-FDA7ECE54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2AE94-212E-F252-2C60-FD55D90C1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73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35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43D2-ACF5-27B2-A5F3-85B32E07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CC333-9DE9-AF04-E21F-841681592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AE02D-7507-3165-179E-BC5C32A24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97C20-21F4-1C79-D7C7-22F1197CF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65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DB4D-59E6-FDF6-D1E1-33DA53E9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DD3F7-EAC9-617D-533F-108E0965A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A1B6F-8230-695F-1EFD-520EF9771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F72ED-69B8-7093-C4B5-A9E78C961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73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F559-B047-97E1-31E8-CDF9BC8FF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DAE25-8C2B-3028-5197-2EB40D567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32A12-3BC7-0EC2-64BF-2B928EC39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84C2B-3453-38F0-08D0-ECD40E8CE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78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48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53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80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43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7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4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81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49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3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473202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1191" y="1307842"/>
            <a:ext cx="9141714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50" b="1" dirty="0">
                <a:solidFill>
                  <a:srgbClr val="FFFFFF"/>
                </a:solidFill>
              </a:rPr>
              <a:t>Stack Navigation in Expo Router</a:t>
            </a:r>
            <a:endParaRPr sz="3750" b="1" dirty="0">
              <a:solidFill>
                <a:srgbClr val="FFFFFF"/>
              </a:solidFill>
            </a:endParaRP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13F6F202-F5E2-FAA5-5C18-6BB820DB8BA2}"/>
              </a:ext>
            </a:extLst>
          </p:cNvPr>
          <p:cNvSpPr txBox="1">
            <a:spLocks/>
          </p:cNvSpPr>
          <p:nvPr/>
        </p:nvSpPr>
        <p:spPr>
          <a:xfrm>
            <a:off x="202621" y="436466"/>
            <a:ext cx="5928567" cy="61525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/>
              <a:t>CPRG303 – Mobile Application Development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F02DABF-5EE0-6A33-D4A8-1CD72CBFF878}"/>
              </a:ext>
            </a:extLst>
          </p:cNvPr>
          <p:cNvSpPr txBox="1">
            <a:spLocks/>
          </p:cNvSpPr>
          <p:nvPr/>
        </p:nvSpPr>
        <p:spPr>
          <a:xfrm>
            <a:off x="1191" y="3130832"/>
            <a:ext cx="9141618" cy="124182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5EE739-42FC-EE6C-DE45-FC584BC65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" y="3039775"/>
            <a:ext cx="1223889" cy="166726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2D98DE45-D28E-5390-7E59-9AC0A7695EA7}"/>
              </a:ext>
            </a:extLst>
          </p:cNvPr>
          <p:cNvSpPr/>
          <p:nvPr/>
        </p:nvSpPr>
        <p:spPr>
          <a:xfrm>
            <a:off x="1192" y="4746562"/>
            <a:ext cx="9141713" cy="396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sz="13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88434-950C-C7DA-86CF-B1BF43238053}"/>
              </a:ext>
            </a:extLst>
          </p:cNvPr>
          <p:cNvSpPr txBox="1"/>
          <p:nvPr/>
        </p:nvSpPr>
        <p:spPr>
          <a:xfrm>
            <a:off x="202621" y="2210607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94A3B8"/>
                </a:solidFill>
              </a:rPr>
              <a:t>&lt;Stack&gt; · </a:t>
            </a:r>
            <a:r>
              <a:rPr lang="en-US" sz="2000" dirty="0" err="1">
                <a:solidFill>
                  <a:srgbClr val="94A3B8"/>
                </a:solidFill>
              </a:rPr>
              <a:t>router.push</a:t>
            </a:r>
            <a:r>
              <a:rPr lang="en-US" sz="2000" dirty="0">
                <a:solidFill>
                  <a:srgbClr val="94A3B8"/>
                </a:solidFill>
              </a:rPr>
              <a:t>() · headers · params · [id].</a:t>
            </a:r>
            <a:r>
              <a:rPr lang="en-US" sz="2000" dirty="0" err="1">
                <a:solidFill>
                  <a:srgbClr val="94A3B8"/>
                </a:solidFill>
              </a:rPr>
              <a:t>tsx</a:t>
            </a:r>
            <a:r>
              <a:rPr lang="en-US" sz="2000" dirty="0">
                <a:solidFill>
                  <a:srgbClr val="94A3B8"/>
                </a:solidFill>
              </a:rPr>
              <a:t> dynamic routes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9120"/>
            <a:ext cx="42835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bg1"/>
                </a:solidFill>
                <a:latin typeface="Calibri"/>
              </a:rPr>
              <a:t>Tab Navigation</a:t>
            </a:r>
            <a:r>
              <a:rPr lang="en-US" sz="3200" b="1" dirty="0">
                <a:solidFill>
                  <a:schemeClr val="bg1"/>
                </a:solidFill>
              </a:rPr>
              <a:t> — Recap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19984"/>
            <a:ext cx="61852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What you should already be comfortable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2148840" cy="120665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0303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/>
              <a:t>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27400"/>
            <a:ext cx="13576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(tabs)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64838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chemeClr val="bg1"/>
                </a:solidFill>
                <a:latin typeface="Calibri"/>
              </a:rPr>
              <a:t>Parentheses = group · hidden from 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097280"/>
            <a:ext cx="2011680" cy="119077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4328" y="10735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/>
              <a:t>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427400"/>
            <a:ext cx="17979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Two _layout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759319"/>
            <a:ext cx="22990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chemeClr val="bg1"/>
                </a:solidFill>
                <a:latin typeface="Calibri"/>
              </a:rPr>
              <a:t>Root Stack + Tabs shell inside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97280"/>
            <a:ext cx="2011680" cy="119077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0807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/>
              <a:t>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427400"/>
            <a:ext cx="15388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03865"/>
                </a:solidFill>
                <a:latin typeface="Calibri"/>
              </a:rPr>
              <a:t>&lt;Tabs.Screen&gt;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59319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chemeClr val="bg1"/>
                </a:solidFill>
                <a:latin typeface="Calibri"/>
              </a:rPr>
              <a:t>One per file · name + options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97280"/>
            <a:ext cx="2148840" cy="119077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22008" y="1059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/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384200"/>
            <a:ext cx="15581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screenOptions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22008" y="1759319"/>
            <a:ext cx="1856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chemeClr val="bg1"/>
                </a:solidFill>
                <a:latin typeface="Calibri"/>
              </a:rPr>
              <a:t>Shared theme — colors, badges, icons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6560" y="2738520"/>
            <a:ext cx="8595360" cy="201168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5160" y="2875680"/>
            <a:ext cx="66741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59E0B"/>
                </a:solidFill>
                <a:latin typeface="Calibri"/>
              </a:rPr>
              <a:t>Tabs gave us 4 SIBLING screens. Today we add DEPTH inside any tab.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160" y="3378600"/>
            <a:ext cx="8276040" cy="1300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600" dirty="0">
                <a:solidFill>
                  <a:srgbClr val="F1F5F9"/>
                </a:solidFill>
                <a:latin typeface="Calibri"/>
              </a:rPr>
              <a:t>Courses list  →  tap a row  →  Course detail  →  tap 'Edit'  →  Edit form  →  back  →  back  →  back.</a:t>
            </a:r>
          </a:p>
          <a:p>
            <a:pPr>
              <a:lnSpc>
                <a:spcPct val="125000"/>
              </a:lnSpc>
            </a:pPr>
            <a:endParaRPr sz="1600" dirty="0">
              <a:solidFill>
                <a:srgbClr val="F1F5F9"/>
              </a:solidFill>
              <a:latin typeface="Calibri"/>
            </a:endParaRPr>
          </a:p>
          <a:p>
            <a:pPr>
              <a:lnSpc>
                <a:spcPct val="125000"/>
              </a:lnSpc>
            </a:pPr>
            <a:r>
              <a:rPr sz="1600" dirty="0">
                <a:solidFill>
                  <a:srgbClr val="F1F5F9"/>
                </a:solidFill>
                <a:latin typeface="Calibri"/>
              </a:rPr>
              <a:t>Each step PUSHES a new screen on top. A back arrow appears automatically.</a:t>
            </a:r>
          </a:p>
          <a:p>
            <a:pPr>
              <a:lnSpc>
                <a:spcPct val="125000"/>
              </a:lnSpc>
            </a:pPr>
            <a:r>
              <a:rPr sz="1600" dirty="0">
                <a:solidFill>
                  <a:srgbClr val="F1F5F9"/>
                </a:solidFill>
                <a:latin typeface="Calibri"/>
              </a:rPr>
              <a:t>That's a STACK — Last In, First Out — and it's the most used navigator in mobile apps.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2 / 18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75B24A-5FF9-565F-3BDA-4BBC1A2A2839}"/>
              </a:ext>
            </a:extLst>
          </p:cNvPr>
          <p:cNvSpPr/>
          <p:nvPr/>
        </p:nvSpPr>
        <p:spPr>
          <a:xfrm flipV="1">
            <a:off x="365760" y="4900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54720"/>
            <a:ext cx="14706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6278" y="9601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0318"/>
            <a:ext cx="384048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Stack vs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324612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>
                <a:solidFill>
                  <a:schemeClr val="bg1"/>
                </a:solidFill>
                <a:latin typeface="Calibri"/>
              </a:rPr>
              <a:t>Mental model — LIFO and when each 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278" y="1952463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124" y="1781774"/>
            <a:ext cx="3875316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&lt;Stack&gt; in _</a:t>
            </a:r>
            <a:r>
              <a:rPr sz="2200" b="1" i="0" dirty="0" err="1">
                <a:solidFill>
                  <a:srgbClr val="003865"/>
                </a:solidFill>
                <a:latin typeface="Calibri"/>
              </a:rPr>
              <a:t>layout.tsx</a:t>
            </a:r>
            <a:endParaRPr sz="22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135343"/>
            <a:ext cx="342900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The default expo-router shell, revisited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278" y="2966578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17662"/>
            <a:ext cx="3666309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Navigating with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3888"/>
            <a:ext cx="3494316" cy="27699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>
                <a:solidFill>
                  <a:schemeClr val="bg1"/>
                </a:solidFill>
                <a:latin typeface="Calibri"/>
              </a:rPr>
              <a:t>push · replace · back · the difference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278" y="4089545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124" y="3929746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&lt;Link&gt; Component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72425"/>
            <a:ext cx="3246120" cy="27699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>
                <a:solidFill>
                  <a:schemeClr val="bg1"/>
                </a:solidFill>
                <a:latin typeface="Calibri"/>
              </a:rPr>
              <a:t>Declarative navigation right in JSX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0819" y="947493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899" y="776802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Header Customization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5179" y="1130372"/>
            <a:ext cx="411480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>
                <a:solidFill>
                  <a:schemeClr val="bg1"/>
                </a:solidFill>
                <a:latin typeface="Calibri"/>
              </a:rPr>
              <a:t>Title ·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headerRight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·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headerShown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· transparent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0819" y="1939836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899" y="1780036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Passing 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899" y="2122715"/>
            <a:ext cx="4069080" cy="27699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Static via URL · runtime via push()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0819" y="3008381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899" y="2805035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Dynamic Routes — [id].</a:t>
            </a:r>
            <a:r>
              <a:rPr sz="2200" b="1" i="0" dirty="0" err="1">
                <a:solidFill>
                  <a:srgbClr val="003865"/>
                </a:solidFill>
                <a:latin typeface="Calibri"/>
              </a:rPr>
              <a:t>tsx</a:t>
            </a:r>
            <a:endParaRPr sz="22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0899" y="3191260"/>
            <a:ext cx="4069080" cy="27699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 err="1">
                <a:solidFill>
                  <a:schemeClr val="bg1"/>
                </a:solidFill>
                <a:latin typeface="Calibri"/>
              </a:rPr>
              <a:t>useLocalSearchParams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() &amp; typed routes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0819" y="4076918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0899" y="3917119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Live Code + 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0899" y="4259797"/>
            <a:ext cx="406908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 err="1">
                <a:solidFill>
                  <a:schemeClr val="bg1"/>
                </a:solidFill>
                <a:latin typeface="Calibri"/>
              </a:rPr>
              <a:t>CampusHub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list → detail · then drink-tracker drill-down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3 / 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8C549B-C50D-099D-9883-806A57D68B6E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3828" y="-178309"/>
            <a:ext cx="9207828" cy="540345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1920"/>
            <a:ext cx="56133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Understanding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Stack Navigat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ion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514" y="1081869"/>
            <a:ext cx="599119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Last-In, First-Out — a deck of cards, on the screen</a:t>
            </a:r>
            <a:endParaRPr lang="en-US" sz="2400" dirty="0">
              <a:solidFill>
                <a:schemeClr val="bg1"/>
              </a:solidFill>
              <a:latin typeface="Calibri"/>
            </a:endParaRPr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Every time you navigate to a new screen, it's </a:t>
            </a:r>
            <a:r>
              <a:rPr lang="en-US" sz="2400" b="1" dirty="0">
                <a:solidFill>
                  <a:srgbClr val="0000CC"/>
                </a:solidFill>
              </a:rPr>
              <a:t>PUSHED</a:t>
            </a:r>
            <a:r>
              <a:rPr lang="en-US" sz="2400" dirty="0">
                <a:solidFill>
                  <a:schemeClr val="bg1"/>
                </a:solidFill>
              </a:rPr>
              <a:t> on top. The previous screen is hidden but still in memory. </a:t>
            </a:r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Tap back → the top screen is </a:t>
            </a:r>
            <a:r>
              <a:rPr lang="en-US" sz="2400" dirty="0">
                <a:solidFill>
                  <a:srgbClr val="0000CC"/>
                </a:solidFill>
              </a:rPr>
              <a:t>POPPED</a:t>
            </a:r>
            <a:r>
              <a:rPr lang="en-US" sz="2400" dirty="0">
                <a:solidFill>
                  <a:schemeClr val="bg1"/>
                </a:solidFill>
              </a:rPr>
              <a:t> off, and the one beneath becomes visible again.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B46EAEA-5BBF-5CD8-30EB-8E6D22EE8567}"/>
              </a:ext>
            </a:extLst>
          </p:cNvPr>
          <p:cNvGrpSpPr/>
          <p:nvPr/>
        </p:nvGrpSpPr>
        <p:grpSpPr>
          <a:xfrm>
            <a:off x="6266047" y="1598758"/>
            <a:ext cx="2517006" cy="2560819"/>
            <a:chOff x="6266047" y="1598758"/>
            <a:chExt cx="2517006" cy="2560819"/>
          </a:xfrm>
        </p:grpSpPr>
        <p:sp>
          <p:nvSpPr>
            <p:cNvPr id="7" name="Rectangle 6"/>
            <p:cNvSpPr/>
            <p:nvPr/>
          </p:nvSpPr>
          <p:spPr>
            <a:xfrm>
              <a:off x="6266047" y="1881788"/>
              <a:ext cx="2517006" cy="4572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Edit Form (top)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266047" y="2384708"/>
              <a:ext cx="2517006" cy="457200"/>
            </a:xfrm>
            <a:prstGeom prst="rect">
              <a:avLst/>
            </a:prstGeom>
            <a:solidFill>
              <a:srgbClr val="00386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Course Detail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266047" y="2887628"/>
              <a:ext cx="2517006" cy="4572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Course List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66047" y="3390548"/>
              <a:ext cx="2517006" cy="45720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(tabs) Home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66047" y="1598758"/>
              <a:ext cx="2517006" cy="276999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/>
              <a:r>
                <a:rPr b="1" dirty="0">
                  <a:solidFill>
                    <a:srgbClr val="FF0000"/>
                  </a:solidFill>
                  <a:latin typeface="Calibri"/>
                </a:rPr>
                <a:t>↑  Most recently pushed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66047" y="3882578"/>
              <a:ext cx="2517006" cy="276999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/>
              <a:r>
                <a:rPr b="1" dirty="0">
                  <a:solidFill>
                    <a:srgbClr val="FF0000"/>
                  </a:solidFill>
                  <a:latin typeface="Calibri"/>
                </a:rPr>
                <a:t>↓  Oldest screen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4 / 18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A178EA-1943-8D73-F8C2-63E27274D51A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52E62-2400-F3A1-A8F0-0D8EB060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4DA8EA-2AB2-B969-618C-4DD32598C3F5}"/>
              </a:ext>
            </a:extLst>
          </p:cNvPr>
          <p:cNvSpPr/>
          <p:nvPr/>
        </p:nvSpPr>
        <p:spPr>
          <a:xfrm>
            <a:off x="-63828" y="-178309"/>
            <a:ext cx="9207828" cy="540345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6CBEC-C55D-DFB7-8631-30C8BF3DF4E6}"/>
              </a:ext>
            </a:extLst>
          </p:cNvPr>
          <p:cNvSpPr txBox="1"/>
          <p:nvPr/>
        </p:nvSpPr>
        <p:spPr>
          <a:xfrm>
            <a:off x="365760" y="-61920"/>
            <a:ext cx="56133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Understanding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Stack Navigat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ion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387A5D-DECF-FEE3-5A67-14DDD8610FE6}"/>
              </a:ext>
            </a:extLst>
          </p:cNvPr>
          <p:cNvSpPr/>
          <p:nvPr/>
        </p:nvSpPr>
        <p:spPr>
          <a:xfrm>
            <a:off x="231006" y="682325"/>
            <a:ext cx="8778240" cy="144737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539F8-A3FD-0EA3-710A-3C380BA1636B}"/>
              </a:ext>
            </a:extLst>
          </p:cNvPr>
          <p:cNvSpPr txBox="1"/>
          <p:nvPr/>
        </p:nvSpPr>
        <p:spPr>
          <a:xfrm>
            <a:off x="365760" y="643825"/>
            <a:ext cx="248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📥  push()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374B9-45E3-1576-FA34-899763BEACDE}"/>
              </a:ext>
            </a:extLst>
          </p:cNvPr>
          <p:cNvSpPr txBox="1"/>
          <p:nvPr/>
        </p:nvSpPr>
        <p:spPr>
          <a:xfrm>
            <a:off x="411550" y="967586"/>
            <a:ext cx="8597696" cy="1162113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b="1" dirty="0" err="1">
                <a:solidFill>
                  <a:srgbClr val="FF0000"/>
                </a:solidFill>
                <a:latin typeface="Calibri"/>
              </a:rPr>
              <a:t>router.push</a:t>
            </a:r>
            <a:r>
              <a:rPr sz="1600" b="1" dirty="0">
                <a:solidFill>
                  <a:srgbClr val="FF0000"/>
                </a:solidFill>
                <a:latin typeface="Calibri"/>
              </a:rPr>
              <a:t>('/edit')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adds a new screen on TOP of the stack. Expo Router automatically shows a back arrow (‹) in the header — you don’t need to add one yourself.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334155"/>
                </a:solidFill>
                <a:latin typeface="Calibri"/>
              </a:rPr>
              <a:t>All previous screens stay alive in memory behind the new one, so when you go back they appear instantly with their state preserved.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C3C680-D1BA-3E47-741E-D237A80B9E7C}"/>
              </a:ext>
            </a:extLst>
          </p:cNvPr>
          <p:cNvSpPr/>
          <p:nvPr/>
        </p:nvSpPr>
        <p:spPr>
          <a:xfrm>
            <a:off x="231005" y="2291109"/>
            <a:ext cx="8778239" cy="14072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66436A-5D55-741B-AE24-A9F1713D3410}"/>
              </a:ext>
            </a:extLst>
          </p:cNvPr>
          <p:cNvSpPr txBox="1"/>
          <p:nvPr/>
        </p:nvSpPr>
        <p:spPr>
          <a:xfrm>
            <a:off x="411550" y="2244946"/>
            <a:ext cx="2409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📤  back()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FF898E-CCCB-1120-7D62-A5317C4642C2}"/>
              </a:ext>
            </a:extLst>
          </p:cNvPr>
          <p:cNvSpPr txBox="1"/>
          <p:nvPr/>
        </p:nvSpPr>
        <p:spPr>
          <a:xfrm>
            <a:off x="365761" y="2555488"/>
            <a:ext cx="8547234" cy="1162113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b="1" dirty="0" err="1">
                <a:solidFill>
                  <a:srgbClr val="FF0000"/>
                </a:solidFill>
                <a:latin typeface="Calibri"/>
              </a:rPr>
              <a:t>router.back</a:t>
            </a:r>
            <a:r>
              <a:rPr sz="1600" b="1" dirty="0">
                <a:solidFill>
                  <a:srgbClr val="FF0000"/>
                </a:solidFill>
                <a:latin typeface="Calibri"/>
              </a:rPr>
              <a:t>() </a:t>
            </a:r>
            <a:r>
              <a:rPr sz="1600" dirty="0">
                <a:solidFill>
                  <a:srgbClr val="334155"/>
                </a:solidFill>
                <a:latin typeface="Calibri"/>
              </a:rPr>
              <a:t>pops the top screen off the stack, revealing the one below it. This is exactly what happens when the user taps the ‹ arrow in the header or presses the Android hardware back button — they are identical actions.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334155"/>
                </a:solidFill>
                <a:latin typeface="Calibri"/>
              </a:rPr>
              <a:t>The previous screen reappears with its state fully intact — scroll position, typed text, everything.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583A66-6E74-0EF3-01F8-0567DAED0BA0}"/>
              </a:ext>
            </a:extLst>
          </p:cNvPr>
          <p:cNvSpPr/>
          <p:nvPr/>
        </p:nvSpPr>
        <p:spPr>
          <a:xfrm>
            <a:off x="231006" y="3919942"/>
            <a:ext cx="8778238" cy="1162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8888A3-E828-D5A6-35C5-8D1CE7E19677}"/>
              </a:ext>
            </a:extLst>
          </p:cNvPr>
          <p:cNvSpPr txBox="1"/>
          <p:nvPr/>
        </p:nvSpPr>
        <p:spPr>
          <a:xfrm>
            <a:off x="411550" y="3945885"/>
            <a:ext cx="2285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🔁  replace()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E8EEE1-21EE-6CC8-ABB3-BDC07934F319}"/>
              </a:ext>
            </a:extLst>
          </p:cNvPr>
          <p:cNvSpPr txBox="1"/>
          <p:nvPr/>
        </p:nvSpPr>
        <p:spPr>
          <a:xfrm>
            <a:off x="365761" y="4219934"/>
            <a:ext cx="8547234" cy="878959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b="1" dirty="0" err="1">
                <a:solidFill>
                  <a:srgbClr val="FF0000"/>
                </a:solidFill>
                <a:latin typeface="Calibri"/>
              </a:rPr>
              <a:t>router.replace</a:t>
            </a:r>
            <a:r>
              <a:rPr sz="1600" b="1" dirty="0">
                <a:solidFill>
                  <a:srgbClr val="FF0000"/>
                </a:solidFill>
                <a:latin typeface="Calibri"/>
              </a:rPr>
              <a:t>('/login') </a:t>
            </a:r>
            <a:r>
              <a:rPr sz="1600" dirty="0">
                <a:solidFill>
                  <a:srgbClr val="334155"/>
                </a:solidFill>
                <a:latin typeface="Calibri"/>
              </a:rPr>
              <a:t>swaps the current screen for a new one WITHOUT adding to the history. The user cannot tap back to return. Use this after a successful login — you don’t want the user hitting back and landing on the login screen again.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BC459D-312A-3845-4499-DA84B8F18DDB}"/>
              </a:ext>
            </a:extLst>
          </p:cNvPr>
          <p:cNvSpPr txBox="1"/>
          <p:nvPr/>
        </p:nvSpPr>
        <p:spPr>
          <a:xfrm>
            <a:off x="8585113" y="4873730"/>
            <a:ext cx="52610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Calibri"/>
              </a:rPr>
              <a:t>4 / 18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54FC41-56A8-C267-E587-A50D9587B6C2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1045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33120"/>
            <a:ext cx="46119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When to Use 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Stack vs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3879"/>
            <a:ext cx="66098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They solve different problems · they live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0" y="1097280"/>
            <a:ext cx="3108960" cy="384048"/>
          </a:xfrm>
          <a:prstGeom prst="rect">
            <a:avLst/>
          </a:prstGeom>
          <a:solidFill>
            <a:srgbClr val="00386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TAB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solidFill>
            <a:srgbClr val="00386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STACK Navigation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81328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 dirty="0">
                <a:solidFill>
                  <a:srgbClr val="003865"/>
                </a:solidFill>
                <a:latin typeface="Calibri"/>
              </a:rPr>
              <a:t>Relationship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481328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Sibling — equal importance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8132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Parent → Child — drill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39"/>
            <a:ext cx="2103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Persistence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920239"/>
            <a:ext cx="3108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Each tab keeps its own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920239"/>
            <a:ext cx="3200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Push/pop chain · pops lose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59151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Direction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359151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Side-by-side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359151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On top of each other (LIFO)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98063"/>
            <a:ext cx="2103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UI affordance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798063"/>
            <a:ext cx="3108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Bar at the bottom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798063"/>
            <a:ext cx="3200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Header at top with &lt; 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36975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Typical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236975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Home · Search · Profile · Cart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236975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List → Detail → 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75887"/>
            <a:ext cx="2103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Number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3675887"/>
            <a:ext cx="3108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3–5 destinations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675887"/>
            <a:ext cx="3200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1 → 5+ pushes per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14800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Example apps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114800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Instagram bottom bar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4114800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Settings · Files browser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26" y="4691349"/>
            <a:ext cx="9047747" cy="2926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b="1" dirty="0">
                <a:solidFill>
                  <a:srgbClr val="0F172A"/>
                </a:solidFill>
                <a:latin typeface="Calibri"/>
              </a:rPr>
              <a:t>Rule of thumb:  Tab for navigation between SECTIONS · Stack for navigation WITHIN a section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5 / 18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7EF564-5714-E6DB-54D3-904B4A31DCAA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2C55-2B40-AFE5-EA88-106E405E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19C7BB-0D36-461A-117B-B09761E03BEB}"/>
              </a:ext>
            </a:extLst>
          </p:cNvPr>
          <p:cNvSpPr/>
          <p:nvPr/>
        </p:nvSpPr>
        <p:spPr>
          <a:xfrm>
            <a:off x="0" y="-13716"/>
            <a:ext cx="932688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7DDCF-48BC-A0F6-B7A9-57AC57F65278}"/>
              </a:ext>
            </a:extLst>
          </p:cNvPr>
          <p:cNvSpPr txBox="1"/>
          <p:nvPr/>
        </p:nvSpPr>
        <p:spPr>
          <a:xfrm>
            <a:off x="365760" y="-76320"/>
            <a:ext cx="48110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&lt;Stack&gt; in _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 (1/2)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CFAA0-D4E3-7584-A61D-75C9F18B8774}"/>
              </a:ext>
            </a:extLst>
          </p:cNvPr>
          <p:cNvSpPr txBox="1"/>
          <p:nvPr/>
        </p:nvSpPr>
        <p:spPr>
          <a:xfrm>
            <a:off x="67376" y="516880"/>
            <a:ext cx="8758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The default Expo Router shell — every route file is auto-pushed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A4F9FB-D7C3-DC93-17C4-064839E9C0C4}"/>
              </a:ext>
            </a:extLst>
          </p:cNvPr>
          <p:cNvGrpSpPr/>
          <p:nvPr/>
        </p:nvGrpSpPr>
        <p:grpSpPr>
          <a:xfrm>
            <a:off x="67377" y="972154"/>
            <a:ext cx="5139624" cy="4085263"/>
            <a:chOff x="365760" y="972154"/>
            <a:chExt cx="5139624" cy="40852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54EE1C-E38B-EB46-1BD3-07D08B1B2843}"/>
                </a:ext>
              </a:extLst>
            </p:cNvPr>
            <p:cNvSpPr/>
            <p:nvPr/>
          </p:nvSpPr>
          <p:spPr>
            <a:xfrm>
              <a:off x="365760" y="972154"/>
              <a:ext cx="4793381" cy="4046220"/>
            </a:xfrm>
            <a:prstGeom prst="rect">
              <a:avLst/>
            </a:prstGeom>
            <a:solidFill>
              <a:srgbClr val="0F172A"/>
            </a:solidFill>
            <a:ln w="6350">
              <a:solidFill>
                <a:srgbClr val="3341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73067A-82CB-2ECC-C35C-55BDFE897435}"/>
                </a:ext>
              </a:extLst>
            </p:cNvPr>
            <p:cNvSpPr txBox="1"/>
            <p:nvPr/>
          </p:nvSpPr>
          <p:spPr>
            <a:xfrm>
              <a:off x="475488" y="1017874"/>
              <a:ext cx="137890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b="1" dirty="0">
                  <a:solidFill>
                    <a:srgbClr val="F59E0B"/>
                  </a:solidFill>
                  <a:latin typeface="Calibri"/>
                </a:rPr>
                <a:t>A typical root layout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AAE682-9929-7F42-77FE-69E36F16AB1F}"/>
                </a:ext>
              </a:extLst>
            </p:cNvPr>
            <p:cNvSpPr txBox="1"/>
            <p:nvPr/>
          </p:nvSpPr>
          <p:spPr>
            <a:xfrm>
              <a:off x="475487" y="1283050"/>
              <a:ext cx="5029897" cy="3774367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050" dirty="0">
                  <a:solidFill>
                    <a:srgbClr val="059669"/>
                  </a:solidFill>
                  <a:latin typeface="Consolas"/>
                </a:rPr>
                <a:t>// app/_</a:t>
              </a:r>
              <a:r>
                <a:rPr sz="1050" dirty="0" err="1">
                  <a:solidFill>
                    <a:srgbClr val="059669"/>
                  </a:solidFill>
                  <a:latin typeface="Consolas"/>
                </a:rPr>
                <a:t>layout.tsx</a:t>
              </a:r>
              <a:endParaRPr sz="1050" dirty="0">
                <a:solidFill>
                  <a:srgbClr val="059669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DBEAFE"/>
                  </a:solidFill>
                  <a:latin typeface="Consolas"/>
                </a:rPr>
                <a:t>import { Stack } from 'expo-router';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DBEAFE"/>
                  </a:solidFill>
                  <a:latin typeface="Consolas"/>
                </a:rPr>
                <a:t>import { </a:t>
              </a:r>
              <a:r>
                <a:rPr sz="900" dirty="0" err="1">
                  <a:solidFill>
                    <a:srgbClr val="DBEAFE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DBEAFE"/>
                  </a:solidFill>
                  <a:latin typeface="Consolas"/>
                </a:rPr>
                <a:t> } from 'react-native-safe-area-context';</a:t>
              </a:r>
            </a:p>
            <a:p>
              <a:pPr algn="l">
                <a:lnSpc>
                  <a:spcPct val="105000"/>
                </a:lnSpc>
              </a:pPr>
              <a:endParaRPr sz="900" dirty="0">
                <a:solidFill>
                  <a:srgbClr val="DBEAFE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export default function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RootLayout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() {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return (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&lt;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Stack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</a:t>
              </a:r>
              <a:r>
                <a:rPr sz="900" b="1" dirty="0" err="1">
                  <a:solidFill>
                    <a:srgbClr val="FFFF00"/>
                  </a:solidFill>
                  <a:latin typeface="Consolas"/>
                </a:rPr>
                <a:t>screenOptions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={{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'#003865'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headerTintColor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'#FFFFFF',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headerTitleStyle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fontWeight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'700'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contentStyle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'#F8FAFC'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}}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059669"/>
                  </a:solidFill>
                  <a:latin typeface="Consolas"/>
                </a:rPr>
                <a:t>        {/* Per-screen overrides */}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name="index"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options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={{ title: '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CampusHub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',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headerLargeTitle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true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name="course/[id]"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options={{ title: 'Course Detail', presentation: 'card'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name="login"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options={{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headerShown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false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&lt;/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Stack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&lt;/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);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722B97B-E594-1D76-5C0F-2E2B6B9E812B}"/>
              </a:ext>
            </a:extLst>
          </p:cNvPr>
          <p:cNvSpPr/>
          <p:nvPr/>
        </p:nvSpPr>
        <p:spPr>
          <a:xfrm>
            <a:off x="4985886" y="1044391"/>
            <a:ext cx="4235116" cy="179650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83DCD-94A1-403F-7432-93E7A208247F}"/>
              </a:ext>
            </a:extLst>
          </p:cNvPr>
          <p:cNvSpPr txBox="1"/>
          <p:nvPr/>
        </p:nvSpPr>
        <p:spPr>
          <a:xfrm>
            <a:off x="5030357" y="997425"/>
            <a:ext cx="252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Automatic Header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13B9D6-C367-39B9-E5B1-3E03EA7C272D}"/>
              </a:ext>
            </a:extLst>
          </p:cNvPr>
          <p:cNvSpPr txBox="1"/>
          <p:nvPr/>
        </p:nvSpPr>
        <p:spPr>
          <a:xfrm>
            <a:off x="5136234" y="1298453"/>
            <a:ext cx="3940390" cy="1585049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&lt;Stack&gt; automatically adds a header with the screen title. </a:t>
            </a:r>
          </a:p>
          <a:p>
            <a:pPr marL="171450" lvl="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By default, the title is the filename, but you can change it with options={{ title: 'My Title' }}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157F4-0CA7-D686-809D-181A65D4235D}"/>
              </a:ext>
            </a:extLst>
          </p:cNvPr>
          <p:cNvSpPr/>
          <p:nvPr/>
        </p:nvSpPr>
        <p:spPr>
          <a:xfrm>
            <a:off x="4985888" y="2963093"/>
            <a:ext cx="4235116" cy="20943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0E340E-F0B5-7260-B197-16F18D3D987A}"/>
              </a:ext>
            </a:extLst>
          </p:cNvPr>
          <p:cNvSpPr txBox="1"/>
          <p:nvPr/>
        </p:nvSpPr>
        <p:spPr>
          <a:xfrm>
            <a:off x="5136233" y="2940652"/>
            <a:ext cx="2199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Automatic 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951712-F3D4-4CDE-9B38-EA4FC4F51B52}"/>
              </a:ext>
            </a:extLst>
          </p:cNvPr>
          <p:cNvSpPr txBox="1"/>
          <p:nvPr/>
        </p:nvSpPr>
        <p:spPr>
          <a:xfrm>
            <a:off x="5138073" y="3250191"/>
            <a:ext cx="4082929" cy="1862048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A back button appears automatically when a second screen is added to the stack. 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Users can also swipe back on iOS or press Android’s back button—no extra code needed.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F31AC5-4C81-2593-CEF0-30C45B2FA7AA}"/>
              </a:ext>
            </a:extLst>
          </p:cNvPr>
          <p:cNvSpPr/>
          <p:nvPr/>
        </p:nvSpPr>
        <p:spPr>
          <a:xfrm>
            <a:off x="433135" y="458711"/>
            <a:ext cx="4597222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E12FA5-6FF0-1D98-3E48-0B6F337AE1BF}"/>
              </a:ext>
            </a:extLst>
          </p:cNvPr>
          <p:cNvSpPr txBox="1"/>
          <p:nvPr/>
        </p:nvSpPr>
        <p:spPr>
          <a:xfrm>
            <a:off x="8532798" y="4965192"/>
            <a:ext cx="42832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800" b="1" dirty="0">
                <a:solidFill>
                  <a:srgbClr val="F59E0B"/>
                </a:solidFill>
                <a:latin typeface="Calibri"/>
              </a:rPr>
              <a:t>6 </a:t>
            </a:r>
            <a:r>
              <a:rPr sz="800" b="1" dirty="0">
                <a:solidFill>
                  <a:srgbClr val="F59E0B"/>
                </a:solidFill>
                <a:latin typeface="Calibri"/>
              </a:rPr>
              <a:t>/ 18</a:t>
            </a:r>
          </a:p>
        </p:txBody>
      </p:sp>
    </p:spTree>
    <p:extLst>
      <p:ext uri="{BB962C8B-B14F-4D97-AF65-F5344CB8AC3E}">
        <p14:creationId xmlns:p14="http://schemas.microsoft.com/office/powerpoint/2010/main" val="364411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1D84-E60E-3A89-945A-53445CD8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C8CA10-E56A-C1EB-5019-A7F1D083368D}"/>
              </a:ext>
            </a:extLst>
          </p:cNvPr>
          <p:cNvSpPr/>
          <p:nvPr/>
        </p:nvSpPr>
        <p:spPr>
          <a:xfrm>
            <a:off x="0" y="-13716"/>
            <a:ext cx="932688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7819B-2D4E-61A9-6015-5DB4AC2869DB}"/>
              </a:ext>
            </a:extLst>
          </p:cNvPr>
          <p:cNvSpPr txBox="1"/>
          <p:nvPr/>
        </p:nvSpPr>
        <p:spPr>
          <a:xfrm>
            <a:off x="365760" y="-76320"/>
            <a:ext cx="48110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&lt;Stack&gt; in _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 (2/2)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78B26D8-D252-041F-7C6D-D99F9F4BE9B3}"/>
              </a:ext>
            </a:extLst>
          </p:cNvPr>
          <p:cNvGrpSpPr/>
          <p:nvPr/>
        </p:nvGrpSpPr>
        <p:grpSpPr>
          <a:xfrm>
            <a:off x="67377" y="789273"/>
            <a:ext cx="5139624" cy="4085263"/>
            <a:chOff x="365760" y="972154"/>
            <a:chExt cx="5139624" cy="40852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FC2B72-5FED-CF43-A8FA-4E91E7D2D5E5}"/>
                </a:ext>
              </a:extLst>
            </p:cNvPr>
            <p:cNvSpPr/>
            <p:nvPr/>
          </p:nvSpPr>
          <p:spPr>
            <a:xfrm>
              <a:off x="365760" y="972154"/>
              <a:ext cx="4793381" cy="4046220"/>
            </a:xfrm>
            <a:prstGeom prst="rect">
              <a:avLst/>
            </a:prstGeom>
            <a:solidFill>
              <a:srgbClr val="0F172A"/>
            </a:solidFill>
            <a:ln w="6350">
              <a:solidFill>
                <a:srgbClr val="3341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3F7854-D8F9-6382-29D1-FA7C4456931A}"/>
                </a:ext>
              </a:extLst>
            </p:cNvPr>
            <p:cNvSpPr txBox="1"/>
            <p:nvPr/>
          </p:nvSpPr>
          <p:spPr>
            <a:xfrm>
              <a:off x="475488" y="1017874"/>
              <a:ext cx="137890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b="1" dirty="0">
                  <a:solidFill>
                    <a:srgbClr val="F59E0B"/>
                  </a:solidFill>
                  <a:latin typeface="Calibri"/>
                </a:rPr>
                <a:t>A typical root layout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80E209-0928-64BB-74B4-983451E4FB0B}"/>
                </a:ext>
              </a:extLst>
            </p:cNvPr>
            <p:cNvSpPr txBox="1"/>
            <p:nvPr/>
          </p:nvSpPr>
          <p:spPr>
            <a:xfrm>
              <a:off x="475487" y="1283050"/>
              <a:ext cx="5029897" cy="3774367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050" dirty="0">
                  <a:solidFill>
                    <a:srgbClr val="059669"/>
                  </a:solidFill>
                  <a:latin typeface="Consolas"/>
                </a:rPr>
                <a:t>// app/_</a:t>
              </a:r>
              <a:r>
                <a:rPr sz="1050" dirty="0" err="1">
                  <a:solidFill>
                    <a:srgbClr val="059669"/>
                  </a:solidFill>
                  <a:latin typeface="Consolas"/>
                </a:rPr>
                <a:t>layout.tsx</a:t>
              </a:r>
              <a:endParaRPr sz="1050" dirty="0">
                <a:solidFill>
                  <a:srgbClr val="059669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DBEAFE"/>
                  </a:solidFill>
                  <a:latin typeface="Consolas"/>
                </a:rPr>
                <a:t>import { Stack } from 'expo-router';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DBEAFE"/>
                  </a:solidFill>
                  <a:latin typeface="Consolas"/>
                </a:rPr>
                <a:t>import { </a:t>
              </a:r>
              <a:r>
                <a:rPr sz="900" dirty="0" err="1">
                  <a:solidFill>
                    <a:srgbClr val="DBEAFE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DBEAFE"/>
                  </a:solidFill>
                  <a:latin typeface="Consolas"/>
                </a:rPr>
                <a:t> } from 'react-native-safe-area-context';</a:t>
              </a:r>
            </a:p>
            <a:p>
              <a:pPr algn="l">
                <a:lnSpc>
                  <a:spcPct val="105000"/>
                </a:lnSpc>
              </a:pPr>
              <a:endParaRPr sz="900" dirty="0">
                <a:solidFill>
                  <a:srgbClr val="DBEAFE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export default function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RootLayout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() {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return (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&lt;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Stack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</a:t>
              </a:r>
              <a:r>
                <a:rPr sz="900" b="1" dirty="0" err="1">
                  <a:solidFill>
                    <a:srgbClr val="FFFF00"/>
                  </a:solidFill>
                  <a:latin typeface="Consolas"/>
                </a:rPr>
                <a:t>screenOptions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={{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'#003865'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headerTintColor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'#FFFFFF',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headerTitleStyle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fontWeight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'700'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contentStyle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'#F8FAFC'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}}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059669"/>
                  </a:solidFill>
                  <a:latin typeface="Consolas"/>
                </a:rPr>
                <a:t>        {/* Per-screen overrides */}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name="index"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>
                  <a:solidFill>
                    <a:srgbClr val="FFFF00"/>
                  </a:solidFill>
                  <a:latin typeface="Consolas"/>
                </a:rPr>
                <a:t>options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={{ title: '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CampusHub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',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headerLargeTitle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true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name="course/[id]"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options={{ title: 'Course Detail', presentation: 'card'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name="login"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options={{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headerShown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false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&lt;/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Stack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&lt;/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);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352302D-81D1-024B-660E-58111E245EE8}"/>
              </a:ext>
            </a:extLst>
          </p:cNvPr>
          <p:cNvSpPr/>
          <p:nvPr/>
        </p:nvSpPr>
        <p:spPr>
          <a:xfrm>
            <a:off x="433135" y="458711"/>
            <a:ext cx="4597222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9D4420-B512-933F-50D7-5C3BE5937322}"/>
              </a:ext>
            </a:extLst>
          </p:cNvPr>
          <p:cNvSpPr txBox="1"/>
          <p:nvPr/>
        </p:nvSpPr>
        <p:spPr>
          <a:xfrm>
            <a:off x="8540303" y="3178231"/>
            <a:ext cx="42832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800" b="1" dirty="0">
                <a:solidFill>
                  <a:srgbClr val="F59E0B"/>
                </a:solidFill>
                <a:latin typeface="Calibri"/>
              </a:rPr>
              <a:t>7 </a:t>
            </a:r>
            <a:r>
              <a:rPr sz="800" b="1" dirty="0">
                <a:solidFill>
                  <a:srgbClr val="F59E0B"/>
                </a:solidFill>
                <a:latin typeface="Calibri"/>
              </a:rPr>
              <a:t>/ 18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2C99F2-E523-1566-39C1-195C59C95403}"/>
              </a:ext>
            </a:extLst>
          </p:cNvPr>
          <p:cNvSpPr/>
          <p:nvPr/>
        </p:nvSpPr>
        <p:spPr>
          <a:xfrm>
            <a:off x="5037862" y="1393284"/>
            <a:ext cx="4190645" cy="243239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320D47-B32B-42D8-9BB7-4A8CB805E4EF}"/>
              </a:ext>
            </a:extLst>
          </p:cNvPr>
          <p:cNvSpPr txBox="1"/>
          <p:nvPr/>
        </p:nvSpPr>
        <p:spPr>
          <a:xfrm>
            <a:off x="5143739" y="1326260"/>
            <a:ext cx="2846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screenOptions</a:t>
            </a:r>
            <a:r>
              <a:rPr b="1" dirty="0">
                <a:solidFill>
                  <a:srgbClr val="003865"/>
                </a:solidFill>
                <a:latin typeface="Calibri"/>
              </a:rPr>
              <a:t> vs options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650FD1-3C13-7C6D-85AA-CFEFEBD8C383}"/>
              </a:ext>
            </a:extLst>
          </p:cNvPr>
          <p:cNvSpPr txBox="1"/>
          <p:nvPr/>
        </p:nvSpPr>
        <p:spPr>
          <a:xfrm>
            <a:off x="5143739" y="1686631"/>
            <a:ext cx="3940390" cy="2139047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alibri"/>
              </a:rPr>
              <a:t>screenOptions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 applies to all screens, while options customizes one screen and overrides the global settings. 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Expo Router automatically registers screens, and </a:t>
            </a:r>
            <a:r>
              <a:rPr lang="en-US" dirty="0" err="1">
                <a:solidFill>
                  <a:schemeClr val="bg1"/>
                </a:solidFill>
                <a:latin typeface="Calibri"/>
              </a:rPr>
              <a:t>SafeAreaProvider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 keeps content clear of the phone’s notch and system bars.</a:t>
            </a:r>
          </a:p>
        </p:txBody>
      </p:sp>
    </p:spTree>
    <p:extLst>
      <p:ext uri="{BB962C8B-B14F-4D97-AF65-F5344CB8AC3E}">
        <p14:creationId xmlns:p14="http://schemas.microsoft.com/office/powerpoint/2010/main" val="4038095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A9465-15D8-90C9-6E8C-8114810D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FCE11A-56F9-476C-9D28-91A7EB62400D}"/>
              </a:ext>
            </a:extLst>
          </p:cNvPr>
          <p:cNvSpPr/>
          <p:nvPr/>
        </p:nvSpPr>
        <p:spPr>
          <a:xfrm>
            <a:off x="0" y="-360353"/>
            <a:ext cx="9144000" cy="559649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E98BE-44ED-C597-D84B-644DEF2F8271}"/>
              </a:ext>
            </a:extLst>
          </p:cNvPr>
          <p:cNvSpPr txBox="1"/>
          <p:nvPr/>
        </p:nvSpPr>
        <p:spPr>
          <a:xfrm>
            <a:off x="365760" y="-97920"/>
            <a:ext cx="642496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Navigating from Code —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useRouter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06BC2-58B9-F4AE-B305-4CE4BE7CE878}"/>
              </a:ext>
            </a:extLst>
          </p:cNvPr>
          <p:cNvSpPr txBox="1"/>
          <p:nvPr/>
        </p:nvSpPr>
        <p:spPr>
          <a:xfrm>
            <a:off x="269508" y="584254"/>
            <a:ext cx="4809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bg1"/>
                </a:solidFill>
                <a:latin typeface="Calibri"/>
              </a:rPr>
              <a:t>push · back · replace — pick the right 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738207-E808-B927-7074-150F4EC1FB05}"/>
              </a:ext>
            </a:extLst>
          </p:cNvPr>
          <p:cNvSpPr/>
          <p:nvPr/>
        </p:nvSpPr>
        <p:spPr>
          <a:xfrm>
            <a:off x="115502" y="981778"/>
            <a:ext cx="4061861" cy="4210263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60CB75-BF24-E628-0C73-887D523C9CAD}"/>
              </a:ext>
            </a:extLst>
          </p:cNvPr>
          <p:cNvSpPr txBox="1"/>
          <p:nvPr/>
        </p:nvSpPr>
        <p:spPr>
          <a:xfrm>
            <a:off x="225230" y="950499"/>
            <a:ext cx="11980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 err="1">
                <a:solidFill>
                  <a:srgbClr val="F59E0B"/>
                </a:solidFill>
                <a:latin typeface="Calibri"/>
              </a:rPr>
              <a:t>useRouter</a:t>
            </a:r>
            <a:r>
              <a:rPr sz="1200" b="1" dirty="0">
                <a:solidFill>
                  <a:srgbClr val="F59E0B"/>
                </a:solidFill>
                <a:latin typeface="Calibri"/>
              </a:rPr>
              <a:t> hook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37DD2-BA2F-7F62-894A-67270CD4994E}"/>
              </a:ext>
            </a:extLst>
          </p:cNvPr>
          <p:cNvSpPr txBox="1"/>
          <p:nvPr/>
        </p:nvSpPr>
        <p:spPr>
          <a:xfrm>
            <a:off x="379235" y="1244550"/>
            <a:ext cx="4809744" cy="3947491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DBEAFE"/>
                </a:solidFill>
                <a:latin typeface="Consolas"/>
              </a:rPr>
              <a:t>import</a:t>
            </a:r>
            <a:r>
              <a:rPr sz="1000" dirty="0">
                <a:solidFill>
                  <a:srgbClr val="DBEAFE"/>
                </a:solidFill>
                <a:latin typeface="Consolas"/>
              </a:rPr>
              <a:t> { </a:t>
            </a:r>
            <a:r>
              <a:rPr sz="1000" dirty="0" err="1">
                <a:solidFill>
                  <a:srgbClr val="DBEAFE"/>
                </a:solidFill>
                <a:latin typeface="Consolas"/>
              </a:rPr>
              <a:t>useRouter</a:t>
            </a:r>
            <a:r>
              <a:rPr sz="1000" dirty="0">
                <a:solidFill>
                  <a:srgbClr val="DBEAFE"/>
                </a:solidFill>
                <a:latin typeface="Consolas"/>
              </a:rPr>
              <a:t> } from 'expo-router';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DBEAFE"/>
                </a:solidFill>
                <a:latin typeface="Consolas"/>
              </a:rPr>
              <a:t>import { Pressable, Text, View } from 'react-native';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export default function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HomeScreen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() {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</a:t>
            </a:r>
            <a:r>
              <a:rPr sz="1000" b="1" dirty="0">
                <a:solidFill>
                  <a:srgbClr val="FFFF00"/>
                </a:solidFill>
                <a:latin typeface="Consolas"/>
              </a:rPr>
              <a:t>const router = </a:t>
            </a:r>
            <a:r>
              <a:rPr sz="1000" b="1" dirty="0" err="1">
                <a:solidFill>
                  <a:srgbClr val="FFFF00"/>
                </a:solidFill>
                <a:latin typeface="Consolas"/>
              </a:rPr>
              <a:t>useRouter</a:t>
            </a:r>
            <a:r>
              <a:rPr sz="1000" b="1" dirty="0">
                <a:solidFill>
                  <a:srgbClr val="FFFF00"/>
                </a:solidFill>
                <a:latin typeface="Consolas"/>
              </a:rPr>
              <a:t>();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&lt;View&gt;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&lt;Pressable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59E0B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onPress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={() =&gt;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router.push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('/about')}&gt;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  &lt;Text&gt;Go to About&lt;/Text&gt;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&lt;/Pressable&gt;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&lt;Pressable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59E0B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onPress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={() =&gt;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router.replace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('/login')}&gt;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  &lt;Text&gt;Sign out (replace)&lt;/Text&gt;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&lt;/Pressable&gt;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&lt;Pressable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59E0B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onPress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={() =&gt;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router.back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()}&gt;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  &lt;Text&gt;← Go back&lt;/Text&gt;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&lt;/Pressable&gt;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&lt;/View&gt;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BCC46D-1091-AF74-9C75-C0A549030A73}"/>
              </a:ext>
            </a:extLst>
          </p:cNvPr>
          <p:cNvSpPr/>
          <p:nvPr/>
        </p:nvSpPr>
        <p:spPr>
          <a:xfrm>
            <a:off x="4287091" y="996807"/>
            <a:ext cx="4779907" cy="80330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C8F0E-3102-96F4-E6F4-24D1FF3B6A3B}"/>
              </a:ext>
            </a:extLst>
          </p:cNvPr>
          <p:cNvSpPr txBox="1"/>
          <p:nvPr/>
        </p:nvSpPr>
        <p:spPr>
          <a:xfrm>
            <a:off x="4346944" y="985868"/>
            <a:ext cx="29182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03865"/>
                </a:solidFill>
                <a:latin typeface="Calibri"/>
              </a:rPr>
              <a:t>router.push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href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6F27E4-5925-B769-DE45-26025961FA9D}"/>
              </a:ext>
            </a:extLst>
          </p:cNvPr>
          <p:cNvSpPr txBox="1"/>
          <p:nvPr/>
        </p:nvSpPr>
        <p:spPr>
          <a:xfrm>
            <a:off x="4287091" y="1343436"/>
            <a:ext cx="4779907" cy="415498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Adds a new screen on top</a:t>
            </a:r>
            <a:r>
              <a:rPr lang="en-US" sz="1200" dirty="0">
                <a:solidFill>
                  <a:schemeClr val="bg1"/>
                </a:solidFill>
              </a:rPr>
              <a:t> while keeping the previous screen in memory.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Provides a back button automatically</a:t>
            </a:r>
            <a:r>
              <a:rPr lang="en-US" sz="1200" dirty="0">
                <a:solidFill>
                  <a:schemeClr val="bg1"/>
                </a:solidFill>
              </a:rPr>
              <a:t> for normal forward navigation.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7FF6ED-59D2-0BB6-1B60-24A97A6D3AD7}"/>
              </a:ext>
            </a:extLst>
          </p:cNvPr>
          <p:cNvSpPr/>
          <p:nvPr/>
        </p:nvSpPr>
        <p:spPr>
          <a:xfrm>
            <a:off x="4287091" y="1997837"/>
            <a:ext cx="4779907" cy="9293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85456-E4EF-674E-FFAF-3DCC4A48F2C6}"/>
              </a:ext>
            </a:extLst>
          </p:cNvPr>
          <p:cNvSpPr txBox="1"/>
          <p:nvPr/>
        </p:nvSpPr>
        <p:spPr>
          <a:xfrm>
            <a:off x="4346944" y="1974018"/>
            <a:ext cx="3111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03865"/>
                </a:solidFill>
                <a:latin typeface="Calibri"/>
              </a:rPr>
              <a:t>router.replace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href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A87C6-026E-3492-59CD-5B089B15CAE0}"/>
              </a:ext>
            </a:extLst>
          </p:cNvPr>
          <p:cNvSpPr txBox="1"/>
          <p:nvPr/>
        </p:nvSpPr>
        <p:spPr>
          <a:xfrm>
            <a:off x="4346944" y="2319008"/>
            <a:ext cx="4670179" cy="60016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Replaces the current screen</a:t>
            </a:r>
            <a:r>
              <a:rPr lang="en-US" sz="1200" dirty="0">
                <a:solidFill>
                  <a:schemeClr val="bg1"/>
                </a:solidFill>
              </a:rPr>
              <a:t> without adding it to the history stack.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Back navigation cannot return to the replaced screen</a:t>
            </a:r>
            <a:r>
              <a:rPr lang="en-US" sz="1200" dirty="0">
                <a:solidFill>
                  <a:schemeClr val="bg1"/>
                </a:solidFill>
              </a:rPr>
              <a:t>, making it useful after login.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6FDBC0-4315-4EE2-D6E6-4C3E30D23D12}"/>
              </a:ext>
            </a:extLst>
          </p:cNvPr>
          <p:cNvSpPr/>
          <p:nvPr/>
        </p:nvSpPr>
        <p:spPr>
          <a:xfrm>
            <a:off x="4287091" y="3123992"/>
            <a:ext cx="4779907" cy="84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DE429-6FBF-88AB-13CC-A445E4A42DC6}"/>
              </a:ext>
            </a:extLst>
          </p:cNvPr>
          <p:cNvSpPr txBox="1"/>
          <p:nvPr/>
        </p:nvSpPr>
        <p:spPr>
          <a:xfrm>
            <a:off x="4346944" y="3091909"/>
            <a:ext cx="45394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03865"/>
                </a:solidFill>
                <a:latin typeface="Calibri"/>
              </a:rPr>
              <a:t>router.back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6C7BF-9603-1625-EC63-380588B1CEE4}"/>
              </a:ext>
            </a:extLst>
          </p:cNvPr>
          <p:cNvSpPr txBox="1"/>
          <p:nvPr/>
        </p:nvSpPr>
        <p:spPr>
          <a:xfrm>
            <a:off x="4346944" y="3391437"/>
            <a:ext cx="4670179" cy="60016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Goes back one screen</a:t>
            </a:r>
            <a:r>
              <a:rPr lang="en-US" sz="1200" dirty="0">
                <a:solidFill>
                  <a:schemeClr val="bg1"/>
                </a:solidFill>
              </a:rPr>
              <a:t> by removing the current screen from the stack.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Useful for buttons like “Cancel”</a:t>
            </a:r>
            <a:r>
              <a:rPr lang="en-US" sz="1200" dirty="0">
                <a:solidFill>
                  <a:schemeClr val="bg1"/>
                </a:solidFill>
              </a:rPr>
              <a:t> that need to dismiss the current screen.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0AEAA0-E818-4575-B77E-FE644CD43EC1}"/>
              </a:ext>
            </a:extLst>
          </p:cNvPr>
          <p:cNvSpPr/>
          <p:nvPr/>
        </p:nvSpPr>
        <p:spPr>
          <a:xfrm>
            <a:off x="4287091" y="4185176"/>
            <a:ext cx="4779907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5AF04F-07A8-FAD1-10EC-C6AACC07C6A9}"/>
              </a:ext>
            </a:extLst>
          </p:cNvPr>
          <p:cNvSpPr txBox="1"/>
          <p:nvPr/>
        </p:nvSpPr>
        <p:spPr>
          <a:xfrm>
            <a:off x="4346944" y="4175552"/>
            <a:ext cx="3010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03865"/>
                </a:solidFill>
                <a:latin typeface="Calibri"/>
              </a:rPr>
              <a:t>router.dismissAll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0AA5A6-FC99-B827-1EB1-869FDE8D6883}"/>
              </a:ext>
            </a:extLst>
          </p:cNvPr>
          <p:cNvSpPr txBox="1"/>
          <p:nvPr/>
        </p:nvSpPr>
        <p:spPr>
          <a:xfrm>
            <a:off x="4346944" y="4532820"/>
            <a:ext cx="4779907" cy="415498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Clears all screens</a:t>
            </a:r>
            <a:r>
              <a:rPr lang="en-US" sz="1200" dirty="0">
                <a:solidFill>
                  <a:schemeClr val="bg1"/>
                </a:solidFill>
              </a:rPr>
              <a:t> and returns to the first (root) screen.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Useful for returning home quickly</a:t>
            </a:r>
            <a:r>
              <a:rPr lang="en-US" sz="1200" dirty="0">
                <a:solidFill>
                  <a:schemeClr val="bg1"/>
                </a:solidFill>
              </a:rPr>
              <a:t> after a multi-step process.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922C1F-7051-7E66-9E2D-5C1DB8685215}"/>
              </a:ext>
            </a:extLst>
          </p:cNvPr>
          <p:cNvSpPr txBox="1"/>
          <p:nvPr/>
        </p:nvSpPr>
        <p:spPr>
          <a:xfrm>
            <a:off x="8561652" y="5128822"/>
            <a:ext cx="39946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 dirty="0">
                <a:solidFill>
                  <a:srgbClr val="F59E0B"/>
                </a:solidFill>
                <a:latin typeface="Calibri"/>
              </a:rPr>
              <a:t>7 / 18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C5B598-911B-2716-8018-6DCEA108CD4E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06673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05120"/>
            <a:ext cx="56834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Declarative Navigation — &lt;Link&gt;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77" y="555380"/>
            <a:ext cx="877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When you just want a tappable link, skip the router and use &lt;Link&gt;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379" y="1097280"/>
            <a:ext cx="4350619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4107" y="1143000"/>
            <a:ext cx="161133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F59E0B"/>
                </a:solidFill>
                <a:latin typeface="Calibri"/>
              </a:rPr>
              <a:t>&lt;Link&gt; from expo-router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107" y="1408176"/>
            <a:ext cx="4809744" cy="33689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DBEAFE"/>
                </a:solidFill>
                <a:latin typeface="Consolas"/>
              </a:rPr>
              <a:t>import { Link } from 'expo-router';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DBEAFE"/>
                </a:solidFill>
                <a:latin typeface="Consolas"/>
              </a:rPr>
              <a:t>import { Text, View } from 'react-native';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Simplest form — just like an &lt;a </a:t>
            </a:r>
            <a:r>
              <a:rPr sz="1100" dirty="0" err="1">
                <a:solidFill>
                  <a:srgbClr val="059669"/>
                </a:solidFill>
                <a:latin typeface="Consolas"/>
              </a:rPr>
              <a:t>href</a:t>
            </a:r>
            <a:r>
              <a:rPr sz="1100" dirty="0">
                <a:solidFill>
                  <a:srgbClr val="059669"/>
                </a:solidFill>
                <a:latin typeface="Consolas"/>
              </a:rPr>
              <a:t>&gt; on the web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="/about"&gt;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&lt;Text style={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s.link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}&gt;About this app&lt;/Text&gt;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&lt;/Link&gt;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With styling — pass any view as a child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="/course/cprg303"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asChild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&lt;Pressable style={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s.btn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}&gt;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&lt;Text style={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s.btnText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}&gt;View CPRG-303&lt;/Text&gt;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&lt;/Pressable&gt;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&lt;/Link&gt;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Replace instead of push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="/login" replace&gt;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&lt;Text&gt;Sign out&lt;/Text&gt;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&lt;/Link&gt;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9004" y="1097280"/>
            <a:ext cx="431211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9004" y="1083807"/>
            <a:ext cx="38033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Why &lt;Link&gt; over </a:t>
            </a:r>
            <a:r>
              <a:rPr sz="1600" b="1" dirty="0" err="1">
                <a:solidFill>
                  <a:srgbClr val="003865"/>
                </a:solidFill>
                <a:latin typeface="Calibri"/>
              </a:rPr>
              <a:t>router.push</a:t>
            </a:r>
            <a:r>
              <a:rPr sz="1600" b="1" dirty="0">
                <a:solidFill>
                  <a:srgbClr val="003865"/>
                </a:solidFill>
                <a:latin typeface="Calibr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9004" y="1431278"/>
            <a:ext cx="4350617" cy="90794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Cleaner code</a:t>
            </a:r>
            <a:r>
              <a:rPr lang="en-US" sz="1400" dirty="0">
                <a:solidFill>
                  <a:schemeClr val="bg1"/>
                </a:solidFill>
              </a:rPr>
              <a:t> — the destination is clearly shown in JSX </a:t>
            </a:r>
            <a:r>
              <a:rPr lang="en-US" sz="1400" dirty="0" err="1">
                <a:solidFill>
                  <a:schemeClr val="bg1"/>
                </a:solidFill>
              </a:rPr>
              <a:t>J</a:t>
            </a:r>
            <a:r>
              <a:rPr lang="en-US" sz="1400" b="1" dirty="0" err="1">
                <a:solidFill>
                  <a:schemeClr val="bg1"/>
                </a:solidFill>
              </a:rPr>
              <a:t>Works</a:t>
            </a:r>
            <a:r>
              <a:rPr lang="en-US" sz="1400" b="1" dirty="0">
                <a:solidFill>
                  <a:schemeClr val="bg1"/>
                </a:solidFill>
              </a:rPr>
              <a:t> on web</a:t>
            </a:r>
            <a:r>
              <a:rPr lang="en-US" sz="1400" dirty="0">
                <a:solidFill>
                  <a:schemeClr val="bg1"/>
                </a:solidFill>
              </a:rPr>
              <a:t> — supports normal links like right-click and long-press.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More accessible</a:t>
            </a:r>
            <a:r>
              <a:rPr lang="en-US" sz="1400" dirty="0">
                <a:solidFill>
                  <a:schemeClr val="bg1"/>
                </a:solidFill>
              </a:rPr>
              <a:t> — screen readers recognize it as a link.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9004" y="2468880"/>
            <a:ext cx="431211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9005" y="2436157"/>
            <a:ext cx="41292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003865"/>
                </a:solidFill>
                <a:latin typeface="Calibri"/>
              </a:rPr>
              <a:t>asChild</a:t>
            </a:r>
            <a:r>
              <a:rPr sz="1600" b="1" dirty="0">
                <a:solidFill>
                  <a:srgbClr val="003865"/>
                </a:solidFill>
                <a:latin typeface="Calibri"/>
              </a:rPr>
              <a:t> prop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9004" y="2783626"/>
            <a:ext cx="4129236" cy="90794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asChild</a:t>
            </a:r>
            <a:r>
              <a:rPr lang="en-US" sz="1400" dirty="0">
                <a:solidFill>
                  <a:schemeClr val="bg1"/>
                </a:solidFill>
              </a:rPr>
              <a:t> gives navigation to your component, such as Pressable or View.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You keep full control over styling and appearance instead of using Link’s default &lt;Text&gt;.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9003" y="3840480"/>
            <a:ext cx="431211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9005" y="3807757"/>
            <a:ext cx="41369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When to use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9004" y="4145602"/>
            <a:ext cx="3982931" cy="47705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Known destination: use &lt;Link </a:t>
            </a:r>
            <a:r>
              <a:rPr lang="en-US" sz="1400" dirty="0" err="1">
                <a:solidFill>
                  <a:schemeClr val="bg1"/>
                </a:solidFill>
              </a:rPr>
              <a:t>href</a:t>
            </a:r>
            <a:r>
              <a:rPr lang="en-US" sz="1400" dirty="0">
                <a:solidFill>
                  <a:schemeClr val="bg1"/>
                </a:solidFill>
              </a:rPr>
              <a:t>="/about"&gt;.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Navigation after an action: use </a:t>
            </a:r>
            <a:r>
              <a:rPr lang="en-US" sz="1400" dirty="0" err="1">
                <a:solidFill>
                  <a:schemeClr val="bg1"/>
                </a:solidFill>
              </a:rPr>
              <a:t>useRouter</a:t>
            </a:r>
            <a:r>
              <a:rPr lang="en-US" sz="1400" dirty="0">
                <a:solidFill>
                  <a:schemeClr val="bg1"/>
                </a:solidFill>
              </a:rPr>
              <a:t>().push().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8 / 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698354-B874-7ECC-9168-408830D4549E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83520"/>
            <a:ext cx="45834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Customizing 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Stack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Header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86DFB8-148A-6D15-445C-7E2443BB0081}"/>
              </a:ext>
            </a:extLst>
          </p:cNvPr>
          <p:cNvGrpSpPr/>
          <p:nvPr/>
        </p:nvGrpSpPr>
        <p:grpSpPr>
          <a:xfrm>
            <a:off x="2057400" y="559382"/>
            <a:ext cx="5029200" cy="4522816"/>
            <a:chOff x="3897924" y="559382"/>
            <a:chExt cx="5029200" cy="4522816"/>
          </a:xfrm>
        </p:grpSpPr>
        <p:sp>
          <p:nvSpPr>
            <p:cNvPr id="6" name="Rectangle 5"/>
            <p:cNvSpPr/>
            <p:nvPr/>
          </p:nvSpPr>
          <p:spPr>
            <a:xfrm>
              <a:off x="3897924" y="559382"/>
              <a:ext cx="5029200" cy="4495273"/>
            </a:xfrm>
            <a:prstGeom prst="rect">
              <a:avLst/>
            </a:prstGeom>
            <a:solidFill>
              <a:srgbClr val="0F172A"/>
            </a:solidFill>
            <a:ln w="6350">
              <a:solidFill>
                <a:srgbClr val="3341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007652" y="559382"/>
              <a:ext cx="275107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b="1">
                  <a:solidFill>
                    <a:srgbClr val="F59E0B"/>
                  </a:solidFill>
                  <a:latin typeface="Calibri"/>
                </a:rPr>
                <a:t>&lt;Stack.Screen options=...&gt; inside the screen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007652" y="824558"/>
              <a:ext cx="4809744" cy="4257640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059669"/>
                  </a:solidFill>
                  <a:latin typeface="Consolas"/>
                </a:rPr>
                <a:t>// Per-screen — inside the screen file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DBEAFE"/>
                  </a:solidFill>
                  <a:latin typeface="Consolas"/>
                </a:rPr>
                <a:t>import { Stack } from 'expo-router';</a:t>
              </a:r>
            </a:p>
            <a:p>
              <a:pPr algn="l">
                <a:lnSpc>
                  <a:spcPct val="105000"/>
                </a:lnSpc>
              </a:pPr>
              <a:endParaRPr sz="1100" dirty="0">
                <a:solidFill>
                  <a:srgbClr val="DBEAFE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export default function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CourseDetail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() {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return (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&lt;&gt;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&lt;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endParaRPr sz="1100" dirty="0">
                <a:solidFill>
                  <a:srgbClr val="F1F5F9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options={{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59E0B"/>
                  </a:solidFill>
                  <a:latin typeface="Consolas"/>
                </a:rPr>
                <a:t>          title: 'CPRG-303',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headerStyle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'#003865' },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headerTintColor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'#FFFFFF',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headerBackTitle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'Courses',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headerRight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() =&gt; (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  &lt;Pressable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onPress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={save}&gt;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    &lt;Text style={{ color:'#F59E0B' }}&gt;Save&lt;/Text&gt;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  &lt;/Pressable&gt;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),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headerLargeTitle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true,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}}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/&gt;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&lt;View style={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styles.body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}&gt;...&lt;/View&gt;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&lt;/&gt;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);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809AA1AE-5D08-5F4F-B5CC-FBE400275E52}"/>
              </a:ext>
            </a:extLst>
          </p:cNvPr>
          <p:cNvSpPr/>
          <p:nvPr/>
        </p:nvSpPr>
        <p:spPr>
          <a:xfrm>
            <a:off x="365760" y="45871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AFEA9-5AED-5B33-F0BF-4C1958A7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250896-BEC4-37BF-7C44-023FB773B80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F0BBE-7315-6680-F823-9D703B534E61}"/>
              </a:ext>
            </a:extLst>
          </p:cNvPr>
          <p:cNvSpPr txBox="1"/>
          <p:nvPr/>
        </p:nvSpPr>
        <p:spPr>
          <a:xfrm>
            <a:off x="365760" y="-83520"/>
            <a:ext cx="42492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Customizing the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7E2D56-693A-69CE-6137-D26E9E6E0534}"/>
              </a:ext>
            </a:extLst>
          </p:cNvPr>
          <p:cNvSpPr/>
          <p:nvPr/>
        </p:nvSpPr>
        <p:spPr>
          <a:xfrm>
            <a:off x="261725" y="528301"/>
            <a:ext cx="8714578" cy="105746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E2160-23CD-081C-03DF-F5626D01AF30}"/>
              </a:ext>
            </a:extLst>
          </p:cNvPr>
          <p:cNvSpPr txBox="1"/>
          <p:nvPr/>
        </p:nvSpPr>
        <p:spPr>
          <a:xfrm>
            <a:off x="380620" y="504847"/>
            <a:ext cx="4606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headerShown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85A14-E2C1-A2E5-172D-8370DD43E979}"/>
              </a:ext>
            </a:extLst>
          </p:cNvPr>
          <p:cNvSpPr txBox="1"/>
          <p:nvPr/>
        </p:nvSpPr>
        <p:spPr>
          <a:xfrm>
            <a:off x="413885" y="817667"/>
            <a:ext cx="8608469" cy="66454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  <a:latin typeface="Calibri"/>
              </a:rPr>
              <a:t>headerShown</a:t>
            </a:r>
            <a:r>
              <a:rPr lang="en-US" dirty="0">
                <a:solidFill>
                  <a:srgbClr val="FF0000"/>
                </a:solidFill>
                <a:latin typeface="Calibri"/>
              </a:rPr>
              <a:t>: false 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removes the top header and lets the screen use the full space. 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Calibri"/>
              </a:rPr>
              <a:t>Useful for full-screen screens like login, splash, or video screens.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F5684-AA62-3693-9DF0-E91ADF8B4AE0}"/>
              </a:ext>
            </a:extLst>
          </p:cNvPr>
          <p:cNvSpPr/>
          <p:nvPr/>
        </p:nvSpPr>
        <p:spPr>
          <a:xfrm>
            <a:off x="208920" y="1691474"/>
            <a:ext cx="882920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043D68-0866-3D97-01D4-BC3C76D1B003}"/>
              </a:ext>
            </a:extLst>
          </p:cNvPr>
          <p:cNvSpPr txBox="1"/>
          <p:nvPr/>
        </p:nvSpPr>
        <p:spPr>
          <a:xfrm>
            <a:off x="380619" y="1647847"/>
            <a:ext cx="57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headerTransparent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25701-EE0A-614A-3A59-B0316A2BE1C4}"/>
              </a:ext>
            </a:extLst>
          </p:cNvPr>
          <p:cNvSpPr txBox="1"/>
          <p:nvPr/>
        </p:nvSpPr>
        <p:spPr>
          <a:xfrm>
            <a:off x="413886" y="1916276"/>
            <a:ext cx="8562418" cy="66454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  <a:latin typeface="Calibri"/>
              </a:rPr>
              <a:t>headerTransparent</a:t>
            </a:r>
            <a:r>
              <a:rPr lang="en-US" dirty="0">
                <a:solidFill>
                  <a:srgbClr val="FF0000"/>
                </a:solidFill>
                <a:latin typeface="Calibri"/>
              </a:rPr>
              <a:t>: true 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makes the header float over the content with no background. 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Calibri"/>
              </a:rPr>
              <a:t>Useful 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for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 image screens, </a:t>
            </a:r>
            <a:r>
              <a:rPr lang="en-US" dirty="0">
                <a:solidFill>
                  <a:schemeClr val="bg1"/>
                </a:solidFill>
              </a:rPr>
              <a:t>but add top padding so content doesn’t 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hide behind the header.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9A548A-404E-B2EC-323A-D76256E04FC9}"/>
              </a:ext>
            </a:extLst>
          </p:cNvPr>
          <p:cNvSpPr/>
          <p:nvPr/>
        </p:nvSpPr>
        <p:spPr>
          <a:xfrm>
            <a:off x="193157" y="2822281"/>
            <a:ext cx="8829198" cy="9278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8F7228-1EB0-38D3-07B1-8349B2D77C77}"/>
              </a:ext>
            </a:extLst>
          </p:cNvPr>
          <p:cNvSpPr txBox="1"/>
          <p:nvPr/>
        </p:nvSpPr>
        <p:spPr>
          <a:xfrm>
            <a:off x="348617" y="2753619"/>
            <a:ext cx="719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headerRight</a:t>
            </a:r>
            <a:r>
              <a:rPr b="1" dirty="0">
                <a:solidFill>
                  <a:srgbClr val="003865"/>
                </a:solidFill>
                <a:latin typeface="Calibri"/>
              </a:rPr>
              <a:t> / </a:t>
            </a:r>
            <a:r>
              <a:rPr b="1" dirty="0" err="1">
                <a:solidFill>
                  <a:srgbClr val="003865"/>
                </a:solidFill>
                <a:latin typeface="Calibri"/>
              </a:rPr>
              <a:t>headerLeft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3852B-6411-8C59-DC9B-A27E8134AD40}"/>
              </a:ext>
            </a:extLst>
          </p:cNvPr>
          <p:cNvSpPr txBox="1"/>
          <p:nvPr/>
        </p:nvSpPr>
        <p:spPr>
          <a:xfrm>
            <a:off x="348617" y="3064358"/>
            <a:ext cx="8689504" cy="60016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4155"/>
                </a:solidFill>
                <a:latin typeface="Calibri"/>
              </a:rPr>
              <a:t>headerLeft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 / </a:t>
            </a:r>
            <a:r>
              <a:rPr lang="en-US" dirty="0" err="1">
                <a:solidFill>
                  <a:srgbClr val="334155"/>
                </a:solidFill>
                <a:latin typeface="Calibri"/>
              </a:rPr>
              <a:t>headerRight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 let you add custom buttons or icons to either side of the header.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Calibri"/>
              </a:rPr>
              <a:t>Useful for actions like Save, Settings, Share, or other controls.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7F8B18-A9AB-BA10-AC5A-013880BFACCA}"/>
              </a:ext>
            </a:extLst>
          </p:cNvPr>
          <p:cNvSpPr/>
          <p:nvPr/>
        </p:nvSpPr>
        <p:spPr>
          <a:xfrm>
            <a:off x="193157" y="3938985"/>
            <a:ext cx="8844964" cy="9693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A4EDA-F44F-B0C4-42D5-7CB9248FA5F2}"/>
              </a:ext>
            </a:extLst>
          </p:cNvPr>
          <p:cNvSpPr txBox="1"/>
          <p:nvPr/>
        </p:nvSpPr>
        <p:spPr>
          <a:xfrm>
            <a:off x="421796" y="3908346"/>
            <a:ext cx="6319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headerBackTitle</a:t>
            </a:r>
            <a:r>
              <a:rPr b="1" dirty="0">
                <a:solidFill>
                  <a:srgbClr val="003865"/>
                </a:solidFill>
                <a:latin typeface="Calibri"/>
              </a:rPr>
              <a:t> (iOS)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7059F9-9990-52E0-8C22-CBF3183595B5}"/>
              </a:ext>
            </a:extLst>
          </p:cNvPr>
          <p:cNvSpPr txBox="1"/>
          <p:nvPr/>
        </p:nvSpPr>
        <p:spPr>
          <a:xfrm>
            <a:off x="348617" y="4245459"/>
            <a:ext cx="8554751" cy="60016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iOS only:</a:t>
            </a:r>
            <a:r>
              <a:rPr lang="en-US" dirty="0">
                <a:solidFill>
                  <a:schemeClr val="bg1"/>
                </a:solidFill>
              </a:rPr>
              <a:t> Controls the text next to the back arrow.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Useful for shorter labels</a:t>
            </a:r>
            <a:r>
              <a:rPr lang="en-US" dirty="0">
                <a:solidFill>
                  <a:schemeClr val="bg1"/>
                </a:solidFill>
              </a:rPr>
              <a:t> like “Back” or “Courses” to save space.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968C7B-016E-9F45-0AA0-51102F420B17}"/>
              </a:ext>
            </a:extLst>
          </p:cNvPr>
          <p:cNvSpPr txBox="1"/>
          <p:nvPr/>
        </p:nvSpPr>
        <p:spPr>
          <a:xfrm>
            <a:off x="7490221" y="4965192"/>
            <a:ext cx="12302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9 / 18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A53662-7330-3388-AA52-9FE4445B6E31}"/>
              </a:ext>
            </a:extLst>
          </p:cNvPr>
          <p:cNvSpPr/>
          <p:nvPr/>
        </p:nvSpPr>
        <p:spPr>
          <a:xfrm>
            <a:off x="125128" y="45871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02151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1920"/>
            <a:ext cx="57819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Passing Params Between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3881"/>
            <a:ext cx="64610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1"/>
                </a:solidFill>
                <a:latin typeface="Calibri"/>
              </a:rPr>
              <a:t>URL params — send data in the URL, read it on the other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3213"/>
            <a:ext cx="4251960" cy="4015761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75488" y="988996"/>
            <a:ext cx="224773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59E0B"/>
                </a:solidFill>
                <a:latin typeface="Calibri"/>
              </a:rPr>
              <a:t>URL params + useLocalSearchParams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54172"/>
            <a:ext cx="4032504" cy="372480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59E0B"/>
                </a:solidFill>
                <a:latin typeface="Consolas"/>
              </a:rPr>
              <a:t>// 1.  URL-style params (preferred)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059669"/>
                </a:solidFill>
                <a:latin typeface="Consolas"/>
              </a:rPr>
              <a:t>// Sending: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="/course/cprg303"&gt;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&lt;Text&gt;Mobile Computing&lt;/Text&gt;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&lt;/Link&gt;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 err="1">
                <a:solidFill>
                  <a:srgbClr val="F1F5F9"/>
                </a:solidFill>
                <a:latin typeface="Consolas"/>
              </a:rPr>
              <a:t>router.push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('/course/cprg303');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059669"/>
                </a:solidFill>
                <a:latin typeface="Consolas"/>
              </a:rPr>
              <a:t>// Or with query string:</a:t>
            </a:r>
          </a:p>
          <a:p>
            <a:pPr algn="l">
              <a:lnSpc>
                <a:spcPct val="105000"/>
              </a:lnSpc>
            </a:pPr>
            <a:r>
              <a:rPr sz="1050" dirty="0" err="1">
                <a:solidFill>
                  <a:srgbClr val="F1F5F9"/>
                </a:solidFill>
                <a:latin typeface="Consolas"/>
              </a:rPr>
              <a:t>router.push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({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pathname: '/course/[id]',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params: { id: 'cprg303', term: 'W26' }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});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059669"/>
                </a:solidFill>
                <a:latin typeface="Consolas"/>
              </a:rPr>
              <a:t>// Receiving — in app/course/[id].</a:t>
            </a:r>
            <a:r>
              <a:rPr sz="1050" dirty="0" err="1">
                <a:solidFill>
                  <a:srgbClr val="059669"/>
                </a:solidFill>
                <a:latin typeface="Consolas"/>
              </a:rPr>
              <a:t>tsx</a:t>
            </a:r>
            <a:r>
              <a:rPr sz="1050" dirty="0">
                <a:solidFill>
                  <a:srgbClr val="059669"/>
                </a:solidFill>
                <a:latin typeface="Consolas"/>
              </a:rPr>
              <a:t>: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import {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useLocalSearchParams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 }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from 'expo-router';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const { id, term } =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useLocalSearchParams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&lt;{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id: string; term?: string;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}&gt;();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097280"/>
            <a:ext cx="393192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956048" y="1143000"/>
            <a:ext cx="186140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Calibri"/>
              </a:rPr>
              <a:t>How it works — step by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08176"/>
            <a:ext cx="3712463" cy="336989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Step 1 — Send the data in the URL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CBD5E1"/>
                </a:solidFill>
                <a:latin typeface="Calibri"/>
              </a:rPr>
              <a:t>Use </a:t>
            </a:r>
            <a:r>
              <a:rPr sz="1100" dirty="0" err="1">
                <a:solidFill>
                  <a:srgbClr val="CBD5E1"/>
                </a:solidFill>
                <a:latin typeface="Calibri"/>
              </a:rPr>
              <a:t>router.push</a:t>
            </a:r>
            <a:r>
              <a:rPr sz="1100" dirty="0">
                <a:solidFill>
                  <a:srgbClr val="CBD5E1"/>
                </a:solidFill>
                <a:latin typeface="Calibri"/>
              </a:rPr>
              <a:t> with pathname + params. Think of it like a web URL: /course/cprg303?term=W26. The data travels inside the URL itself.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CBD5E1"/>
              </a:solidFill>
              <a:latin typeface="Calibri"/>
            </a:endParaRPr>
          </a:p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Step 2 — Read it on the destination screen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CBD5E1"/>
                </a:solidFill>
                <a:latin typeface="Calibri"/>
              </a:rPr>
              <a:t>Call </a:t>
            </a:r>
            <a:r>
              <a:rPr sz="1100" dirty="0" err="1">
                <a:solidFill>
                  <a:srgbClr val="CBD5E1"/>
                </a:solidFill>
                <a:latin typeface="Calibri"/>
              </a:rPr>
              <a:t>useLocalSearchParams</a:t>
            </a:r>
            <a:r>
              <a:rPr sz="1100" dirty="0">
                <a:solidFill>
                  <a:srgbClr val="CBD5E1"/>
                </a:solidFill>
                <a:latin typeface="Calibri"/>
              </a:rPr>
              <a:t>() at the top of your screen component. </a:t>
            </a:r>
            <a:r>
              <a:rPr sz="1100" dirty="0" err="1">
                <a:solidFill>
                  <a:srgbClr val="CBD5E1"/>
                </a:solidFill>
                <a:latin typeface="Calibri"/>
              </a:rPr>
              <a:t>Destructure</a:t>
            </a:r>
            <a:r>
              <a:rPr sz="1100" dirty="0">
                <a:solidFill>
                  <a:srgbClr val="CBD5E1"/>
                </a:solidFill>
                <a:latin typeface="Calibri"/>
              </a:rPr>
              <a:t> the params you need. TypeScript generic tells the type of each param.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CBD5E1"/>
              </a:solidFill>
              <a:latin typeface="Calibri"/>
            </a:endParaRPr>
          </a:p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Why params are always strings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CBD5E1"/>
                </a:solidFill>
                <a:latin typeface="Calibri"/>
              </a:rPr>
              <a:t>URLs are text. Every param value comes back as a string even if you passed a number. Use </a:t>
            </a:r>
            <a:r>
              <a:rPr sz="1100" dirty="0" err="1">
                <a:solidFill>
                  <a:srgbClr val="CBD5E1"/>
                </a:solidFill>
                <a:latin typeface="Calibri"/>
              </a:rPr>
              <a:t>parseInt</a:t>
            </a:r>
            <a:r>
              <a:rPr sz="1100" dirty="0">
                <a:solidFill>
                  <a:srgbClr val="CBD5E1"/>
                </a:solidFill>
                <a:latin typeface="Calibri"/>
              </a:rPr>
              <a:t>() or Number() to convert when needed.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CBD5E1"/>
              </a:solidFill>
              <a:latin typeface="Calibri"/>
            </a:endParaRPr>
          </a:p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term? with the question mark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CBD5E1"/>
                </a:solidFill>
                <a:latin typeface="Calibri"/>
              </a:rPr>
              <a:t>The ? makes it optional in TypeScript. If you navigate without including term, the value will be undefined instead of causing an error.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10 / 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3F5B6E-38B9-50DF-A45D-D429BABBE99E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40320"/>
            <a:ext cx="50615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Dynamic Routes 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with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[id].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tsx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78638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i="1">
                <a:solidFill>
                  <a:srgbClr val="475569"/>
                </a:solidFill>
                <a:latin typeface="Calibri"/>
              </a:rPr>
              <a:t>One file handles infinite URLs — /course/cprg303, /course/cprg216,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Wrap a filename in square brackets to make that part of the URL a parameter. Expo Router reads it for you with useLocalSearchParams().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4937760" cy="31089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737360"/>
            <a:ext cx="47183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File-based dynamic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02536"/>
            <a:ext cx="4718304" cy="27523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app/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├── _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layout.tsx</a:t>
            </a: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├──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index.tsx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                # Courses list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├── course/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│    └── [id].</a:t>
            </a:r>
            <a:r>
              <a:rPr sz="950" dirty="0" err="1">
                <a:solidFill>
                  <a:srgbClr val="F59E0B"/>
                </a:solidFill>
                <a:latin typeface="Consolas"/>
              </a:rPr>
              <a:t>tsx</a:t>
            </a:r>
            <a:r>
              <a:rPr sz="950" dirty="0">
                <a:solidFill>
                  <a:srgbClr val="F59E0B"/>
                </a:solidFill>
                <a:latin typeface="Consolas"/>
              </a:rPr>
              <a:t>            # ← dynamic!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URLs handled by [id].</a:t>
            </a:r>
            <a:r>
              <a:rPr sz="950" dirty="0" err="1">
                <a:solidFill>
                  <a:srgbClr val="059669"/>
                </a:solidFill>
                <a:latin typeface="Consolas"/>
              </a:rPr>
              <a:t>tsx</a:t>
            </a:r>
            <a:r>
              <a:rPr sz="950" dirty="0">
                <a:solidFill>
                  <a:srgbClr val="059669"/>
                </a:solidFill>
                <a:latin typeface="Consolas"/>
              </a:rPr>
              <a:t>: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/course/cprg303    →  id = 'cprg303'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/course/cprg216    →  id = 'cprg216'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/course/anything   →  id = 'anything'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File contents — app/course/[id].</a:t>
            </a:r>
            <a:r>
              <a:rPr sz="950" dirty="0" err="1">
                <a:solidFill>
                  <a:srgbClr val="059669"/>
                </a:solidFill>
                <a:latin typeface="Consolas"/>
              </a:rPr>
              <a:t>tsx</a:t>
            </a:r>
            <a:endParaRPr sz="95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import {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useLocalSearchParams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} from 'expo-router';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export default function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CourseDetail</a:t>
            </a:r>
            <a:r>
              <a:rPr sz="950" dirty="0">
                <a:solidFill>
                  <a:srgbClr val="F1F5F9"/>
                </a:solidFill>
                <a:latin typeface="Consolas"/>
              </a:rPr>
              <a:t>() {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  const { id } = </a:t>
            </a:r>
            <a:r>
              <a:rPr sz="950" dirty="0" err="1">
                <a:solidFill>
                  <a:srgbClr val="F59E0B"/>
                </a:solidFill>
                <a:latin typeface="Consolas"/>
              </a:rPr>
              <a:t>useLocalSearchParams</a:t>
            </a:r>
            <a:r>
              <a:rPr sz="950" dirty="0">
                <a:solidFill>
                  <a:srgbClr val="F59E0B"/>
                </a:solidFill>
                <a:latin typeface="Consolas"/>
              </a:rPr>
              <a:t>&lt;{ id: string }&gt;();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const course =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COURSES.find</a:t>
            </a:r>
            <a:r>
              <a:rPr sz="950" dirty="0">
                <a:solidFill>
                  <a:srgbClr val="F1F5F9"/>
                </a:solidFill>
                <a:latin typeface="Consolas"/>
              </a:rPr>
              <a:t>(c =&gt;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c.code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=== id);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return &lt;Text&gt;{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course?.title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}&lt;/Text&gt;;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364864"/>
            <a:ext cx="3324452" cy="13783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1308" y="1360292"/>
            <a:ext cx="15199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003865"/>
                </a:solidFill>
                <a:latin typeface="Calibri"/>
              </a:rPr>
              <a:t>[id] — Square Brackets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2704" y="1625349"/>
            <a:ext cx="2980944" cy="1170513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algn="just">
              <a:lnSpc>
                <a:spcPct val="115000"/>
              </a:lnSpc>
            </a:pPr>
            <a:r>
              <a:rPr sz="800" dirty="0">
                <a:solidFill>
                  <a:srgbClr val="334155"/>
                </a:solidFill>
                <a:latin typeface="Calibri"/>
              </a:rPr>
              <a:t>The filename literally contains [ and ] — for example: [id].</a:t>
            </a:r>
            <a:r>
              <a:rPr sz="800" dirty="0" err="1">
                <a:solidFill>
                  <a:srgbClr val="334155"/>
                </a:solidFill>
                <a:latin typeface="Calibri"/>
              </a:rPr>
              <a:t>tsx</a:t>
            </a:r>
            <a:r>
              <a:rPr sz="800" dirty="0">
                <a:solidFill>
                  <a:srgbClr val="334155"/>
                </a:solidFill>
                <a:latin typeface="Calibri"/>
              </a:rPr>
              <a:t>. The bracket wraps the segment name that will be captured from the URL. Whatever appears in that URL position is automatically extracted and available via </a:t>
            </a:r>
            <a:r>
              <a:rPr sz="80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800" dirty="0">
                <a:solidFill>
                  <a:srgbClr val="334155"/>
                </a:solidFill>
                <a:latin typeface="Calibri"/>
              </a:rPr>
              <a:t>() — no manual URL parsing needed.</a:t>
            </a:r>
          </a:p>
          <a:p>
            <a:pPr algn="just">
              <a:lnSpc>
                <a:spcPct val="115000"/>
              </a:lnSpc>
            </a:pPr>
            <a:r>
              <a:rPr sz="800" dirty="0">
                <a:solidFill>
                  <a:srgbClr val="334155"/>
                </a:solidFill>
                <a:latin typeface="Calibri"/>
              </a:rPr>
              <a:t>The name inside the brackets (id) is up to you — [slug], [code], [</a:t>
            </a:r>
            <a:r>
              <a:rPr sz="800" dirty="0" err="1">
                <a:solidFill>
                  <a:srgbClr val="334155"/>
                </a:solidFill>
                <a:latin typeface="Calibri"/>
              </a:rPr>
              <a:t>userId</a:t>
            </a:r>
            <a:r>
              <a:rPr sz="800" dirty="0">
                <a:solidFill>
                  <a:srgbClr val="334155"/>
                </a:solidFill>
                <a:latin typeface="Calibri"/>
              </a:rPr>
              <a:t>] all work. Just use the same name when </a:t>
            </a:r>
            <a:r>
              <a:rPr sz="800" dirty="0" err="1">
                <a:solidFill>
                  <a:srgbClr val="334155"/>
                </a:solidFill>
                <a:latin typeface="Calibri"/>
              </a:rPr>
              <a:t>destructuring</a:t>
            </a:r>
            <a:r>
              <a:rPr sz="800" dirty="0">
                <a:solidFill>
                  <a:srgbClr val="334155"/>
                </a:solidFill>
                <a:latin typeface="Calibri"/>
              </a:rPr>
              <a:t> from </a:t>
            </a:r>
            <a:r>
              <a:rPr sz="80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800" dirty="0">
                <a:solidFill>
                  <a:srgbClr val="334155"/>
                </a:solidFill>
                <a:latin typeface="Calibri"/>
              </a:rPr>
              <a:t>().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834640"/>
            <a:ext cx="3291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60" y="2800361"/>
            <a:ext cx="115127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003865"/>
                </a:solidFill>
                <a:latin typeface="Calibri"/>
              </a:rPr>
              <a:t>Multiple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3035809"/>
            <a:ext cx="2980944" cy="833177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900" dirty="0">
                <a:solidFill>
                  <a:srgbClr val="334155"/>
                </a:solidFill>
                <a:latin typeface="Calibri"/>
              </a:rPr>
              <a:t>app/blog/[year]/[slug].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tsx</a:t>
            </a:r>
            <a:r>
              <a:rPr sz="900" dirty="0">
                <a:solidFill>
                  <a:srgbClr val="334155"/>
                </a:solidFill>
                <a:latin typeface="Calibri"/>
              </a:rPr>
              <a:t> — nest folders with brackets to capture multiple segments. Each bracket becomes a separate param.</a:t>
            </a:r>
          </a:p>
          <a:p>
            <a:pPr>
              <a:lnSpc>
                <a:spcPct val="115000"/>
              </a:lnSpc>
            </a:pPr>
            <a:r>
              <a:rPr sz="900" dirty="0">
                <a:solidFill>
                  <a:srgbClr val="334155"/>
                </a:solidFill>
                <a:latin typeface="Calibri"/>
              </a:rPr>
              <a:t>/blog/2026/expo-tips gives you { year: ‘2026’, slug: ‘expo-tips’ } — 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destructure</a:t>
            </a:r>
            <a:r>
              <a:rPr sz="900" dirty="0">
                <a:solidFill>
                  <a:srgbClr val="334155"/>
                </a:solidFill>
                <a:latin typeface="Calibri"/>
              </a:rPr>
              <a:t> both from 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900" dirty="0">
                <a:solidFill>
                  <a:srgbClr val="334155"/>
                </a:solidFill>
                <a:latin typeface="Calibri"/>
              </a:rPr>
              <a:t>().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93192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23560" y="3892274"/>
            <a:ext cx="30358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003865"/>
                </a:solidFill>
                <a:latin typeface="Calibri"/>
              </a:rPr>
              <a:t>Catch-all  [...rest].</a:t>
            </a:r>
            <a:r>
              <a:rPr sz="1200" b="1" dirty="0" err="1">
                <a:solidFill>
                  <a:srgbClr val="003865"/>
                </a:solidFill>
                <a:latin typeface="Calibri"/>
              </a:rPr>
              <a:t>tsx</a:t>
            </a:r>
            <a:endParaRPr sz="1200"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50992" y="4107158"/>
            <a:ext cx="2980944" cy="745782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800" dirty="0">
                <a:solidFill>
                  <a:srgbClr val="334155"/>
                </a:solidFill>
                <a:latin typeface="Calibri"/>
              </a:rPr>
              <a:t>Three dots inside the brackets [...rest].</a:t>
            </a:r>
            <a:r>
              <a:rPr sz="800" dirty="0" err="1">
                <a:solidFill>
                  <a:srgbClr val="334155"/>
                </a:solidFill>
                <a:latin typeface="Calibri"/>
              </a:rPr>
              <a:t>tsx</a:t>
            </a:r>
            <a:r>
              <a:rPr sz="800" dirty="0">
                <a:solidFill>
                  <a:srgbClr val="334155"/>
                </a:solidFill>
                <a:latin typeface="Calibri"/>
              </a:rPr>
              <a:t> captures all remaining path segments as an array. /help/account/billing gives rest = [‘account’, ‘billing’]. Useful for help trees, file browsers, or any screen that needs to handle a variable-depth URL. You won’t need this for most apps — regular [id].</a:t>
            </a:r>
            <a:r>
              <a:rPr sz="800" dirty="0" err="1">
                <a:solidFill>
                  <a:srgbClr val="334155"/>
                </a:solidFill>
                <a:latin typeface="Calibri"/>
              </a:rPr>
              <a:t>tsx</a:t>
            </a:r>
            <a:r>
              <a:rPr sz="800" dirty="0">
                <a:solidFill>
                  <a:srgbClr val="334155"/>
                </a:solidFill>
                <a:latin typeface="Calibri"/>
              </a:rPr>
              <a:t> covers 95% of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11 / 18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3249A4-1C77-BBE7-8579-2385D04FF446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54720"/>
            <a:ext cx="330430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Stack INSIDE a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8638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i="1">
                <a:solidFill>
                  <a:srgbClr val="475569"/>
                </a:solidFill>
                <a:latin typeface="Calibri"/>
              </a:rPr>
              <a:t>How real apps combine yesterday's tabs with today's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646331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50" b="0" i="0" dirty="0">
                <a:solidFill>
                  <a:srgbClr val="334155"/>
                </a:solidFill>
                <a:latin typeface="Calibri"/>
              </a:rPr>
              <a:t>User taps the Courses TAB, sees a LIST. Taps a row — a course detail screen PUSHES on top. The tab bar stays visible at the bottom the whole time. This is the most common navigation pattern in mobile apps: tabs for switching sections, stack for drilling into detail within a section.</a:t>
            </a:r>
          </a:p>
          <a:p>
            <a:pPr algn="l"/>
            <a:r>
              <a:rPr sz="1050" dirty="0">
                <a:solidFill>
                  <a:srgbClr val="334155"/>
                </a:solidFill>
                <a:latin typeface="Calibri"/>
              </a:rPr>
              <a:t>The key insight: each TAB owns its own Stack navigator. You create a _</a:t>
            </a:r>
            <a:r>
              <a:rPr sz="1050" dirty="0" err="1">
                <a:solidFill>
                  <a:srgbClr val="334155"/>
                </a:solidFill>
                <a:latin typeface="Calibri"/>
              </a:rPr>
              <a:t>layout.tsx</a:t>
            </a:r>
            <a:r>
              <a:rPr sz="1050" dirty="0">
                <a:solidFill>
                  <a:srgbClr val="334155"/>
                </a:solidFill>
                <a:latin typeface="Calibri"/>
              </a:rPr>
              <a:t> inside the tab folder that renders a &lt;Stack&gt;. That Stack only manages screens within that tab — it has no idea about other tabs’ stacks.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4846320" cy="30632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6268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One _layout.tsx per nested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48255"/>
            <a:ext cx="4626864" cy="2706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solidFill>
                  <a:srgbClr val="F59E0B"/>
                </a:solidFill>
                <a:latin typeface="Consolas"/>
              </a:rPr>
              <a:t>app/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├── _layout.tsx                # root Stack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59E0B"/>
                </a:solidFill>
                <a:latin typeface="Consolas"/>
              </a:rPr>
              <a:t>├── (tabs)/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│    ├── _layout.tsx           # Tabs shell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│    ├── index.tsx             # Home tab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│    ├── profile.tsx           # Profile tab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59E0B"/>
                </a:solidFill>
                <a:latin typeface="Consolas"/>
              </a:rPr>
              <a:t>│    └── courses/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59E0B"/>
                </a:solidFill>
                <a:latin typeface="Consolas"/>
              </a:rPr>
              <a:t>│         ├── _layout.tsx     # ← Stack inside Courses tab!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│         ├── index.tsx        # courses LIST screen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│         └── [id].tsx         # course DETAIL screen</a:t>
            </a:r>
          </a:p>
          <a:p>
            <a:pPr algn="l">
              <a:lnSpc>
                <a:spcPct val="105000"/>
              </a:lnSpc>
            </a:pPr>
            <a:endParaRPr sz="95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059669"/>
                </a:solidFill>
                <a:latin typeface="Consolas"/>
              </a:rPr>
              <a:t>// app/(tabs)/courses/_layout.tsx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import { Stack } from 'expo-router';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export default function CoursesStack() {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&lt;Stack&gt;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&lt;Stack.Screen name="index"  options={{ title: 'Courses' }} /&gt;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&lt;Stack.Screen name="[id]"  options={{ title: 'Course' }} /&gt;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&lt;/Stack&gt;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737360"/>
            <a:ext cx="1522476" cy="2798064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2392" y="1847088"/>
            <a:ext cx="1376172" cy="215615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79" y="2633472"/>
            <a:ext cx="13395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3865"/>
                </a:solidFill>
                <a:latin typeface="Calibri"/>
              </a:rPr>
              <a:t>Course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22392" y="3948379"/>
            <a:ext cx="1376172" cy="477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22392" y="3984955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4222699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1116" y="3984955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865"/>
                </a:solidFill>
                <a:latin typeface="Calibr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1116" y="4222699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3865"/>
                </a:solidFill>
                <a:latin typeface="Calibri"/>
              </a:rPr>
              <a:t>Courses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840" y="3984955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840" y="4222699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737360"/>
            <a:ext cx="1522476" cy="2798064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51192" y="1847088"/>
            <a:ext cx="1376172" cy="215615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79" y="2633472"/>
            <a:ext cx="13395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3865"/>
                </a:solidFill>
                <a:latin typeface="Calibri"/>
              </a:rPr>
              <a:t>CPRG-303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51192" y="3948379"/>
            <a:ext cx="1376172" cy="477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51192" y="3984955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4222699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9916" y="3984955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865"/>
                </a:solidFill>
                <a:latin typeface="Calibri"/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9916" y="4222699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3865"/>
                </a:solidFill>
                <a:latin typeface="Calibri"/>
              </a:rPr>
              <a:t>Courses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8640" y="3984955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0" y="4222699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Profile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40880" y="3246120"/>
            <a:ext cx="13716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12 / 18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DDA3B0-F63A-17AA-A314-8F2C3B7FB20A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1920"/>
            <a:ext cx="79857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Code Walkthrough —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CampusHub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Stack (Live)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8638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i="1">
                <a:solidFill>
                  <a:srgbClr val="475569"/>
                </a:solidFill>
                <a:latin typeface="Calibri"/>
              </a:rPr>
              <a:t>Adding /course/[id] to yesterday's tab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12064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143000"/>
            <a:ext cx="490118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The list pushes /courses/[id]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08176"/>
            <a:ext cx="4901183" cy="334670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solidFill>
                  <a:srgbClr val="059669"/>
                </a:solidFill>
                <a:latin typeface="Consolas"/>
              </a:rPr>
              <a:t>// 1. app/(tabs)/courses/index.tsx — the LIST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import { FlatList, Pressable, Text, View } from 'react-native';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DBEAFE"/>
                </a:solidFill>
                <a:latin typeface="Consolas"/>
              </a:rPr>
              <a:t>import { Link } from 'expo-router';</a:t>
            </a:r>
          </a:p>
          <a:p>
            <a:pPr algn="l">
              <a:lnSpc>
                <a:spcPct val="105000"/>
              </a:lnSpc>
            </a:pPr>
            <a:endParaRPr sz="95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const COURSES = [{code:'cprg303', title:'Mobile'},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         {code:'cprg216', title:'Programming 2'}];</a:t>
            </a:r>
          </a:p>
          <a:p>
            <a:pPr algn="l">
              <a:lnSpc>
                <a:spcPct val="105000"/>
              </a:lnSpc>
            </a:pPr>
            <a:endParaRPr sz="95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export default function CoursesList() {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&lt;FlatList data={COURSES} keyExtractor={c=&gt;c.code}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renderItem={({item}) =&gt; (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&lt;Link href={`/courses/${item.code}`} asChild&gt;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  &lt;Pressable style={s.row}&gt;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    &lt;Text style={s.code}&gt;{item.code.toUpperCase()}&lt;/Text&gt;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    &lt;Text style={s.title}&gt;{item.title}&lt;/Text&gt;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  &lt;/Pressable&gt;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&lt;/Link&gt;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)}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/&gt;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097280"/>
            <a:ext cx="320040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87568" y="1143000"/>
            <a:ext cx="2980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The detail reads the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1408176"/>
            <a:ext cx="2980944" cy="334670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solidFill>
                  <a:srgbClr val="059669"/>
                </a:solidFill>
                <a:latin typeface="Consolas"/>
              </a:rPr>
              <a:t>// 2. app/(tabs)/courses/[id].tsx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DBEAFE"/>
                </a:solidFill>
                <a:latin typeface="Consolas"/>
              </a:rPr>
              <a:t>import { useLocalSearchParams,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DBEAFE"/>
                </a:solidFill>
                <a:latin typeface="Consolas"/>
              </a:rPr>
              <a:t>  Stack } from 'expo-router';</a:t>
            </a:r>
          </a:p>
          <a:p>
            <a:pPr algn="l">
              <a:lnSpc>
                <a:spcPct val="105000"/>
              </a:lnSpc>
            </a:pPr>
            <a:endParaRPr sz="95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export default function Detail() {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const { id } = useLocalSearchParams&lt;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{ id: string }&gt;();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&lt;View style={s.safe}&gt;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&lt;Stack.Screen options={{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title: id.toUpperCase(),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}} /&gt;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&lt;Text style={s.h}&gt;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Course: {id}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&lt;/Text&gt;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&lt;Text&gt;Description...&lt;/Text&gt;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&lt;/View&gt;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13 / 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7D4573-92E1-6D5B-528B-0F2F4E16F350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40320"/>
            <a:ext cx="55773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Live Demo —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CampusHub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112"/>
            <a:ext cx="8412480" cy="4235356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8116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rgbClr val="FFFFFF"/>
                </a:solidFill>
                <a:latin typeface="Calibri"/>
              </a:rPr>
              <a:t>CampusHub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Stack — List → Detail with a back arrow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1" y="1063558"/>
            <a:ext cx="820072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 algn="l">
              <a:spcAft>
                <a:spcPts val="600"/>
              </a:spcAft>
            </a:pPr>
            <a:r>
              <a:rPr sz="2000" dirty="0">
                <a:solidFill>
                  <a:srgbClr val="F1F5F9"/>
                </a:solidFill>
                <a:latin typeface="Calibri"/>
              </a:rPr>
              <a:t>1. Open  Week6/Day2/</a:t>
            </a:r>
            <a:r>
              <a:rPr sz="2000" dirty="0" err="1">
                <a:solidFill>
                  <a:srgbClr val="F1F5F9"/>
                </a:solidFill>
                <a:latin typeface="Calibri"/>
              </a:rPr>
              <a:t>Live_Code</a:t>
            </a:r>
            <a:r>
              <a:rPr sz="2000" dirty="0">
                <a:solidFill>
                  <a:srgbClr val="F1F5F9"/>
                </a:solidFill>
                <a:latin typeface="Calibri"/>
              </a:rPr>
              <a:t>/</a:t>
            </a:r>
            <a:r>
              <a:rPr sz="2000" dirty="0" err="1">
                <a:solidFill>
                  <a:srgbClr val="F1F5F9"/>
                </a:solidFill>
                <a:latin typeface="Calibri"/>
              </a:rPr>
              <a:t>CampusHubStack_starter</a:t>
            </a:r>
            <a:endParaRPr lang="en-US" sz="2000" dirty="0">
              <a:solidFill>
                <a:srgbClr val="F1F5F9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Tour the starter — Tabs from Day 1 + a Courses LIST that does nothing yet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Wrap each row in &lt;Link </a:t>
            </a:r>
            <a:r>
              <a:rPr lang="en-US" sz="2000" dirty="0" err="1">
                <a:solidFill>
                  <a:srgbClr val="F1F5F9"/>
                </a:solidFill>
              </a:rPr>
              <a:t>href</a:t>
            </a:r>
            <a:r>
              <a:rPr lang="en-US" sz="2000" dirty="0">
                <a:solidFill>
                  <a:srgbClr val="F1F5F9"/>
                </a:solidFill>
              </a:rPr>
              <a:t>="/courses/{code}" </a:t>
            </a:r>
            <a:r>
              <a:rPr lang="en-US" sz="2000" dirty="0" err="1">
                <a:solidFill>
                  <a:srgbClr val="F1F5F9"/>
                </a:solidFill>
              </a:rPr>
              <a:t>asChild</a:t>
            </a:r>
            <a:r>
              <a:rPr lang="en-US" sz="2000" dirty="0">
                <a:solidFill>
                  <a:srgbClr val="F1F5F9"/>
                </a:solidFill>
              </a:rPr>
              <a:t>&gt;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Create  app/(tabs)/courses/[id].</a:t>
            </a:r>
            <a:r>
              <a:rPr lang="en-US" sz="2000" dirty="0" err="1">
                <a:solidFill>
                  <a:srgbClr val="F1F5F9"/>
                </a:solidFill>
              </a:rPr>
              <a:t>tsx</a:t>
            </a:r>
            <a:r>
              <a:rPr lang="en-US" sz="2000" dirty="0">
                <a:solidFill>
                  <a:srgbClr val="F1F5F9"/>
                </a:solidFill>
              </a:rPr>
              <a:t>  — the dynamic detail screen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Read params with  </a:t>
            </a:r>
            <a:r>
              <a:rPr lang="en-US" sz="2000" dirty="0" err="1">
                <a:solidFill>
                  <a:srgbClr val="F1F5F9"/>
                </a:solidFill>
              </a:rPr>
              <a:t>useLocalSearchParams</a:t>
            </a:r>
            <a:r>
              <a:rPr lang="en-US" sz="2000" dirty="0">
                <a:solidFill>
                  <a:srgbClr val="F1F5F9"/>
                </a:solidFill>
              </a:rPr>
              <a:t>&lt;{ id: string }&gt;()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Set the dynamic header title via &lt;</a:t>
            </a:r>
            <a:r>
              <a:rPr lang="en-US" sz="2000" dirty="0" err="1">
                <a:solidFill>
                  <a:srgbClr val="F1F5F9"/>
                </a:solidFill>
              </a:rPr>
              <a:t>Stack.Screen</a:t>
            </a:r>
            <a:r>
              <a:rPr lang="en-US" sz="2000" dirty="0">
                <a:solidFill>
                  <a:srgbClr val="F1F5F9"/>
                </a:solidFill>
              </a:rPr>
              <a:t> options={{ title }} /&gt;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Add an 'Edit' button (</a:t>
            </a:r>
            <a:r>
              <a:rPr lang="en-US" sz="2000" dirty="0" err="1">
                <a:solidFill>
                  <a:srgbClr val="F1F5F9"/>
                </a:solidFill>
              </a:rPr>
              <a:t>headerRight</a:t>
            </a:r>
            <a:r>
              <a:rPr lang="en-US" sz="2000" dirty="0">
                <a:solidFill>
                  <a:srgbClr val="F1F5F9"/>
                </a:solidFill>
              </a:rPr>
              <a:t>) that </a:t>
            </a:r>
            <a:r>
              <a:rPr lang="en-US" sz="2000" dirty="0" err="1">
                <a:solidFill>
                  <a:srgbClr val="F1F5F9"/>
                </a:solidFill>
              </a:rPr>
              <a:t>router.push</a:t>
            </a:r>
            <a:r>
              <a:rPr lang="en-US" sz="2000" dirty="0">
                <a:solidFill>
                  <a:srgbClr val="F1F5F9"/>
                </a:solidFill>
              </a:rPr>
              <a:t>() to /edit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Show </a:t>
            </a:r>
            <a:r>
              <a:rPr lang="en-US" sz="2000" dirty="0" err="1">
                <a:solidFill>
                  <a:srgbClr val="F1F5F9"/>
                </a:solidFill>
              </a:rPr>
              <a:t>router.back</a:t>
            </a:r>
            <a:r>
              <a:rPr lang="en-US" sz="2000" dirty="0">
                <a:solidFill>
                  <a:srgbClr val="F1F5F9"/>
                </a:solidFill>
              </a:rPr>
              <a:t>() &amp; </a:t>
            </a:r>
            <a:r>
              <a:rPr lang="en-US" sz="2000" dirty="0" err="1">
                <a:solidFill>
                  <a:srgbClr val="F1F5F9"/>
                </a:solidFill>
              </a:rPr>
              <a:t>router.replace</a:t>
            </a:r>
            <a:r>
              <a:rPr lang="en-US" sz="2000" dirty="0">
                <a:solidFill>
                  <a:srgbClr val="F1F5F9"/>
                </a:solidFill>
              </a:rPr>
              <a:t>() — compare the back-stack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Compare with  </a:t>
            </a:r>
            <a:r>
              <a:rPr lang="en-US" sz="2000" dirty="0" err="1">
                <a:solidFill>
                  <a:srgbClr val="F1F5F9"/>
                </a:solidFill>
              </a:rPr>
              <a:t>CampusHubStack_final</a:t>
            </a:r>
            <a:r>
              <a:rPr lang="en-US" sz="2000" dirty="0">
                <a:solidFill>
                  <a:srgbClr val="F1F5F9"/>
                </a:solidFill>
              </a:rPr>
              <a:t>  when finished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1706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F59E0B"/>
                </a:solidFill>
                <a:latin typeface="Calibri"/>
              </a:rPr>
              <a:t>14 / 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503BC6-8BA3-4847-B9D8-695D00DD4952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9120"/>
            <a:ext cx="715407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Class Activity — Drink Tracker Drill-Down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4517"/>
            <a:ext cx="859536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1" i="0" dirty="0">
                <a:solidFill>
                  <a:schemeClr val="bg1"/>
                </a:solidFill>
                <a:latin typeface="Calibri"/>
              </a:rPr>
              <a:t>Build a 2-tab app: a list of drinks (coffee, tea, water) on tab 1, your profile on tab 2. Tapping a drink pushes a DETAIL screen with calorie info and an Edit button.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93255"/>
            <a:ext cx="2011680" cy="2913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09075" y="148469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870" y="1530416"/>
            <a:ext cx="9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Scaffold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075" y="1946711"/>
            <a:ext cx="1922645" cy="214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Copy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CampusHubTabs_final</a:t>
            </a:r>
            <a:r>
              <a:rPr sz="1600" dirty="0">
                <a:solidFill>
                  <a:schemeClr val="bg1"/>
                </a:solidFill>
                <a:latin typeface="Calibri"/>
              </a:rPr>
              <a:t> from Day 1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Rename →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DrinkTracker</a:t>
            </a:r>
            <a:endParaRPr sz="16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Two tabs: Drinks · 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393255"/>
            <a:ext cx="2011680" cy="2913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12195" y="148469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5332" y="1530416"/>
            <a:ext cx="1196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Drinks List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2195" y="1946711"/>
            <a:ext cx="1922645" cy="214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Create app/(tabs)/drinks/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index.tsx</a:t>
            </a:r>
            <a:endParaRPr sz="16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Hard-code an array of 5 drinks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Render each as a tappable &lt;Link&gt;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393255"/>
            <a:ext cx="2011680" cy="2913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15315" y="148469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6795" y="1386040"/>
            <a:ext cx="1585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Dynamic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5315" y="1946711"/>
            <a:ext cx="1922645" cy="2436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Create app/(tabs)/drinks/[id].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tsx</a:t>
            </a:r>
            <a:endParaRPr sz="16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useLocalSearchParams</a:t>
            </a:r>
            <a:r>
              <a:rPr sz="1600" dirty="0">
                <a:solidFill>
                  <a:schemeClr val="bg1"/>
                </a:solidFill>
                <a:latin typeface="Calibri"/>
              </a:rPr>
              <a:t> to read id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Show calories, caffeine, photo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393255"/>
            <a:ext cx="2011680" cy="2913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18434" y="148469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1571" y="1530416"/>
            <a:ext cx="1496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Header Polish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435" y="1946711"/>
            <a:ext cx="1922645" cy="214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Stack.Screen</a:t>
            </a:r>
            <a:r>
              <a:rPr sz="1600" dirty="0">
                <a:solidFill>
                  <a:schemeClr val="bg1"/>
                </a:solidFill>
                <a:latin typeface="Calibri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options.title</a:t>
            </a:r>
            <a:r>
              <a:rPr sz="1600" dirty="0">
                <a:solidFill>
                  <a:schemeClr val="bg1"/>
                </a:solidFill>
                <a:latin typeface="Calibri"/>
              </a:rPr>
              <a:t> = drink name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headerRight</a:t>
            </a:r>
            <a:r>
              <a:rPr sz="1600" dirty="0">
                <a:solidFill>
                  <a:schemeClr val="bg1"/>
                </a:solidFill>
                <a:latin typeface="Calibri"/>
              </a:rPr>
              <a:t>: () =&gt; 'Edit' button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Press 'Edit' →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router.push</a:t>
            </a:r>
            <a:r>
              <a:rPr sz="1600" dirty="0">
                <a:solidFill>
                  <a:schemeClr val="bg1"/>
                </a:solidFill>
                <a:latin typeface="Calibri"/>
              </a:rPr>
              <a:t>('/edit')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430027"/>
            <a:ext cx="8778240" cy="553997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Deliverable:  Tab → List → Detail with back arrow · header title shows drink name · 'Edit' button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15 / 18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3B457A-2BE8-A11F-4B5E-111D9402E0B2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7280"/>
            <a:ext cx="42713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Calibri"/>
              </a:rPr>
              <a:t>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5754"/>
            <a:ext cx="59522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Top </a:t>
            </a:r>
            <a:r>
              <a:rPr lang="en-US" sz="2400" dirty="0">
                <a:solidFill>
                  <a:schemeClr val="bg1"/>
                </a:solidFill>
                <a:latin typeface="Calibri"/>
              </a:rPr>
              <a:t>6</a:t>
            </a:r>
            <a:r>
              <a:rPr sz="2400" dirty="0">
                <a:solidFill>
                  <a:schemeClr val="bg1"/>
                </a:solidFill>
                <a:latin typeface="Calibri"/>
              </a:rPr>
              <a:t> bugs students hit on a stack navigator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47712"/>
            <a:ext cx="26362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Two &lt;Stack&gt; shells competing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165" y="1335024"/>
            <a:ext cx="430098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chemeClr val="bg1"/>
                </a:solidFill>
                <a:latin typeface="Calibri"/>
              </a:rPr>
              <a:t>Don't put a &lt;Stack&gt; inside a screen file — only in _</a:t>
            </a:r>
            <a:r>
              <a:rPr sz="1300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sz="130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193535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>
                <a:solidFill>
                  <a:srgbClr val="DC2626"/>
                </a:solidFill>
                <a:latin typeface="Consolas"/>
              </a:rPr>
              <a:t>&lt;Stack&gt; in </a:t>
            </a:r>
            <a:r>
              <a:rPr sz="1050" dirty="0" err="1">
                <a:solidFill>
                  <a:srgbClr val="DC2626"/>
                </a:solidFill>
                <a:latin typeface="Consolas"/>
              </a:rPr>
              <a:t>detail.tsx</a:t>
            </a:r>
            <a:endParaRPr sz="1050" dirty="0">
              <a:solidFill>
                <a:srgbClr val="DC2626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66560" y="1193535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059669"/>
                </a:solidFill>
                <a:latin typeface="Consolas"/>
              </a:rPr>
              <a:t>&lt;Stack.Screen options=... /&gt; in detail.tsx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0078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660841"/>
            <a:ext cx="24904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Missing the square brackets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920" y="1938528"/>
            <a:ext cx="394165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chemeClr val="bg1"/>
                </a:solidFill>
                <a:latin typeface="Calibri"/>
              </a:rPr>
              <a:t>/courses/[id].</a:t>
            </a:r>
            <a:r>
              <a:rPr sz="1300" dirty="0" err="1">
                <a:solidFill>
                  <a:schemeClr val="bg1"/>
                </a:solidFill>
                <a:latin typeface="Calibri"/>
              </a:rPr>
              <a:t>tsx</a:t>
            </a:r>
            <a:r>
              <a:rPr sz="1300" dirty="0">
                <a:solidFill>
                  <a:schemeClr val="bg1"/>
                </a:solidFill>
                <a:latin typeface="Calibri"/>
              </a:rPr>
              <a:t> — bracket EXACTLY, even on Windows.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797039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DC2626"/>
                </a:solidFill>
                <a:latin typeface="Consolas"/>
              </a:rPr>
              <a:t>app/courses/id.tsx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797039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059669"/>
                </a:solidFill>
                <a:latin typeface="Consolas"/>
              </a:rPr>
              <a:t>app/courses/[id].tsx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0428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245095"/>
            <a:ext cx="26738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useSearchParams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 on web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917" y="2542032"/>
            <a:ext cx="325076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chemeClr val="bg1"/>
                </a:solidFill>
                <a:latin typeface="Calibri"/>
              </a:rPr>
              <a:t>Use </a:t>
            </a:r>
            <a:r>
              <a:rPr sz="1300" dirty="0" err="1">
                <a:solidFill>
                  <a:schemeClr val="bg1"/>
                </a:solidFill>
                <a:latin typeface="Calibri"/>
              </a:rPr>
              <a:t>useLocalSearchParams</a:t>
            </a:r>
            <a:r>
              <a:rPr sz="1300" dirty="0">
                <a:solidFill>
                  <a:schemeClr val="bg1"/>
                </a:solidFill>
                <a:latin typeface="Calibri"/>
              </a:rPr>
              <a:t> from expo-router.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2487168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DC2626"/>
                </a:solidFill>
                <a:latin typeface="Consolas"/>
              </a:rPr>
              <a:t>useSearchParams()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487168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059669"/>
                </a:solidFill>
                <a:latin typeface="Consolas"/>
              </a:rPr>
              <a:t>useLocalSearchParams()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07792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858224"/>
            <a:ext cx="25106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Forgetting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asChild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 on &lt;Link&gt;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670" y="3145536"/>
            <a:ext cx="399885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chemeClr val="bg1"/>
                </a:solidFill>
                <a:latin typeface="Calibri"/>
              </a:rPr>
              <a:t>Without </a:t>
            </a:r>
            <a:r>
              <a:rPr sz="1300" dirty="0" err="1">
                <a:solidFill>
                  <a:schemeClr val="bg1"/>
                </a:solidFill>
                <a:latin typeface="Calibri"/>
              </a:rPr>
              <a:t>asChild</a:t>
            </a:r>
            <a:r>
              <a:rPr sz="1300" dirty="0">
                <a:solidFill>
                  <a:schemeClr val="bg1"/>
                </a:solidFill>
                <a:latin typeface="Calibri"/>
              </a:rPr>
              <a:t>, &lt;Link&gt; renders its own &lt;Text&gt; wrapper.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3042547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DC2626"/>
                </a:solidFill>
                <a:latin typeface="Consolas"/>
              </a:rPr>
              <a:t>&lt;Link&gt;&lt;Pressable/&gt;&lt;/Link&gt;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971800"/>
            <a:ext cx="2011680" cy="44805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>
                <a:solidFill>
                  <a:srgbClr val="059669"/>
                </a:solidFill>
                <a:latin typeface="Consolas"/>
              </a:rPr>
              <a:t>&lt;Link </a:t>
            </a:r>
            <a:r>
              <a:rPr sz="1050" dirty="0" err="1">
                <a:solidFill>
                  <a:srgbClr val="059669"/>
                </a:solidFill>
                <a:latin typeface="Consolas"/>
              </a:rPr>
              <a:t>asChild</a:t>
            </a:r>
            <a:r>
              <a:rPr sz="1050" dirty="0">
                <a:solidFill>
                  <a:srgbClr val="059669"/>
                </a:solidFill>
                <a:latin typeface="Consolas"/>
              </a:rPr>
              <a:t>&gt;&lt;Pressable/&gt;&lt;/Link&gt;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1129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452103"/>
            <a:ext cx="27900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router.push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() vs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router.replace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170" y="3749040"/>
            <a:ext cx="38295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Calibri"/>
              </a:rPr>
              <a:t>Use replace after login/logout — push fills history.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3617174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DC2626"/>
                </a:solidFill>
                <a:latin typeface="Consolas"/>
              </a:rPr>
              <a:t>router.push('/home') after login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3617174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 err="1">
                <a:solidFill>
                  <a:srgbClr val="059669"/>
                </a:solidFill>
                <a:latin typeface="Consolas"/>
              </a:rPr>
              <a:t>router.replace</a:t>
            </a:r>
            <a:r>
              <a:rPr sz="1050" dirty="0">
                <a:solidFill>
                  <a:srgbClr val="059669"/>
                </a:solidFill>
                <a:latin typeface="Consolas"/>
              </a:rPr>
              <a:t>('/home') after login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1480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065232"/>
            <a:ext cx="17203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Header is 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667" y="4352544"/>
            <a:ext cx="42530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chemeClr val="bg1"/>
                </a:solidFill>
                <a:latin typeface="Calibri"/>
              </a:rPr>
              <a:t>If you set </a:t>
            </a:r>
            <a:r>
              <a:rPr sz="1100" dirty="0" err="1">
                <a:solidFill>
                  <a:schemeClr val="bg1"/>
                </a:solidFill>
                <a:latin typeface="Calibri"/>
              </a:rPr>
              <a:t>headerShown:false</a:t>
            </a:r>
            <a:r>
              <a:rPr sz="1100" dirty="0">
                <a:solidFill>
                  <a:schemeClr val="bg1"/>
                </a:solidFill>
                <a:latin typeface="Calibri"/>
              </a:rPr>
              <a:t> on the root &lt;Stack&gt;, every screen loses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4156670"/>
            <a:ext cx="2011680" cy="47019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>
                <a:solidFill>
                  <a:srgbClr val="DC2626"/>
                </a:solidFill>
                <a:latin typeface="Consolas"/>
              </a:rPr>
              <a:t>&lt;Stack </a:t>
            </a:r>
            <a:r>
              <a:rPr sz="1050" dirty="0" err="1">
                <a:solidFill>
                  <a:srgbClr val="DC2626"/>
                </a:solidFill>
                <a:latin typeface="Consolas"/>
              </a:rPr>
              <a:t>screenOptions</a:t>
            </a:r>
            <a:r>
              <a:rPr sz="1050" dirty="0">
                <a:solidFill>
                  <a:srgbClr val="DC2626"/>
                </a:solidFill>
                <a:latin typeface="Consolas"/>
              </a:rPr>
              <a:t>={{</a:t>
            </a:r>
            <a:r>
              <a:rPr sz="1050" dirty="0" err="1">
                <a:solidFill>
                  <a:srgbClr val="DC2626"/>
                </a:solidFill>
                <a:latin typeface="Consolas"/>
              </a:rPr>
              <a:t>headerShown:false</a:t>
            </a:r>
            <a:r>
              <a:rPr sz="1050" dirty="0">
                <a:solidFill>
                  <a:srgbClr val="DC2626"/>
                </a:solidFill>
                <a:latin typeface="Consolas"/>
              </a:rPr>
              <a:t>}}&gt;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4239930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>
                <a:solidFill>
                  <a:srgbClr val="059669"/>
                </a:solidFill>
                <a:latin typeface="Consolas"/>
              </a:rPr>
              <a:t>Only hide per-screen with options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16 / 18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3B00D4-693E-7396-3D3D-D4C20F4B813F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33120"/>
            <a:ext cx="62079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Stack Navigation 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Essentials: Review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1035" y="919361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1035" y="919361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835" y="887600"/>
            <a:ext cx="245887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&lt;Stack&gt; is the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835" y="1144594"/>
            <a:ext cx="60884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Calibri"/>
              </a:rPr>
              <a:t>Every expo-router app starts with one — it's the root navigator.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1035" y="1522865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1035" y="1522865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835" y="1500729"/>
            <a:ext cx="23474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push · replace ·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835" y="1748097"/>
            <a:ext cx="48269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chemeClr val="bg1"/>
                </a:solidFill>
                <a:latin typeface="Calibri"/>
              </a:rPr>
              <a:t>router.push</a:t>
            </a:r>
            <a:r>
              <a:rPr dirty="0">
                <a:solidFill>
                  <a:schemeClr val="bg1"/>
                </a:solidFill>
                <a:latin typeface="Calibri"/>
              </a:rPr>
              <a:t>() adds · replace() swaps · back() pops.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1035" y="2126369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1035" y="2126369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835" y="2104233"/>
            <a:ext cx="17027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&lt;Link href=...&gt;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835" y="2351602"/>
            <a:ext cx="54089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Declarative navigation — wrap a Pressable with asChild.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035" y="2729873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1035" y="2729873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835" y="2707737"/>
            <a:ext cx="23256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Headers are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835" y="2955106"/>
            <a:ext cx="49285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&lt;Stack.Screen options={{ title, headerRight, ... }} /&gt;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1035" y="3333377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1035" y="3333377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835" y="3311241"/>
            <a:ext cx="9210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[id].tsx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835" y="3558610"/>
            <a:ext cx="656083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Square-bracket file = dynamic route. useLocalSearchParams reads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1035" y="3936881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1035" y="3936881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835" y="3914744"/>
            <a:ext cx="18923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Nest inside Tabs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835" y="4162114"/>
            <a:ext cx="69023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Put a _layout.tsx inside (tabs)/courses → drill-down with the bar visible.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6777" y="4919953"/>
            <a:ext cx="47961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F59E0B"/>
                </a:solidFill>
                <a:latin typeface="Calibri"/>
              </a:rPr>
              <a:t>17 / 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A4E19E-2DA9-7519-3C84-45B5BEFAFCB1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5920"/>
            <a:ext cx="17161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4253"/>
            <a:ext cx="63434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You can now build any app's navigation skeleton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128" y="1085248"/>
            <a:ext cx="399129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128" y="1129525"/>
            <a:ext cx="41375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✅  What We Covered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720" y="1505872"/>
            <a:ext cx="4123484" cy="314419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b="1" dirty="0">
                <a:solidFill>
                  <a:srgbClr val="334155"/>
                </a:solidFill>
                <a:latin typeface="Calibri"/>
              </a:rPr>
              <a:t>Tabs: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(tabs)/_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layout.tsx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with shared options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Ionicons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+ focused / unfocused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Badges, hidden tabs, theming</a:t>
            </a:r>
          </a:p>
          <a:p>
            <a:pPr>
              <a:lnSpc>
                <a:spcPct val="115000"/>
              </a:lnSpc>
            </a:pPr>
            <a:r>
              <a:rPr sz="1600" b="1" dirty="0">
                <a:solidFill>
                  <a:srgbClr val="334155"/>
                </a:solidFill>
                <a:latin typeface="Calibri"/>
              </a:rPr>
              <a:t>Stack: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&lt;Stack&gt; is the root navigator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push · replace · back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&lt;Link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href</a:t>
            </a:r>
            <a:r>
              <a:rPr sz="1600" dirty="0">
                <a:solidFill>
                  <a:srgbClr val="334155"/>
                </a:solidFill>
                <a:latin typeface="Calibri"/>
              </a:rPr>
              <a:t>&gt; + dynamic routes [id].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tsx</a:t>
            </a:r>
            <a:endParaRPr sz="1600" dirty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1600" dirty="0">
                <a:solidFill>
                  <a:srgbClr val="334155"/>
                </a:solidFill>
                <a:latin typeface="Calibri"/>
              </a:rPr>
              <a:t>()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Per-screen header customization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Nesting Stack inside a Tab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31298" y="1085248"/>
            <a:ext cx="412348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66179" y="1129525"/>
            <a:ext cx="3984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▶  Week 5 — State, Hooks &amp;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5889" y="1592497"/>
            <a:ext cx="3984996" cy="2861040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With navigation done, we need data.</a:t>
            </a:r>
          </a:p>
          <a:p>
            <a:pPr>
              <a:lnSpc>
                <a:spcPct val="115000"/>
              </a:lnSpc>
            </a:pPr>
            <a:r>
              <a:rPr sz="1600" b="1" dirty="0">
                <a:solidFill>
                  <a:srgbClr val="334155"/>
                </a:solidFill>
                <a:latin typeface="Calibri"/>
              </a:rPr>
              <a:t>Next week: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useState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— local component state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useEffect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— fetching from APIs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FlatList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— virtualized lists for performance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Pull-to-refresh &amp; infinite scroll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Sharing state across screens</a:t>
            </a:r>
          </a:p>
          <a:p>
            <a:pPr>
              <a:lnSpc>
                <a:spcPct val="115000"/>
              </a:lnSpc>
            </a:pPr>
            <a:endParaRPr sz="1600" dirty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Bring 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DrinkTracker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from today —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we'll wire it up to a real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965192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E2E8F0"/>
                </a:solidFill>
                <a:latin typeface="Calibri"/>
              </a:rPr>
              <a:t>Week 6 · Day 2  ·  Stack Navigation in Expo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18 / 18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9E081A-6708-E797-A1A6-6BA718DE5E83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4040</Words>
  <Application>Microsoft Office PowerPoint</Application>
  <PresentationFormat>On-screen Show (16:9)</PresentationFormat>
  <Paragraphs>563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2026-08-30T20:27:10Z</dcterms:created>
  <dcterms:modified xsi:type="dcterms:W3CDTF">2026-08-30T20:27:17Z</dcterms:modified>
  <cp:category/>
</cp:coreProperties>
</file>