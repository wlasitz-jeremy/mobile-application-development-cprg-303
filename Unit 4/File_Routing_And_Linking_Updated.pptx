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3390" autoAdjust="0"/>
  </p:normalViewPr>
  <p:slideViewPr>
    <p:cSldViewPr snapToGrid="0" snapToObjects="1">
      <p:cViewPr varScale="1">
        <p:scale>
          <a:sx n="73" d="100"/>
          <a:sy n="73" d="100"/>
        </p:scale>
        <p:origin x="2616" y="60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F3EBA-CCEA-4703-9ADD-00D66E6E3C5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8509A-5F1B-4CAA-A326-602A688D4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47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70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09A-5F1B-4CAA-A326-602A688D42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28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09A-5F1B-4CAA-A326-602A688D42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68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09A-5F1B-4CAA-A326-602A688D42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80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09A-5F1B-4CAA-A326-602A688D42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19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09A-5F1B-4CAA-A326-602A688D42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85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09A-5F1B-4CAA-A326-602A688D42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99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09A-5F1B-4CAA-A326-602A688D42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67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8509A-5F1B-4CAA-A326-602A688D42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25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4732020"/>
            <a:ext cx="9141714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1191" y="1307842"/>
            <a:ext cx="9141714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50" b="1" dirty="0">
                <a:solidFill>
                  <a:srgbClr val="FFFFFF"/>
                </a:solidFill>
              </a:rPr>
              <a:t>File-Based Routing &amp; Linking</a:t>
            </a:r>
            <a:endParaRPr sz="3750" b="1" dirty="0">
              <a:solidFill>
                <a:srgbClr val="FFFFFF"/>
              </a:solidFill>
            </a:endParaRPr>
          </a:p>
        </p:txBody>
      </p:sp>
      <p:sp>
        <p:nvSpPr>
          <p:cNvPr id="10" name="Subtitle 3">
            <a:extLst>
              <a:ext uri="{FF2B5EF4-FFF2-40B4-BE49-F238E27FC236}">
                <a16:creationId xmlns:a16="http://schemas.microsoft.com/office/drawing/2014/main" id="{13F6F202-F5E2-FAA5-5C18-6BB820DB8BA2}"/>
              </a:ext>
            </a:extLst>
          </p:cNvPr>
          <p:cNvSpPr txBox="1">
            <a:spLocks/>
          </p:cNvSpPr>
          <p:nvPr/>
        </p:nvSpPr>
        <p:spPr>
          <a:xfrm>
            <a:off x="202621" y="436466"/>
            <a:ext cx="5928567" cy="615250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/>
              <a:t>CPRG303 – Mobile Application Development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EF02DABF-5EE0-6A33-D4A8-1CD72CBFF878}"/>
              </a:ext>
            </a:extLst>
          </p:cNvPr>
          <p:cNvSpPr txBox="1">
            <a:spLocks/>
          </p:cNvSpPr>
          <p:nvPr/>
        </p:nvSpPr>
        <p:spPr>
          <a:xfrm>
            <a:off x="1191" y="3130832"/>
            <a:ext cx="9141618" cy="124182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342900">
              <a:lnSpc>
                <a:spcPct val="120000"/>
              </a:lnSpc>
              <a:spcAft>
                <a:spcPts val="450"/>
              </a:spcAft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342900">
              <a:lnSpc>
                <a:spcPct val="120000"/>
              </a:lnSpc>
              <a:spcAft>
                <a:spcPts val="450"/>
              </a:spcAft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5EE739-42FC-EE6C-DE45-FC584BC65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" y="3039775"/>
            <a:ext cx="1223889" cy="1667260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2D98DE45-D28E-5390-7E59-9AC0A7695EA7}"/>
              </a:ext>
            </a:extLst>
          </p:cNvPr>
          <p:cNvSpPr/>
          <p:nvPr/>
        </p:nvSpPr>
        <p:spPr>
          <a:xfrm>
            <a:off x="1192" y="4746562"/>
            <a:ext cx="9141713" cy="396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sz="13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88434-950C-C7DA-86CF-B1BF43238053}"/>
              </a:ext>
            </a:extLst>
          </p:cNvPr>
          <p:cNvSpPr txBox="1"/>
          <p:nvPr/>
        </p:nvSpPr>
        <p:spPr>
          <a:xfrm>
            <a:off x="0" y="2208163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dirty="0">
                <a:solidFill>
                  <a:srgbClr val="00B0F0"/>
                </a:solidFill>
                <a:latin typeface="Calibri"/>
              </a:rPr>
              <a:t>app/ folder · </a:t>
            </a:r>
            <a:r>
              <a:rPr sz="2800" dirty="0" err="1">
                <a:solidFill>
                  <a:srgbClr val="00B0F0"/>
                </a:solidFill>
                <a:latin typeface="Calibri"/>
              </a:rPr>
              <a:t>index.tsx</a:t>
            </a:r>
            <a:r>
              <a:rPr sz="2800" dirty="0">
                <a:solidFill>
                  <a:srgbClr val="00B0F0"/>
                </a:solidFill>
                <a:latin typeface="Calibri"/>
              </a:rPr>
              <a:t> · &lt;Link&gt; · </a:t>
            </a:r>
            <a:r>
              <a:rPr sz="2800" dirty="0" err="1">
                <a:solidFill>
                  <a:srgbClr val="00B0F0"/>
                </a:solidFill>
                <a:latin typeface="Calibri"/>
              </a:rPr>
              <a:t>router.push</a:t>
            </a:r>
            <a:r>
              <a:rPr sz="2800" dirty="0">
                <a:solidFill>
                  <a:srgbClr val="00B0F0"/>
                </a:solidFill>
                <a:latin typeface="Calibri"/>
              </a:rPr>
              <a:t>() · </a:t>
            </a:r>
            <a:r>
              <a:rPr sz="2800" dirty="0" err="1">
                <a:solidFill>
                  <a:srgbClr val="00B0F0"/>
                </a:solidFill>
                <a:latin typeface="Calibri"/>
              </a:rPr>
              <a:t>router.back</a:t>
            </a:r>
            <a:r>
              <a:rPr sz="2800" dirty="0">
                <a:solidFill>
                  <a:srgbClr val="00B0F0"/>
                </a:solidFill>
                <a:latin typeface="Calibri"/>
              </a:rPr>
              <a:t>()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8154"/>
            <a:ext cx="69043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Calibri"/>
              </a:rPr>
              <a:t>File-Based Routing &amp; Linking Basics</a:t>
            </a:r>
            <a:endParaRPr sz="36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 flipV="1">
            <a:off x="365759" y="538862"/>
            <a:ext cx="861901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30720"/>
            <a:ext cx="631147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Master these and Tabs + Stack feels effortless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4160520" cy="361188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75640"/>
            <a:ext cx="19505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59E0B"/>
                </a:solidFill>
                <a:latin typeface="Calibri"/>
              </a:rPr>
              <a:t>01  ·  FILE =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4927"/>
            <a:ext cx="353468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FFFFFF"/>
                </a:solidFill>
                <a:latin typeface="Calibri"/>
              </a:rPr>
              <a:t>The app folder IS your URL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0002"/>
            <a:ext cx="3840480" cy="28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dirty="0">
                <a:solidFill>
                  <a:srgbClr val="F1F5F9"/>
                </a:solidFill>
                <a:latin typeface="Calibri"/>
              </a:rPr>
              <a:t>Every .</a:t>
            </a:r>
            <a:r>
              <a:rPr sz="1400" dirty="0" err="1">
                <a:solidFill>
                  <a:srgbClr val="F1F5F9"/>
                </a:solidFill>
                <a:latin typeface="Calibri"/>
              </a:rPr>
              <a:t>tsx</a:t>
            </a:r>
            <a:r>
              <a:rPr sz="1400" dirty="0">
                <a:solidFill>
                  <a:srgbClr val="F1F5F9"/>
                </a:solidFill>
                <a:latin typeface="Calibri"/>
              </a:rPr>
              <a:t> file inside app/ automatically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F1F5F9"/>
                </a:solidFill>
                <a:latin typeface="Calibri"/>
              </a:rPr>
              <a:t>becomes a navigable screen.</a:t>
            </a:r>
          </a:p>
          <a:p>
            <a:pPr>
              <a:lnSpc>
                <a:spcPct val="115000"/>
              </a:lnSpc>
            </a:pPr>
            <a:endParaRPr sz="1400" dirty="0">
              <a:solidFill>
                <a:srgbClr val="F1F5F9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F1F5F9"/>
                </a:solidFill>
                <a:latin typeface="Calibri"/>
              </a:rPr>
              <a:t>•  app/</a:t>
            </a:r>
            <a:r>
              <a:rPr sz="1400" dirty="0" err="1">
                <a:solidFill>
                  <a:srgbClr val="F1F5F9"/>
                </a:solidFill>
                <a:latin typeface="Calibri"/>
              </a:rPr>
              <a:t>index.tsx</a:t>
            </a:r>
            <a:r>
              <a:rPr sz="1400" dirty="0">
                <a:solidFill>
                  <a:srgbClr val="F1F5F9"/>
                </a:solidFill>
                <a:latin typeface="Calibri"/>
              </a:rPr>
              <a:t>        →  /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F1F5F9"/>
                </a:solidFill>
                <a:latin typeface="Calibri"/>
              </a:rPr>
              <a:t>•  app/</a:t>
            </a:r>
            <a:r>
              <a:rPr sz="1400" dirty="0" err="1">
                <a:solidFill>
                  <a:srgbClr val="F1F5F9"/>
                </a:solidFill>
                <a:latin typeface="Calibri"/>
              </a:rPr>
              <a:t>about.tsx</a:t>
            </a:r>
            <a:r>
              <a:rPr sz="1400" dirty="0">
                <a:solidFill>
                  <a:srgbClr val="F1F5F9"/>
                </a:solidFill>
                <a:latin typeface="Calibri"/>
              </a:rPr>
              <a:t>        →  /about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F1F5F9"/>
                </a:solidFill>
                <a:latin typeface="Calibri"/>
              </a:rPr>
              <a:t>•  app/</a:t>
            </a:r>
            <a:r>
              <a:rPr sz="1400" dirty="0" err="1">
                <a:solidFill>
                  <a:srgbClr val="F1F5F9"/>
                </a:solidFill>
                <a:latin typeface="Calibri"/>
              </a:rPr>
              <a:t>profile.tsx</a:t>
            </a:r>
            <a:r>
              <a:rPr sz="1400" dirty="0">
                <a:solidFill>
                  <a:srgbClr val="F1F5F9"/>
                </a:solidFill>
                <a:latin typeface="Calibri"/>
              </a:rPr>
              <a:t>      →  /profile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F1F5F9"/>
                </a:solidFill>
                <a:latin typeface="Calibri"/>
              </a:rPr>
              <a:t>•  app/_</a:t>
            </a:r>
            <a:r>
              <a:rPr sz="1400" dirty="0" err="1">
                <a:solidFill>
                  <a:srgbClr val="F1F5F9"/>
                </a:solidFill>
                <a:latin typeface="Calibri"/>
              </a:rPr>
              <a:t>layout.tsx</a:t>
            </a:r>
            <a:r>
              <a:rPr sz="1400" dirty="0">
                <a:solidFill>
                  <a:srgbClr val="F1F5F9"/>
                </a:solidFill>
                <a:latin typeface="Calibri"/>
              </a:rPr>
              <a:t>      →  the shell</a:t>
            </a:r>
          </a:p>
          <a:p>
            <a:pPr>
              <a:lnSpc>
                <a:spcPct val="115000"/>
              </a:lnSpc>
            </a:pPr>
            <a:endParaRPr sz="1400" dirty="0">
              <a:solidFill>
                <a:srgbClr val="F1F5F9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F1F5F9"/>
                </a:solidFill>
                <a:latin typeface="Calibri"/>
              </a:rPr>
              <a:t>No router config — no routing array,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F1F5F9"/>
                </a:solidFill>
                <a:latin typeface="Calibri"/>
              </a:rPr>
              <a:t>no </a:t>
            </a:r>
            <a:r>
              <a:rPr sz="1400" dirty="0" err="1">
                <a:solidFill>
                  <a:srgbClr val="F1F5F9"/>
                </a:solidFill>
                <a:latin typeface="Calibri"/>
              </a:rPr>
              <a:t>createBottomTabNavigator</a:t>
            </a:r>
            <a:r>
              <a:rPr sz="1400" dirty="0">
                <a:solidFill>
                  <a:srgbClr val="F1F5F9"/>
                </a:solidFill>
                <a:latin typeface="Calibri"/>
              </a:rPr>
              <a:t>(...).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F1F5F9"/>
                </a:solidFill>
                <a:latin typeface="Calibri"/>
              </a:rPr>
              <a:t>Just create the file. Done.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188720"/>
            <a:ext cx="4160520" cy="361188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275640"/>
            <a:ext cx="149111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59E0B"/>
                </a:solidFill>
                <a:latin typeface="Calibri"/>
              </a:rPr>
              <a:t>02  ·  LINKING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04927"/>
            <a:ext cx="3840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FFFFFF"/>
                </a:solidFill>
                <a:latin typeface="Calibri"/>
              </a:rPr>
              <a:t>Two ways to navigate, on 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040050"/>
            <a:ext cx="3840480" cy="28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F1F5F9"/>
                </a:solidFill>
                <a:latin typeface="Calibri"/>
              </a:rPr>
              <a:t>Move between screens declaratively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F1F5F9"/>
                </a:solidFill>
                <a:latin typeface="Calibri"/>
              </a:rPr>
              <a:t>or imperatively — both ship with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F1F5F9"/>
                </a:solidFill>
                <a:latin typeface="Calibri"/>
              </a:rPr>
              <a:t>expo-router.</a:t>
            </a:r>
          </a:p>
          <a:p>
            <a:pPr>
              <a:lnSpc>
                <a:spcPct val="115000"/>
              </a:lnSpc>
            </a:pP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F1F5F9"/>
                </a:solidFill>
                <a:latin typeface="Calibri"/>
              </a:rPr>
              <a:t>•  &lt;Link href="/profile"&gt;  →  in JSX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F1F5F9"/>
                </a:solidFill>
                <a:latin typeface="Calibri"/>
              </a:rPr>
              <a:t>•  router.push('/profile')  →  in code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F1F5F9"/>
                </a:solidFill>
                <a:latin typeface="Calibri"/>
              </a:rPr>
              <a:t>•  router.back()  →  pop one screen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F1F5F9"/>
                </a:solidFill>
                <a:latin typeface="Calibri"/>
              </a:rPr>
              <a:t>•  router.replace(...)  →  no history</a:t>
            </a:r>
          </a:p>
          <a:p>
            <a:pPr>
              <a:lnSpc>
                <a:spcPct val="115000"/>
              </a:lnSpc>
            </a:pPr>
            <a:endParaRPr sz="1400">
              <a:solidFill>
                <a:srgbClr val="F1F5F9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F1F5F9"/>
                </a:solidFill>
                <a:latin typeface="Calibri"/>
              </a:rPr>
              <a:t>Same URL syntax as the web. Type-safe.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F1F5F9"/>
                </a:solidFill>
                <a:latin typeface="Calibri"/>
              </a:rPr>
              <a:t>Works on iOS, Android, and web.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489" y="4925777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dirty="0">
                <a:solidFill>
                  <a:srgbClr val="F59E0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18080"/>
            <a:ext cx="66732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dirty="0">
                <a:solidFill>
                  <a:schemeClr val="bg1"/>
                </a:solidFill>
                <a:latin typeface="Calibri"/>
              </a:rPr>
              <a:t>File = Route — A Worked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72560"/>
            <a:ext cx="6497264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16048"/>
            <a:ext cx="83435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Side by side: what you create on disk vs. what your phone sees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27907"/>
            <a:ext cx="4023360" cy="3703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475488" y="1273627"/>
            <a:ext cx="123777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Calibri"/>
              </a:rPr>
              <a:t>What you 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38803"/>
            <a:ext cx="3803904" cy="309347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dirty="0">
                <a:solidFill>
                  <a:srgbClr val="FFFF00"/>
                </a:solidFill>
                <a:latin typeface="Consolas"/>
              </a:rPr>
              <a:t>// Project on disk</a:t>
            </a: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05966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59E0B"/>
                </a:solidFill>
                <a:latin typeface="Consolas"/>
              </a:rPr>
              <a:t>app/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├── _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layout.tsx</a:t>
            </a:r>
            <a:r>
              <a:rPr sz="1200" dirty="0">
                <a:solidFill>
                  <a:srgbClr val="F1F5F9"/>
                </a:solidFill>
                <a:latin typeface="Consolas"/>
              </a:rPr>
              <a:t>        # parent shell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├──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index.tsx</a:t>
            </a:r>
            <a:r>
              <a:rPr sz="1200" dirty="0">
                <a:solidFill>
                  <a:srgbClr val="F1F5F9"/>
                </a:solidFill>
                <a:latin typeface="Consolas"/>
              </a:rPr>
              <a:t>          # default screen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├──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about.tsx</a:t>
            </a: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├──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profile.tsx</a:t>
            </a: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├──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login.tsx</a:t>
            </a: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59E0B"/>
                </a:solidFill>
                <a:latin typeface="Consolas"/>
              </a:rPr>
              <a:t>├── course/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│    └──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detail.tsx</a:t>
            </a: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└──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help.tsx</a:t>
            </a: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b="1" dirty="0">
                <a:solidFill>
                  <a:srgbClr val="FFFF00"/>
                </a:solidFill>
                <a:latin typeface="Consolas"/>
              </a:rPr>
              <a:t>// Files OUTSIDE app/ are NOT routes: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components/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assets/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utils/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227907"/>
            <a:ext cx="4206240" cy="3703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4681728" y="1273627"/>
            <a:ext cx="13908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Calibri"/>
              </a:rPr>
              <a:t>What the user 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538803"/>
            <a:ext cx="3986783" cy="289957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dirty="0">
                <a:solidFill>
                  <a:srgbClr val="FFFF00"/>
                </a:solidFill>
                <a:latin typeface="Consolas"/>
              </a:rPr>
              <a:t>// URLs your app automatically supports</a:t>
            </a: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05966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/                  → 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index.tsx</a:t>
            </a: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/about             → 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about.tsx</a:t>
            </a: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/profile           → 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profile.tsx</a:t>
            </a: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/login             → 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login.tsx</a:t>
            </a: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/course/detail     →  course/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detail.tsx</a:t>
            </a: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/help              → 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help.tsx</a:t>
            </a: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Open any URL by typing in the URL bar,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scanning a deep link, or clicking &lt;Link&gt;.</a:t>
            </a: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05966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_</a:t>
            </a:r>
            <a:r>
              <a:rPr sz="1200" dirty="0" err="1">
                <a:solidFill>
                  <a:srgbClr val="059669"/>
                </a:solidFill>
                <a:latin typeface="Consolas"/>
              </a:rPr>
              <a:t>layout.tsx</a:t>
            </a:r>
            <a:r>
              <a:rPr sz="1200" dirty="0">
                <a:solidFill>
                  <a:srgbClr val="059669"/>
                </a:solidFill>
                <a:latin typeface="Consolas"/>
              </a:rPr>
              <a:t> files are SHELLS — not URLs.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  They wrap their siblings.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  E.g., app/_</a:t>
            </a:r>
            <a:r>
              <a:rPr sz="1200" dirty="0" err="1">
                <a:solidFill>
                  <a:srgbClr val="059669"/>
                </a:solidFill>
                <a:latin typeface="Consolas"/>
              </a:rPr>
              <a:t>layout.tsx</a:t>
            </a:r>
            <a:r>
              <a:rPr sz="1200" dirty="0">
                <a:solidFill>
                  <a:srgbClr val="059669"/>
                </a:solidFill>
                <a:latin typeface="Consolas"/>
              </a:rPr>
              <a:t> wraps ALL routes.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18080"/>
            <a:ext cx="59131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Calibri"/>
              </a:rPr>
              <a:t>Most Important Expo Router Files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4603" y="625616"/>
            <a:ext cx="907498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dirty="0" err="1">
                <a:solidFill>
                  <a:schemeClr val="bg1"/>
                </a:solidFill>
                <a:latin typeface="Calibri"/>
              </a:rPr>
              <a:t>index.tsx</a:t>
            </a:r>
            <a:r>
              <a:rPr sz="2400" dirty="0">
                <a:solidFill>
                  <a:schemeClr val="bg1"/>
                </a:solidFill>
                <a:latin typeface="Calibri"/>
              </a:rPr>
              <a:t> and _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sz="2400" dirty="0">
                <a:solidFill>
                  <a:schemeClr val="bg1"/>
                </a:solidFill>
                <a:latin typeface="Calibri"/>
              </a:rPr>
              <a:t> — the only file names that mean something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7714"/>
            <a:ext cx="41605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1260866"/>
            <a:ext cx="1596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📄  index.tsx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08338"/>
            <a:ext cx="3849624" cy="3002617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= the default file for its folder.</a:t>
            </a:r>
          </a:p>
          <a:p>
            <a:pPr>
              <a:lnSpc>
                <a:spcPct val="115000"/>
              </a:lnSpc>
            </a:pPr>
            <a:endParaRPr sz="8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app/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index.tsx</a:t>
            </a:r>
            <a:r>
              <a:rPr sz="1600" dirty="0">
                <a:solidFill>
                  <a:schemeClr val="bg1"/>
                </a:solidFill>
                <a:latin typeface="Calibri"/>
              </a:rPr>
              <a:t>                     →   /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app/course/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index.tsx</a:t>
            </a:r>
            <a:r>
              <a:rPr sz="1600" dirty="0">
                <a:solidFill>
                  <a:schemeClr val="bg1"/>
                </a:solidFill>
                <a:latin typeface="Calibri"/>
              </a:rPr>
              <a:t>              →   /course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app/(tabs)/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index.tsx</a:t>
            </a:r>
            <a:r>
              <a:rPr sz="1600" dirty="0">
                <a:solidFill>
                  <a:schemeClr val="bg1"/>
                </a:solidFill>
                <a:latin typeface="Calibri"/>
              </a:rPr>
              <a:t>              →   first tab</a:t>
            </a:r>
          </a:p>
          <a:p>
            <a:pPr>
              <a:lnSpc>
                <a:spcPct val="115000"/>
              </a:lnSpc>
            </a:pPr>
            <a:endParaRPr sz="8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Same convention as the web: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  index.html is the default for a folder.</a:t>
            </a:r>
          </a:p>
          <a:p>
            <a:pPr>
              <a:lnSpc>
                <a:spcPct val="115000"/>
              </a:lnSpc>
            </a:pPr>
            <a:endParaRPr sz="8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Without an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index.tsx</a:t>
            </a:r>
            <a:r>
              <a:rPr sz="1600" dirty="0">
                <a:solidFill>
                  <a:schemeClr val="bg1"/>
                </a:solidFill>
                <a:latin typeface="Calibri"/>
              </a:rPr>
              <a:t>, the URL for that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folder doesn't resolve to anything —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you'd see a blank screen.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187714"/>
            <a:ext cx="41605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64024" y="1260866"/>
            <a:ext cx="18097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🪜  _layout.tsx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608338"/>
            <a:ext cx="3849624" cy="3285771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= the SHELL that wraps every sibling.</a:t>
            </a:r>
          </a:p>
          <a:p>
            <a:pPr>
              <a:lnSpc>
                <a:spcPct val="115000"/>
              </a:lnSpc>
            </a:pPr>
            <a:endParaRPr sz="8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Render a &lt;Stack&gt; here → all sibling files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become 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pushable</a:t>
            </a:r>
            <a:r>
              <a:rPr sz="1600" dirty="0">
                <a:solidFill>
                  <a:schemeClr val="bg1"/>
                </a:solidFill>
                <a:latin typeface="Calibri"/>
              </a:rPr>
              <a:t> screens.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Render a &lt;Tabs&gt; here → they become tabs.</a:t>
            </a:r>
          </a:p>
          <a:p>
            <a:pPr>
              <a:lnSpc>
                <a:spcPct val="115000"/>
              </a:lnSpc>
            </a:pPr>
            <a:endParaRPr sz="8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Without an _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sz="1600" dirty="0">
                <a:solidFill>
                  <a:schemeClr val="bg1"/>
                </a:solidFill>
                <a:latin typeface="Calibri"/>
              </a:rPr>
              <a:t>, expo-router uses a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default Stack — so your app still works.</a:t>
            </a:r>
          </a:p>
          <a:p>
            <a:pPr>
              <a:lnSpc>
                <a:spcPct val="115000"/>
              </a:lnSpc>
            </a:pPr>
            <a:endParaRPr sz="8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Use _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sz="1600" dirty="0">
                <a:solidFill>
                  <a:schemeClr val="bg1"/>
                </a:solidFill>
                <a:latin typeface="Calibri"/>
              </a:rPr>
              <a:t> to: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  • theme headers / tab bars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  • wrap with providers (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SafeArea</a:t>
            </a:r>
            <a:r>
              <a:rPr sz="1600" dirty="0">
                <a:solidFill>
                  <a:schemeClr val="bg1"/>
                </a:solidFill>
                <a:latin typeface="Calibri"/>
              </a:rPr>
              <a:t>, etc.)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  • declare nested navigators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4 / 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FAE0E2-E554-1587-9C76-299A42F99B2B}"/>
              </a:ext>
            </a:extLst>
          </p:cNvPr>
          <p:cNvSpPr/>
          <p:nvPr/>
        </p:nvSpPr>
        <p:spPr>
          <a:xfrm>
            <a:off x="365760" y="532366"/>
            <a:ext cx="6497264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8323"/>
            <a:ext cx="62004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Calibri"/>
              </a:rPr>
              <a:t>Example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— Three Files, Two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75369"/>
            <a:ext cx="60978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This is the smallest possible Expo Router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4114800" cy="386791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475488" y="1102808"/>
            <a:ext cx="235192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59E0B"/>
                </a:solidFill>
                <a:latin typeface="Calibri"/>
              </a:rPr>
              <a:t>Files 1 &amp; 2 (the shell + Home)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08176"/>
            <a:ext cx="3895344" cy="348127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dirty="0">
                <a:solidFill>
                  <a:srgbClr val="FFFF00"/>
                </a:solidFill>
                <a:latin typeface="Consolas"/>
              </a:rPr>
              <a:t>// 1. app/_</a:t>
            </a:r>
            <a:r>
              <a:rPr sz="1200" b="1" dirty="0" err="1">
                <a:solidFill>
                  <a:srgbClr val="FFFF00"/>
                </a:solidFill>
                <a:latin typeface="Consolas"/>
              </a:rPr>
              <a:t>layout.tsx</a:t>
            </a:r>
            <a:endParaRPr sz="1200" b="1" dirty="0">
              <a:solidFill>
                <a:srgbClr val="FFFF00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DBEAFE"/>
                </a:solidFill>
                <a:latin typeface="Consolas"/>
              </a:rPr>
              <a:t>import { Stack } from 'expo-router';</a:t>
            </a: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export default function Layout() {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return &lt;Stack /&gt;;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F1F5F9"/>
              </a:solidFill>
              <a:latin typeface="Consolas"/>
            </a:endParaRPr>
          </a:p>
          <a:p>
            <a:pPr>
              <a:lnSpc>
                <a:spcPct val="105000"/>
              </a:lnSpc>
            </a:pPr>
            <a:r>
              <a:rPr sz="1200" b="1" dirty="0">
                <a:solidFill>
                  <a:srgbClr val="FFFF00"/>
                </a:solidFill>
                <a:latin typeface="Consolas"/>
              </a:rPr>
              <a:t>// 2. app/</a:t>
            </a:r>
            <a:r>
              <a:rPr sz="1200" b="1" dirty="0" err="1">
                <a:solidFill>
                  <a:srgbClr val="FFFF00"/>
                </a:solidFill>
                <a:latin typeface="Consolas"/>
              </a:rPr>
              <a:t>index.tsx</a:t>
            </a:r>
            <a:r>
              <a:rPr sz="1200" b="1" dirty="0">
                <a:solidFill>
                  <a:srgbClr val="FFFF00"/>
                </a:solidFill>
                <a:latin typeface="Consolas"/>
              </a:rPr>
              <a:t>   →   /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DBEAFE"/>
                </a:solidFill>
                <a:latin typeface="Consolas"/>
              </a:rPr>
              <a:t>import { Text, View } from 'react-native';</a:t>
            </a: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export default function Home() {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  &lt;View style={{padding:20}}&gt;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    &lt;Text&gt;Hello, this is Home.&lt;/Text&gt;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  &lt;/View&gt;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);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97280"/>
            <a:ext cx="4114800" cy="386791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4773168" y="1102808"/>
            <a:ext cx="19875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59E0B"/>
                </a:solidFill>
                <a:latin typeface="Calibri"/>
              </a:rPr>
              <a:t>File 3 (the second route)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408176"/>
            <a:ext cx="3895344" cy="3287375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dirty="0">
                <a:solidFill>
                  <a:srgbClr val="FFFF00"/>
                </a:solidFill>
                <a:latin typeface="Consolas"/>
              </a:rPr>
              <a:t>// 3. app/</a:t>
            </a:r>
            <a:r>
              <a:rPr sz="1200" b="1" dirty="0" err="1">
                <a:solidFill>
                  <a:srgbClr val="FFFF00"/>
                </a:solidFill>
                <a:latin typeface="Consolas"/>
              </a:rPr>
              <a:t>about.tsx</a:t>
            </a:r>
            <a:r>
              <a:rPr sz="1200" b="1" dirty="0">
                <a:solidFill>
                  <a:srgbClr val="FFFF00"/>
                </a:solidFill>
                <a:latin typeface="Consolas"/>
              </a:rPr>
              <a:t>   →   /about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DBEAFE"/>
                </a:solidFill>
                <a:latin typeface="Consolas"/>
              </a:rPr>
              <a:t>import { Text, View } from 'react-native';</a:t>
            </a: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export default function About() {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  &lt;View style={{padding:20}}&gt;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    &lt;Text&gt;This is the About page.&lt;/Text&gt;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  &lt;/View&gt;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);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That's it.  Three files.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  - Home is at  /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  - About is at /about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  - Stack gives a header + back arrow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    for free.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5 / 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8FFBE1-012C-CC5F-5A27-52CE1D710484}"/>
              </a:ext>
            </a:extLst>
          </p:cNvPr>
          <p:cNvSpPr/>
          <p:nvPr/>
        </p:nvSpPr>
        <p:spPr>
          <a:xfrm>
            <a:off x="365760" y="492174"/>
            <a:ext cx="6097888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58272"/>
            <a:ext cx="84998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Navigat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ion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— &lt;Link&gt; vs 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router.push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()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 or replace()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59" y="585419"/>
            <a:ext cx="7391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Same destination. Pick the one that fits the situation.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4160520" cy="3703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75488" y="1072664"/>
            <a:ext cx="13323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59E0B"/>
                </a:solidFill>
                <a:latin typeface="Calibri"/>
              </a:rPr>
              <a:t>&lt;Link&gt; — in JSX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08176"/>
            <a:ext cx="3941063" cy="338547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59E0B"/>
                </a:solidFill>
                <a:latin typeface="Consolas"/>
              </a:rPr>
              <a:t>// ── &lt;Link&gt; — DECLARATIVE ──</a:t>
            </a:r>
          </a:p>
          <a:p>
            <a:pPr algn="l">
              <a:lnSpc>
                <a:spcPct val="105000"/>
              </a:lnSpc>
            </a:pPr>
            <a:r>
              <a:rPr sz="1050" b="1" dirty="0">
                <a:solidFill>
                  <a:srgbClr val="FFFF00"/>
                </a:solidFill>
                <a:latin typeface="Consolas"/>
              </a:rPr>
              <a:t>//   Use in JSX, like a web &lt;a </a:t>
            </a:r>
            <a:r>
              <a:rPr sz="1050" b="1" dirty="0" err="1">
                <a:solidFill>
                  <a:srgbClr val="FFFF00"/>
                </a:solidFill>
                <a:latin typeface="Consolas"/>
              </a:rPr>
              <a:t>href</a:t>
            </a:r>
            <a:r>
              <a:rPr sz="1050" b="1" dirty="0">
                <a:solidFill>
                  <a:srgbClr val="FFFF00"/>
                </a:solidFill>
                <a:latin typeface="Consolas"/>
              </a:rPr>
              <a:t>&gt;</a:t>
            </a:r>
          </a:p>
          <a:p>
            <a:pPr algn="l">
              <a:lnSpc>
                <a:spcPct val="105000"/>
              </a:lnSpc>
            </a:pPr>
            <a:endParaRPr sz="800" dirty="0">
              <a:solidFill>
                <a:srgbClr val="05966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DBEAFE"/>
                </a:solidFill>
                <a:latin typeface="Consolas"/>
              </a:rPr>
              <a:t>import { Link } from 'expo-router';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&lt;Link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href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="/about"&gt;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&lt;Text&gt;About this app&lt;/Text&gt;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&lt;/Link&gt;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1F5F9"/>
              </a:solidFill>
              <a:latin typeface="Consolas"/>
            </a:endParaRPr>
          </a:p>
          <a:p>
            <a:pPr>
              <a:lnSpc>
                <a:spcPct val="105000"/>
              </a:lnSpc>
            </a:pPr>
            <a:r>
              <a:rPr sz="1050" b="1" dirty="0">
                <a:solidFill>
                  <a:srgbClr val="FFFF00"/>
                </a:solidFill>
                <a:latin typeface="Consolas"/>
              </a:rPr>
              <a:t>// Wrap any Pressable: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&lt;Link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href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="/profile"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asChild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&lt;Pressable style={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s.btn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}&gt;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  &lt;Text style={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s.btnText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}&gt;Go to profile&lt;/Text&gt;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&lt;/Pressable&gt;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&lt;/Link&gt;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1F5F9"/>
              </a:solidFill>
              <a:latin typeface="Consolas"/>
            </a:endParaRPr>
          </a:p>
          <a:p>
            <a:pPr>
              <a:lnSpc>
                <a:spcPct val="105000"/>
              </a:lnSpc>
            </a:pPr>
            <a:r>
              <a:rPr sz="1050" b="1" dirty="0">
                <a:solidFill>
                  <a:srgbClr val="FFFF00"/>
                </a:solidFill>
                <a:latin typeface="Consolas"/>
              </a:rPr>
              <a:t>// Replace instead of push: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&lt;Link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href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="/login" replace&gt;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&lt;Text&gt;Sign out&lt;/Text&gt;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&lt;/Link&gt;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97280"/>
            <a:ext cx="4160520" cy="3703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727448" y="1062616"/>
            <a:ext cx="19381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F59E0B"/>
                </a:solidFill>
                <a:latin typeface="Calibri"/>
              </a:rPr>
              <a:t>router.push</a:t>
            </a:r>
            <a:r>
              <a:rPr sz="1400" b="1" dirty="0">
                <a:solidFill>
                  <a:srgbClr val="F59E0B"/>
                </a:solidFill>
                <a:latin typeface="Calibri"/>
              </a:rPr>
              <a:t>() — in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408176"/>
            <a:ext cx="3941063" cy="321581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59E0B"/>
                </a:solidFill>
                <a:latin typeface="Consolas"/>
              </a:rPr>
              <a:t>// ── </a:t>
            </a:r>
            <a:r>
              <a:rPr sz="1050" dirty="0" err="1">
                <a:solidFill>
                  <a:srgbClr val="F59E0B"/>
                </a:solidFill>
                <a:latin typeface="Consolas"/>
              </a:rPr>
              <a:t>router.push</a:t>
            </a:r>
            <a:r>
              <a:rPr sz="1050" dirty="0">
                <a:solidFill>
                  <a:srgbClr val="F59E0B"/>
                </a:solidFill>
                <a:latin typeface="Consolas"/>
              </a:rPr>
              <a:t>() — IMPERATIVE ──</a:t>
            </a:r>
          </a:p>
          <a:p>
            <a:pPr algn="l">
              <a:lnSpc>
                <a:spcPct val="105000"/>
              </a:lnSpc>
            </a:pPr>
            <a:r>
              <a:rPr sz="1050" b="1" dirty="0">
                <a:solidFill>
                  <a:srgbClr val="FFFF00"/>
                </a:solidFill>
                <a:latin typeface="Consolas"/>
              </a:rPr>
              <a:t>// </a:t>
            </a:r>
            <a:r>
              <a:rPr sz="1050" dirty="0">
                <a:solidFill>
                  <a:srgbClr val="059669"/>
                </a:solidFill>
                <a:latin typeface="Consolas"/>
              </a:rPr>
              <a:t>  </a:t>
            </a:r>
            <a:r>
              <a:rPr sz="1050" b="1" dirty="0">
                <a:solidFill>
                  <a:srgbClr val="FFFF00"/>
                </a:solidFill>
                <a:latin typeface="Consolas"/>
              </a:rPr>
              <a:t>Use from event handlers, async, etc</a:t>
            </a:r>
            <a:r>
              <a:rPr sz="1050" dirty="0">
                <a:solidFill>
                  <a:srgbClr val="059669"/>
                </a:solidFill>
                <a:latin typeface="Consolas"/>
              </a:rPr>
              <a:t>.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05966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DBEAFE"/>
                </a:solidFill>
                <a:latin typeface="Consolas"/>
              </a:rPr>
              <a:t>import { </a:t>
            </a:r>
            <a:r>
              <a:rPr sz="1050" dirty="0" err="1">
                <a:solidFill>
                  <a:srgbClr val="DBEAFE"/>
                </a:solidFill>
                <a:latin typeface="Consolas"/>
              </a:rPr>
              <a:t>useRouter</a:t>
            </a:r>
            <a:r>
              <a:rPr sz="1050" dirty="0">
                <a:solidFill>
                  <a:srgbClr val="DBEAFE"/>
                </a:solidFill>
                <a:latin typeface="Consolas"/>
              </a:rPr>
              <a:t> } from 'expo-router';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export default function Home() {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const router =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useRouter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();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const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handleLogin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 = async () =&gt; {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  const ok = await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signIn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(email, pw);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  if (ok)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router.replace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('/profile');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};</a:t>
            </a:r>
          </a:p>
          <a:p>
            <a:pPr algn="l">
              <a:lnSpc>
                <a:spcPct val="105000"/>
              </a:lnSpc>
            </a:pPr>
            <a:endParaRPr sz="10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  &lt;Pressable 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onPress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={</a:t>
            </a:r>
            <a:r>
              <a:rPr sz="1050" dirty="0" err="1">
                <a:solidFill>
                  <a:srgbClr val="F1F5F9"/>
                </a:solidFill>
                <a:latin typeface="Consolas"/>
              </a:rPr>
              <a:t>handleLogin</a:t>
            </a:r>
            <a:r>
              <a:rPr sz="1050" dirty="0">
                <a:solidFill>
                  <a:srgbClr val="F1F5F9"/>
                </a:solidFill>
                <a:latin typeface="Consolas"/>
              </a:rPr>
              <a:t>}&gt;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    &lt;Text&gt;Sign in&lt;/Text&gt;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  &lt;/Pressable&gt;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  );</a:t>
            </a:r>
          </a:p>
          <a:p>
            <a:pPr algn="l">
              <a:lnSpc>
                <a:spcPct val="105000"/>
              </a:lnSpc>
            </a:pPr>
            <a:r>
              <a:rPr sz="1050" dirty="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6 / 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A4FF6F-F347-A05E-F6E5-091D2C73CFB5}"/>
              </a:ext>
            </a:extLst>
          </p:cNvPr>
          <p:cNvSpPr/>
          <p:nvPr/>
        </p:nvSpPr>
        <p:spPr>
          <a:xfrm>
            <a:off x="365760" y="492174"/>
            <a:ext cx="8302751" cy="4986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88420"/>
            <a:ext cx="397948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Calibri"/>
              </a:rPr>
              <a:t>Navigation Decision</a:t>
            </a:r>
            <a:endParaRPr sz="36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45710"/>
            <a:ext cx="38828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A simple two-rule heuristic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7" name="Rectangle 6"/>
          <p:cNvSpPr/>
          <p:nvPr/>
        </p:nvSpPr>
        <p:spPr>
          <a:xfrm>
            <a:off x="2468880" y="1188720"/>
            <a:ext cx="3108960" cy="384048"/>
          </a:xfrm>
          <a:prstGeom prst="rect">
            <a:avLst/>
          </a:prstGeom>
          <a:solidFill>
            <a:srgbClr val="00386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&lt;Link&gt;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188720"/>
            <a:ext cx="3200400" cy="384048"/>
          </a:xfrm>
          <a:prstGeom prst="rect">
            <a:avLst/>
          </a:prstGeom>
          <a:solidFill>
            <a:srgbClr val="00386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router.push()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b="1">
                <a:solidFill>
                  <a:srgbClr val="003865"/>
                </a:solidFill>
                <a:latin typeface="Calibri"/>
              </a:rPr>
              <a:t>Where it lives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572768"/>
            <a:ext cx="3108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Inside JSX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572768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Inside an event handler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21031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b="1">
                <a:solidFill>
                  <a:srgbClr val="003865"/>
                </a:solidFill>
                <a:latin typeface="Calibri"/>
              </a:rPr>
              <a:t>Reads like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011680"/>
            <a:ext cx="3108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&lt;a href&gt; on the 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011680"/>
            <a:ext cx="32004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A function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50592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b="1">
                <a:solidFill>
                  <a:srgbClr val="003865"/>
                </a:solidFill>
                <a:latin typeface="Calibri"/>
              </a:rPr>
              <a:t>Best for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450592"/>
            <a:ext cx="3108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Static navigation links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450592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After API calls / conditionals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89504"/>
            <a:ext cx="21031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b="1">
                <a:solidFill>
                  <a:srgbClr val="003865"/>
                </a:solidFill>
                <a:latin typeface="Calibri"/>
              </a:rPr>
              <a:t>Right-click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889504"/>
            <a:ext cx="3108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✓  Open in new tab (web)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889504"/>
            <a:ext cx="32004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dirty="0">
                <a:solidFill>
                  <a:srgbClr val="334155"/>
                </a:solidFill>
                <a:latin typeface="Calibri"/>
              </a:rPr>
              <a:t>✗  Just runs the function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28416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b="1">
                <a:solidFill>
                  <a:srgbClr val="003865"/>
                </a:solidFill>
                <a:latin typeface="Calibri"/>
              </a:rPr>
              <a:t>Accessibility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328416"/>
            <a:ext cx="3108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Screen reader knows it's a link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328416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Just sees a Pressable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67328"/>
            <a:ext cx="21031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b="1">
                <a:solidFill>
                  <a:srgbClr val="003865"/>
                </a:solidFill>
                <a:latin typeface="Calibri"/>
              </a:rPr>
              <a:t>Common example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3767328"/>
            <a:ext cx="3108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>
                <a:solidFill>
                  <a:srgbClr val="334155"/>
                </a:solidFill>
                <a:latin typeface="Calibri"/>
              </a:rPr>
              <a:t>Sidebar / menu links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767328"/>
            <a:ext cx="32004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50800" rtlCol="0" anchor="ctr"/>
          <a:lstStyle/>
          <a:p>
            <a:pPr algn="ctr"/>
            <a:r>
              <a:rPr sz="1700" dirty="0" err="1">
                <a:solidFill>
                  <a:srgbClr val="334155"/>
                </a:solidFill>
                <a:latin typeface="Calibri"/>
              </a:rPr>
              <a:t>router.replace</a:t>
            </a:r>
            <a:r>
              <a:rPr sz="1700" dirty="0">
                <a:solidFill>
                  <a:srgbClr val="334155"/>
                </a:solidFill>
                <a:latin typeface="Calibri"/>
              </a:rPr>
              <a:t>('/home') after login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01178"/>
            <a:ext cx="8412480" cy="61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b="1">
                <a:solidFill>
                  <a:srgbClr val="0F172A"/>
                </a:solidFill>
                <a:latin typeface="Calibri"/>
              </a:rPr>
              <a:t>Rule of thumb:  if you can write a &lt;Link&gt;, do.  Reach for router.push() only when you must.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7 / 10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20C131-68FA-23E4-FFCD-D505A66BAEFF}"/>
              </a:ext>
            </a:extLst>
          </p:cNvPr>
          <p:cNvSpPr/>
          <p:nvPr/>
        </p:nvSpPr>
        <p:spPr>
          <a:xfrm>
            <a:off x="365760" y="522318"/>
            <a:ext cx="8302751" cy="4986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88424"/>
            <a:ext cx="530985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dirty="0">
                <a:solidFill>
                  <a:schemeClr val="bg1"/>
                </a:solidFill>
                <a:latin typeface="Calibri"/>
              </a:rPr>
              <a:t>Live Demo — </a:t>
            </a:r>
            <a:r>
              <a:rPr sz="3600" b="1" dirty="0" err="1">
                <a:solidFill>
                  <a:schemeClr val="bg1"/>
                </a:solidFill>
                <a:latin typeface="Calibri"/>
              </a:rPr>
              <a:t>HelloRouting</a:t>
            </a:r>
            <a:endParaRPr sz="36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45709"/>
            <a:ext cx="480875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Three files · two ways to navigate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8412480" cy="3657600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79324" y="1212615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 err="1">
                <a:solidFill>
                  <a:srgbClr val="FFFFFF"/>
                </a:solidFill>
                <a:latin typeface="Calibri"/>
              </a:rPr>
              <a:t>HelloRouting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— file routing + &lt;Link&gt; +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router.push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24824"/>
            <a:ext cx="6628738" cy="28469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Aft>
                <a:spcPts val="600"/>
              </a:spcAft>
              <a:buAutoNum type="arabicPeriod" startAt="2"/>
            </a:pPr>
            <a:r>
              <a:rPr lang="en-US" dirty="0">
                <a:solidFill>
                  <a:srgbClr val="F1F5F9"/>
                </a:solidFill>
              </a:rPr>
              <a:t>Show the file tree — only app/_</a:t>
            </a:r>
            <a:r>
              <a:rPr lang="en-US" dirty="0" err="1">
                <a:solidFill>
                  <a:srgbClr val="F1F5F9"/>
                </a:solidFill>
              </a:rPr>
              <a:t>layout.tsx</a:t>
            </a:r>
            <a:r>
              <a:rPr lang="en-US" dirty="0">
                <a:solidFill>
                  <a:srgbClr val="F1F5F9"/>
                </a:solidFill>
              </a:rPr>
              <a:t> and app/</a:t>
            </a:r>
            <a:r>
              <a:rPr lang="en-US" dirty="0" err="1">
                <a:solidFill>
                  <a:srgbClr val="F1F5F9"/>
                </a:solidFill>
              </a:rPr>
              <a:t>index.tsx</a:t>
            </a:r>
            <a:r>
              <a:rPr lang="en-US" dirty="0">
                <a:solidFill>
                  <a:srgbClr val="F1F5F9"/>
                </a:solidFill>
              </a:rPr>
              <a:t> exist</a:t>
            </a:r>
          </a:p>
          <a:p>
            <a:pPr marL="342900" indent="-342900">
              <a:spcAft>
                <a:spcPts val="600"/>
              </a:spcAft>
              <a:buFontTx/>
              <a:buAutoNum type="arabicPeriod" startAt="2"/>
            </a:pPr>
            <a:r>
              <a:rPr lang="en-US" dirty="0">
                <a:solidFill>
                  <a:srgbClr val="F1F5F9"/>
                </a:solidFill>
              </a:rPr>
              <a:t> Run it on Expo Go — one screen with a placeholder</a:t>
            </a:r>
          </a:p>
          <a:p>
            <a:pPr marL="342900" indent="-342900">
              <a:spcAft>
                <a:spcPts val="600"/>
              </a:spcAft>
              <a:buFontTx/>
              <a:buAutoNum type="arabicPeriod" startAt="2"/>
            </a:pPr>
            <a:r>
              <a:rPr lang="en-US" dirty="0">
                <a:solidFill>
                  <a:srgbClr val="F1F5F9"/>
                </a:solidFill>
              </a:rPr>
              <a:t> Create  app/</a:t>
            </a:r>
            <a:r>
              <a:rPr lang="en-US" dirty="0" err="1">
                <a:solidFill>
                  <a:srgbClr val="F1F5F9"/>
                </a:solidFill>
              </a:rPr>
              <a:t>about.tsx</a:t>
            </a:r>
            <a:r>
              <a:rPr lang="en-US" dirty="0">
                <a:solidFill>
                  <a:srgbClr val="F1F5F9"/>
                </a:solidFill>
              </a:rPr>
              <a:t>  →  the URL  /about  works immediately</a:t>
            </a:r>
          </a:p>
          <a:p>
            <a:pPr marL="342900" indent="-342900">
              <a:spcAft>
                <a:spcPts val="600"/>
              </a:spcAft>
              <a:buFontTx/>
              <a:buAutoNum type="arabicPeriod" startAt="2"/>
            </a:pPr>
            <a:r>
              <a:rPr lang="en-US" dirty="0">
                <a:solidFill>
                  <a:srgbClr val="F1F5F9"/>
                </a:solidFill>
              </a:rPr>
              <a:t>Add a &lt;Link </a:t>
            </a:r>
            <a:r>
              <a:rPr lang="en-US" dirty="0" err="1">
                <a:solidFill>
                  <a:srgbClr val="F1F5F9"/>
                </a:solidFill>
              </a:rPr>
              <a:t>href</a:t>
            </a:r>
            <a:r>
              <a:rPr lang="en-US" dirty="0">
                <a:solidFill>
                  <a:srgbClr val="F1F5F9"/>
                </a:solidFill>
              </a:rPr>
              <a:t>="/about"&gt; on Home — tap → push to About</a:t>
            </a:r>
          </a:p>
          <a:p>
            <a:pPr marL="342900" indent="-342900">
              <a:spcAft>
                <a:spcPts val="600"/>
              </a:spcAft>
              <a:buFontTx/>
              <a:buAutoNum type="arabicPeriod" startAt="2"/>
            </a:pPr>
            <a:r>
              <a:rPr lang="en-US" dirty="0">
                <a:solidFill>
                  <a:srgbClr val="F1F5F9"/>
                </a:solidFill>
              </a:rPr>
              <a:t>Add  app/</a:t>
            </a:r>
            <a:r>
              <a:rPr lang="en-US" dirty="0" err="1">
                <a:solidFill>
                  <a:srgbClr val="F1F5F9"/>
                </a:solidFill>
              </a:rPr>
              <a:t>profile.tsx</a:t>
            </a:r>
            <a:r>
              <a:rPr lang="en-US" dirty="0">
                <a:solidFill>
                  <a:srgbClr val="F1F5F9"/>
                </a:solidFill>
              </a:rPr>
              <a:t>  with a 'Sign out' button</a:t>
            </a:r>
          </a:p>
          <a:p>
            <a:pPr marL="342900" indent="-342900">
              <a:spcAft>
                <a:spcPts val="600"/>
              </a:spcAft>
              <a:buFontTx/>
              <a:buAutoNum type="arabicPeriod" startAt="2"/>
            </a:pPr>
            <a:r>
              <a:rPr lang="en-US" dirty="0">
                <a:solidFill>
                  <a:srgbClr val="F1F5F9"/>
                </a:solidFill>
              </a:rPr>
              <a:t>Use  </a:t>
            </a:r>
            <a:r>
              <a:rPr lang="en-US" dirty="0" err="1">
                <a:solidFill>
                  <a:srgbClr val="F1F5F9"/>
                </a:solidFill>
              </a:rPr>
              <a:t>useRouter</a:t>
            </a:r>
            <a:r>
              <a:rPr lang="en-US" dirty="0">
                <a:solidFill>
                  <a:srgbClr val="F1F5F9"/>
                </a:solidFill>
              </a:rPr>
              <a:t>()  +  </a:t>
            </a:r>
            <a:r>
              <a:rPr lang="en-US" dirty="0" err="1">
                <a:solidFill>
                  <a:srgbClr val="F1F5F9"/>
                </a:solidFill>
              </a:rPr>
              <a:t>router.push</a:t>
            </a:r>
            <a:r>
              <a:rPr lang="en-US" dirty="0">
                <a:solidFill>
                  <a:srgbClr val="F1F5F9"/>
                </a:solidFill>
              </a:rPr>
              <a:t>('/profile')  from Home</a:t>
            </a:r>
          </a:p>
          <a:p>
            <a:pPr marL="342900" indent="-342900">
              <a:spcAft>
                <a:spcPts val="600"/>
              </a:spcAft>
              <a:buFontTx/>
              <a:buAutoNum type="arabicPeriod" startAt="2"/>
            </a:pPr>
            <a:r>
              <a:rPr lang="en-US" dirty="0">
                <a:solidFill>
                  <a:srgbClr val="F1F5F9"/>
                </a:solidFill>
              </a:rPr>
              <a:t>Use  </a:t>
            </a:r>
            <a:r>
              <a:rPr lang="en-US" dirty="0" err="1">
                <a:solidFill>
                  <a:srgbClr val="F1F5F9"/>
                </a:solidFill>
              </a:rPr>
              <a:t>router.replace</a:t>
            </a:r>
            <a:r>
              <a:rPr lang="en-US" dirty="0">
                <a:solidFill>
                  <a:srgbClr val="F1F5F9"/>
                </a:solidFill>
              </a:rPr>
              <a:t>('/')  on Sign-out  →  no back arrow!</a:t>
            </a:r>
          </a:p>
          <a:p>
            <a:pPr marL="342900" indent="-342900">
              <a:spcAft>
                <a:spcPts val="600"/>
              </a:spcAft>
              <a:buFontTx/>
              <a:buAutoNum type="arabicPeriod" startAt="2"/>
            </a:pPr>
            <a:r>
              <a:rPr lang="en-US" dirty="0">
                <a:solidFill>
                  <a:srgbClr val="F1F5F9"/>
                </a:solidFill>
              </a:rPr>
              <a:t> Compare with </a:t>
            </a:r>
            <a:r>
              <a:rPr lang="en-US" dirty="0" err="1">
                <a:solidFill>
                  <a:srgbClr val="F1F5F9"/>
                </a:solidFill>
              </a:rPr>
              <a:t>HelloRouting_final</a:t>
            </a:r>
            <a:r>
              <a:rPr lang="en-US" dirty="0">
                <a:solidFill>
                  <a:srgbClr val="F1F5F9"/>
                </a:solidFill>
              </a:rPr>
              <a:t> to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8 / 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D18C11-B8D2-014D-DAB6-5A6F7B48861C}"/>
              </a:ext>
            </a:extLst>
          </p:cNvPr>
          <p:cNvSpPr/>
          <p:nvPr/>
        </p:nvSpPr>
        <p:spPr>
          <a:xfrm>
            <a:off x="365760" y="492174"/>
            <a:ext cx="8302751" cy="4986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108521"/>
            <a:ext cx="544020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dirty="0">
                <a:solidFill>
                  <a:schemeClr val="bg1"/>
                </a:solidFill>
                <a:latin typeface="Calibri"/>
              </a:rPr>
              <a:t>Common Mistakes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55275"/>
            <a:ext cx="770787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If something looks broken, it's almost always one of these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502920" y="1044328"/>
            <a:ext cx="21018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⚠  File outside 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351596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chemeClr val="bg1"/>
                </a:solidFill>
                <a:latin typeface="Calibri"/>
              </a:rPr>
              <a:t>Routes only come from inside the app/ folder.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6797" y="1199776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200" dirty="0">
                <a:solidFill>
                  <a:srgbClr val="DC2626"/>
                </a:solidFill>
                <a:latin typeface="Consolas"/>
              </a:rPr>
              <a:t>components/</a:t>
            </a:r>
            <a:r>
              <a:rPr sz="1200" dirty="0" err="1">
                <a:solidFill>
                  <a:srgbClr val="DC2626"/>
                </a:solidFill>
                <a:latin typeface="Consolas"/>
              </a:rPr>
              <a:t>about.tsx</a:t>
            </a:r>
            <a:endParaRPr sz="1200" dirty="0">
              <a:solidFill>
                <a:srgbClr val="DC2626"/>
              </a:solidFill>
              <a:latin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65115" y="1199776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200" dirty="0">
                <a:solidFill>
                  <a:schemeClr val="bg1"/>
                </a:solidFill>
                <a:latin typeface="Consolas"/>
              </a:rPr>
              <a:t>app/</a:t>
            </a:r>
            <a:r>
              <a:rPr sz="1200" dirty="0" err="1">
                <a:solidFill>
                  <a:schemeClr val="bg1"/>
                </a:solidFill>
                <a:latin typeface="Consolas"/>
              </a:rPr>
              <a:t>about.tsx</a:t>
            </a:r>
            <a:endParaRPr sz="1200" dirty="0">
              <a:solidFill>
                <a:schemeClr val="bg1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1700784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502920" y="1637784"/>
            <a:ext cx="25179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⚠  Forgot default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38528"/>
            <a:ext cx="369466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chemeClr val="bg1"/>
                </a:solidFill>
                <a:latin typeface="Calibri"/>
              </a:rPr>
              <a:t>Each route file MUST export a default React component.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6797" y="1803280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200">
                <a:solidFill>
                  <a:srgbClr val="DC2626"/>
                </a:solidFill>
                <a:latin typeface="Consolas"/>
              </a:rPr>
              <a:t>export function About() {}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5115" y="1803280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200">
                <a:solidFill>
                  <a:schemeClr val="bg1"/>
                </a:solidFill>
                <a:latin typeface="Consolas"/>
              </a:rPr>
              <a:t>export default function About() {}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04288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502920" y="2241288"/>
            <a:ext cx="22738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⚠  Wrong Link import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542032"/>
            <a:ext cx="36574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chemeClr val="bg1"/>
                </a:solidFill>
                <a:latin typeface="Calibri"/>
              </a:rPr>
              <a:t>Comes from expo-router, not react-router-dom.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16797" y="2406784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200">
                <a:solidFill>
                  <a:srgbClr val="DC2626"/>
                </a:solidFill>
                <a:latin typeface="Consolas"/>
              </a:rPr>
              <a:t>import { Link } from 'react-router-dom'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65115" y="2406784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200">
                <a:solidFill>
                  <a:schemeClr val="bg1"/>
                </a:solidFill>
                <a:latin typeface="Consolas"/>
              </a:rPr>
              <a:t>import { Link } from 'expo-router'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07792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502920" y="2844792"/>
            <a:ext cx="24978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⚠  Missing leading slash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45536"/>
            <a:ext cx="35060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 err="1">
                <a:solidFill>
                  <a:schemeClr val="bg1"/>
                </a:solidFill>
                <a:latin typeface="Calibri"/>
              </a:rPr>
              <a:t>href</a:t>
            </a:r>
            <a:r>
              <a:rPr sz="1400" dirty="0">
                <a:solidFill>
                  <a:schemeClr val="bg1"/>
                </a:solidFill>
                <a:latin typeface="Calibri"/>
              </a:rPr>
              <a:t> values are absolute paths, like web URLs.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6797" y="3010288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200">
                <a:solidFill>
                  <a:srgbClr val="DC2626"/>
                </a:solidFill>
                <a:latin typeface="Consolas"/>
              </a:rPr>
              <a:t>&lt;Link href="about"&gt;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5115" y="3010288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200">
                <a:solidFill>
                  <a:schemeClr val="bg1"/>
                </a:solidFill>
                <a:latin typeface="Consolas"/>
              </a:rPr>
              <a:t>&lt;Link href="/about"&gt;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11296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502920" y="3448296"/>
            <a:ext cx="312111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⚠  router instead of </a:t>
            </a:r>
            <a:r>
              <a:rPr b="1" dirty="0" err="1">
                <a:solidFill>
                  <a:srgbClr val="003865"/>
                </a:solidFill>
                <a:latin typeface="Calibri"/>
              </a:rPr>
              <a:t>useRouter</a:t>
            </a:r>
            <a:endParaRPr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3749040"/>
            <a:ext cx="34638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chemeClr val="bg1"/>
                </a:solidFill>
                <a:latin typeface="Calibri"/>
              </a:rPr>
              <a:t>router is a hook return value — call </a:t>
            </a:r>
            <a:r>
              <a:rPr sz="1200" dirty="0" err="1">
                <a:solidFill>
                  <a:schemeClr val="bg1"/>
                </a:solidFill>
                <a:latin typeface="Calibri"/>
              </a:rPr>
              <a:t>useRouter</a:t>
            </a:r>
            <a:r>
              <a:rPr sz="1200" dirty="0">
                <a:solidFill>
                  <a:schemeClr val="bg1"/>
                </a:solidFill>
                <a:latin typeface="Calibri"/>
              </a:rPr>
              <a:t>() first.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16797" y="3613792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200">
                <a:solidFill>
                  <a:srgbClr val="DC2626"/>
                </a:solidFill>
                <a:latin typeface="Consolas"/>
              </a:rPr>
              <a:t>router.push('/x')  // not defined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5115" y="3583241"/>
            <a:ext cx="2011680" cy="440119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200">
                <a:solidFill>
                  <a:schemeClr val="bg1"/>
                </a:solidFill>
                <a:latin typeface="Consolas"/>
              </a:rPr>
              <a:t>const router = useRouter(); router.push('/x')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1480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502920" y="4041752"/>
            <a:ext cx="18626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⚠  No _</a:t>
            </a:r>
            <a:r>
              <a:rPr b="1" dirty="0" err="1">
                <a:solidFill>
                  <a:srgbClr val="003865"/>
                </a:solidFill>
                <a:latin typeface="Calibri"/>
              </a:rPr>
              <a:t>layout.tsx</a:t>
            </a:r>
            <a:endParaRPr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4352544"/>
            <a:ext cx="340022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chemeClr val="bg1"/>
                </a:solidFill>
                <a:latin typeface="Calibri"/>
              </a:rPr>
              <a:t>Works without one, but you lose header + theming.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16797" y="4247440"/>
            <a:ext cx="201168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200">
                <a:solidFill>
                  <a:srgbClr val="DC2626"/>
                </a:solidFill>
                <a:latin typeface="Consolas"/>
              </a:rPr>
              <a:t>Just route files, no _layout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65115" y="4297680"/>
            <a:ext cx="201168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200">
                <a:solidFill>
                  <a:schemeClr val="bg1"/>
                </a:solidFill>
                <a:latin typeface="Consolas"/>
              </a:rPr>
              <a:t>Add app/_layout.tsx with &lt;Stack /&gt;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9 / 10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310695-B767-7008-D1A2-02964B0CF091}"/>
              </a:ext>
            </a:extLst>
          </p:cNvPr>
          <p:cNvSpPr/>
          <p:nvPr/>
        </p:nvSpPr>
        <p:spPr>
          <a:xfrm>
            <a:off x="365760" y="492174"/>
            <a:ext cx="8302751" cy="4986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1497</Words>
  <Application>Microsoft Office PowerPoint</Application>
  <PresentationFormat>On-screen Show (16:9)</PresentationFormat>
  <Paragraphs>258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2026-08-30T20:20:04Z</dcterms:created>
  <dcterms:modified xsi:type="dcterms:W3CDTF">2026-08-30T20:20:12Z</dcterms:modified>
  <cp:category/>
</cp:coreProperties>
</file>