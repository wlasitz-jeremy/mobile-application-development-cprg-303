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22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5" r:id="rId14"/>
    <p:sldId id="268" r:id="rId15"/>
    <p:sldId id="276" r:id="rId16"/>
    <p:sldId id="277" r:id="rId17"/>
    <p:sldId id="270" r:id="rId18"/>
    <p:sldId id="271" r:id="rId19"/>
    <p:sldId id="272" r:id="rId20"/>
    <p:sldId id="273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0D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966" autoAdjust="0"/>
  </p:normalViewPr>
  <p:slideViewPr>
    <p:cSldViewPr snapToGrid="0" snapToObjects="1">
      <p:cViewPr varScale="1">
        <p:scale>
          <a:sx n="74" d="100"/>
          <a:sy n="74" d="100"/>
        </p:scale>
        <p:origin x="988" y="48"/>
      </p:cViewPr>
      <p:guideLst>
        <p:guide orient="horz" pos="2160"/>
        <p:guide pos="288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56047-9B32-4B44-A900-2428BFBDDF8F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A46745-5454-4362-8919-8FEAE957CB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90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639BF5-02A2-48D1-85F5-565CF7556D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70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64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308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68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038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904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542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964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084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300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2226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520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627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B4CFE-0736-3AD0-A206-0EF23BF7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1D2F46-848B-FC5C-E978-DC287AA4C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12F1D-6F67-7409-BEFE-FE54E17CAD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256D4-9B03-0B4F-D553-40DDF7B80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254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49191-8AF9-11F2-E199-FFFDCF915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10F553-6F50-5936-7AEE-2C5D384FBA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6C10B-A810-C0E3-4611-A1BA34488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293609-2C05-0B61-2021-D855F85C0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4599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6455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317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A46745-5454-4362-8919-8FEAE957CBD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1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91" y="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Rectangle 2"/>
          <p:cNvSpPr/>
          <p:nvPr/>
        </p:nvSpPr>
        <p:spPr>
          <a:xfrm>
            <a:off x="1191" y="4732020"/>
            <a:ext cx="9141714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5" name="TextBox 4"/>
          <p:cNvSpPr txBox="1"/>
          <p:nvPr/>
        </p:nvSpPr>
        <p:spPr>
          <a:xfrm>
            <a:off x="1191" y="1307842"/>
            <a:ext cx="9141714" cy="669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50" b="1" dirty="0">
                <a:solidFill>
                  <a:srgbClr val="FFFFFF"/>
                </a:solidFill>
              </a:rPr>
              <a:t>Tab Navigation in Expo Router</a:t>
            </a:r>
            <a:endParaRPr sz="3750" b="1" dirty="0">
              <a:solidFill>
                <a:srgbClr val="FFFFFF"/>
              </a:solidFill>
            </a:endParaRPr>
          </a:p>
        </p:txBody>
      </p:sp>
      <p:sp>
        <p:nvSpPr>
          <p:cNvPr id="10" name="Subtitle 3">
            <a:extLst>
              <a:ext uri="{FF2B5EF4-FFF2-40B4-BE49-F238E27FC236}">
                <a16:creationId xmlns:a16="http://schemas.microsoft.com/office/drawing/2014/main" id="{13F6F202-F5E2-FAA5-5C18-6BB820DB8BA2}"/>
              </a:ext>
            </a:extLst>
          </p:cNvPr>
          <p:cNvSpPr txBox="1">
            <a:spLocks/>
          </p:cNvSpPr>
          <p:nvPr/>
        </p:nvSpPr>
        <p:spPr>
          <a:xfrm>
            <a:off x="202621" y="436466"/>
            <a:ext cx="5928567" cy="615250"/>
          </a:xfrm>
          <a:prstGeom prst="rect">
            <a:avLst/>
          </a:prstGeom>
        </p:spPr>
        <p:txBody>
          <a:bodyPr anchor="ctr"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00" dirty="0"/>
              <a:t>CPRG303 – Mobile Application Development</a:t>
            </a:r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EF02DABF-5EE0-6A33-D4A8-1CD72CBFF878}"/>
              </a:ext>
            </a:extLst>
          </p:cNvPr>
          <p:cNvSpPr txBox="1">
            <a:spLocks/>
          </p:cNvSpPr>
          <p:nvPr/>
        </p:nvSpPr>
        <p:spPr>
          <a:xfrm>
            <a:off x="1191" y="3130832"/>
            <a:ext cx="9141618" cy="124182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tillium" panose="00000500000000000000" pitchFamily="50" charset="0"/>
                <a:ea typeface="Verdana" panose="020B0604030504040204" pitchFamily="34" charset="0"/>
                <a:cs typeface="Arial" panose="020B0604020202020204" pitchFamily="34" charset="0"/>
              </a:defRPr>
            </a:lvl1pPr>
          </a:lstStyle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Edited By:</a:t>
            </a:r>
          </a:p>
          <a:p>
            <a:pPr algn="ctr" defTabSz="342900">
              <a:lnSpc>
                <a:spcPct val="120000"/>
              </a:lnSpc>
              <a:spcAft>
                <a:spcPts val="450"/>
              </a:spcAft>
            </a:pPr>
            <a:r>
              <a:rPr lang="en-US" sz="36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Dr. Hamdy Ibrahim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C5EE739-42FC-EE6C-DE45-FC584BC65C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" y="3039775"/>
            <a:ext cx="1223889" cy="1667260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2D98DE45-D28E-5390-7E59-9AC0A7695EA7}"/>
              </a:ext>
            </a:extLst>
          </p:cNvPr>
          <p:cNvSpPr/>
          <p:nvPr/>
        </p:nvSpPr>
        <p:spPr>
          <a:xfrm>
            <a:off x="1192" y="4746562"/>
            <a:ext cx="9141713" cy="396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5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SADT  ·  School For Advanced Digital Technology</a:t>
            </a:r>
            <a:endParaRPr lang="en-US" sz="135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F88434-950C-C7DA-86CF-B1BF43238053}"/>
              </a:ext>
            </a:extLst>
          </p:cNvPr>
          <p:cNvSpPr txBox="1"/>
          <p:nvPr/>
        </p:nvSpPr>
        <p:spPr>
          <a:xfrm>
            <a:off x="202621" y="2217807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94A3B8"/>
                </a:solidFill>
              </a:rPr>
              <a:t>(tabs)/_</a:t>
            </a:r>
            <a:r>
              <a:rPr lang="en-US" sz="2000" dirty="0" err="1">
                <a:solidFill>
                  <a:srgbClr val="94A3B8"/>
                </a:solidFill>
              </a:rPr>
              <a:t>layout.tsx</a:t>
            </a:r>
            <a:r>
              <a:rPr lang="en-US" sz="2000" dirty="0">
                <a:solidFill>
                  <a:srgbClr val="94A3B8"/>
                </a:solidFill>
              </a:rPr>
              <a:t>  ·  </a:t>
            </a:r>
            <a:r>
              <a:rPr lang="en-US" sz="2000" dirty="0" err="1">
                <a:solidFill>
                  <a:srgbClr val="94A3B8"/>
                </a:solidFill>
              </a:rPr>
              <a:t>Tabs.Screen</a:t>
            </a:r>
            <a:r>
              <a:rPr lang="en-US" sz="2000" dirty="0">
                <a:solidFill>
                  <a:srgbClr val="94A3B8"/>
                </a:solidFill>
              </a:rPr>
              <a:t>  ·  </a:t>
            </a:r>
            <a:r>
              <a:rPr lang="en-US" sz="2000" dirty="0" err="1">
                <a:solidFill>
                  <a:srgbClr val="94A3B8"/>
                </a:solidFill>
              </a:rPr>
              <a:t>Ionicons</a:t>
            </a:r>
            <a:r>
              <a:rPr lang="en-US" sz="2000" dirty="0">
                <a:solidFill>
                  <a:srgbClr val="94A3B8"/>
                </a:solidFill>
              </a:rPr>
              <a:t>  ·  Tab Bar Styling  ·  Badges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97920"/>
            <a:ext cx="422000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Recap and What is Next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642384"/>
            <a:ext cx="51674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From file-based routing to multi-screen apps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2788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512064" y="1307592"/>
            <a:ext cx="17214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📁  File = 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655064"/>
            <a:ext cx="2478024" cy="883190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Every .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tsx</a:t>
            </a:r>
            <a:r>
              <a:rPr sz="1200" dirty="0">
                <a:solidFill>
                  <a:srgbClr val="334155"/>
                </a:solidFill>
                <a:latin typeface="Calibri"/>
              </a:rPr>
              <a:t> in app/ becomes a URL.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app/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index.tsx</a:t>
            </a:r>
            <a:r>
              <a:rPr sz="1200" dirty="0">
                <a:solidFill>
                  <a:srgbClr val="334155"/>
                </a:solidFill>
                <a:latin typeface="Calibri"/>
              </a:rPr>
              <a:t>     →   /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app/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profile.tsx</a:t>
            </a:r>
            <a:r>
              <a:rPr sz="1200" dirty="0">
                <a:solidFill>
                  <a:srgbClr val="334155"/>
                </a:solidFill>
                <a:latin typeface="Calibri"/>
              </a:rPr>
              <a:t>   →   /profile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app/_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layout.tsx</a:t>
            </a:r>
            <a:r>
              <a:rPr sz="1200" dirty="0">
                <a:solidFill>
                  <a:srgbClr val="334155"/>
                </a:solidFill>
                <a:latin typeface="Calibri"/>
              </a:rPr>
              <a:t> is the parent shell.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234440"/>
            <a:ext cx="27889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3392424" y="1307592"/>
            <a:ext cx="127791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03865"/>
                </a:solidFill>
                <a:latin typeface="Calibri"/>
              </a:rPr>
              <a:t>🔗  Linking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1444" y="1655064"/>
            <a:ext cx="2679192" cy="883190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&lt;Link 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href</a:t>
            </a:r>
            <a:r>
              <a:rPr sz="1200" dirty="0">
                <a:solidFill>
                  <a:srgbClr val="334155"/>
                </a:solidFill>
                <a:latin typeface="Calibri"/>
              </a:rPr>
              <a:t>="/profile"&gt; jumps to a route.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router.push</a:t>
            </a:r>
            <a:r>
              <a:rPr sz="1200" dirty="0">
                <a:solidFill>
                  <a:srgbClr val="334155"/>
                </a:solidFill>
                <a:latin typeface="Calibri"/>
              </a:rPr>
              <a:t>() does it from code.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router.back</a:t>
            </a:r>
            <a:r>
              <a:rPr sz="1200" dirty="0">
                <a:solidFill>
                  <a:srgbClr val="334155"/>
                </a:solidFill>
                <a:latin typeface="Calibri"/>
              </a:rPr>
              <a:t>() returns to previous.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Defined in expo-router.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34440"/>
            <a:ext cx="265176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6272784" y="1307592"/>
            <a:ext cx="110895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📚 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50756" y="1622696"/>
            <a:ext cx="2542032" cy="1095556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Default expo-router layout is &lt;Stack&gt;.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New routes push on top.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Header bar appears automatically.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Back gesture / arrow built 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875680"/>
            <a:ext cx="24638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230DF3"/>
                </a:solidFill>
                <a:latin typeface="Calibri"/>
              </a:rPr>
              <a:t>T</a:t>
            </a:r>
            <a:r>
              <a:rPr lang="en-US" sz="1400" b="1" dirty="0">
                <a:solidFill>
                  <a:srgbClr val="230DF3"/>
                </a:solidFill>
                <a:latin typeface="Calibri"/>
              </a:rPr>
              <a:t>his </a:t>
            </a:r>
            <a:r>
              <a:rPr sz="1400" b="1" dirty="0">
                <a:solidFill>
                  <a:srgbClr val="230DF3"/>
                </a:solidFill>
                <a:latin typeface="Calibri"/>
              </a:rPr>
              <a:t>W</a:t>
            </a:r>
            <a:r>
              <a:rPr lang="en-US" sz="1400" b="1" dirty="0">
                <a:solidFill>
                  <a:srgbClr val="230DF3"/>
                </a:solidFill>
                <a:latin typeface="Calibri"/>
              </a:rPr>
              <a:t>eek We Add Depth</a:t>
            </a:r>
            <a:endParaRPr sz="1400" b="1" dirty="0">
              <a:solidFill>
                <a:srgbClr val="230DF3"/>
              </a:solidFill>
              <a:latin typeface="Calibr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512064" y="3273552"/>
            <a:ext cx="281147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Day 1 — Tab Navigation 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3621024"/>
            <a:ext cx="3803904" cy="102265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A persistent bar at the bottom of the screen.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Each tab is its own top-level section.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Switching tabs preserves each screen's state.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Best for 3–5 sibling areas of equal importance.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3200400"/>
            <a:ext cx="411480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TextBox 19"/>
          <p:cNvSpPr txBox="1"/>
          <p:nvPr/>
        </p:nvSpPr>
        <p:spPr>
          <a:xfrm>
            <a:off x="4809744" y="3273552"/>
            <a:ext cx="29853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>
                <a:solidFill>
                  <a:srgbClr val="003865"/>
                </a:solidFill>
                <a:latin typeface="Calibri"/>
              </a:rPr>
              <a:t>Day 2 — Stack Navigation 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28031" y="3621024"/>
            <a:ext cx="3803904" cy="102265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Push new screens on top of the current one.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Back arrow returns to where you came from.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Header bar with title appears automatically.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Best for drill-down (list → detail → edit).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7434" y="0"/>
            <a:ext cx="9144000" cy="518067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98472"/>
            <a:ext cx="147065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8854" y="958836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8934" y="893369"/>
            <a:ext cx="3657600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Why Tabs?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8854" y="2049655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368" y="1957027"/>
            <a:ext cx="3657600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The (tabs) Folder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8934" y="2242544"/>
            <a:ext cx="3566160" cy="2154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How expo-router turns a folder into a tab bar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8854" y="2999798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368" y="2944340"/>
            <a:ext cx="3657600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_</a:t>
            </a:r>
            <a:r>
              <a:rPr sz="2000" b="1" i="0" dirty="0" err="1">
                <a:solidFill>
                  <a:srgbClr val="003865"/>
                </a:solidFill>
                <a:latin typeface="Calibri"/>
              </a:rPr>
              <a:t>layout.tsx</a:t>
            </a:r>
            <a:r>
              <a:rPr sz="2000" b="1" i="0" dirty="0">
                <a:solidFill>
                  <a:srgbClr val="003865"/>
                </a:solidFill>
                <a:latin typeface="Calibri"/>
              </a:rPr>
              <a:t> for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368" y="3266783"/>
            <a:ext cx="3657600" cy="2154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&lt;Tabs&gt;, &lt;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Tabs.Screen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&gt;, options prop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8854" y="4042867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68" y="3979975"/>
            <a:ext cx="3657600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Icons with @expo/vector-icons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368" y="4264963"/>
            <a:ext cx="3657600" cy="2154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 i="0" dirty="0" err="1">
                <a:solidFill>
                  <a:schemeClr val="bg1"/>
                </a:solidFill>
                <a:latin typeface="Calibri"/>
              </a:rPr>
              <a:t>Ionicons</a:t>
            </a:r>
            <a:r>
              <a:rPr sz="1400" b="0" i="0" dirty="0">
                <a:solidFill>
                  <a:schemeClr val="bg1"/>
                </a:solidFill>
                <a:latin typeface="Calibri"/>
              </a:rPr>
              <a:t>, focused vs unfocused, </a:t>
            </a:r>
            <a:r>
              <a:rPr sz="1400" b="0" i="0" dirty="0" err="1">
                <a:solidFill>
                  <a:schemeClr val="bg1"/>
                </a:solidFill>
                <a:latin typeface="Calibri"/>
              </a:rPr>
              <a:t>tabBarIcon</a:t>
            </a:r>
            <a:endParaRPr sz="1400" b="0" i="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93176" y="940224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2728" y="863034"/>
            <a:ext cx="3657600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Styling the Bar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2728" y="1177716"/>
            <a:ext cx="3520440" cy="2154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Colors, fonts, height, hidden labels, badges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93176" y="2049056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2728" y="1926692"/>
            <a:ext cx="3657600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lang="en-US" sz="2000" b="1" i="0" dirty="0">
                <a:solidFill>
                  <a:srgbClr val="003865"/>
                </a:solidFill>
                <a:latin typeface="Calibri"/>
              </a:rPr>
              <a:t>Demo</a:t>
            </a:r>
            <a:r>
              <a:rPr sz="2000" b="1" i="0" dirty="0">
                <a:solidFill>
                  <a:srgbClr val="003865"/>
                </a:solidFill>
                <a:latin typeface="Calibri"/>
              </a:rPr>
              <a:t> — </a:t>
            </a:r>
            <a:r>
              <a:rPr sz="2000" b="1" i="0" dirty="0" err="1">
                <a:solidFill>
                  <a:srgbClr val="003865"/>
                </a:solidFill>
                <a:latin typeface="Calibri"/>
              </a:rPr>
              <a:t>CampusHub</a:t>
            </a:r>
            <a:r>
              <a:rPr sz="2000" b="1" i="0" dirty="0">
                <a:solidFill>
                  <a:srgbClr val="003865"/>
                </a:solidFill>
                <a:latin typeface="Calibri"/>
              </a:rPr>
              <a:t> Tabs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2728" y="2248104"/>
            <a:ext cx="3657600" cy="2154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Home · Courses · Profile 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93176" y="3058671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 dirty="0">
                <a:solidFill>
                  <a:srgbClr val="0F172A"/>
                </a:solidFill>
                <a:latin typeface="Calibr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2728" y="2951175"/>
            <a:ext cx="3657600" cy="3077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000" b="1" i="0" dirty="0">
                <a:solidFill>
                  <a:srgbClr val="003865"/>
                </a:solidFill>
                <a:latin typeface="Calibri"/>
              </a:rPr>
              <a:t>Activity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93176" y="4086872"/>
            <a:ext cx="502920" cy="384048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92728" y="3949640"/>
            <a:ext cx="3657600" cy="36933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2400" b="1" i="0">
                <a:solidFill>
                  <a:srgbClr val="003865"/>
                </a:solidFill>
                <a:latin typeface="Calibri"/>
              </a:rPr>
              <a:t>Common Mistakes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3048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3 / 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F1B325-8E51-120E-F875-5B61CAA74E6A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6CFE7D-3E97-69F4-F3D7-D97CB4983E33}"/>
              </a:ext>
            </a:extLst>
          </p:cNvPr>
          <p:cNvSpPr txBox="1"/>
          <p:nvPr/>
        </p:nvSpPr>
        <p:spPr>
          <a:xfrm>
            <a:off x="938934" y="1208052"/>
            <a:ext cx="3657600" cy="2154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Mental model &amp; when to choose tabs over stack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FFCC7FB-BCFA-A7B8-DD09-4FEB86ECC5E9}"/>
              </a:ext>
            </a:extLst>
          </p:cNvPr>
          <p:cNvSpPr txBox="1"/>
          <p:nvPr/>
        </p:nvSpPr>
        <p:spPr>
          <a:xfrm>
            <a:off x="5347008" y="4280880"/>
            <a:ext cx="3520440" cy="2154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And how to avoid them in your projects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1B52714-62FC-E7E5-6477-0D73E33BD3F8}"/>
              </a:ext>
            </a:extLst>
          </p:cNvPr>
          <p:cNvSpPr txBox="1"/>
          <p:nvPr/>
        </p:nvSpPr>
        <p:spPr>
          <a:xfrm>
            <a:off x="5392728" y="3280257"/>
            <a:ext cx="3520440" cy="21544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/>
            <a:r>
              <a:rPr sz="1400" b="0" i="0" dirty="0">
                <a:solidFill>
                  <a:schemeClr val="bg1"/>
                </a:solidFill>
                <a:latin typeface="Calibri"/>
              </a:rPr>
              <a:t>Build a 4-tab fitness tracker shell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5725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6749"/>
            <a:ext cx="376519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Why Tab Navigation?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51924"/>
            <a:ext cx="654499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Tabs = sibling sections you switch between, not push onto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7706" y="1013589"/>
            <a:ext cx="8412480" cy="923330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b="0" i="0" dirty="0">
                <a:solidFill>
                  <a:schemeClr val="bg1"/>
                </a:solidFill>
                <a:latin typeface="Calibri"/>
              </a:rPr>
              <a:t>Tabs are perfect when your app has a few top-level destinations and the user moves between them constantly — Instagram, Twitter, the App Store, every banking app.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9775" y="1949546"/>
            <a:ext cx="1607058" cy="2953512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02926" y="2059274"/>
            <a:ext cx="1460754" cy="227594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1974" y="2923382"/>
            <a:ext cx="822661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solidFill>
                  <a:srgbClr val="003865"/>
                </a:solidFill>
                <a:latin typeface="Calibri"/>
              </a:rPr>
              <a:t>Home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2926" y="4289495"/>
            <a:ext cx="1460754" cy="50383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2926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926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Home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845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845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Courses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6763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6763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04295" y="1949546"/>
            <a:ext cx="1607058" cy="2953512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177447" y="2059274"/>
            <a:ext cx="1460754" cy="227594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97878" y="2923382"/>
            <a:ext cx="101989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 dirty="0">
                <a:solidFill>
                  <a:srgbClr val="003865"/>
                </a:solidFill>
                <a:latin typeface="Calibri"/>
              </a:rPr>
              <a:t>Courses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77447" y="4289495"/>
            <a:ext cx="1460754" cy="50383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77447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7447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64365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64365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Courses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1283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1283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Profile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8815" y="1949546"/>
            <a:ext cx="1607058" cy="2953512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051967" y="2059274"/>
            <a:ext cx="1460754" cy="227594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40525" y="2923382"/>
            <a:ext cx="88364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3865"/>
                </a:solidFill>
                <a:latin typeface="Calibri"/>
              </a:rPr>
              <a:t>Profile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51967" y="4289495"/>
            <a:ext cx="1460754" cy="50383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051967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1967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8885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38885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Courses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5803" y="4326071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5803" y="4563815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Profile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87978" y="1764913"/>
            <a:ext cx="3119215" cy="1491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38" name="TextBox 37"/>
          <p:cNvSpPr txBox="1"/>
          <p:nvPr/>
        </p:nvSpPr>
        <p:spPr>
          <a:xfrm>
            <a:off x="5922892" y="1838065"/>
            <a:ext cx="28597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✅  Use Tabs When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1180" y="2185537"/>
            <a:ext cx="2859709" cy="102265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You have 3–5 sibling areas.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Each is equally important.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Users return often to each.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Screen state should persist.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87978" y="3547993"/>
            <a:ext cx="3119215" cy="1491519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41" name="TextBox 40"/>
          <p:cNvSpPr txBox="1"/>
          <p:nvPr/>
        </p:nvSpPr>
        <p:spPr>
          <a:xfrm>
            <a:off x="5853335" y="3621145"/>
            <a:ext cx="311546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❌  Avoid Tabs When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3335" y="3968617"/>
            <a:ext cx="2907554" cy="102265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You have only 1–2 sections.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There are &gt;5 sections (use drawer).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Sections are temporary / modal.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Drill-down hierarchy (use Stack).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4 / 18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A3C82F8-F1C1-DB08-082E-B065BCC344A8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6749"/>
            <a:ext cx="510069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The (tabs) Folder Convention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" y="563647"/>
            <a:ext cx="89916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2200" dirty="0">
                <a:solidFill>
                  <a:schemeClr val="bg1"/>
                </a:solidFill>
                <a:latin typeface="Calibri"/>
              </a:rPr>
              <a:t>Parentheses = 'group' — appears in code, hidden from URL</a:t>
            </a:r>
            <a:endParaRPr lang="en-US" sz="2200" dirty="0">
              <a:solidFill>
                <a:schemeClr val="bg1"/>
              </a:solidFill>
              <a:latin typeface="Calibri"/>
            </a:endParaRPr>
          </a:p>
          <a:p>
            <a:pPr marL="342900" indent="-3429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Expo Router lets you group routes inside parentheses. The folder name (tabs) is purely an organizational label — it does NOT appear in the URL.</a:t>
            </a:r>
          </a:p>
          <a:p>
            <a:pPr marL="342900" indent="-342900" algn="l">
              <a:spcAft>
                <a:spcPts val="600"/>
              </a:spcAft>
              <a:buFont typeface="Arial" panose="020B0604020202020204" pitchFamily="34" charset="0"/>
              <a:buChar char="•"/>
            </a:pPr>
            <a:endParaRPr sz="2200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2400" y="1865141"/>
            <a:ext cx="4328160" cy="30175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475488" y="1910861"/>
            <a:ext cx="16685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Calibri"/>
              </a:rPr>
              <a:t>File system → URL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52591"/>
            <a:ext cx="4005072" cy="2705677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59E0B"/>
                </a:solidFill>
                <a:latin typeface="Consolas"/>
              </a:rPr>
              <a:t>app/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├── _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layout.tsx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         # root stack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59E0B"/>
                </a:solidFill>
                <a:latin typeface="Consolas"/>
              </a:rPr>
              <a:t>├── (tabs)/             # tab group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│    ├── _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layout.tsx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    # &lt;Tabs&gt; shell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│    ├──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index.tsx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      # Home tab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│    ├──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courses.tsx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    # Courses tab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│    └──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profile.tsx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    # Profile tab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└──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modal.tsx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           # pushed on top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URLs produced: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                  →  index inside tabs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/courses           →  courses tab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/profile           →  profile tab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/modal             →  modal screen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65141"/>
            <a:ext cx="4328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1" name="TextBox 10"/>
          <p:cNvSpPr txBox="1"/>
          <p:nvPr/>
        </p:nvSpPr>
        <p:spPr>
          <a:xfrm>
            <a:off x="4809744" y="1821062"/>
            <a:ext cx="36613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003865"/>
                </a:solidFill>
                <a:latin typeface="Calibri"/>
              </a:rPr>
              <a:t>🔎  The Parentheses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0" y="2250596"/>
            <a:ext cx="4001143" cy="878959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b="1" dirty="0">
                <a:solidFill>
                  <a:schemeClr val="bg1"/>
                </a:solidFill>
                <a:latin typeface="Calibri"/>
              </a:rPr>
              <a:t>(folder) is a group — name is hidden from URL.</a:t>
            </a: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chemeClr val="bg1"/>
                </a:solidFill>
                <a:latin typeface="Calibri"/>
              </a:rPr>
              <a:t>Used to share a layout without polluting paths.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916701"/>
            <a:ext cx="4328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4809744" y="2884346"/>
            <a:ext cx="30896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003865"/>
                </a:solidFill>
                <a:latin typeface="Calibri"/>
              </a:rPr>
              <a:t>🪜  Two _layout Files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0" y="3302156"/>
            <a:ext cx="4001143" cy="59580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b="1" dirty="0">
                <a:solidFill>
                  <a:schemeClr val="bg1"/>
                </a:solidFill>
                <a:latin typeface="Calibri"/>
              </a:rPr>
              <a:t>app/_</a:t>
            </a:r>
            <a:r>
              <a:rPr sz="1600" b="1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sz="1600" b="1" dirty="0">
                <a:solidFill>
                  <a:schemeClr val="bg1"/>
                </a:solidFill>
                <a:latin typeface="Calibri"/>
              </a:rPr>
              <a:t>  →  the root Stack</a:t>
            </a: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chemeClr val="bg1"/>
                </a:solidFill>
                <a:latin typeface="Calibri"/>
              </a:rPr>
              <a:t>app/(tabs)/_</a:t>
            </a:r>
            <a:r>
              <a:rPr sz="1600" b="1"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sz="1600" b="1" dirty="0">
                <a:solidFill>
                  <a:schemeClr val="bg1"/>
                </a:solidFill>
                <a:latin typeface="Calibri"/>
              </a:rPr>
              <a:t>  →  the Tabs shell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63440" y="3968261"/>
            <a:ext cx="432816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7" name="TextBox 16"/>
          <p:cNvSpPr txBox="1"/>
          <p:nvPr/>
        </p:nvSpPr>
        <p:spPr>
          <a:xfrm>
            <a:off x="4809744" y="3935906"/>
            <a:ext cx="3700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003865"/>
                </a:solidFill>
                <a:latin typeface="Calibri"/>
              </a:rPr>
              <a:t>🏠  </a:t>
            </a:r>
            <a:r>
              <a:rPr sz="2400" b="1" dirty="0" err="1">
                <a:solidFill>
                  <a:srgbClr val="003865"/>
                </a:solidFill>
                <a:latin typeface="Calibri"/>
              </a:rPr>
              <a:t>index.tsx</a:t>
            </a:r>
            <a:r>
              <a:rPr sz="2400" b="1" dirty="0">
                <a:solidFill>
                  <a:srgbClr val="003865"/>
                </a:solidFill>
                <a:latin typeface="Calibri"/>
              </a:rPr>
              <a:t> Inside (tabs)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8030" y="4353716"/>
            <a:ext cx="4001143" cy="595804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b="1" dirty="0">
                <a:solidFill>
                  <a:schemeClr val="bg1"/>
                </a:solidFill>
                <a:latin typeface="Calibri"/>
              </a:rPr>
              <a:t>This is the FIRST tab — the default screen.</a:t>
            </a:r>
          </a:p>
          <a:p>
            <a:pPr>
              <a:lnSpc>
                <a:spcPct val="115000"/>
              </a:lnSpc>
            </a:pPr>
            <a:r>
              <a:rPr sz="1600" b="1" dirty="0">
                <a:solidFill>
                  <a:schemeClr val="bg1"/>
                </a:solidFill>
                <a:latin typeface="Calibri"/>
              </a:rPr>
              <a:t>Same idea as index.html for a folder.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2341" y="4965192"/>
            <a:ext cx="45877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F59E0B"/>
                </a:solidFill>
                <a:latin typeface="Calibri"/>
              </a:rPr>
              <a:t>5 / 18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03A85F-7CD0-654A-A427-E12ED2CDC63B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6058"/>
            <a:ext cx="6567567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Tabs Layout — app/(tabs)/_</a:t>
            </a:r>
            <a:r>
              <a:rPr sz="3200" b="1" dirty="0" err="1">
                <a:solidFill>
                  <a:schemeClr val="bg1"/>
                </a:solidFill>
                <a:latin typeface="Calibri"/>
              </a:rPr>
              <a:t>layout.tsx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75370"/>
            <a:ext cx="8412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&lt;Tabs&gt; wraps every tab. Each &lt;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Tabs.Screen</a:t>
            </a:r>
            <a:r>
              <a:rPr sz="2400" dirty="0">
                <a:solidFill>
                  <a:schemeClr val="bg1"/>
                </a:solidFill>
                <a:latin typeface="Calibri"/>
              </a:rPr>
              <a:t>&gt; configures one.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12064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143000"/>
            <a:ext cx="203946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 dirty="0">
                <a:solidFill>
                  <a:srgbClr val="F59E0B"/>
                </a:solidFill>
                <a:latin typeface="Calibri"/>
              </a:rPr>
              <a:t>The whole tab bar — one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08176"/>
            <a:ext cx="4901183" cy="3355021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059669"/>
                </a:solidFill>
                <a:latin typeface="Consolas"/>
              </a:rPr>
              <a:t>// app/(tabs)/_</a:t>
            </a:r>
            <a:r>
              <a:rPr sz="800" dirty="0" err="1">
                <a:solidFill>
                  <a:srgbClr val="059669"/>
                </a:solidFill>
                <a:latin typeface="Consolas"/>
              </a:rPr>
              <a:t>layout.tsx</a:t>
            </a:r>
            <a:endParaRPr sz="80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DBEAFE"/>
                </a:solidFill>
                <a:latin typeface="Consolas"/>
              </a:rPr>
              <a:t>import { Tabs } from 'expo-router';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DBEAFE"/>
                </a:solidFill>
                <a:latin typeface="Consolas"/>
              </a:rPr>
              <a:t>import { </a:t>
            </a:r>
            <a:r>
              <a:rPr sz="800" dirty="0" err="1">
                <a:solidFill>
                  <a:srgbClr val="DBEAFE"/>
                </a:solidFill>
                <a:latin typeface="Consolas"/>
              </a:rPr>
              <a:t>Ionicons</a:t>
            </a:r>
            <a:r>
              <a:rPr sz="800" dirty="0">
                <a:solidFill>
                  <a:srgbClr val="DBEAFE"/>
                </a:solidFill>
                <a:latin typeface="Consolas"/>
              </a:rPr>
              <a:t> } from '@expo/vector-icons';</a:t>
            </a:r>
          </a:p>
          <a:p>
            <a:pPr algn="l">
              <a:lnSpc>
                <a:spcPct val="105000"/>
              </a:lnSpc>
            </a:pPr>
            <a:endParaRPr sz="8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TabsLayout</a:t>
            </a:r>
            <a:r>
              <a:rPr sz="80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&lt;Tabs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screenOptions</a:t>
            </a:r>
            <a:r>
              <a:rPr sz="800" dirty="0">
                <a:solidFill>
                  <a:srgbClr val="F1F5F9"/>
                </a:solidFill>
                <a:latin typeface="Consolas"/>
              </a:rPr>
              <a:t>={{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59E0B"/>
                </a:solidFill>
                <a:latin typeface="Consolas"/>
              </a:rPr>
              <a:t>        </a:t>
            </a:r>
            <a:r>
              <a:rPr sz="800" dirty="0" err="1">
                <a:solidFill>
                  <a:srgbClr val="F59E0B"/>
                </a:solidFill>
                <a:latin typeface="Consolas"/>
              </a:rPr>
              <a:t>tabBarActiveTintColor</a:t>
            </a:r>
            <a:r>
              <a:rPr sz="800" dirty="0">
                <a:solidFill>
                  <a:srgbClr val="F59E0B"/>
                </a:solidFill>
                <a:latin typeface="Consolas"/>
              </a:rPr>
              <a:t>: '#F59E0B',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tabBarInactiveTintColor</a:t>
            </a:r>
            <a:r>
              <a:rPr sz="800" dirty="0">
                <a:solidFill>
                  <a:srgbClr val="F1F5F9"/>
                </a:solidFill>
                <a:latin typeface="Consolas"/>
              </a:rPr>
              <a:t>: '#94A3B8',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headerStyle</a:t>
            </a:r>
            <a:r>
              <a:rPr sz="800" dirty="0">
                <a:solidFill>
                  <a:srgbClr val="F1F5F9"/>
                </a:solidFill>
                <a:latin typeface="Consolas"/>
              </a:rPr>
              <a:t>: { 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backgroundColor</a:t>
            </a:r>
            <a:r>
              <a:rPr sz="800" dirty="0">
                <a:solidFill>
                  <a:srgbClr val="F1F5F9"/>
                </a:solidFill>
                <a:latin typeface="Consolas"/>
              </a:rPr>
              <a:t>: '#003865' },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headerTintColor</a:t>
            </a:r>
            <a:r>
              <a:rPr sz="800" dirty="0">
                <a:solidFill>
                  <a:srgbClr val="F1F5F9"/>
                </a:solidFill>
                <a:latin typeface="Consolas"/>
              </a:rPr>
              <a:t>: '#FFFFFF',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}}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&gt;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&lt;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Tabs.Screen</a:t>
            </a:r>
            <a:endParaRPr sz="8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59E0B"/>
                </a:solidFill>
                <a:latin typeface="Consolas"/>
              </a:rPr>
              <a:t>        name="index"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options={{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  title: 'Home',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  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tabBarIcon</a:t>
            </a:r>
            <a:r>
              <a:rPr sz="800" dirty="0">
                <a:solidFill>
                  <a:srgbClr val="F1F5F9"/>
                </a:solidFill>
                <a:latin typeface="Consolas"/>
              </a:rPr>
              <a:t>: ({ color, size }) =&gt; (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    &lt;</a:t>
            </a:r>
            <a:r>
              <a:rPr sz="800" dirty="0" err="1">
                <a:solidFill>
                  <a:srgbClr val="F1F5F9"/>
                </a:solidFill>
                <a:latin typeface="Consolas"/>
              </a:rPr>
              <a:t>Ionicons</a:t>
            </a:r>
            <a:r>
              <a:rPr sz="800" dirty="0">
                <a:solidFill>
                  <a:srgbClr val="F1F5F9"/>
                </a:solidFill>
                <a:latin typeface="Consolas"/>
              </a:rPr>
              <a:t> name='home' size={size} color={color} /&gt;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  ),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  }}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  &lt;/Tabs&gt;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800" dirty="0">
                <a:solidFill>
                  <a:srgbClr val="F1F5F9"/>
                </a:solidFill>
                <a:latin typeface="Consolas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0" y="1097280"/>
            <a:ext cx="31089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15583" y="1123540"/>
            <a:ext cx="13120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&lt;Tabs&gt;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33872" y="1447566"/>
            <a:ext cx="2798064" cy="77489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400" dirty="0">
                <a:solidFill>
                  <a:schemeClr val="bg1"/>
                </a:solidFill>
                <a:latin typeface="Calibri"/>
              </a:rPr>
              <a:t>Top-level shell — like &lt;Stack&gt;.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chemeClr val="bg1"/>
                </a:solidFill>
                <a:latin typeface="Calibri"/>
              </a:rPr>
              <a:t>Comes from expo-router.</a:t>
            </a:r>
          </a:p>
          <a:p>
            <a:pPr>
              <a:lnSpc>
                <a:spcPct val="115000"/>
              </a:lnSpc>
            </a:pPr>
            <a:r>
              <a:rPr sz="1400" dirty="0" err="1">
                <a:solidFill>
                  <a:schemeClr val="bg1"/>
                </a:solidFill>
                <a:latin typeface="Calibri"/>
              </a:rPr>
              <a:t>screenOptions</a:t>
            </a:r>
            <a:r>
              <a:rPr sz="1400" dirty="0">
                <a:solidFill>
                  <a:schemeClr val="bg1"/>
                </a:solidFill>
                <a:latin typeface="Calibri"/>
              </a:rPr>
              <a:t> apply to every tab.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286000"/>
            <a:ext cx="31089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15584" y="2288814"/>
            <a:ext cx="15934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&lt;</a:t>
            </a:r>
            <a:r>
              <a:rPr sz="1600" b="1" dirty="0" err="1">
                <a:solidFill>
                  <a:srgbClr val="003865"/>
                </a:solidFill>
                <a:latin typeface="Calibri"/>
              </a:rPr>
              <a:t>Tabs.Screen</a:t>
            </a:r>
            <a:r>
              <a:rPr sz="1600" b="1" dirty="0">
                <a:solidFill>
                  <a:srgbClr val="003865"/>
                </a:solidFill>
                <a:latin typeface="Calibri"/>
              </a:rPr>
              <a:t>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2648009"/>
            <a:ext cx="2798064" cy="77489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400" dirty="0">
                <a:solidFill>
                  <a:schemeClr val="bg1"/>
                </a:solidFill>
                <a:latin typeface="Calibri"/>
              </a:rPr>
              <a:t>One per tab file.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chemeClr val="bg1"/>
                </a:solidFill>
                <a:latin typeface="Calibri"/>
              </a:rPr>
              <a:t>name = filename (no extension).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chemeClr val="bg1"/>
                </a:solidFill>
                <a:latin typeface="Calibri"/>
              </a:rPr>
              <a:t>options = title, icon, badge, etc.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3474720"/>
            <a:ext cx="310896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15583" y="3547872"/>
            <a:ext cx="26250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003865"/>
                </a:solidFill>
                <a:latin typeface="Calibri"/>
              </a:rPr>
              <a:t>screenOptions</a:t>
            </a:r>
            <a:r>
              <a:rPr sz="1600" b="1" dirty="0">
                <a:solidFill>
                  <a:srgbClr val="003865"/>
                </a:solidFill>
                <a:latin typeface="Calibri"/>
              </a:rPr>
              <a:t> vs options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39618" y="3895344"/>
            <a:ext cx="3108960" cy="618759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100" dirty="0" err="1">
                <a:solidFill>
                  <a:srgbClr val="334155"/>
                </a:solidFill>
                <a:latin typeface="Calibri"/>
              </a:rPr>
              <a:t>screenOptions</a:t>
            </a:r>
            <a:r>
              <a:rPr sz="1100" dirty="0">
                <a:solidFill>
                  <a:srgbClr val="334155"/>
                </a:solidFill>
                <a:latin typeface="Calibri"/>
              </a:rPr>
              <a:t> on &lt;Tabs&gt;  →  defaults for ALL tabs.</a:t>
            </a:r>
          </a:p>
          <a:p>
            <a:pPr>
              <a:lnSpc>
                <a:spcPct val="115000"/>
              </a:lnSpc>
            </a:pPr>
            <a:r>
              <a:rPr sz="1100" dirty="0">
                <a:solidFill>
                  <a:srgbClr val="334155"/>
                </a:solidFill>
                <a:latin typeface="Calibri"/>
              </a:rPr>
              <a:t>options on &lt;</a:t>
            </a:r>
            <a:r>
              <a:rPr sz="1100" dirty="0" err="1">
                <a:solidFill>
                  <a:srgbClr val="334155"/>
                </a:solidFill>
                <a:latin typeface="Calibri"/>
              </a:rPr>
              <a:t>Tabs.Screen</a:t>
            </a:r>
            <a:r>
              <a:rPr sz="1100" dirty="0">
                <a:solidFill>
                  <a:srgbClr val="334155"/>
                </a:solidFill>
                <a:latin typeface="Calibri"/>
              </a:rPr>
              <a:t>&gt;  →  overrides for one tab.</a:t>
            </a:r>
          </a:p>
          <a:p>
            <a:pPr>
              <a:lnSpc>
                <a:spcPct val="115000"/>
              </a:lnSpc>
            </a:pPr>
            <a:r>
              <a:rPr sz="1100" dirty="0">
                <a:solidFill>
                  <a:srgbClr val="334155"/>
                </a:solidFill>
                <a:latin typeface="Calibri"/>
              </a:rPr>
              <a:t>Specific wins over general.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6 / 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BFF6CAF-CA12-D6B5-D111-A50A01FD0311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03991"/>
            <a:ext cx="507485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Icons — @expo/vector-icons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4335"/>
            <a:ext cx="87355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Bundled with Expo. 14 icon sets, 5k+ glyphs. </a:t>
            </a:r>
            <a:r>
              <a:rPr sz="2400" dirty="0" err="1">
                <a:solidFill>
                  <a:schemeClr val="bg1"/>
                </a:solidFill>
                <a:latin typeface="Calibri"/>
              </a:rPr>
              <a:t>Ionicons</a:t>
            </a:r>
            <a:r>
              <a:rPr sz="2400" dirty="0">
                <a:solidFill>
                  <a:schemeClr val="bg1"/>
                </a:solidFill>
                <a:latin typeface="Calibri"/>
              </a:rPr>
              <a:t> is the default.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572000" cy="370332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143000"/>
            <a:ext cx="43525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Calibri"/>
              </a:rPr>
              <a:t>Ionicons in 3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408176"/>
            <a:ext cx="4352544" cy="3346704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1. Install (already in Expo!)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//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npx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expo install @expo/vector-icons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2. Import the set you want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DBEAFE"/>
                </a:solidFill>
                <a:latin typeface="Consolas"/>
              </a:rPr>
              <a:t>import { </a:t>
            </a:r>
            <a:r>
              <a:rPr sz="950" dirty="0" err="1">
                <a:solidFill>
                  <a:srgbClr val="DBEAFE"/>
                </a:solidFill>
                <a:latin typeface="Consolas"/>
              </a:rPr>
              <a:t>Ionicons</a:t>
            </a:r>
            <a:r>
              <a:rPr sz="950" dirty="0">
                <a:solidFill>
                  <a:srgbClr val="DBEAFE"/>
                </a:solidFill>
                <a:latin typeface="Consolas"/>
              </a:rPr>
              <a:t> } from '@expo/vector-icons';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3. Use as the </a:t>
            </a:r>
            <a:r>
              <a:rPr sz="950" dirty="0" err="1">
                <a:solidFill>
                  <a:srgbClr val="059669"/>
                </a:solidFill>
                <a:latin typeface="Consolas"/>
              </a:rPr>
              <a:t>tabBarIcon</a:t>
            </a:r>
            <a:endParaRPr sz="95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&lt;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Tabs.Screen</a:t>
            </a: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name="courses"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options={{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title: 'Courses',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tabBarIcon</a:t>
            </a:r>
            <a:r>
              <a:rPr sz="950" dirty="0">
                <a:solidFill>
                  <a:srgbClr val="F1F5F9"/>
                </a:solidFill>
                <a:latin typeface="Consolas"/>
              </a:rPr>
              <a:t>: ({ color, size, focused }) =&gt; (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&lt;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Ionicons</a:t>
            </a: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59E0B"/>
                </a:solidFill>
                <a:latin typeface="Consolas"/>
              </a:rPr>
              <a:t>        name={focused ? 'book' : 'book-outline'}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size={size}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color={color}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/&gt;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),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}}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/&gt;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059669"/>
                </a:solidFill>
                <a:latin typeface="Consolas"/>
              </a:rPr>
              <a:t>// browse: </a:t>
            </a:r>
            <a:r>
              <a:rPr sz="950" dirty="0" err="1">
                <a:solidFill>
                  <a:srgbClr val="059669"/>
                </a:solidFill>
                <a:latin typeface="Consolas"/>
              </a:rPr>
              <a:t>icons.expo.fyi</a:t>
            </a:r>
            <a:endParaRPr sz="950" dirty="0">
              <a:solidFill>
                <a:srgbClr val="059669"/>
              </a:solidFill>
              <a:latin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20640" y="1097280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66944" y="1125607"/>
            <a:ext cx="21838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🎨  Icon Sets You'll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90566" y="1437219"/>
            <a:ext cx="3587674" cy="670825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Ionicons</a:t>
            </a:r>
            <a:r>
              <a:rPr sz="1200" dirty="0">
                <a:solidFill>
                  <a:srgbClr val="334155"/>
                </a:solidFill>
                <a:latin typeface="Calibri"/>
              </a:rPr>
              <a:t> (default — clean iOS look)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MaterialIcons</a:t>
            </a:r>
            <a:r>
              <a:rPr sz="1200" dirty="0">
                <a:solidFill>
                  <a:srgbClr val="334155"/>
                </a:solidFill>
                <a:latin typeface="Calibri"/>
              </a:rPr>
              <a:t> / 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MaterialCommunityIcons</a:t>
            </a:r>
            <a:endParaRPr sz="1200" dirty="0">
              <a:solidFill>
                <a:srgbClr val="334155"/>
              </a:solidFill>
              <a:latin typeface="Calibri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FontAwesome5  ·  Feather  ·  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AntDesign</a:t>
            </a:r>
            <a:endParaRPr sz="120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120640" y="2148840"/>
            <a:ext cx="36576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66944" y="2177167"/>
            <a:ext cx="24296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💡  Focused vs Unfocused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0566" y="2488779"/>
            <a:ext cx="3587674" cy="670825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focused=true when the tab is active.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Convention: filled when active, outline when not.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Example: 'home' vs 'home-outline'.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20640" y="3200400"/>
            <a:ext cx="365760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66944" y="3228727"/>
            <a:ext cx="166641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865"/>
                </a:solidFill>
                <a:latin typeface="Calibri"/>
              </a:rPr>
              <a:t>🔍  Finding Icons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1694" y="3522291"/>
            <a:ext cx="3657600" cy="1307922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Visit 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icons.expo.fyi</a:t>
            </a:r>
            <a:r>
              <a:rPr sz="1200" dirty="0">
                <a:solidFill>
                  <a:srgbClr val="334155"/>
                </a:solidFill>
                <a:latin typeface="Calibri"/>
              </a:rPr>
              <a:t>  — full searchable catalog.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Click an icon → get its exact name.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Each set uses its own naming convention.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Sizes default to 24, color defaults to text color.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Use size &amp; color from 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tabBarIcon</a:t>
            </a:r>
            <a:r>
              <a:rPr sz="1200" dirty="0">
                <a:solidFill>
                  <a:srgbClr val="334155"/>
                </a:solidFill>
                <a:latin typeface="Calibri"/>
              </a:rPr>
              <a:t> props for free theming.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7 / 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2743A4-624A-418B-91AA-6E1B1C9C8C29}"/>
              </a:ext>
            </a:extLst>
          </p:cNvPr>
          <p:cNvSpPr/>
          <p:nvPr/>
        </p:nvSpPr>
        <p:spPr>
          <a:xfrm flipV="1">
            <a:off x="365760" y="477536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7209"/>
            <a:ext cx="3351623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Styling the Tab 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43146"/>
            <a:ext cx="7616124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Every visual aspect is a </a:t>
            </a:r>
            <a:r>
              <a:rPr sz="2000" dirty="0" err="1">
                <a:solidFill>
                  <a:schemeClr val="bg1"/>
                </a:solidFill>
                <a:latin typeface="Calibri"/>
              </a:rPr>
              <a:t>screenOption</a:t>
            </a:r>
            <a:r>
              <a:rPr sz="2000" dirty="0">
                <a:solidFill>
                  <a:schemeClr val="bg1"/>
                </a:solidFill>
                <a:latin typeface="Calibri"/>
              </a:rPr>
              <a:t> — colors, fonts, height, badges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6477"/>
            <a:ext cx="5029200" cy="411651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1" y="958637"/>
            <a:ext cx="50292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dirty="0">
                <a:solidFill>
                  <a:srgbClr val="F59E0B"/>
                </a:solidFill>
                <a:latin typeface="Calibri"/>
              </a:rPr>
              <a:t>A theme-able tab bar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066370"/>
            <a:ext cx="4809744" cy="4032129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&lt;Tabs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screenOptions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={{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059669"/>
                </a:solidFill>
                <a:latin typeface="Consolas"/>
              </a:rPr>
              <a:t>  // </a:t>
            </a:r>
            <a:r>
              <a:rPr lang="en-US" sz="1000" dirty="0">
                <a:solidFill>
                  <a:srgbClr val="059669"/>
                </a:solidFill>
                <a:latin typeface="Consolas"/>
              </a:rPr>
              <a:t>Bar </a:t>
            </a:r>
            <a:r>
              <a:rPr sz="1000" dirty="0">
                <a:solidFill>
                  <a:srgbClr val="059669"/>
                </a:solidFill>
                <a:latin typeface="Consolas"/>
              </a:rPr>
              <a:t>Colors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tabBarActiveTintColor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  '#F59E0B',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tabBarInactiveTintColor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'#94A3B8',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059669"/>
                </a:solidFill>
                <a:latin typeface="Consolas"/>
              </a:rPr>
              <a:t>  // Bar </a:t>
            </a:r>
            <a:r>
              <a:rPr lang="en-US" sz="1000" dirty="0">
                <a:solidFill>
                  <a:srgbClr val="059669"/>
                </a:solidFill>
                <a:latin typeface="Consolas"/>
              </a:rPr>
              <a:t>Style</a:t>
            </a:r>
            <a:endParaRPr sz="100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tabBarStyle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{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backgroundColor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'#0F172A',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borderTopColor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 '#1E293B',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height: 64,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paddingBottom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8,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},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059669"/>
                </a:solidFill>
                <a:latin typeface="Consolas"/>
              </a:rPr>
              <a:t>  // Label </a:t>
            </a:r>
            <a:r>
              <a:rPr lang="en-US" sz="1000" dirty="0">
                <a:solidFill>
                  <a:srgbClr val="059669"/>
                </a:solidFill>
                <a:latin typeface="Consolas"/>
              </a:rPr>
              <a:t>Style: </a:t>
            </a:r>
            <a:r>
              <a:rPr sz="1000" dirty="0">
                <a:solidFill>
                  <a:srgbClr val="059669"/>
                </a:solidFill>
                <a:latin typeface="Consolas"/>
              </a:rPr>
              <a:t>font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tabBarLabelStyle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{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fontSize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11,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fontWeight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'600',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},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059669"/>
                </a:solidFill>
                <a:latin typeface="Consolas"/>
              </a:rPr>
              <a:t>  // Hide labels, icon-only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//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tabBarShowLabel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false,</a:t>
            </a:r>
          </a:p>
          <a:p>
            <a:pPr algn="l">
              <a:lnSpc>
                <a:spcPct val="105000"/>
              </a:lnSpc>
            </a:pPr>
            <a:endParaRPr sz="10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059669"/>
                </a:solidFill>
                <a:latin typeface="Consolas"/>
              </a:rPr>
              <a:t>  // Header above the screen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headerStyle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{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backgroundColor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'#003865' },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000" dirty="0" err="1">
                <a:solidFill>
                  <a:srgbClr val="F1F5F9"/>
                </a:solidFill>
                <a:latin typeface="Consolas"/>
              </a:rPr>
              <a:t>headerTintColor</a:t>
            </a:r>
            <a:r>
              <a:rPr sz="1000" dirty="0">
                <a:solidFill>
                  <a:srgbClr val="F1F5F9"/>
                </a:solidFill>
                <a:latin typeface="Consolas"/>
              </a:rPr>
              <a:t>: '#FFFFFF',</a:t>
            </a:r>
          </a:p>
          <a:p>
            <a:pPr algn="l">
              <a:lnSpc>
                <a:spcPct val="105000"/>
              </a:lnSpc>
            </a:pPr>
            <a:r>
              <a:rPr sz="1000" dirty="0">
                <a:solidFill>
                  <a:srgbClr val="F1F5F9"/>
                </a:solidFill>
                <a:latin typeface="Consolas"/>
              </a:rPr>
              <a:t>}} /&gt;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1222790"/>
            <a:ext cx="3200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24144" y="1233187"/>
            <a:ext cx="161877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🔢  Add a Badge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1567094"/>
            <a:ext cx="3200399" cy="883190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tabBarBadge</a:t>
            </a:r>
            <a:r>
              <a:rPr sz="1200" dirty="0">
                <a:solidFill>
                  <a:srgbClr val="334155"/>
                </a:solidFill>
                <a:latin typeface="Calibri"/>
              </a:rPr>
              <a:t>: 3      → red dot with '3'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tabBarBadge</a:t>
            </a:r>
            <a:r>
              <a:rPr sz="1200" dirty="0">
                <a:solidFill>
                  <a:srgbClr val="334155"/>
                </a:solidFill>
                <a:latin typeface="Calibri"/>
              </a:rPr>
              <a:t>: '99+'  → string is also OK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tabBarBadgeStyle</a:t>
            </a:r>
            <a:r>
              <a:rPr sz="1200" dirty="0">
                <a:solidFill>
                  <a:srgbClr val="334155"/>
                </a:solidFill>
                <a:latin typeface="Calibri"/>
              </a:rPr>
              <a:t>: { 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backgroundColor</a:t>
            </a:r>
            <a:r>
              <a:rPr sz="1200" dirty="0">
                <a:solidFill>
                  <a:srgbClr val="334155"/>
                </a:solidFill>
                <a:latin typeface="Calibri"/>
              </a:rPr>
              <a:t>: '#DC2626' 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502950"/>
            <a:ext cx="320040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24144" y="2513347"/>
            <a:ext cx="195649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003865"/>
                </a:solidFill>
                <a:latin typeface="Calibri"/>
              </a:rPr>
              <a:t>📱  Hide the Tab Bar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5472" y="2839162"/>
            <a:ext cx="3383280" cy="883190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tabBarStyle</a:t>
            </a:r>
            <a:r>
              <a:rPr sz="1200" dirty="0">
                <a:solidFill>
                  <a:srgbClr val="334155"/>
                </a:solidFill>
                <a:latin typeface="Calibri"/>
              </a:rPr>
              <a:t>: { display: 'none' }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Useful on a full-screen video player or onboarding.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Set it per-screen with options on that &lt;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Tabs.Screen</a:t>
            </a:r>
            <a:r>
              <a:rPr sz="1200" dirty="0">
                <a:solidFill>
                  <a:srgbClr val="334155"/>
                </a:solidFill>
                <a:latin typeface="Calibri"/>
              </a:rPr>
              <a:t>&gt;.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77840" y="3783110"/>
            <a:ext cx="320040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24144" y="3793507"/>
            <a:ext cx="213340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865"/>
                </a:solidFill>
                <a:latin typeface="Calibri"/>
              </a:rPr>
              <a:t>🚫  Hide a Tab Entirely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4167874"/>
            <a:ext cx="3200399" cy="670825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 err="1">
                <a:solidFill>
                  <a:srgbClr val="334155"/>
                </a:solidFill>
                <a:latin typeface="Calibri"/>
              </a:rPr>
              <a:t>href</a:t>
            </a:r>
            <a:r>
              <a:rPr sz="1200" dirty="0">
                <a:solidFill>
                  <a:srgbClr val="334155"/>
                </a:solidFill>
                <a:latin typeface="Calibri"/>
              </a:rPr>
              <a:t>: null on the &lt;</a:t>
            </a:r>
            <a:r>
              <a:rPr sz="1200" dirty="0" err="1">
                <a:solidFill>
                  <a:srgbClr val="334155"/>
                </a:solidFill>
                <a:latin typeface="Calibri"/>
              </a:rPr>
              <a:t>Tabs.Screen</a:t>
            </a:r>
            <a:r>
              <a:rPr sz="1200" dirty="0">
                <a:solidFill>
                  <a:srgbClr val="334155"/>
                </a:solidFill>
                <a:latin typeface="Calibri"/>
              </a:rPr>
              <a:t>&gt;.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File still exists, just no button in the bar.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334155"/>
                </a:solidFill>
                <a:latin typeface="Calibri"/>
              </a:rPr>
              <a:t>Great for admin-only or deep-link-only screens.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8 / 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31230A-A279-5FAA-E206-BE0EC9158231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103990"/>
            <a:ext cx="551086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latin typeface="Calibri"/>
              </a:rPr>
              <a:t>Common 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Tab </a:t>
            </a:r>
            <a:r>
              <a:rPr lang="en-US" sz="3200" b="1" dirty="0">
                <a:solidFill>
                  <a:schemeClr val="bg1"/>
                </a:solidFill>
                <a:latin typeface="Calibri"/>
              </a:rPr>
              <a:t>Screen Properties</a:t>
            </a:r>
            <a:endParaRPr sz="32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5760" y="571225"/>
            <a:ext cx="52727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Calibri"/>
              </a:rPr>
              <a:t>The 15 properties you'll reach for daily</a:t>
            </a:r>
          </a:p>
        </p:txBody>
      </p:sp>
      <p:sp>
        <p:nvSpPr>
          <p:cNvPr id="6" name="Rectangle 5"/>
          <p:cNvSpPr/>
          <p:nvPr/>
        </p:nvSpPr>
        <p:spPr>
          <a:xfrm>
            <a:off x="149898" y="1097280"/>
            <a:ext cx="2184595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49898" y="1097280"/>
            <a:ext cx="2184595" cy="41148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Identity &amp; Label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626" y="1627632"/>
            <a:ext cx="6335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F59E0B"/>
                </a:solidFill>
                <a:latin typeface="Consolas"/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26" y="1828800"/>
            <a:ext cx="173060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filename without .</a:t>
            </a:r>
            <a:r>
              <a:rPr sz="1400" dirty="0" err="1">
                <a:solidFill>
                  <a:srgbClr val="475569"/>
                </a:solidFill>
                <a:latin typeface="Calibri"/>
              </a:rPr>
              <a:t>tsx</a:t>
            </a:r>
            <a:endParaRPr sz="1400" dirty="0">
              <a:solidFill>
                <a:srgbClr val="475569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9626" y="2103120"/>
            <a:ext cx="74571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Consolas"/>
              </a:rPr>
              <a:t>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626" y="2304288"/>
            <a:ext cx="192482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shown in label + header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626" y="2578608"/>
            <a:ext cx="14189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Consolas"/>
              </a:rPr>
              <a:t>tabBarLabel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26" y="2779776"/>
            <a:ext cx="18316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override the label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626" y="3054096"/>
            <a:ext cx="63350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Consolas"/>
              </a:rPr>
              <a:t>href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626" y="3255264"/>
            <a:ext cx="15519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set null to hide tab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0539" y="1097280"/>
            <a:ext cx="2403176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730539" y="1097280"/>
            <a:ext cx="2403176" cy="41148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Icon &amp; Badge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40267" y="1627632"/>
            <a:ext cx="130676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Consolas"/>
              </a:rPr>
              <a:t>tabBarIcon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0267" y="1828800"/>
            <a:ext cx="216046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({color, size, focused}) =&gt; ...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40267" y="2103120"/>
            <a:ext cx="1418978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 err="1">
                <a:solidFill>
                  <a:srgbClr val="F59E0B"/>
                </a:solidFill>
                <a:latin typeface="Consolas"/>
              </a:rPr>
              <a:t>tabBarBadge</a:t>
            </a:r>
            <a:endParaRPr sz="1600" b="1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840267" y="2304288"/>
            <a:ext cx="141378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number or string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40267" y="2578608"/>
            <a:ext cx="198002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Consolas"/>
              </a:rPr>
              <a:t>tabBarBadgeStyle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40267" y="2779776"/>
            <a:ext cx="18666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background, color, font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0267" y="3054096"/>
            <a:ext cx="186781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59E0B"/>
                </a:solidFill>
                <a:latin typeface="Consolas"/>
              </a:rPr>
              <a:t>tabBarShowLabel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0267" y="3255264"/>
            <a:ext cx="98103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true / false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20859" y="1097280"/>
            <a:ext cx="341401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520859" y="1097280"/>
            <a:ext cx="3414010" cy="41148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600" tIns="25400" rtlCol="0" anchor="ctr"/>
          <a:lstStyle/>
          <a:p>
            <a:pPr algn="l"/>
            <a:r>
              <a:rPr sz="2000" b="1" dirty="0">
                <a:solidFill>
                  <a:srgbClr val="FFFFFF"/>
                </a:solidFill>
                <a:latin typeface="Calibri"/>
              </a:rPr>
              <a:t>Header &amp; Bar 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20859" y="1627632"/>
            <a:ext cx="21080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F59E0B"/>
                </a:solidFill>
                <a:latin typeface="Consolas"/>
              </a:rPr>
              <a:t>tabBarStyle</a:t>
            </a:r>
            <a:endParaRPr sz="1600" b="1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602485" y="1828800"/>
            <a:ext cx="27655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height, </a:t>
            </a:r>
            <a:r>
              <a:rPr sz="1400" dirty="0" err="1">
                <a:solidFill>
                  <a:srgbClr val="475569"/>
                </a:solidFill>
                <a:latin typeface="Calibri"/>
              </a:rPr>
              <a:t>bg</a:t>
            </a:r>
            <a:r>
              <a:rPr sz="1400" dirty="0">
                <a:solidFill>
                  <a:srgbClr val="475569"/>
                </a:solidFill>
                <a:latin typeface="Calibri"/>
              </a:rPr>
              <a:t>, border, padding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2485" y="2103120"/>
            <a:ext cx="314855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F59E0B"/>
                </a:solidFill>
                <a:latin typeface="Consolas"/>
              </a:rPr>
              <a:t>tabBarActiveTintColor</a:t>
            </a:r>
            <a:endParaRPr sz="1600" b="1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47450" y="2304288"/>
            <a:ext cx="20504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active icon + label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48835" y="2578608"/>
            <a:ext cx="342662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F59E0B"/>
                </a:solidFill>
                <a:latin typeface="Consolas"/>
              </a:rPr>
              <a:t>tabBarInactiveTintColor</a:t>
            </a:r>
            <a:endParaRPr sz="1600" b="1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02485" y="2779776"/>
            <a:ext cx="22316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inactive icon + label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02485" y="3036166"/>
            <a:ext cx="2026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F59E0B"/>
                </a:solidFill>
                <a:latin typeface="Consolas"/>
              </a:rPr>
              <a:t>headerShown</a:t>
            </a:r>
            <a:endParaRPr sz="1600" b="1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602484" y="3255264"/>
            <a:ext cx="23432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true (default) or false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20859" y="3574409"/>
            <a:ext cx="34545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F59E0B"/>
                </a:solidFill>
                <a:latin typeface="Consolas"/>
              </a:rPr>
              <a:t>headerStyle</a:t>
            </a:r>
            <a:r>
              <a:rPr sz="1600" b="1" dirty="0">
                <a:solidFill>
                  <a:srgbClr val="F59E0B"/>
                </a:solidFill>
                <a:latin typeface="Consolas"/>
              </a:rPr>
              <a:t> / </a:t>
            </a:r>
            <a:r>
              <a:rPr sz="1600" b="1" dirty="0" err="1">
                <a:solidFill>
                  <a:srgbClr val="F59E0B"/>
                </a:solidFill>
                <a:latin typeface="Consolas"/>
              </a:rPr>
              <a:t>headerTintColor</a:t>
            </a:r>
            <a:endParaRPr sz="1600" b="1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48836" y="3766611"/>
            <a:ext cx="269754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color the top header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02485" y="4148509"/>
            <a:ext cx="20264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F59E0B"/>
                </a:solidFill>
                <a:latin typeface="Consolas"/>
              </a:rPr>
              <a:t>headerRight</a:t>
            </a:r>
            <a:endParaRPr sz="1600" b="1" dirty="0">
              <a:solidFill>
                <a:srgbClr val="F59E0B"/>
              </a:solidFill>
              <a:latin typeface="Consola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47449" y="4385537"/>
            <a:ext cx="29171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75569"/>
                </a:solidFill>
                <a:latin typeface="Calibri"/>
              </a:rPr>
              <a:t>() =&gt; &lt;Button&gt; on the right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9 / 18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A61ED6F-4FDC-7DC5-79FA-0B17CDCD5DA9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97770"/>
            <a:ext cx="698428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chemeClr val="bg1"/>
                </a:solidFill>
                <a:latin typeface="Calibri"/>
              </a:rPr>
              <a:t>Tab Order, Initial Tab &amp; Conditional Tabs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0051"/>
            <a:ext cx="707618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Calibri"/>
              </a:rPr>
              <a:t>3</a:t>
            </a:r>
            <a:r>
              <a:rPr sz="2400" dirty="0">
                <a:solidFill>
                  <a:schemeClr val="bg1"/>
                </a:solidFill>
                <a:latin typeface="Calibri"/>
              </a:rPr>
              <a:t> practical patterns you will use often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8892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21533" y="1143273"/>
            <a:ext cx="16064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1.  Tab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186" y="1517904"/>
            <a:ext cx="2642616" cy="2577885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Tabs appear in the order they are LISTED inside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&lt;Tabs&gt;, NOT alphabetically.</a:t>
            </a:r>
          </a:p>
          <a:p>
            <a:pPr>
              <a:lnSpc>
                <a:spcPct val="115000"/>
              </a:lnSpc>
            </a:pPr>
            <a:endParaRPr sz="16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Re-order by re-arranging the</a:t>
            </a: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&lt;</a:t>
            </a:r>
            <a:r>
              <a:rPr sz="1600" dirty="0" err="1">
                <a:solidFill>
                  <a:schemeClr val="bg1"/>
                </a:solidFill>
                <a:latin typeface="Calibri"/>
              </a:rPr>
              <a:t>Tabs.Screen</a:t>
            </a:r>
            <a:r>
              <a:rPr sz="1600" dirty="0">
                <a:solidFill>
                  <a:schemeClr val="bg1"/>
                </a:solidFill>
                <a:latin typeface="Calibri"/>
              </a:rPr>
              <a:t>&gt; elements.</a:t>
            </a:r>
          </a:p>
          <a:p>
            <a:pPr>
              <a:lnSpc>
                <a:spcPct val="115000"/>
              </a:lnSpc>
            </a:pPr>
            <a:endParaRPr sz="1600" dirty="0">
              <a:solidFill>
                <a:schemeClr val="bg1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600" dirty="0">
                <a:solidFill>
                  <a:schemeClr val="bg1"/>
                </a:solidFill>
                <a:latin typeface="Calibri"/>
              </a:rPr>
              <a:t>Best practice: index first, profile last.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097280"/>
            <a:ext cx="2834640" cy="386791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0" name="TextBox 9"/>
          <p:cNvSpPr txBox="1"/>
          <p:nvPr/>
        </p:nvSpPr>
        <p:spPr>
          <a:xfrm>
            <a:off x="3355848" y="1143000"/>
            <a:ext cx="798745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Calibri"/>
              </a:rPr>
              <a:t>Initial tab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583" y="1408176"/>
            <a:ext cx="2816352" cy="309347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Default tab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// Whichever &lt;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Tabs.Screen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// with name="index" appears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// FIRST loads on app open.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&lt;Tabs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initialRouteName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="index"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&lt;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Tabs.Screen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name="index" /&gt;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&lt;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Tabs.Screen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name="search" /&gt;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  &lt;</a:t>
            </a:r>
            <a:r>
              <a:rPr sz="1200" dirty="0" err="1">
                <a:solidFill>
                  <a:srgbClr val="F1F5F9"/>
                </a:solidFill>
                <a:latin typeface="Consolas"/>
              </a:rPr>
              <a:t>Tabs.Screen</a:t>
            </a:r>
            <a:r>
              <a:rPr sz="1200" dirty="0">
                <a:solidFill>
                  <a:srgbClr val="F1F5F9"/>
                </a:solidFill>
                <a:latin typeface="Consolas"/>
              </a:rPr>
              <a:t> name="profile" /&gt;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F1F5F9"/>
                </a:solidFill>
                <a:latin typeface="Consolas"/>
              </a:rPr>
              <a:t>&lt;/Tabs&gt;</a:t>
            </a:r>
          </a:p>
          <a:p>
            <a:pPr algn="l">
              <a:lnSpc>
                <a:spcPct val="105000"/>
              </a:lnSpc>
            </a:pPr>
            <a:endParaRPr sz="12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</a:t>
            </a:r>
            <a:r>
              <a:rPr sz="1200" dirty="0" err="1">
                <a:solidFill>
                  <a:srgbClr val="059669"/>
                </a:solidFill>
                <a:latin typeface="Consolas"/>
              </a:rPr>
              <a:t>initialRouteName</a:t>
            </a:r>
            <a:r>
              <a:rPr sz="1200" dirty="0">
                <a:solidFill>
                  <a:srgbClr val="059669"/>
                </a:solidFill>
                <a:latin typeface="Consolas"/>
              </a:rPr>
              <a:t> ALSO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controls which tab the</a:t>
            </a:r>
          </a:p>
          <a:p>
            <a:pPr algn="l">
              <a:lnSpc>
                <a:spcPct val="105000"/>
              </a:lnSpc>
            </a:pPr>
            <a:r>
              <a:rPr sz="1200" dirty="0">
                <a:solidFill>
                  <a:srgbClr val="059669"/>
                </a:solidFill>
                <a:latin typeface="Consolas"/>
              </a:rPr>
              <a:t>// back-button returns 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097280"/>
            <a:ext cx="2606040" cy="3867912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6281928" y="1143000"/>
            <a:ext cx="152721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Calibri"/>
              </a:rPr>
              <a:t>Hide tab dynamically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1928" y="1408176"/>
            <a:ext cx="2386584" cy="3093476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>
                <a:solidFill>
                  <a:srgbClr val="059669"/>
                </a:solidFill>
                <a:latin typeface="Consolas"/>
              </a:rPr>
              <a:t>// Conditional tab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// Hide the Admin tab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// unless user is admin.</a:t>
            </a:r>
          </a:p>
          <a:p>
            <a:pPr algn="l">
              <a:lnSpc>
                <a:spcPct val="105000"/>
              </a:lnSpc>
            </a:pPr>
            <a:endParaRPr sz="120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&lt;Tabs.Screen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  name="admin"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  options={{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    href: isAdmin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      ? '/admin'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59E0B"/>
                </a:solidFill>
                <a:latin typeface="Consolas"/>
              </a:rPr>
              <a:t>      : null,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  }}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F1F5F9"/>
                </a:solidFill>
                <a:latin typeface="Consolas"/>
              </a:rPr>
              <a:t>/&gt;</a:t>
            </a:r>
          </a:p>
          <a:p>
            <a:pPr algn="l">
              <a:lnSpc>
                <a:spcPct val="105000"/>
              </a:lnSpc>
            </a:pPr>
            <a:endParaRPr sz="120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59669"/>
                </a:solidFill>
                <a:latin typeface="Consolas"/>
              </a:rPr>
              <a:t>// href: null hides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59669"/>
                </a:solidFill>
                <a:latin typeface="Consolas"/>
              </a:rPr>
              <a:t>// the tab button BUT</a:t>
            </a:r>
          </a:p>
          <a:p>
            <a:pPr algn="l">
              <a:lnSpc>
                <a:spcPct val="105000"/>
              </a:lnSpc>
            </a:pPr>
            <a:r>
              <a:rPr sz="1200">
                <a:solidFill>
                  <a:srgbClr val="059669"/>
                </a:solidFill>
                <a:latin typeface="Consolas"/>
              </a:rPr>
              <a:t>// keeps the route valid.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10 / 18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D7E255E-A50D-5FCE-14D7-216F5280B7DA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97771"/>
            <a:ext cx="554594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Nested Navigation </a:t>
            </a:r>
            <a:r>
              <a:rPr sz="3200" b="1" dirty="0">
                <a:solidFill>
                  <a:schemeClr val="bg1"/>
                </a:solidFill>
                <a:latin typeface="Calibri"/>
              </a:rPr>
              <a:t>Tabs +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855" y="614372"/>
            <a:ext cx="89991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Each tab can contain its own stack of pushed screens</a:t>
            </a:r>
            <a:endParaRPr lang="en-US" sz="2000" dirty="0">
              <a:solidFill>
                <a:schemeClr val="bg1"/>
              </a:solidFill>
              <a:latin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Real apps almost always combine the two: a tab bar at the bottom, and inside each tab, a stack you can drill down through. Day 2 covers stacks in depth — here's the preview.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54185"/>
            <a:ext cx="4572000" cy="3108960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963693"/>
            <a:ext cx="232203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dirty="0">
                <a:solidFill>
                  <a:srgbClr val="F59E0B"/>
                </a:solidFill>
                <a:latin typeface="Calibri"/>
              </a:rPr>
              <a:t>A tab that contains a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265081"/>
            <a:ext cx="4352544" cy="265797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59E0B"/>
                </a:solidFill>
                <a:latin typeface="Consolas"/>
              </a:rPr>
              <a:t>app/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├── _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layout.tsx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               # root Stack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59E0B"/>
                </a:solidFill>
                <a:latin typeface="Consolas"/>
              </a:rPr>
              <a:t>├── (tabs)/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│    ├── _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layout.tsx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          # Tabs shell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│    ├──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index.tsx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            # Home tab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59E0B"/>
                </a:solidFill>
                <a:latin typeface="Consolas"/>
              </a:rPr>
              <a:t>│    ├── courses/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│    │    ├── _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layout.tsx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     # Stack inside Courses tab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│    │    ├──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index.tsx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       # course LIST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│    │    └── [id].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tsx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        # course DETAIL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│    └──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profile.tsx</a:t>
            </a:r>
            <a:endParaRPr sz="11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User taps Courses tab,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  sees list, taps a course,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  stack pushes [id].</a:t>
            </a:r>
            <a:r>
              <a:rPr sz="1100" dirty="0" err="1">
                <a:solidFill>
                  <a:srgbClr val="059669"/>
                </a:solidFill>
                <a:latin typeface="Consolas"/>
              </a:rPr>
              <a:t>tsx</a:t>
            </a:r>
            <a:r>
              <a:rPr sz="1100" dirty="0">
                <a:solidFill>
                  <a:srgbClr val="059669"/>
                </a:solidFill>
                <a:latin typeface="Consolas"/>
              </a:rPr>
              <a:t> —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059669"/>
                </a:solidFill>
                <a:latin typeface="Consolas"/>
              </a:rPr>
              <a:t>//   tab bar STAYS visible.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0" y="1954185"/>
            <a:ext cx="1607058" cy="2953512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76672" y="2063913"/>
            <a:ext cx="1460754" cy="227594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12843" y="2928021"/>
            <a:ext cx="98841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03865"/>
                </a:solidFill>
                <a:latin typeface="Calibri"/>
              </a:rPr>
              <a:t>Course List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76672" y="4294134"/>
            <a:ext cx="1460754" cy="50383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76672" y="4330710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76672" y="4568454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63590" y="4330710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3590" y="4568454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Courses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508" y="4330710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508" y="4568454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Profile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1954185"/>
            <a:ext cx="1607058" cy="2953512"/>
          </a:xfrm>
          <a:prstGeom prst="roundRect">
            <a:avLst>
              <a:gd name="adj" fmla="val 7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251192" y="2063913"/>
            <a:ext cx="1460754" cy="2275941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82274" y="2928021"/>
            <a:ext cx="13985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dirty="0">
                <a:solidFill>
                  <a:srgbClr val="003865"/>
                </a:solidFill>
                <a:latin typeface="Calibri"/>
              </a:rPr>
              <a:t>CPRG-303 Detail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51192" y="4294134"/>
            <a:ext cx="1460754" cy="50383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1192" y="4330710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51192" y="4568454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Home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38110" y="4330710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003865"/>
                </a:solidFill>
                <a:latin typeface="Calibri"/>
              </a:rPr>
              <a:t>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38110" y="4568454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003865"/>
                </a:solidFill>
                <a:latin typeface="Calibri"/>
              </a:rPr>
              <a:t>Courses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5027" y="4330710"/>
            <a:ext cx="48691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94A3B8"/>
                </a:solidFill>
                <a:latin typeface="Calibri"/>
              </a:rPr>
              <a:t>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5027" y="4568454"/>
            <a:ext cx="48691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  <a:latin typeface="Calibri"/>
              </a:rPr>
              <a:t>Profile</a:t>
            </a:r>
          </a:p>
        </p:txBody>
      </p:sp>
      <p:cxnSp>
        <p:nvCxnSpPr>
          <p:cNvPr id="30" name="Connector 29"/>
          <p:cNvCxnSpPr>
            <a:cxnSpLocks/>
          </p:cNvCxnSpPr>
          <p:nvPr/>
        </p:nvCxnSpPr>
        <p:spPr>
          <a:xfrm>
            <a:off x="6837426" y="3508665"/>
            <a:ext cx="340614" cy="0"/>
          </a:xfrm>
          <a:prstGeom prst="line">
            <a:avLst/>
          </a:prstGeom>
          <a:ln w="50800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11 / 18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C6B9E2-C125-A5AE-D44E-8FE22FBB5F19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52509"/>
            <a:ext cx="78531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003865"/>
                </a:solidFill>
                <a:latin typeface="Calibri"/>
              </a:rPr>
              <a:t>Code Walkthrough — </a:t>
            </a:r>
            <a:r>
              <a:rPr sz="3200" b="1" dirty="0" err="1">
                <a:solidFill>
                  <a:srgbClr val="003865"/>
                </a:solidFill>
                <a:latin typeface="Calibri"/>
              </a:rPr>
              <a:t>CampusHub</a:t>
            </a:r>
            <a:r>
              <a:rPr sz="3200" b="1" dirty="0">
                <a:solidFill>
                  <a:srgbClr val="003865"/>
                </a:solidFill>
                <a:latin typeface="Calibri"/>
              </a:rPr>
              <a:t> Tabs</a:t>
            </a:r>
            <a:r>
              <a:rPr lang="en-US" sz="3200" b="1" dirty="0">
                <a:solidFill>
                  <a:srgbClr val="003865"/>
                </a:solidFill>
                <a:latin typeface="Calibri"/>
              </a:rPr>
              <a:t> (1/2)</a:t>
            </a:r>
            <a:r>
              <a:rPr sz="3200" b="1" dirty="0">
                <a:solidFill>
                  <a:srgbClr val="003865"/>
                </a:solidFill>
                <a:latin typeface="Calibri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78157"/>
            <a:ext cx="659834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We'll build this together: Home · Courses · Profile · Settings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434" y="1296452"/>
            <a:ext cx="5378390" cy="3360723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7912" y="1305960"/>
            <a:ext cx="289964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F59E0B"/>
                </a:solidFill>
                <a:latin typeface="Calibri"/>
              </a:rPr>
              <a:t>The whole shell — one file, four tabs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2114" y="1607348"/>
            <a:ext cx="5175504" cy="2932662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dirty="0">
                <a:solidFill>
                  <a:schemeClr val="bg2">
                    <a:lumMod val="20000"/>
                    <a:lumOff val="80000"/>
                  </a:schemeClr>
                </a:solidFill>
                <a:latin typeface="Consolas"/>
              </a:rPr>
              <a:t>// app/(tabs)/_</a:t>
            </a:r>
            <a:r>
              <a:rPr sz="14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Consolas"/>
              </a:rPr>
              <a:t>layout.tsx</a:t>
            </a:r>
            <a:endParaRPr lang="en-US" sz="1400" dirty="0">
              <a:solidFill>
                <a:schemeClr val="bg2">
                  <a:lumMod val="20000"/>
                  <a:lumOff val="80000"/>
                </a:schemeClr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endParaRPr sz="1400" dirty="0">
              <a:solidFill>
                <a:srgbClr val="05966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DBEAFE"/>
                </a:solidFill>
                <a:latin typeface="Consolas"/>
              </a:rPr>
              <a:t>import { Tabs } from 'expo-router';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DBEAFE"/>
                </a:solidFill>
                <a:latin typeface="Consolas"/>
              </a:rPr>
              <a:t>import { </a:t>
            </a:r>
            <a:r>
              <a:rPr sz="1100" dirty="0" err="1">
                <a:solidFill>
                  <a:srgbClr val="DBEAFE"/>
                </a:solidFill>
                <a:latin typeface="Consolas"/>
              </a:rPr>
              <a:t>Ionicons</a:t>
            </a:r>
            <a:r>
              <a:rPr sz="1100" dirty="0">
                <a:solidFill>
                  <a:srgbClr val="DBEAFE"/>
                </a:solidFill>
                <a:latin typeface="Consolas"/>
              </a:rPr>
              <a:t> } from '@expo/vector-icons';</a:t>
            </a:r>
          </a:p>
          <a:p>
            <a:pPr algn="l">
              <a:lnSpc>
                <a:spcPct val="105000"/>
              </a:lnSpc>
            </a:pPr>
            <a:endParaRPr sz="110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TabLayout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&lt;Tabs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 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screenOptions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={{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tabBarActiveTintColor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: '#F59E0B',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tabBarInactiveTintColor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: '#94A3B8',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tabBarStyle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: {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backgroundColor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: '#0F172A',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borderTopColor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: </a:t>
            </a:r>
            <a:r>
              <a:rPr lang="en-US" sz="1100" dirty="0">
                <a:solidFill>
                  <a:srgbClr val="F1F5F9"/>
                </a:solidFill>
                <a:latin typeface="Consolas"/>
              </a:rPr>
              <a:t>								   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'#1E293B' },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headerStyle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: {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backgroundColor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: '#003865' },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1F5F9"/>
                </a:solidFill>
                <a:latin typeface="Consolas"/>
              </a:rPr>
              <a:t>headerTintColor</a:t>
            </a:r>
            <a:r>
              <a:rPr sz="1100" dirty="0">
                <a:solidFill>
                  <a:srgbClr val="F1F5F9"/>
                </a:solidFill>
                <a:latin typeface="Consolas"/>
              </a:rPr>
              <a:t>: '#FFFFFF',</a:t>
            </a:r>
          </a:p>
          <a:p>
            <a:pPr algn="l">
              <a:lnSpc>
                <a:spcPct val="105000"/>
              </a:lnSpc>
            </a:pPr>
            <a:r>
              <a:rPr sz="1100" dirty="0">
                <a:solidFill>
                  <a:srgbClr val="F1F5F9"/>
                </a:solidFill>
                <a:latin typeface="Consolas"/>
              </a:rPr>
              <a:t>      }}&gt;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5868002" y="979099"/>
            <a:ext cx="3008376" cy="39210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0" name="TextBox 9"/>
          <p:cNvSpPr txBox="1"/>
          <p:nvPr/>
        </p:nvSpPr>
        <p:spPr>
          <a:xfrm>
            <a:off x="6014306" y="1043684"/>
            <a:ext cx="249459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dirty="0">
                <a:solidFill>
                  <a:srgbClr val="003865"/>
                </a:solidFill>
                <a:latin typeface="Calibri"/>
              </a:rPr>
              <a:t>🎬  Demo Plan (30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2594" y="1391156"/>
            <a:ext cx="2843784" cy="3481531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1.  Open  </a:t>
            </a:r>
            <a:r>
              <a:rPr sz="1500" dirty="0" err="1">
                <a:solidFill>
                  <a:srgbClr val="334155"/>
                </a:solidFill>
                <a:latin typeface="Calibri"/>
              </a:rPr>
              <a:t>CampusHub_starter</a:t>
            </a:r>
            <a:endParaRPr sz="1500" dirty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2.  Show file tree — note (tabs) folder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3.  Run on Expo Go — three placeholder tabs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4.  Add 4th tab — </a:t>
            </a:r>
            <a:r>
              <a:rPr sz="1500" dirty="0" err="1">
                <a:solidFill>
                  <a:srgbClr val="334155"/>
                </a:solidFill>
                <a:latin typeface="Calibri"/>
              </a:rPr>
              <a:t>settings.tsx</a:t>
            </a:r>
            <a:endParaRPr sz="1500" dirty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5.  Wire up </a:t>
            </a:r>
            <a:r>
              <a:rPr sz="1500" dirty="0" err="1">
                <a:solidFill>
                  <a:srgbClr val="334155"/>
                </a:solidFill>
                <a:latin typeface="Calibri"/>
              </a:rPr>
              <a:t>Ionicons</a:t>
            </a:r>
            <a:r>
              <a:rPr sz="1500" dirty="0">
                <a:solidFill>
                  <a:srgbClr val="334155"/>
                </a:solidFill>
                <a:latin typeface="Calibri"/>
              </a:rPr>
              <a:t> for all 4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6.  Switch active tint to amber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7.  Add badge '2' to Profile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8.  Hide tab bar on a child screen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9.  Use focused: filled vs outline icons</a:t>
            </a:r>
          </a:p>
          <a:p>
            <a:pPr>
              <a:lnSpc>
                <a:spcPct val="115000"/>
              </a:lnSpc>
            </a:pPr>
            <a:r>
              <a:rPr sz="1500" dirty="0">
                <a:solidFill>
                  <a:srgbClr val="334155"/>
                </a:solidFill>
                <a:latin typeface="Calibri"/>
              </a:rPr>
              <a:t>10. Compare to </a:t>
            </a:r>
            <a:r>
              <a:rPr sz="1500" dirty="0" err="1">
                <a:solidFill>
                  <a:srgbClr val="334155"/>
                </a:solidFill>
                <a:latin typeface="Calibri"/>
              </a:rPr>
              <a:t>CampusHub_final</a:t>
            </a:r>
            <a:endParaRPr sz="150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936269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12 / 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189B5F-B504-4612-1774-C5AC7F53CD46}"/>
              </a:ext>
            </a:extLst>
          </p:cNvPr>
          <p:cNvSpPr/>
          <p:nvPr/>
        </p:nvSpPr>
        <p:spPr>
          <a:xfrm flipV="1">
            <a:off x="365760" y="486325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1FC16-ABAD-809C-4CAB-632A7E14A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E46339-F4FB-520A-E4D0-BAED50C159A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B4F387-05F6-8867-F2CD-7B7111D03487}"/>
              </a:ext>
            </a:extLst>
          </p:cNvPr>
          <p:cNvSpPr txBox="1"/>
          <p:nvPr/>
        </p:nvSpPr>
        <p:spPr>
          <a:xfrm>
            <a:off x="365760" y="-52509"/>
            <a:ext cx="7853112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003865"/>
                </a:solidFill>
                <a:latin typeface="Calibri"/>
              </a:rPr>
              <a:t>Code Walkthrough — </a:t>
            </a:r>
            <a:r>
              <a:rPr sz="3200" b="1" dirty="0" err="1">
                <a:solidFill>
                  <a:srgbClr val="003865"/>
                </a:solidFill>
                <a:latin typeface="Calibri"/>
              </a:rPr>
              <a:t>CampusHub</a:t>
            </a:r>
            <a:r>
              <a:rPr sz="3200" b="1" dirty="0">
                <a:solidFill>
                  <a:srgbClr val="003865"/>
                </a:solidFill>
                <a:latin typeface="Calibri"/>
              </a:rPr>
              <a:t> Tabs</a:t>
            </a:r>
            <a:r>
              <a:rPr lang="en-US" sz="3200" b="1" dirty="0">
                <a:solidFill>
                  <a:srgbClr val="003865"/>
                </a:solidFill>
                <a:latin typeface="Calibri"/>
              </a:rPr>
              <a:t> (2/2)</a:t>
            </a:r>
            <a:r>
              <a:rPr sz="3200" b="1" dirty="0">
                <a:solidFill>
                  <a:srgbClr val="003865"/>
                </a:solidFill>
                <a:latin typeface="Calibri"/>
              </a:rPr>
              <a:t>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2FFE890-24F1-EE9F-B04B-F97F874065DC}"/>
              </a:ext>
            </a:extLst>
          </p:cNvPr>
          <p:cNvGrpSpPr/>
          <p:nvPr/>
        </p:nvGrpSpPr>
        <p:grpSpPr>
          <a:xfrm>
            <a:off x="515406" y="1323612"/>
            <a:ext cx="8084790" cy="1917071"/>
            <a:chOff x="515406" y="1323612"/>
            <a:chExt cx="8084790" cy="191707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E4609F-5C56-97CA-8452-2F42DE575008}"/>
                </a:ext>
              </a:extLst>
            </p:cNvPr>
            <p:cNvSpPr/>
            <p:nvPr/>
          </p:nvSpPr>
          <p:spPr>
            <a:xfrm>
              <a:off x="515406" y="1323612"/>
              <a:ext cx="8084790" cy="1917071"/>
            </a:xfrm>
            <a:prstGeom prst="rect">
              <a:avLst/>
            </a:prstGeom>
            <a:solidFill>
              <a:srgbClr val="0F172A"/>
            </a:solidFill>
            <a:ln w="6350">
              <a:solidFill>
                <a:srgbClr val="3341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D5F199D-EE95-2305-683D-176B0A76DF38}"/>
                </a:ext>
              </a:extLst>
            </p:cNvPr>
            <p:cNvSpPr txBox="1"/>
            <p:nvPr/>
          </p:nvSpPr>
          <p:spPr>
            <a:xfrm>
              <a:off x="747085" y="1543977"/>
              <a:ext cx="7853111" cy="1542282"/>
            </a:xfrm>
            <a:prstGeom prst="rect">
              <a:avLst/>
            </a:prstGeom>
            <a:noFill/>
          </p:spPr>
          <p:txBody>
            <a:bodyPr wrap="square" lIns="25400" tIns="0" rIns="25400" bIns="0">
              <a:spAutoFit/>
            </a:bodyPr>
            <a:lstStyle/>
            <a:p>
              <a:pPr algn="l">
                <a:lnSpc>
                  <a:spcPct val="105000"/>
                </a:lnSpc>
              </a:pPr>
              <a:r>
                <a:rPr sz="1200" dirty="0">
                  <a:solidFill>
                    <a:srgbClr val="F1F5F9"/>
                  </a:solidFill>
                  <a:latin typeface="Consolas"/>
                </a:rPr>
                <a:t>&lt;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Tabs.Screen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 name="courses"  options={{ title: 'Courses',</a:t>
              </a:r>
            </a:p>
            <a:p>
              <a:pPr algn="l">
                <a:lnSpc>
                  <a:spcPct val="105000"/>
                </a:lnSpc>
              </a:pPr>
              <a:r>
                <a:rPr sz="1200" dirty="0">
                  <a:solidFill>
                    <a:srgbClr val="F1F5F9"/>
                  </a:solidFill>
                  <a:latin typeface="Consolas"/>
                </a:rPr>
                <a:t>        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tabBarIcon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: ({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color,size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}) =&gt; &lt;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Ionicons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 name='book' size={size} color={color}/&gt;}}/&gt;</a:t>
              </a:r>
            </a:p>
            <a:p>
              <a:pPr algn="l">
                <a:lnSpc>
                  <a:spcPct val="105000"/>
                </a:lnSpc>
              </a:pPr>
              <a:r>
                <a:rPr sz="1200" dirty="0">
                  <a:solidFill>
                    <a:srgbClr val="F1F5F9"/>
                  </a:solidFill>
                  <a:latin typeface="Consolas"/>
                </a:rPr>
                <a:t>      &lt;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Tabs.Screen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 name="profile"  options={{ title: 'Profile',</a:t>
              </a:r>
            </a:p>
            <a:p>
              <a:pPr algn="l">
                <a:lnSpc>
                  <a:spcPct val="105000"/>
                </a:lnSpc>
              </a:pPr>
              <a:r>
                <a:rPr sz="1200" dirty="0">
                  <a:solidFill>
                    <a:srgbClr val="F1F5F9"/>
                  </a:solidFill>
                  <a:latin typeface="Consolas"/>
                </a:rPr>
                <a:t>        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tabBarIcon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: ({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color,size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}) =&gt; &lt;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Ionicons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 name='person' size={size} color={color}/&gt;,</a:t>
              </a:r>
            </a:p>
            <a:p>
              <a:pPr algn="l">
                <a:lnSpc>
                  <a:spcPct val="105000"/>
                </a:lnSpc>
              </a:pPr>
              <a:r>
                <a:rPr sz="1200" dirty="0">
                  <a:solidFill>
                    <a:srgbClr val="F1F5F9"/>
                  </a:solidFill>
                  <a:latin typeface="Consolas"/>
                </a:rPr>
                <a:t>        </a:t>
              </a:r>
              <a:r>
                <a:rPr sz="1200" dirty="0" err="1">
                  <a:solidFill>
                    <a:srgbClr val="F1F5F9"/>
                  </a:solidFill>
                  <a:latin typeface="Consolas"/>
                </a:rPr>
                <a:t>tabBarBadge</a:t>
              </a:r>
              <a:r>
                <a:rPr sz="1200" dirty="0">
                  <a:solidFill>
                    <a:srgbClr val="F1F5F9"/>
                  </a:solidFill>
                  <a:latin typeface="Consolas"/>
                </a:rPr>
                <a:t>: 2 }}/&gt;</a:t>
              </a:r>
            </a:p>
            <a:p>
              <a:pPr algn="l">
                <a:lnSpc>
                  <a:spcPct val="105000"/>
                </a:lnSpc>
              </a:pPr>
              <a:r>
                <a:rPr sz="1200" dirty="0">
                  <a:solidFill>
                    <a:srgbClr val="F1F5F9"/>
                  </a:solidFill>
                  <a:latin typeface="Consolas"/>
                </a:rPr>
                <a:t>    &lt;/Tabs&gt;</a:t>
              </a:r>
            </a:p>
            <a:p>
              <a:pPr algn="l">
                <a:lnSpc>
                  <a:spcPct val="105000"/>
                </a:lnSpc>
              </a:pPr>
              <a:r>
                <a:rPr sz="1200" dirty="0">
                  <a:solidFill>
                    <a:srgbClr val="F1F5F9"/>
                  </a:solidFill>
                  <a:latin typeface="Consolas"/>
                </a:rPr>
                <a:t>  );</a:t>
              </a:r>
            </a:p>
            <a:p>
              <a:pPr algn="l">
                <a:lnSpc>
                  <a:spcPct val="105000"/>
                </a:lnSpc>
              </a:pPr>
              <a:r>
                <a:rPr sz="1200" dirty="0">
                  <a:solidFill>
                    <a:srgbClr val="F1F5F9"/>
                  </a:solidFill>
                  <a:latin typeface="Consolas"/>
                </a:rPr>
                <a:t>}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B54C3B6-D22C-CA42-D3F5-58BD9CE296BD}"/>
              </a:ext>
            </a:extLst>
          </p:cNvPr>
          <p:cNvSpPr txBox="1"/>
          <p:nvPr/>
        </p:nvSpPr>
        <p:spPr>
          <a:xfrm>
            <a:off x="7936269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12 / 18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E6FAA93-6A67-FBFE-7C9D-4DACA48F48C8}"/>
              </a:ext>
            </a:extLst>
          </p:cNvPr>
          <p:cNvSpPr/>
          <p:nvPr/>
        </p:nvSpPr>
        <p:spPr>
          <a:xfrm flipV="1">
            <a:off x="365760" y="486325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99606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61558"/>
            <a:ext cx="4982069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003865"/>
                </a:solidFill>
                <a:latin typeface="Calibri"/>
              </a:rPr>
              <a:t>Inside a Tab — Plain Screens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05320"/>
            <a:ext cx="686200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000" dirty="0">
                <a:solidFill>
                  <a:schemeClr val="bg1"/>
                </a:solidFill>
                <a:latin typeface="Calibri"/>
              </a:rPr>
              <a:t>A tab file is just a regular React component — nothing special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52012"/>
            <a:ext cx="4480560" cy="3788475"/>
          </a:xfrm>
          <a:prstGeom prst="rect">
            <a:avLst/>
          </a:prstGeom>
          <a:solidFill>
            <a:srgbClr val="0F172A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070574"/>
            <a:ext cx="207781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 dirty="0">
                <a:solidFill>
                  <a:srgbClr val="F59E0B"/>
                </a:solidFill>
                <a:latin typeface="Calibri"/>
              </a:rPr>
              <a:t>No special imports, no boilerplate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62909"/>
            <a:ext cx="4187952" cy="3386248"/>
          </a:xfrm>
          <a:prstGeom prst="rect">
            <a:avLst/>
          </a:prstGeom>
          <a:noFill/>
        </p:spPr>
        <p:txBody>
          <a:bodyPr wrap="square" lIns="25400" tIns="0" rIns="2540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dirty="0">
                <a:solidFill>
                  <a:schemeClr val="bg2">
                    <a:lumMod val="20000"/>
                    <a:lumOff val="80000"/>
                  </a:schemeClr>
                </a:solidFill>
                <a:latin typeface="Consolas"/>
              </a:rPr>
              <a:t>// app/(tabs)/</a:t>
            </a:r>
            <a:r>
              <a:rPr sz="1000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Consolas"/>
              </a:rPr>
              <a:t>index.tsx</a:t>
            </a:r>
            <a:r>
              <a:rPr sz="1000" dirty="0">
                <a:solidFill>
                  <a:schemeClr val="bg2">
                    <a:lumMod val="20000"/>
                    <a:lumOff val="80000"/>
                  </a:schemeClr>
                </a:solidFill>
                <a:latin typeface="Consolas"/>
              </a:rPr>
              <a:t> — the Home tab</a:t>
            </a:r>
            <a:endParaRPr lang="en-US" sz="1000" dirty="0">
              <a:solidFill>
                <a:schemeClr val="bg2">
                  <a:lumMod val="20000"/>
                  <a:lumOff val="80000"/>
                </a:schemeClr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endParaRPr sz="1000" dirty="0">
              <a:solidFill>
                <a:schemeClr val="bg2">
                  <a:lumMod val="20000"/>
                  <a:lumOff val="80000"/>
                </a:schemeClr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DBEAFE"/>
                </a:solidFill>
                <a:latin typeface="Consolas"/>
              </a:rPr>
              <a:t>import { View, Text, </a:t>
            </a:r>
            <a:r>
              <a:rPr sz="950" dirty="0" err="1">
                <a:solidFill>
                  <a:srgbClr val="DBEAFE"/>
                </a:solidFill>
                <a:latin typeface="Consolas"/>
              </a:rPr>
              <a:t>StyleSheet</a:t>
            </a:r>
            <a:r>
              <a:rPr sz="950" dirty="0">
                <a:solidFill>
                  <a:srgbClr val="DBEAFE"/>
                </a:solidFill>
                <a:latin typeface="Consolas"/>
              </a:rPr>
              <a:t> } from 'react-native';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DBEAFE"/>
                </a:solidFill>
                <a:latin typeface="Consolas"/>
              </a:rPr>
              <a:t>import { </a:t>
            </a:r>
            <a:r>
              <a:rPr sz="950" dirty="0" err="1">
                <a:solidFill>
                  <a:srgbClr val="DBEAFE"/>
                </a:solidFill>
                <a:latin typeface="Consolas"/>
              </a:rPr>
              <a:t>SafeAreaView</a:t>
            </a:r>
            <a:r>
              <a:rPr sz="950" dirty="0">
                <a:solidFill>
                  <a:srgbClr val="DBEAFE"/>
                </a:solidFill>
                <a:latin typeface="Consolas"/>
              </a:rPr>
              <a:t> } from 'react-native-safe-area-context';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DBEAFE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export default function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HomeScreen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() {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return (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&lt;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SafeAreaView</a:t>
            </a:r>
            <a:r>
              <a:rPr sz="950" dirty="0">
                <a:solidFill>
                  <a:srgbClr val="F1F5F9"/>
                </a:solidFill>
                <a:latin typeface="Consolas"/>
              </a:rPr>
              <a:t> style={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s.safe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 edges={['top']}&gt;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&lt;Text style={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s.title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}&gt;Welcome to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CampusHub</a:t>
            </a:r>
            <a:r>
              <a:rPr sz="950" dirty="0">
                <a:solidFill>
                  <a:srgbClr val="F1F5F9"/>
                </a:solidFill>
                <a:latin typeface="Consolas"/>
              </a:rPr>
              <a:t>&lt;/Text&gt;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&lt;Text style={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s.body</a:t>
            </a:r>
            <a:r>
              <a:rPr sz="950" dirty="0">
                <a:solidFill>
                  <a:srgbClr val="F1F5F9"/>
                </a:solidFill>
                <a:latin typeface="Consolas"/>
              </a:rPr>
              <a:t>}&gt;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  Your courses, schedule, and grades — all in one place.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  &lt;/Text&gt;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  &lt;/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SafeAreaView</a:t>
            </a:r>
            <a:r>
              <a:rPr sz="950" dirty="0">
                <a:solidFill>
                  <a:srgbClr val="F1F5F9"/>
                </a:solidFill>
                <a:latin typeface="Consolas"/>
              </a:rPr>
              <a:t>&gt;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);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endParaRPr sz="950" dirty="0">
              <a:solidFill>
                <a:srgbClr val="F1F5F9"/>
              </a:solidFill>
              <a:latin typeface="Consolas"/>
            </a:endParaRP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const s =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StyleSheet.create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({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safe:  { flex: 1,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backgroundColor</a:t>
            </a:r>
            <a:r>
              <a:rPr sz="950" dirty="0">
                <a:solidFill>
                  <a:srgbClr val="F1F5F9"/>
                </a:solidFill>
                <a:latin typeface="Consolas"/>
              </a:rPr>
              <a:t>: '#F8FAFC', padding: 20 },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title: {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fontSize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: 24,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fontWeight</a:t>
            </a:r>
            <a:r>
              <a:rPr sz="950" dirty="0">
                <a:solidFill>
                  <a:srgbClr val="F1F5F9"/>
                </a:solidFill>
                <a:latin typeface="Consolas"/>
              </a:rPr>
              <a:t>: '700', color: '#003865' },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  body:  {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fontSize</a:t>
            </a:r>
            <a:r>
              <a:rPr sz="950" dirty="0">
                <a:solidFill>
                  <a:srgbClr val="F1F5F9"/>
                </a:solidFill>
                <a:latin typeface="Consolas"/>
              </a:rPr>
              <a:t>: 14, color: '#475569', </a:t>
            </a:r>
            <a:r>
              <a:rPr sz="950" dirty="0" err="1">
                <a:solidFill>
                  <a:srgbClr val="F1F5F9"/>
                </a:solidFill>
                <a:latin typeface="Consolas"/>
              </a:rPr>
              <a:t>marginTop</a:t>
            </a:r>
            <a:r>
              <a:rPr sz="950" dirty="0">
                <a:solidFill>
                  <a:srgbClr val="F1F5F9"/>
                </a:solidFill>
                <a:latin typeface="Consolas"/>
              </a:rPr>
              <a:t>: 8 },</a:t>
            </a:r>
          </a:p>
          <a:p>
            <a:pPr algn="l">
              <a:lnSpc>
                <a:spcPct val="105000"/>
              </a:lnSpc>
            </a:pPr>
            <a:r>
              <a:rPr sz="950" dirty="0">
                <a:solidFill>
                  <a:srgbClr val="F1F5F9"/>
                </a:solidFill>
                <a:latin typeface="Consolas"/>
              </a:rPr>
              <a:t>});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097280"/>
            <a:ext cx="39319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TextBox 9"/>
          <p:cNvSpPr txBox="1"/>
          <p:nvPr/>
        </p:nvSpPr>
        <p:spPr>
          <a:xfrm>
            <a:off x="4992624" y="1170432"/>
            <a:ext cx="250190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🧠  Each Tab Has Its Own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0912" y="1517904"/>
            <a:ext cx="3621024" cy="670825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200" dirty="0">
                <a:solidFill>
                  <a:schemeClr val="bg1"/>
                </a:solidFill>
                <a:latin typeface="Calibri"/>
              </a:rPr>
              <a:t>Switching to Profile and back to Home preserves Home.</a:t>
            </a:r>
          </a:p>
          <a:p>
            <a:pPr>
              <a:lnSpc>
                <a:spcPct val="115000"/>
              </a:lnSpc>
            </a:pPr>
            <a:r>
              <a:rPr sz="1200" dirty="0" err="1">
                <a:solidFill>
                  <a:schemeClr val="bg1"/>
                </a:solidFill>
                <a:latin typeface="Calibri"/>
              </a:rPr>
              <a:t>useState</a:t>
            </a:r>
            <a:r>
              <a:rPr sz="1200" dirty="0">
                <a:solidFill>
                  <a:schemeClr val="bg1"/>
                </a:solidFill>
                <a:latin typeface="Calibri"/>
              </a:rPr>
              <a:t> values persist while the app is open.</a:t>
            </a:r>
          </a:p>
          <a:p>
            <a:pPr>
              <a:lnSpc>
                <a:spcPct val="115000"/>
              </a:lnSpc>
            </a:pPr>
            <a:r>
              <a:rPr sz="1200" dirty="0">
                <a:solidFill>
                  <a:schemeClr val="bg1"/>
                </a:solidFill>
                <a:latin typeface="Calibri"/>
              </a:rPr>
              <a:t>No reset until you fully close the app.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468880"/>
            <a:ext cx="39319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3" name="TextBox 12"/>
          <p:cNvSpPr txBox="1"/>
          <p:nvPr/>
        </p:nvSpPr>
        <p:spPr>
          <a:xfrm>
            <a:off x="4992624" y="2542032"/>
            <a:ext cx="26908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865"/>
                </a:solidFill>
                <a:latin typeface="Calibri"/>
              </a:rPr>
              <a:t>📐  Use SafeAreaView per Screen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10912" y="2889504"/>
            <a:ext cx="3621024" cy="458459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200" dirty="0">
                <a:solidFill>
                  <a:schemeClr val="bg1"/>
                </a:solidFill>
                <a:latin typeface="Calibri"/>
              </a:rPr>
              <a:t>edges={['top']} — top notch only (bar is at bottom).</a:t>
            </a:r>
          </a:p>
          <a:p>
            <a:pPr>
              <a:lnSpc>
                <a:spcPct val="115000"/>
              </a:lnSpc>
            </a:pPr>
            <a:r>
              <a:rPr sz="1200" dirty="0">
                <a:solidFill>
                  <a:schemeClr val="bg1"/>
                </a:solidFill>
                <a:latin typeface="Calibri"/>
              </a:rPr>
              <a:t>Avoids double-padding under the tab bar.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3749039"/>
            <a:ext cx="393192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TextBox 15"/>
          <p:cNvSpPr txBox="1"/>
          <p:nvPr/>
        </p:nvSpPr>
        <p:spPr>
          <a:xfrm>
            <a:off x="4992624" y="3822191"/>
            <a:ext cx="19372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865"/>
                </a:solidFill>
                <a:latin typeface="Calibri"/>
              </a:rPr>
              <a:t>🧩  Reuse Components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4169663"/>
            <a:ext cx="3621024" cy="670825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200" dirty="0">
                <a:solidFill>
                  <a:schemeClr val="bg1"/>
                </a:solidFill>
                <a:latin typeface="Calibri"/>
              </a:rPr>
              <a:t>The same </a:t>
            </a:r>
            <a:r>
              <a:rPr sz="1200" dirty="0" err="1">
                <a:solidFill>
                  <a:schemeClr val="bg1"/>
                </a:solidFill>
                <a:latin typeface="Calibri"/>
              </a:rPr>
              <a:t>MovieCard</a:t>
            </a:r>
            <a:r>
              <a:rPr sz="1200" dirty="0">
                <a:solidFill>
                  <a:schemeClr val="bg1"/>
                </a:solidFill>
                <a:latin typeface="Calibri"/>
              </a:rPr>
              <a:t> / </a:t>
            </a:r>
            <a:r>
              <a:rPr sz="1200" dirty="0" err="1">
                <a:solidFill>
                  <a:schemeClr val="bg1"/>
                </a:solidFill>
                <a:latin typeface="Calibri"/>
              </a:rPr>
              <a:t>CourseCard</a:t>
            </a:r>
            <a:r>
              <a:rPr sz="1200" dirty="0">
                <a:solidFill>
                  <a:schemeClr val="bg1"/>
                </a:solidFill>
                <a:latin typeface="Calibri"/>
              </a:rPr>
              <a:t> works inside tabs.</a:t>
            </a:r>
          </a:p>
          <a:p>
            <a:pPr>
              <a:lnSpc>
                <a:spcPct val="115000"/>
              </a:lnSpc>
            </a:pPr>
            <a:r>
              <a:rPr sz="1200" dirty="0">
                <a:solidFill>
                  <a:schemeClr val="bg1"/>
                </a:solidFill>
                <a:latin typeface="Calibri"/>
              </a:rPr>
              <a:t>Components don't know they're in a tab — keep them generic.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13 / 18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21E869-6BF2-A0E5-9C6F-8C8B3ECBF10F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79238-5A65-2DC2-9DF4-43D1E19B8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ED3864-6E49-0172-21AE-885244B9EAB3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7EA716-3FE2-D7EA-338B-2F6DDD82D1DB}"/>
              </a:ext>
            </a:extLst>
          </p:cNvPr>
          <p:cNvSpPr txBox="1"/>
          <p:nvPr/>
        </p:nvSpPr>
        <p:spPr>
          <a:xfrm>
            <a:off x="365760" y="-70608"/>
            <a:ext cx="54297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003865"/>
                </a:solidFill>
                <a:latin typeface="Calibri"/>
              </a:rPr>
              <a:t>Live Demo — </a:t>
            </a:r>
            <a:r>
              <a:rPr sz="3200" b="1" dirty="0" err="1">
                <a:solidFill>
                  <a:srgbClr val="003865"/>
                </a:solidFill>
                <a:latin typeface="Calibri"/>
              </a:rPr>
              <a:t>CampusHub</a:t>
            </a:r>
            <a:r>
              <a:rPr sz="3200" b="1" dirty="0">
                <a:solidFill>
                  <a:srgbClr val="003865"/>
                </a:solidFill>
                <a:latin typeface="Calibri"/>
              </a:rPr>
              <a:t> Tabs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B54064D-A658-5B31-D46A-982D5D156985}"/>
              </a:ext>
            </a:extLst>
          </p:cNvPr>
          <p:cNvSpPr/>
          <p:nvPr/>
        </p:nvSpPr>
        <p:spPr>
          <a:xfrm>
            <a:off x="365760" y="631716"/>
            <a:ext cx="8412480" cy="4363065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C49299-7725-2614-5798-56156C0068EE}"/>
              </a:ext>
            </a:extLst>
          </p:cNvPr>
          <p:cNvSpPr txBox="1"/>
          <p:nvPr/>
        </p:nvSpPr>
        <p:spPr>
          <a:xfrm>
            <a:off x="548639" y="695181"/>
            <a:ext cx="7961617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Create a new Expo project using the </a:t>
            </a:r>
            <a:r>
              <a:rPr lang="en-US" b="1" dirty="0"/>
              <a:t>Tabs template</a:t>
            </a:r>
            <a:endParaRPr lang="en-US" dirty="0"/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npx</a:t>
            </a:r>
            <a:r>
              <a:rPr lang="en-US" dirty="0"/>
              <a:t> create-expo-app </a:t>
            </a:r>
            <a:r>
              <a:rPr lang="en-US" dirty="0" err="1"/>
              <a:t>CampusHubTabs</a:t>
            </a:r>
            <a:r>
              <a:rPr lang="en-US" dirty="0"/>
              <a:t> -t tabs</a:t>
            </a:r>
          </a:p>
          <a:p>
            <a:pPr marL="342900" indent="-342900" fontAlgn="t">
              <a:buFont typeface="+mj-lt"/>
              <a:buAutoNum type="arabicPeriod"/>
            </a:pPr>
            <a:r>
              <a:rPr lang="en-US" dirty="0"/>
              <a:t>Explore the generated structure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Review app/(tabs)/_</a:t>
            </a:r>
            <a:r>
              <a:rPr lang="en-US" dirty="0" err="1"/>
              <a:t>layout.tsx</a:t>
            </a:r>
            <a:r>
              <a:rPr lang="en-US" dirty="0"/>
              <a:t>, </a:t>
            </a:r>
            <a:r>
              <a:rPr lang="en-US" dirty="0" err="1"/>
              <a:t>index.tsx</a:t>
            </a:r>
            <a:r>
              <a:rPr lang="en-US" dirty="0"/>
              <a:t>, and </a:t>
            </a:r>
            <a:r>
              <a:rPr lang="en-US" dirty="0" err="1"/>
              <a:t>explore.tsx</a:t>
            </a:r>
            <a:endParaRPr lang="en-US" dirty="0"/>
          </a:p>
          <a:p>
            <a:pPr marL="342900" indent="-342900" fontAlgn="t">
              <a:buFont typeface="+mj-lt"/>
              <a:buAutoNum type="arabicPeriod"/>
            </a:pPr>
            <a:r>
              <a:rPr lang="en-US" dirty="0"/>
              <a:t>Rename </a:t>
            </a:r>
            <a:r>
              <a:rPr lang="en-US" dirty="0" err="1"/>
              <a:t>explore.tsx</a:t>
            </a:r>
            <a:r>
              <a:rPr lang="en-US" dirty="0"/>
              <a:t> to </a:t>
            </a:r>
            <a:r>
              <a:rPr lang="en-US" dirty="0" err="1"/>
              <a:t>courses.tsx</a:t>
            </a:r>
            <a:endParaRPr lang="en-US" dirty="0"/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Update the screen content for Courses</a:t>
            </a:r>
          </a:p>
          <a:p>
            <a:pPr marL="342900" indent="-342900" fontAlgn="t">
              <a:buFont typeface="+mj-lt"/>
              <a:buAutoNum type="arabicPeriod"/>
            </a:pPr>
            <a:r>
              <a:rPr lang="en-US" dirty="0"/>
              <a:t>Create </a:t>
            </a:r>
            <a:r>
              <a:rPr lang="en-US" dirty="0" err="1"/>
              <a:t>profile.tsx</a:t>
            </a:r>
            <a:r>
              <a:rPr lang="en-US" dirty="0"/>
              <a:t> and </a:t>
            </a:r>
            <a:r>
              <a:rPr lang="en-US" dirty="0" err="1"/>
              <a:t>settings.tsx</a:t>
            </a:r>
            <a:endParaRPr lang="en-US" dirty="0"/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simple screen content for both tabs</a:t>
            </a:r>
          </a:p>
          <a:p>
            <a:pPr marL="342900" indent="-342900" fontAlgn="t">
              <a:buFont typeface="+mj-lt"/>
              <a:buAutoNum type="arabicPeriod"/>
            </a:pPr>
            <a:r>
              <a:rPr lang="en-US" dirty="0"/>
              <a:t>Import </a:t>
            </a:r>
            <a:r>
              <a:rPr lang="en-US" dirty="0" err="1"/>
              <a:t>Ionicons</a:t>
            </a:r>
            <a:r>
              <a:rPr lang="en-US" dirty="0"/>
              <a:t> and configure tab icons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Add icons for Home, Courses, Profile, and Settings</a:t>
            </a:r>
          </a:p>
          <a:p>
            <a:pPr marL="342900" indent="-342900" fontAlgn="t">
              <a:buFont typeface="+mj-lt"/>
              <a:buAutoNum type="arabicPeriod"/>
            </a:pPr>
            <a:r>
              <a:rPr lang="en-US" dirty="0"/>
              <a:t>Style the tab bar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Navy background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Amber active tint</a:t>
            </a:r>
          </a:p>
          <a:p>
            <a:pPr marL="342900" lvl="0" indent="-342900" fontAlgn="t">
              <a:lnSpc>
                <a:spcPct val="100000"/>
              </a:lnSpc>
              <a:buFont typeface="+mj-lt"/>
              <a:buAutoNum type="arabicPeriod"/>
            </a:pPr>
            <a:r>
              <a:rPr lang="en-US" dirty="0"/>
              <a:t>Add a badge 2 to the Profile tab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 </a:t>
            </a:r>
            <a:r>
              <a:rPr lang="en-US" dirty="0" err="1"/>
              <a:t>tabBarBadge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4B2938-29FC-5384-196A-B08F3C0BD3E2}"/>
              </a:ext>
            </a:extLst>
          </p:cNvPr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14 / 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A0A48DB-4196-9129-A957-14A250EB392D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500228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1179-5BF0-97EE-D652-1FDBC894A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FB8F7-B8AE-FFD2-85F0-380C20773A2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C7B027-6AC8-B30C-7C8E-3967953739D1}"/>
              </a:ext>
            </a:extLst>
          </p:cNvPr>
          <p:cNvSpPr txBox="1"/>
          <p:nvPr/>
        </p:nvSpPr>
        <p:spPr>
          <a:xfrm>
            <a:off x="365760" y="-70608"/>
            <a:ext cx="542975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 dirty="0">
                <a:solidFill>
                  <a:srgbClr val="003865"/>
                </a:solidFill>
                <a:latin typeface="Calibri"/>
              </a:rPr>
              <a:t>Live Demo — </a:t>
            </a:r>
            <a:r>
              <a:rPr sz="3200" b="1" dirty="0" err="1">
                <a:solidFill>
                  <a:srgbClr val="003865"/>
                </a:solidFill>
                <a:latin typeface="Calibri"/>
              </a:rPr>
              <a:t>CampusHub</a:t>
            </a:r>
            <a:r>
              <a:rPr sz="3200" b="1" dirty="0">
                <a:solidFill>
                  <a:srgbClr val="003865"/>
                </a:solidFill>
                <a:latin typeface="Calibri"/>
              </a:rPr>
              <a:t> Tabs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8E2868-CBFA-9CEA-C67D-960D2F08D754}"/>
              </a:ext>
            </a:extLst>
          </p:cNvPr>
          <p:cNvSpPr/>
          <p:nvPr/>
        </p:nvSpPr>
        <p:spPr>
          <a:xfrm>
            <a:off x="365760" y="1201989"/>
            <a:ext cx="8412480" cy="2350899"/>
          </a:xfrm>
          <a:prstGeom prst="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0A23D8-56A0-0D72-5000-22009660CE2E}"/>
              </a:ext>
            </a:extLst>
          </p:cNvPr>
          <p:cNvSpPr txBox="1"/>
          <p:nvPr/>
        </p:nvSpPr>
        <p:spPr>
          <a:xfrm>
            <a:off x="548639" y="1422772"/>
            <a:ext cx="7961617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fontAlgn="t">
              <a:lnSpc>
                <a:spcPct val="100000"/>
              </a:lnSpc>
              <a:buFont typeface="+mj-lt"/>
              <a:buAutoNum type="arabicPeriod" startAt="8"/>
            </a:pPr>
            <a:r>
              <a:rPr lang="en-US" dirty="0"/>
              <a:t>Show focused vs. unfocused icons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'home' vs 'home-outline'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Explain the focused parameter</a:t>
            </a:r>
          </a:p>
          <a:p>
            <a:pPr marL="342900" indent="-342900" fontAlgn="t">
              <a:buFont typeface="+mj-lt"/>
              <a:buAutoNum type="arabicPeriod" startAt="8"/>
            </a:pPr>
            <a:r>
              <a:rPr lang="en-US" dirty="0"/>
              <a:t>Run and test the application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Verify all four tabs, icons, badge, and theme</a:t>
            </a:r>
          </a:p>
          <a:p>
            <a:pPr marL="342900" indent="-342900" fontAlgn="t">
              <a:buFont typeface="+mj-lt"/>
              <a:buAutoNum type="arabicPeriod" startAt="8"/>
            </a:pPr>
            <a:r>
              <a:rPr lang="en-US" dirty="0"/>
              <a:t>Review how Expo Router creates routes from files</a:t>
            </a:r>
          </a:p>
          <a:p>
            <a:pPr marL="742950" lvl="1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Connect file names to generated tabs</a:t>
            </a:r>
          </a:p>
          <a:p>
            <a:pPr algn="l">
              <a:spcAft>
                <a:spcPts val="1200"/>
              </a:spcAft>
            </a:pPr>
            <a:endParaRPr lang="en-US" sz="1600" dirty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8D50F7-A603-D900-0054-E26022ABA255}"/>
              </a:ext>
            </a:extLst>
          </p:cNvPr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14 / 18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704BC4-3D07-B4A1-5EA1-4B243F1D4AE3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754981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28975"/>
            <a:ext cx="681071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dirty="0">
                <a:solidFill>
                  <a:srgbClr val="003865"/>
                </a:solidFill>
                <a:latin typeface="Calibri"/>
              </a:rPr>
              <a:t>Activity — Build a 4-Tab Fitness Tracker Shell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5129" y="641533"/>
            <a:ext cx="88397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Calibri"/>
              </a:rPr>
              <a:t>Go to Unit resources and o</a:t>
            </a:r>
            <a:r>
              <a:rPr dirty="0">
                <a:solidFill>
                  <a:schemeClr val="bg1"/>
                </a:solidFill>
                <a:latin typeface="Calibri"/>
              </a:rPr>
              <a:t>pen </a:t>
            </a:r>
            <a:r>
              <a:rPr lang="en-US" dirty="0" err="1">
                <a:solidFill>
                  <a:schemeClr val="bg1"/>
                </a:solidFill>
                <a:latin typeface="Calibri"/>
              </a:rPr>
              <a:t>Tabs_Fitness_Tracker_</a:t>
            </a:r>
            <a:r>
              <a:rPr dirty="0" err="1">
                <a:solidFill>
                  <a:schemeClr val="bg1"/>
                </a:solidFill>
                <a:latin typeface="Calibri"/>
              </a:rPr>
              <a:t>Activity</a:t>
            </a:r>
            <a:r>
              <a:rPr lang="en-US" dirty="0" err="1">
                <a:solidFill>
                  <a:schemeClr val="bg1"/>
                </a:solidFill>
                <a:latin typeface="Calibri"/>
              </a:rPr>
              <a:t>_Guide</a:t>
            </a:r>
            <a:r>
              <a:rPr lang="en-US" dirty="0">
                <a:solidFill>
                  <a:schemeClr val="bg1"/>
                </a:solidFill>
                <a:latin typeface="Calibri"/>
              </a:rPr>
              <a:t> for full instr</a:t>
            </a:r>
            <a:r>
              <a:rPr dirty="0">
                <a:solidFill>
                  <a:schemeClr val="bg1"/>
                </a:solidFill>
                <a:latin typeface="Calibri"/>
              </a:rPr>
              <a:t>uctions</a:t>
            </a:r>
            <a:endParaRPr lang="en-US" dirty="0">
              <a:solidFill>
                <a:schemeClr val="bg1"/>
              </a:solidFill>
              <a:latin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Build </a:t>
            </a:r>
            <a:r>
              <a:rPr lang="en-US" sz="2000" dirty="0">
                <a:solidFill>
                  <a:schemeClr val="bg1"/>
                </a:solidFill>
              </a:rPr>
              <a:t>the</a:t>
            </a:r>
            <a:r>
              <a:rPr lang="en-US" dirty="0">
                <a:solidFill>
                  <a:schemeClr val="bg1"/>
                </a:solidFill>
              </a:rPr>
              <a:t> shell of a fitness tracking app named '</a:t>
            </a:r>
            <a:r>
              <a:rPr lang="en-US" dirty="0" err="1">
                <a:solidFill>
                  <a:schemeClr val="bg1"/>
                </a:solidFill>
              </a:rPr>
              <a:t>FitPal</a:t>
            </a:r>
            <a:r>
              <a:rPr lang="en-US" dirty="0">
                <a:solidFill>
                  <a:schemeClr val="bg1"/>
                </a:solidFill>
              </a:rPr>
              <a:t>' with 4 tabs: Today, Workouts, Stats, Profile.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1107"/>
            <a:ext cx="20116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Oval 7"/>
          <p:cNvSpPr/>
          <p:nvPr/>
        </p:nvSpPr>
        <p:spPr>
          <a:xfrm>
            <a:off x="457200" y="1692547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738267"/>
            <a:ext cx="134857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Scaffold (5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1187"/>
            <a:ext cx="1828800" cy="1884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Create app/(tabs)/_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layout.tsx</a:t>
            </a:r>
            <a:endParaRPr sz="1400" dirty="0">
              <a:solidFill>
                <a:srgbClr val="334155"/>
              </a:solidFill>
              <a:latin typeface="Calibri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&lt;Tabs&gt; with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screenOptions</a:t>
            </a:r>
            <a:endParaRPr sz="1400" dirty="0">
              <a:solidFill>
                <a:srgbClr val="334155"/>
              </a:solidFill>
              <a:latin typeface="Calibri"/>
            </a:endParaRP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Set the navy + amber palette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1601107"/>
            <a:ext cx="20116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Oval 11"/>
          <p:cNvSpPr/>
          <p:nvPr/>
        </p:nvSpPr>
        <p:spPr>
          <a:xfrm>
            <a:off x="2560320" y="1692547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5808" y="1738267"/>
            <a:ext cx="15529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865"/>
                </a:solidFill>
                <a:latin typeface="Calibri"/>
              </a:rPr>
              <a:t>Four Tabs (10 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241187"/>
            <a:ext cx="1828800" cy="1884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Create  index, workouts, stats, profile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Add &lt;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Tabs.Screen</a:t>
            </a:r>
            <a:r>
              <a:rPr sz="1400" dirty="0">
                <a:solidFill>
                  <a:srgbClr val="334155"/>
                </a:solidFill>
                <a:latin typeface="Calibri"/>
              </a:rPr>
              <a:t>&gt; for each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Use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Ionicons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for each tab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601107"/>
            <a:ext cx="20116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6" name="Oval 15"/>
          <p:cNvSpPr/>
          <p:nvPr/>
        </p:nvSpPr>
        <p:spPr>
          <a:xfrm>
            <a:off x="4663440" y="1692547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1738267"/>
            <a:ext cx="129426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865"/>
                </a:solidFill>
                <a:latin typeface="Calibri"/>
              </a:rPr>
              <a:t>Polish (10 min)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241187"/>
            <a:ext cx="1828800" cy="214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Dark tab bar background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focused icon = filled, unfocused = outline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Badge on Today: number of workouts logged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1601107"/>
            <a:ext cx="2011680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0" name="Oval 19"/>
          <p:cNvSpPr/>
          <p:nvPr/>
        </p:nvSpPr>
        <p:spPr>
          <a:xfrm>
            <a:off x="6766559" y="1692547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F17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1738267"/>
            <a:ext cx="128516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003865"/>
                </a:solidFill>
                <a:latin typeface="Calibri"/>
              </a:rPr>
              <a:t>Stretch (5 min)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2241187"/>
            <a:ext cx="1828800" cy="1626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Add a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settings.tsx</a:t>
            </a:r>
            <a:r>
              <a:rPr sz="1400" dirty="0">
                <a:solidFill>
                  <a:srgbClr val="334155"/>
                </a:solidFill>
                <a:latin typeface="Calibri"/>
              </a:rPr>
              <a:t>, then hide it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with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href</a:t>
            </a:r>
            <a:r>
              <a:rPr sz="1400" dirty="0">
                <a:solidFill>
                  <a:srgbClr val="334155"/>
                </a:solidFill>
                <a:latin typeface="Calibri"/>
              </a:rPr>
              <a:t>: null  on its &lt;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Tabs.Screen</a:t>
            </a:r>
            <a:r>
              <a:rPr sz="1400" dirty="0">
                <a:solidFill>
                  <a:srgbClr val="334155"/>
                </a:solidFill>
                <a:latin typeface="Calibri"/>
              </a:rPr>
              <a:t>&gt;</a:t>
            </a:r>
          </a:p>
          <a:p>
            <a:pPr marL="1714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sz="1400" dirty="0">
                <a:solidFill>
                  <a:srgbClr val="334155"/>
                </a:solidFill>
                <a:latin typeface="Calibri"/>
              </a:rPr>
              <a:t>Reachable only by URL /settings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526280"/>
            <a:ext cx="8412480" cy="42519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400" b="1">
                <a:solidFill>
                  <a:schemeClr val="bg1"/>
                </a:solidFill>
                <a:latin typeface="Calibri"/>
              </a:rPr>
              <a:t>Deliverable:  All 4 tabs render with unique icons · navy + amber theme · badge on Today · runs on Expo Go without errors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15 / 18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CABE999-BEE8-B50F-5DE9-24CA5E5249F2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97768"/>
            <a:ext cx="544020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rgbClr val="003865"/>
                </a:solidFill>
                <a:latin typeface="Calibri"/>
              </a:rPr>
              <a:t>Common Mistakes to Avoid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51001"/>
            <a:ext cx="6995313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sz="2200" dirty="0">
                <a:solidFill>
                  <a:schemeClr val="bg1"/>
                </a:solidFill>
                <a:latin typeface="Calibri"/>
              </a:rPr>
              <a:t>If something looks wrong, it's almost always one of these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052470"/>
            <a:ext cx="24204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Forgetting the parentheses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08047"/>
            <a:ext cx="39319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(tabs) — without them, expo-router treats /tabs as a URL segment.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1254089"/>
            <a:ext cx="201168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DC2626"/>
                </a:solidFill>
                <a:latin typeface="Consolas"/>
              </a:rPr>
              <a:t>app/tabs/_layout.tsx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254089"/>
            <a:ext cx="201168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059669"/>
                </a:solidFill>
                <a:latin typeface="Consolas"/>
              </a:rPr>
              <a:t>app/(tabs)/_layout.tsx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47088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2920" y="1820383"/>
            <a:ext cx="30871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Importing Tabs from wrong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03120"/>
            <a:ext cx="355924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It lives in expo-router, NOT @react-navigation.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2003897"/>
            <a:ext cx="201168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DC2626"/>
                </a:solidFill>
                <a:latin typeface="Consolas"/>
              </a:rPr>
              <a:t>import { Tabs } from '@react-navigation/...'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003897"/>
            <a:ext cx="201168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059669"/>
                </a:solidFill>
                <a:latin typeface="Consolas"/>
              </a:rPr>
              <a:t>import { Tabs } from 'expo-router';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96896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2552085"/>
            <a:ext cx="264957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Missing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index.tsx</a:t>
            </a:r>
            <a:r>
              <a:rPr sz="1400" b="1" dirty="0">
                <a:solidFill>
                  <a:srgbClr val="003865"/>
                </a:solidFill>
                <a:latin typeface="Calibri"/>
              </a:rPr>
              <a:t> inside (tabs)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34822"/>
            <a:ext cx="4069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Without it, the default tab is undefined → blank screen on launch.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60" y="2753704"/>
            <a:ext cx="201168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DC2626"/>
                </a:solidFill>
                <a:latin typeface="Consolas"/>
              </a:rPr>
              <a:t>(tabs) has only courses.tsx + profile.tsx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0" y="2753704"/>
            <a:ext cx="201168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059669"/>
                </a:solidFill>
                <a:latin typeface="Consolas"/>
              </a:rPr>
              <a:t>Add (tabs)/index.tsx — your first tab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346703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3319999"/>
            <a:ext cx="20408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Hardcoding icon color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1" y="3575576"/>
            <a:ext cx="4069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chemeClr val="bg1"/>
                </a:solidFill>
                <a:latin typeface="Calibri"/>
              </a:rPr>
              <a:t>Use the color prop passed to </a:t>
            </a:r>
            <a:r>
              <a:rPr sz="1400" dirty="0" err="1">
                <a:solidFill>
                  <a:schemeClr val="bg1"/>
                </a:solidFill>
                <a:latin typeface="Calibri"/>
              </a:rPr>
              <a:t>tabBarIcon</a:t>
            </a:r>
            <a:r>
              <a:rPr sz="1400" dirty="0">
                <a:solidFill>
                  <a:schemeClr val="bg1"/>
                </a:solidFill>
                <a:latin typeface="Calibri"/>
              </a:rPr>
              <a:t> — themes break without it.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09160" y="3503512"/>
            <a:ext cx="201168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DC2626"/>
                </a:solidFill>
                <a:latin typeface="Consolas"/>
              </a:rPr>
              <a:t>color='#000'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3503512"/>
            <a:ext cx="201168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059669"/>
                </a:solidFill>
                <a:latin typeface="Consolas"/>
              </a:rPr>
              <a:t>color={color}  // from tabBarIcon props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96511"/>
            <a:ext cx="84124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051701"/>
            <a:ext cx="340150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3865"/>
                </a:solidFill>
                <a:latin typeface="Calibri"/>
              </a:rPr>
              <a:t>⚠  Wrapping every tab in </a:t>
            </a:r>
            <a:r>
              <a:rPr sz="1400" b="1" dirty="0" err="1">
                <a:solidFill>
                  <a:srgbClr val="003865"/>
                </a:solidFill>
                <a:latin typeface="Calibri"/>
              </a:rPr>
              <a:t>SafeAreaProvider</a:t>
            </a:r>
            <a:endParaRPr sz="1400"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02920" y="4352544"/>
            <a:ext cx="407848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latin typeface="Calibri"/>
              </a:rPr>
              <a:t>SafeAreaProvider</a:t>
            </a:r>
            <a:r>
              <a:rPr sz="1400" dirty="0">
                <a:solidFill>
                  <a:schemeClr val="bg1"/>
                </a:solidFill>
                <a:latin typeface="Calibri"/>
              </a:rPr>
              <a:t> goes once at the ROOT, not per tab.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9160" y="4253321"/>
            <a:ext cx="2011680" cy="365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DC2626"/>
                </a:solidFill>
                <a:latin typeface="Consolas"/>
              </a:rPr>
              <a:t>Provider in every tab file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253321"/>
            <a:ext cx="2011680" cy="365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0800" tIns="25400" rtlCol="0" anchor="ctr"/>
          <a:lstStyle/>
          <a:p>
            <a:pPr algn="ctr"/>
            <a:r>
              <a:rPr sz="1100">
                <a:solidFill>
                  <a:srgbClr val="059669"/>
                </a:solidFill>
                <a:latin typeface="Consolas"/>
              </a:rPr>
              <a:t>Provider in app/_layout.tsx only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16 / 18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321EFC5-6E34-6764-AB0F-4A7F23476062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88714"/>
            <a:ext cx="661726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rgbClr val="003865"/>
                </a:solidFill>
                <a:latin typeface="Calibri"/>
              </a:rPr>
              <a:t>Tab Navigation </a:t>
            </a:r>
            <a:r>
              <a:rPr lang="en-US" sz="3600" b="1" dirty="0">
                <a:solidFill>
                  <a:srgbClr val="003865"/>
                </a:solidFill>
                <a:latin typeface="Calibri"/>
              </a:rPr>
              <a:t>Essentials: Review</a:t>
            </a:r>
            <a:endParaRPr sz="3600" b="1" dirty="0">
              <a:solidFill>
                <a:srgbClr val="003865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88773"/>
            <a:ext cx="1527469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solidFill>
                  <a:srgbClr val="003865"/>
                </a:solidFill>
                <a:latin typeface="Calibri"/>
              </a:rPr>
              <a:t>(tabs) Folder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53676"/>
            <a:ext cx="609096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Calibri"/>
              </a:rPr>
              <a:t>The parentheses make it a 'group' — name is hidden from URL.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0078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65760" y="1700784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692277"/>
            <a:ext cx="198067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Two _layout 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957179"/>
            <a:ext cx="639444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Calibri"/>
              </a:rPr>
              <a:t>Root Stack in app/_</a:t>
            </a:r>
            <a:r>
              <a:rPr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dirty="0">
                <a:solidFill>
                  <a:schemeClr val="bg1"/>
                </a:solidFill>
                <a:latin typeface="Calibri"/>
              </a:rPr>
              <a:t> · Tabs shell in app/(tabs)/_</a:t>
            </a:r>
            <a:r>
              <a:rPr dirty="0" err="1">
                <a:solidFill>
                  <a:schemeClr val="bg1"/>
                </a:solidFill>
                <a:latin typeface="Calibri"/>
              </a:rPr>
              <a:t>layout.tsx</a:t>
            </a:r>
            <a:r>
              <a:rPr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3042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304288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295781"/>
            <a:ext cx="16983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&lt;Tabs.Screen&gt;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560684"/>
            <a:ext cx="599747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Calibri"/>
              </a:rPr>
              <a:t>One per tab file. name = filename. options = title, icon, badge.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07792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2907792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899285"/>
            <a:ext cx="169629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Theme it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3164188"/>
            <a:ext cx="653319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screenOptions on &lt;Tabs&gt; — tabBarActiveTintColor, tabBarStyle, etc.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511296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511296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502789"/>
            <a:ext cx="1076257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Ionicons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67692"/>
            <a:ext cx="651319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({color, size, focused}) → return &lt;Ionicons name=… color={color} /&gt;.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114800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4114800"/>
            <a:ext cx="566928" cy="56692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>
                <a:latin typeface="Calibri"/>
              </a:rPr>
              <a:t>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106292"/>
            <a:ext cx="126900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865"/>
                </a:solidFill>
                <a:latin typeface="Calibri"/>
              </a:rPr>
              <a:t>Hide a tab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371196"/>
            <a:ext cx="674800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chemeClr val="bg1"/>
                </a:solidFill>
                <a:latin typeface="Calibri"/>
              </a:rPr>
              <a:t>href: null on a &lt;Tabs.Screen&gt; keeps the route but removes the button.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17 / 18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71D635-D29E-FBCC-54E2-2784AE84785D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-79663"/>
            <a:ext cx="4006674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dirty="0">
                <a:solidFill>
                  <a:srgbClr val="003865"/>
                </a:solidFill>
                <a:latin typeface="Calibri"/>
              </a:rPr>
              <a:t>Wrap-Up  ·  Up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3428"/>
            <a:ext cx="847783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  <a:latin typeface="Calibri"/>
              </a:rPr>
              <a:t>Next</a:t>
            </a:r>
            <a:r>
              <a:rPr sz="2200" dirty="0">
                <a:solidFill>
                  <a:schemeClr val="bg1"/>
                </a:solidFill>
                <a:latin typeface="Calibri"/>
              </a:rPr>
              <a:t>: Stack Navigation — push, pop, headers, params, dynamic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4160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" y="1179940"/>
            <a:ext cx="264181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865"/>
                </a:solidFill>
                <a:latin typeface="Calibri"/>
              </a:rPr>
              <a:t>✅  What We Covered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1" y="1527412"/>
            <a:ext cx="3931919" cy="3004733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1.  Mental model — tabs vs stack vs drawer.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2.  The (tabs) folder convention and the two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     _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layout.tsx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files that work together.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3.  &lt;Tabs&gt; with shared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screenOptions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and per-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     screen overrides via options.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4. 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Ionicons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+ the focused / unfocused pattern.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5.  Styling: bar color, label font, badges,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     hidden bars, hidden tabs (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href:null</a:t>
            </a:r>
            <a:r>
              <a:rPr sz="1400" dirty="0">
                <a:solidFill>
                  <a:srgbClr val="334155"/>
                </a:solidFill>
                <a:latin typeface="Calibri"/>
              </a:rPr>
              <a:t>).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6.  Live demo —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CampusHub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4-tab shell.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7.  Class activity —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FitPal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fitness tracker.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8.  Common pitfalls to look out for in your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     own projects.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143000"/>
            <a:ext cx="4160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09744" y="1179940"/>
            <a:ext cx="261360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03865"/>
                </a:solidFill>
                <a:latin typeface="Calibri"/>
              </a:rPr>
              <a:t>▶  Day 2 — Stack Navigation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1536465"/>
            <a:ext cx="3849624" cy="2756973"/>
          </a:xfrm>
          <a:prstGeom prst="rect">
            <a:avLst/>
          </a:prstGeom>
          <a:noFill/>
        </p:spPr>
        <p:txBody>
          <a:bodyPr wrap="square" lIns="25400" tIns="0" rIns="25400">
            <a:spAutoFit/>
          </a:bodyPr>
          <a:lstStyle/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From a list to a detail, with a back button:</a:t>
            </a:r>
          </a:p>
          <a:p>
            <a:pPr>
              <a:lnSpc>
                <a:spcPct val="115000"/>
              </a:lnSpc>
            </a:pPr>
            <a:endParaRPr sz="1400" dirty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 &lt;Stack&gt; in expo-router (push / pop / replace)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router.push</a:t>
            </a:r>
            <a:r>
              <a:rPr sz="1400" dirty="0">
                <a:solidFill>
                  <a:srgbClr val="334155"/>
                </a:solidFill>
                <a:latin typeface="Calibri"/>
              </a:rPr>
              <a:t>('/course/cprg303')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 Dynamic routes — app/course/[id].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tsx</a:t>
            </a:r>
            <a:endParaRPr sz="1400" dirty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useLocalSearchParams</a:t>
            </a:r>
            <a:r>
              <a:rPr sz="1400" dirty="0">
                <a:solidFill>
                  <a:srgbClr val="334155"/>
                </a:solidFill>
                <a:latin typeface="Calibri"/>
              </a:rPr>
              <a:t>() to read the param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Customising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the header (title, right button)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•  Nesting a Stack inside one of today's tabs</a:t>
            </a:r>
          </a:p>
          <a:p>
            <a:pPr>
              <a:lnSpc>
                <a:spcPct val="115000"/>
              </a:lnSpc>
            </a:pPr>
            <a:endParaRPr sz="1400" dirty="0">
              <a:solidFill>
                <a:srgbClr val="334155"/>
              </a:solidFill>
              <a:latin typeface="Calibri"/>
            </a:endParaRP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Bring </a:t>
            </a:r>
            <a:r>
              <a:rPr sz="1400" dirty="0" err="1">
                <a:solidFill>
                  <a:srgbClr val="334155"/>
                </a:solidFill>
                <a:latin typeface="Calibri"/>
              </a:rPr>
              <a:t>CampusHub_starter</a:t>
            </a:r>
            <a:r>
              <a:rPr sz="1400" dirty="0">
                <a:solidFill>
                  <a:srgbClr val="334155"/>
                </a:solidFill>
                <a:latin typeface="Calibri"/>
              </a:rPr>
              <a:t> from today — we'll</a:t>
            </a:r>
          </a:p>
          <a:p>
            <a:pPr>
              <a:lnSpc>
                <a:spcPct val="115000"/>
              </a:lnSpc>
            </a:pPr>
            <a:r>
              <a:rPr sz="1400" dirty="0">
                <a:solidFill>
                  <a:srgbClr val="334155"/>
                </a:solidFill>
                <a:latin typeface="Calibri"/>
              </a:rPr>
              <a:t>extend it tomorrow.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572000"/>
            <a:ext cx="8412480" cy="292608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7000" rtlCol="0" anchor="ctr"/>
          <a:lstStyle/>
          <a:p>
            <a:pPr algn="ctr"/>
            <a:r>
              <a:rPr sz="1400" b="1" dirty="0">
                <a:solidFill>
                  <a:srgbClr val="FFFFFF"/>
                </a:solidFill>
                <a:latin typeface="Calibri"/>
              </a:rPr>
              <a:t>Before Day 2:  finish the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FitPal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activity  ·  skim the expo-router docs page on 'Tabs'  ·  bring questions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965192"/>
            <a:ext cx="10972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F59E0B"/>
                </a:solidFill>
                <a:latin typeface="Calibri"/>
              </a:rPr>
              <a:t>18 / 18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D55010-4338-0054-46C9-96E03A8333AD}"/>
              </a:ext>
            </a:extLst>
          </p:cNvPr>
          <p:cNvSpPr/>
          <p:nvPr/>
        </p:nvSpPr>
        <p:spPr>
          <a:xfrm flipV="1">
            <a:off x="365760" y="504431"/>
            <a:ext cx="8778240" cy="45719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3429</Words>
  <Application>Microsoft Office PowerPoint</Application>
  <PresentationFormat>On-screen Show (16:9)</PresentationFormat>
  <Paragraphs>576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2026-09-21T15:22:30Z</dcterms:created>
  <dcterms:modified xsi:type="dcterms:W3CDTF">2026-09-28T15:59:19Z</dcterms:modified>
  <cp:category/>
</cp:coreProperties>
</file>