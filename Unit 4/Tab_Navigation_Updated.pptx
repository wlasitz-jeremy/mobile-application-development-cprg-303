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2"/>
  </p:notesMasterIdLst>
  <p:sldIdLst>
    <p:sldId id="27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68" r:id="rId15"/>
    <p:sldId id="276" r:id="rId16"/>
    <p:sldId id="277" r:id="rId17"/>
    <p:sldId id="270" r:id="rId18"/>
    <p:sldId id="271" r:id="rId19"/>
    <p:sldId id="272" r:id="rId20"/>
    <p:sldId id="273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0D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0896" autoAdjust="0"/>
  </p:normalViewPr>
  <p:slideViewPr>
    <p:cSldViewPr snapToGrid="0" snapToObjects="1">
      <p:cViewPr varScale="1">
        <p:scale>
          <a:sx n="79" d="100"/>
          <a:sy n="79" d="100"/>
        </p:scale>
        <p:origin x="848" y="56"/>
      </p:cViewPr>
      <p:guideLst>
        <p:guide orient="horz" pos="2160"/>
        <p:guide pos="2880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56047-9B32-4B44-A900-2428BFBDDF8F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A46745-5454-4362-8919-8FEAE957C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90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39BF5-02A2-48D1-85F5-565CF7556D5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170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64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130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268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03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790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42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964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608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730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2226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3520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627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4CFE-0736-3AD0-A206-0EF23BF7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D2F46-848B-FC5C-E978-DC287AA4C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2F1D-6F67-7409-BEFE-FE54E17CA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256D4-9B03-0B4F-D553-40DDF7B80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254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49191-8AF9-11F2-E199-FFFDCF91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10F553-6F50-5936-7AEE-2C5D384FB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6C10B-A810-C0E3-4611-A1BA34488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93609-2C05-0B61-2021-D855F85C0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599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45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3171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1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91" y="0"/>
            <a:ext cx="9141714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Rectangle 2"/>
          <p:cNvSpPr/>
          <p:nvPr/>
        </p:nvSpPr>
        <p:spPr>
          <a:xfrm>
            <a:off x="1191" y="4732020"/>
            <a:ext cx="9141714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" name="TextBox 4"/>
          <p:cNvSpPr txBox="1"/>
          <p:nvPr/>
        </p:nvSpPr>
        <p:spPr>
          <a:xfrm>
            <a:off x="1191" y="1307842"/>
            <a:ext cx="9141714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750" b="1" dirty="0">
                <a:solidFill>
                  <a:srgbClr val="FFFFFF"/>
                </a:solidFill>
              </a:rPr>
              <a:t>Tab Navigation in Expo Router</a:t>
            </a:r>
            <a:endParaRPr sz="3750" b="1" dirty="0">
              <a:solidFill>
                <a:srgbClr val="FFFFFF"/>
              </a:solidFill>
            </a:endParaRPr>
          </a:p>
        </p:txBody>
      </p:sp>
      <p:sp>
        <p:nvSpPr>
          <p:cNvPr id="10" name="Subtitle 3">
            <a:extLst>
              <a:ext uri="{FF2B5EF4-FFF2-40B4-BE49-F238E27FC236}">
                <a16:creationId xmlns:a16="http://schemas.microsoft.com/office/drawing/2014/main" id="{13F6F202-F5E2-FAA5-5C18-6BB820DB8BA2}"/>
              </a:ext>
            </a:extLst>
          </p:cNvPr>
          <p:cNvSpPr txBox="1">
            <a:spLocks/>
          </p:cNvSpPr>
          <p:nvPr/>
        </p:nvSpPr>
        <p:spPr>
          <a:xfrm>
            <a:off x="202621" y="436466"/>
            <a:ext cx="5928567" cy="615250"/>
          </a:xfrm>
          <a:prstGeom prst="rect">
            <a:avLst/>
          </a:prstGeom>
        </p:spPr>
        <p:txBody>
          <a:bodyPr anchor="ctr"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00" dirty="0"/>
              <a:t>CPRG303 – Mobile Application Development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EF02DABF-5EE0-6A33-D4A8-1CD72CBFF878}"/>
              </a:ext>
            </a:extLst>
          </p:cNvPr>
          <p:cNvSpPr txBox="1">
            <a:spLocks/>
          </p:cNvSpPr>
          <p:nvPr/>
        </p:nvSpPr>
        <p:spPr>
          <a:xfrm>
            <a:off x="1191" y="3130832"/>
            <a:ext cx="9141618" cy="124182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Titillium" panose="00000500000000000000" pitchFamily="50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pPr algn="ctr" defTabSz="342900">
              <a:lnSpc>
                <a:spcPct val="120000"/>
              </a:lnSpc>
              <a:spcAft>
                <a:spcPts val="450"/>
              </a:spcAft>
            </a:pPr>
            <a:r>
              <a:rPr lang="en-US" sz="36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Edited By:</a:t>
            </a:r>
          </a:p>
          <a:p>
            <a:pPr algn="ctr" defTabSz="342900">
              <a:lnSpc>
                <a:spcPct val="120000"/>
              </a:lnSpc>
              <a:spcAft>
                <a:spcPts val="450"/>
              </a:spcAft>
            </a:pPr>
            <a:r>
              <a:rPr lang="en-US" sz="36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Dr. Hamdy Ibrahim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5EE739-42FC-EE6C-DE45-FC584BC65C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" y="3039775"/>
            <a:ext cx="1223889" cy="1667260"/>
          </a:xfrm>
          <a:prstGeom prst="rect">
            <a:avLst/>
          </a:prstGeom>
        </p:spPr>
      </p:pic>
      <p:sp>
        <p:nvSpPr>
          <p:cNvPr id="16" name="Text 4">
            <a:extLst>
              <a:ext uri="{FF2B5EF4-FFF2-40B4-BE49-F238E27FC236}">
                <a16:creationId xmlns:a16="http://schemas.microsoft.com/office/drawing/2014/main" id="{2D98DE45-D28E-5390-7E59-9AC0A7695EA7}"/>
              </a:ext>
            </a:extLst>
          </p:cNvPr>
          <p:cNvSpPr/>
          <p:nvPr/>
        </p:nvSpPr>
        <p:spPr>
          <a:xfrm>
            <a:off x="1192" y="4746562"/>
            <a:ext cx="9141713" cy="396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SADT  ·  School For Advanced Digital Technology</a:t>
            </a:r>
            <a:endParaRPr lang="en-US" sz="13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F88434-950C-C7DA-86CF-B1BF43238053}"/>
              </a:ext>
            </a:extLst>
          </p:cNvPr>
          <p:cNvSpPr txBox="1"/>
          <p:nvPr/>
        </p:nvSpPr>
        <p:spPr>
          <a:xfrm>
            <a:off x="202621" y="2217807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94A3B8"/>
                </a:solidFill>
              </a:rPr>
              <a:t>(tabs)/_</a:t>
            </a:r>
            <a:r>
              <a:rPr lang="en-US" sz="2000" dirty="0" err="1">
                <a:solidFill>
                  <a:srgbClr val="94A3B8"/>
                </a:solidFill>
              </a:rPr>
              <a:t>layout.tsx</a:t>
            </a:r>
            <a:r>
              <a:rPr lang="en-US" sz="2000" dirty="0">
                <a:solidFill>
                  <a:srgbClr val="94A3B8"/>
                </a:solidFill>
              </a:rPr>
              <a:t>  ·  </a:t>
            </a:r>
            <a:r>
              <a:rPr lang="en-US" sz="2000" dirty="0" err="1">
                <a:solidFill>
                  <a:srgbClr val="94A3B8"/>
                </a:solidFill>
              </a:rPr>
              <a:t>Tabs.Screen</a:t>
            </a:r>
            <a:r>
              <a:rPr lang="en-US" sz="2000" dirty="0">
                <a:solidFill>
                  <a:srgbClr val="94A3B8"/>
                </a:solidFill>
              </a:rPr>
              <a:t>  ·  </a:t>
            </a:r>
            <a:r>
              <a:rPr lang="en-US" sz="2000" dirty="0" err="1">
                <a:solidFill>
                  <a:srgbClr val="94A3B8"/>
                </a:solidFill>
              </a:rPr>
              <a:t>Ionicons</a:t>
            </a:r>
            <a:r>
              <a:rPr lang="en-US" sz="2000" dirty="0">
                <a:solidFill>
                  <a:srgbClr val="94A3B8"/>
                </a:solidFill>
              </a:rPr>
              <a:t>  ·  Tab Bar Styling  ·  Badges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920"/>
            <a:ext cx="422000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3200" b="1" dirty="0">
                <a:solidFill>
                  <a:schemeClr val="bg1"/>
                </a:solidFill>
                <a:latin typeface="Calibri"/>
              </a:rPr>
              <a:t>Recap and What is Next</a:t>
            </a:r>
            <a:endParaRPr sz="3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2384"/>
            <a:ext cx="51674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From file-based routing to multi-screen apps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889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512064" y="1307592"/>
            <a:ext cx="172149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📁  File =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55064"/>
            <a:ext cx="2478024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Every .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tsx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in app/ becomes a URL.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app/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index.tsx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    →   /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app/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profile.tsx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  →   /profile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app/_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layout.tsx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is the parent shell.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34440"/>
            <a:ext cx="27889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3392424" y="1307592"/>
            <a:ext cx="127791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003865"/>
                </a:solidFill>
                <a:latin typeface="Calibri"/>
              </a:rPr>
              <a:t>🔗  Linking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1444" y="1655064"/>
            <a:ext cx="2679192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&lt;Link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href</a:t>
            </a:r>
            <a:r>
              <a:rPr sz="1200" dirty="0">
                <a:solidFill>
                  <a:srgbClr val="334155"/>
                </a:solidFill>
                <a:latin typeface="Calibri"/>
              </a:rPr>
              <a:t>="/profile"&gt; jumps to a route.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router.push</a:t>
            </a:r>
            <a:r>
              <a:rPr sz="1200" dirty="0">
                <a:solidFill>
                  <a:srgbClr val="334155"/>
                </a:solidFill>
                <a:latin typeface="Calibri"/>
              </a:rPr>
              <a:t>() does it from code.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router.back</a:t>
            </a:r>
            <a:r>
              <a:rPr sz="1200" dirty="0">
                <a:solidFill>
                  <a:srgbClr val="334155"/>
                </a:solidFill>
                <a:latin typeface="Calibri"/>
              </a:rPr>
              <a:t>() returns to previous.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Defined in expo-router.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6272784" y="1307592"/>
            <a:ext cx="110895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📚  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0756" y="1622696"/>
            <a:ext cx="2542032" cy="1095556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Default expo-router layout is &lt;Stack&gt;.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New routes push on top.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Header bar appears automatically.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Back gesture / arrow built 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875680"/>
            <a:ext cx="2463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30DF3"/>
                </a:solidFill>
                <a:latin typeface="Calibri"/>
              </a:rPr>
              <a:t>T</a:t>
            </a:r>
            <a:r>
              <a:rPr lang="en-US" sz="1400" b="1" dirty="0">
                <a:solidFill>
                  <a:srgbClr val="230DF3"/>
                </a:solidFill>
                <a:latin typeface="Calibri"/>
              </a:rPr>
              <a:t>his </a:t>
            </a:r>
            <a:r>
              <a:rPr sz="1400" b="1" dirty="0">
                <a:solidFill>
                  <a:srgbClr val="230DF3"/>
                </a:solidFill>
                <a:latin typeface="Calibri"/>
              </a:rPr>
              <a:t>W</a:t>
            </a:r>
            <a:r>
              <a:rPr lang="en-US" sz="1400" b="1" dirty="0">
                <a:solidFill>
                  <a:srgbClr val="230DF3"/>
                </a:solidFill>
                <a:latin typeface="Calibri"/>
              </a:rPr>
              <a:t>eek We Add Depth</a:t>
            </a:r>
            <a:endParaRPr sz="1400" b="1" dirty="0">
              <a:solidFill>
                <a:srgbClr val="230DF3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1148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512064" y="3273552"/>
            <a:ext cx="281147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Day 1 — Tab Navigation 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21024"/>
            <a:ext cx="3803904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A persistent bar at the bottom of the screen.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Each tab is its own top-level section.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Switching tabs preserves each screen's state.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Best for 3–5 sibling areas of equal importance.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3200400"/>
            <a:ext cx="41148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4809744" y="3273552"/>
            <a:ext cx="298536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003865"/>
                </a:solidFill>
                <a:latin typeface="Calibri"/>
              </a:rPr>
              <a:t>Day 2 — Stack Navigation 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8031" y="3621024"/>
            <a:ext cx="3803904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Push new screens on top of the current one.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Back arrow returns to where you came from.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Header bar with title appears automatically.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Best for drill-down (list → detail → edit).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434" y="0"/>
            <a:ext cx="9144000" cy="518067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8472"/>
            <a:ext cx="147065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8854" y="958836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934" y="893369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Why Tabs?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854" y="2049655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368" y="1957027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The (tabs) 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8934" y="2242544"/>
            <a:ext cx="356616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How expo-router turns a folder into a tab 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854" y="2999798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368" y="2944340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_</a:t>
            </a:r>
            <a:r>
              <a:rPr sz="2000" b="1" i="0" dirty="0" err="1">
                <a:solidFill>
                  <a:srgbClr val="003865"/>
                </a:solidFill>
                <a:latin typeface="Calibri"/>
              </a:rPr>
              <a:t>layout.tsx</a:t>
            </a:r>
            <a:r>
              <a:rPr sz="2000" b="1" i="0" dirty="0">
                <a:solidFill>
                  <a:srgbClr val="003865"/>
                </a:solidFill>
                <a:latin typeface="Calibri"/>
              </a:rPr>
              <a:t> for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368" y="3266783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&lt;Tabs&gt;, &lt;</a:t>
            </a:r>
            <a:r>
              <a:rPr sz="1400" b="0" i="0" dirty="0" err="1">
                <a:solidFill>
                  <a:schemeClr val="bg1"/>
                </a:solidFill>
                <a:latin typeface="Calibri"/>
              </a:rPr>
              <a:t>Tabs.Screen</a:t>
            </a:r>
            <a:r>
              <a:rPr sz="1400" b="0" i="0" dirty="0">
                <a:solidFill>
                  <a:schemeClr val="bg1"/>
                </a:solidFill>
                <a:latin typeface="Calibri"/>
              </a:rPr>
              <a:t>&gt;, options prop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8854" y="4042867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68" y="3979975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Icons with @expo/vector-icons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368" y="4264963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 err="1">
                <a:solidFill>
                  <a:schemeClr val="bg1"/>
                </a:solidFill>
                <a:latin typeface="Calibri"/>
              </a:rPr>
              <a:t>Ionicons</a:t>
            </a:r>
            <a:r>
              <a:rPr sz="1400" b="0" i="0" dirty="0">
                <a:solidFill>
                  <a:schemeClr val="bg1"/>
                </a:solidFill>
                <a:latin typeface="Calibri"/>
              </a:rPr>
              <a:t>, focused vs unfocused, </a:t>
            </a:r>
            <a:r>
              <a:rPr sz="1400" b="0" i="0" dirty="0" err="1">
                <a:solidFill>
                  <a:schemeClr val="bg1"/>
                </a:solidFill>
                <a:latin typeface="Calibri"/>
              </a:rPr>
              <a:t>tabBarIcon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693176" y="940224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2728" y="863034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Styling the Bar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2728" y="1177716"/>
            <a:ext cx="352044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Colors, fonts, height, hidden labels, badges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93176" y="2049056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2728" y="1926692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lang="en-US" sz="2000" b="1" i="0" dirty="0">
                <a:solidFill>
                  <a:srgbClr val="003865"/>
                </a:solidFill>
                <a:latin typeface="Calibri"/>
              </a:rPr>
              <a:t>Demo</a:t>
            </a:r>
            <a:r>
              <a:rPr sz="2000" b="1" i="0" dirty="0">
                <a:solidFill>
                  <a:srgbClr val="003865"/>
                </a:solidFill>
                <a:latin typeface="Calibri"/>
              </a:rPr>
              <a:t> — </a:t>
            </a:r>
            <a:r>
              <a:rPr sz="2000" b="1" i="0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2000" b="1" i="0" dirty="0">
                <a:solidFill>
                  <a:srgbClr val="003865"/>
                </a:solidFill>
                <a:latin typeface="Calibri"/>
              </a:rPr>
              <a:t> Tabs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2728" y="2248104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Home · Courses · Profile 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93176" y="3058671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2728" y="2951175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Class Activity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93176" y="4086872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2728" y="3949640"/>
            <a:ext cx="3657600" cy="3693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400" b="1" i="0">
                <a:solidFill>
                  <a:srgbClr val="003865"/>
                </a:solidFill>
                <a:latin typeface="Calibri"/>
              </a:rPr>
              <a:t>Common Mistakes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3048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3 / 18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3F1B325-8E51-120E-F875-5B61CAA74E6A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6CFE7D-3E97-69F4-F3D7-D97CB4983E33}"/>
              </a:ext>
            </a:extLst>
          </p:cNvPr>
          <p:cNvSpPr txBox="1"/>
          <p:nvPr/>
        </p:nvSpPr>
        <p:spPr>
          <a:xfrm>
            <a:off x="938934" y="1208052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Mental model &amp; when to choose tabs over stack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FCC7FB-BCFA-A7B8-DD09-4FEB86ECC5E9}"/>
              </a:ext>
            </a:extLst>
          </p:cNvPr>
          <p:cNvSpPr txBox="1"/>
          <p:nvPr/>
        </p:nvSpPr>
        <p:spPr>
          <a:xfrm>
            <a:off x="5347008" y="4280880"/>
            <a:ext cx="352044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And how to avoid them in your projects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B52714-62FC-E7E5-6477-0D73E33BD3F8}"/>
              </a:ext>
            </a:extLst>
          </p:cNvPr>
          <p:cNvSpPr txBox="1"/>
          <p:nvPr/>
        </p:nvSpPr>
        <p:spPr>
          <a:xfrm>
            <a:off x="5392728" y="3280257"/>
            <a:ext cx="352044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Build a 4-tab fitness tracker shell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572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6749"/>
            <a:ext cx="376519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Why Tab Navigation?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51924"/>
            <a:ext cx="654499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Tabs = sibling sections you switch between, not push 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7706" y="1013589"/>
            <a:ext cx="8412480" cy="92333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chemeClr val="bg1"/>
                </a:solidFill>
                <a:latin typeface="Calibri"/>
              </a:rPr>
              <a:t>Tabs are perfect when your app has a few top-level destinations and the user moves between them constantly — Instagram, Twitter, the App Store, every banking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9775" y="1949546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2926" y="2059274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974" y="2923382"/>
            <a:ext cx="82266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003865"/>
                </a:solidFill>
                <a:latin typeface="Calibri"/>
              </a:rPr>
              <a:t>Home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926" y="4289495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2926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926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845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845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Courses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6763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6763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4295" y="1949546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177447" y="2059274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97878" y="2923382"/>
            <a:ext cx="101989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77447" y="4289495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77447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7447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365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365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1283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1283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78815" y="1949546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051967" y="2059274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40525" y="2923382"/>
            <a:ext cx="8836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3865"/>
                </a:solidFill>
                <a:latin typeface="Calibri"/>
              </a:rPr>
              <a:t>Profile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51967" y="4289495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051967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1967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8885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8885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Courses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5803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5803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Profile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87978" y="1764913"/>
            <a:ext cx="3119215" cy="149151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8" name="TextBox 37"/>
          <p:cNvSpPr txBox="1"/>
          <p:nvPr/>
        </p:nvSpPr>
        <p:spPr>
          <a:xfrm>
            <a:off x="5922892" y="1838065"/>
            <a:ext cx="28597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003865"/>
                </a:solidFill>
                <a:latin typeface="Calibri"/>
              </a:rPr>
              <a:t>✅  Use Tabs When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1180" y="2185537"/>
            <a:ext cx="2859709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You have 3–5 sibling areas.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Each is equally important.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Users return often to each.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Screen state should persist.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87978" y="3547993"/>
            <a:ext cx="3119215" cy="149151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1" name="TextBox 40"/>
          <p:cNvSpPr txBox="1"/>
          <p:nvPr/>
        </p:nvSpPr>
        <p:spPr>
          <a:xfrm>
            <a:off x="5853335" y="3621145"/>
            <a:ext cx="31154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003865"/>
                </a:solidFill>
                <a:latin typeface="Calibri"/>
              </a:rPr>
              <a:t>❌  Avoid Tabs When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3335" y="3968617"/>
            <a:ext cx="2907554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You have only 1–2 sections.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There are &gt;5 sections (use drawer).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Sections are temporary / modal.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Drill-down hierarchy (use Stack).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4 / 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A3C82F8-F1C1-DB08-082E-B065BCC344A8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6749"/>
            <a:ext cx="51006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The (tabs) Folder Convention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400" y="563647"/>
            <a:ext cx="89916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2200" dirty="0">
                <a:solidFill>
                  <a:schemeClr val="bg1"/>
                </a:solidFill>
                <a:latin typeface="Calibri"/>
              </a:rPr>
              <a:t>Parentheses = 'group' — appears in code, hidden from URL</a:t>
            </a:r>
            <a:endParaRPr lang="en-US" sz="2200" dirty="0">
              <a:solidFill>
                <a:schemeClr val="bg1"/>
              </a:solidFill>
              <a:latin typeface="Calibri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Expo Router lets you group routes inside parentheses. The folder name (tabs) is purely an organizational label — it does NOT appear in the URL.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sz="22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2400" y="1865141"/>
            <a:ext cx="4328160" cy="301752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TextBox 7"/>
          <p:cNvSpPr txBox="1"/>
          <p:nvPr/>
        </p:nvSpPr>
        <p:spPr>
          <a:xfrm>
            <a:off x="475488" y="1910861"/>
            <a:ext cx="16685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Calibri"/>
              </a:rPr>
              <a:t>File system → URL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52591"/>
            <a:ext cx="4005072" cy="27056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59E0B"/>
                </a:solidFill>
                <a:latin typeface="Consolas"/>
              </a:rPr>
              <a:t>app/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├── _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     # root stack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59E0B"/>
                </a:solidFill>
                <a:latin typeface="Consolas"/>
              </a:rPr>
              <a:t>├── (tabs)/             # tab group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├── _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# &lt;Tabs&gt; shell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├──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index.tsx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  # Home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├──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courses.tsx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# Courses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└──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profile.tsx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# Profile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└──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modal.tsx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       # pushed on top</a:t>
            </a:r>
          </a:p>
          <a:p>
            <a:pPr algn="l">
              <a:lnSpc>
                <a:spcPct val="105000"/>
              </a:lnSpc>
            </a:pPr>
            <a:endParaRPr sz="12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URLs produced: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                  →  index inside tabs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/courses           →  courses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/profile           →  profile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/modal             →  modal screen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865141"/>
            <a:ext cx="432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1" name="TextBox 10"/>
          <p:cNvSpPr txBox="1"/>
          <p:nvPr/>
        </p:nvSpPr>
        <p:spPr>
          <a:xfrm>
            <a:off x="4809744" y="1821062"/>
            <a:ext cx="36613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003865"/>
                </a:solidFill>
                <a:latin typeface="Calibri"/>
              </a:rPr>
              <a:t>🔎  The Parentheses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0" y="2250596"/>
            <a:ext cx="4001143" cy="878959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(folder) is a group — name is hidden from URL.</a:t>
            </a:r>
          </a:p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Used to share a layout without polluting paths.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916701"/>
            <a:ext cx="432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4" name="TextBox 13"/>
          <p:cNvSpPr txBox="1"/>
          <p:nvPr/>
        </p:nvSpPr>
        <p:spPr>
          <a:xfrm>
            <a:off x="4809744" y="2884346"/>
            <a:ext cx="30896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003865"/>
                </a:solidFill>
                <a:latin typeface="Calibri"/>
              </a:rPr>
              <a:t>🪜  Two _layout 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0" y="3302156"/>
            <a:ext cx="4001143" cy="595804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app/_</a:t>
            </a:r>
            <a:r>
              <a:rPr sz="1600" b="1"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sz="1600" b="1" dirty="0">
                <a:solidFill>
                  <a:schemeClr val="bg1"/>
                </a:solidFill>
                <a:latin typeface="Calibri"/>
              </a:rPr>
              <a:t>  →  the root Stack</a:t>
            </a:r>
          </a:p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app/(tabs)/_</a:t>
            </a:r>
            <a:r>
              <a:rPr sz="1600" b="1"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sz="1600" b="1" dirty="0">
                <a:solidFill>
                  <a:schemeClr val="bg1"/>
                </a:solidFill>
                <a:latin typeface="Calibri"/>
              </a:rPr>
              <a:t>  →  the Tabs shell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968261"/>
            <a:ext cx="432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7" name="TextBox 16"/>
          <p:cNvSpPr txBox="1"/>
          <p:nvPr/>
        </p:nvSpPr>
        <p:spPr>
          <a:xfrm>
            <a:off x="4809744" y="3935906"/>
            <a:ext cx="37004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003865"/>
                </a:solidFill>
                <a:latin typeface="Calibri"/>
              </a:rPr>
              <a:t>🏠  </a:t>
            </a:r>
            <a:r>
              <a:rPr sz="2400" b="1" dirty="0" err="1">
                <a:solidFill>
                  <a:srgbClr val="003865"/>
                </a:solidFill>
                <a:latin typeface="Calibri"/>
              </a:rPr>
              <a:t>index.tsx</a:t>
            </a:r>
            <a:r>
              <a:rPr sz="2400" b="1" dirty="0">
                <a:solidFill>
                  <a:srgbClr val="003865"/>
                </a:solidFill>
                <a:latin typeface="Calibri"/>
              </a:rPr>
              <a:t> Inside (tabs)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0" y="4353716"/>
            <a:ext cx="4001143" cy="595804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This is the FIRST tab — the default screen.</a:t>
            </a:r>
          </a:p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Same idea as index.html for a folder.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2341" y="4965192"/>
            <a:ext cx="45877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59E0B"/>
                </a:solidFill>
                <a:latin typeface="Calibri"/>
              </a:rPr>
              <a:t>5 / 18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503A85F-7CD0-654A-A427-E12ED2CDC63B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6058"/>
            <a:ext cx="656756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Tabs Layout — app/(tabs)/_</a:t>
            </a:r>
            <a:r>
              <a:rPr sz="3200" b="1" dirty="0" err="1">
                <a:solidFill>
                  <a:schemeClr val="bg1"/>
                </a:solidFill>
                <a:latin typeface="Calibri"/>
              </a:rPr>
              <a:t>layout.tsx</a:t>
            </a:r>
            <a:endParaRPr sz="3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575370"/>
            <a:ext cx="8412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dirty="0">
                <a:solidFill>
                  <a:schemeClr val="bg1"/>
                </a:solidFill>
                <a:latin typeface="Calibri"/>
              </a:rPr>
              <a:t>&lt;Tabs&gt; wraps every tab. Each &lt;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Tabs.Screen</a:t>
            </a:r>
            <a:r>
              <a:rPr sz="2400" dirty="0">
                <a:solidFill>
                  <a:schemeClr val="bg1"/>
                </a:solidFill>
                <a:latin typeface="Calibri"/>
              </a:rPr>
              <a:t>&gt; configures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120640" cy="370332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143000"/>
            <a:ext cx="20394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59E0B"/>
                </a:solidFill>
                <a:latin typeface="Calibri"/>
              </a:rPr>
              <a:t>The whole tab bar — one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408176"/>
            <a:ext cx="4901183" cy="3355021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059669"/>
                </a:solidFill>
                <a:latin typeface="Consolas"/>
              </a:rPr>
              <a:t>// app/(tabs)/_</a:t>
            </a:r>
            <a:r>
              <a:rPr sz="800" dirty="0" err="1">
                <a:solidFill>
                  <a:srgbClr val="059669"/>
                </a:solidFill>
                <a:latin typeface="Consolas"/>
              </a:rPr>
              <a:t>layout.tsx</a:t>
            </a:r>
            <a:endParaRPr sz="80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DBEAFE"/>
                </a:solidFill>
                <a:latin typeface="Consolas"/>
              </a:rPr>
              <a:t>import { Tabs } from 'expo-router';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800" dirty="0" err="1">
                <a:solidFill>
                  <a:srgbClr val="DBEAFE"/>
                </a:solidFill>
                <a:latin typeface="Consolas"/>
              </a:rPr>
              <a:t>Ionicons</a:t>
            </a:r>
            <a:r>
              <a:rPr sz="800" dirty="0">
                <a:solidFill>
                  <a:srgbClr val="DBEAFE"/>
                </a:solidFill>
                <a:latin typeface="Consolas"/>
              </a:rPr>
              <a:t> } from '@expo/vector-icons';</a:t>
            </a:r>
          </a:p>
          <a:p>
            <a:pPr algn="l">
              <a:lnSpc>
                <a:spcPct val="105000"/>
              </a:lnSpc>
            </a:pPr>
            <a:endParaRPr sz="80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export default function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TabsLayout</a:t>
            </a:r>
            <a:r>
              <a:rPr sz="800" dirty="0">
                <a:solidFill>
                  <a:srgbClr val="F1F5F9"/>
                </a:solidFill>
                <a:latin typeface="Consolas"/>
              </a:rPr>
              <a:t>() {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return (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&lt;Tabs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screenOptions</a:t>
            </a:r>
            <a:r>
              <a:rPr sz="800" dirty="0">
                <a:solidFill>
                  <a:srgbClr val="F1F5F9"/>
                </a:solidFill>
                <a:latin typeface="Consolas"/>
              </a:rPr>
              <a:t>={{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59E0B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59E0B"/>
                </a:solidFill>
                <a:latin typeface="Consolas"/>
              </a:rPr>
              <a:t>tabBarActiveTintColor</a:t>
            </a:r>
            <a:r>
              <a:rPr sz="800" dirty="0">
                <a:solidFill>
                  <a:srgbClr val="F59E0B"/>
                </a:solidFill>
                <a:latin typeface="Consolas"/>
              </a:rPr>
              <a:t>: '#F59E0B',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tabBarInactiveTintColor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'#94A3B8',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headerStyle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'#003865' },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headerTintColor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'#FFFFFF',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}}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&lt;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Tabs.Screen</a:t>
            </a:r>
            <a:endParaRPr sz="8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59E0B"/>
                </a:solidFill>
                <a:latin typeface="Consolas"/>
              </a:rPr>
              <a:t>        name="index"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options={{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title: 'Home',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tabBarIcon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({ color, size }) =&gt; (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  &lt;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Ionicons</a:t>
            </a:r>
            <a:r>
              <a:rPr sz="800" dirty="0">
                <a:solidFill>
                  <a:srgbClr val="F1F5F9"/>
                </a:solidFill>
                <a:latin typeface="Consolas"/>
              </a:rPr>
              <a:t> name='home' size={size} color={color} /&gt;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),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}}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/&gt;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&lt;/Tabs&gt;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);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31089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3" y="1123540"/>
            <a:ext cx="13120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&lt;Tabs&gt;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447566"/>
            <a:ext cx="2798064" cy="77489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Top-level shell — like &lt;Stack&gt;.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Comes from expo-router.</a:t>
            </a:r>
          </a:p>
          <a:p>
            <a:pPr>
              <a:lnSpc>
                <a:spcPct val="115000"/>
              </a:lnSpc>
            </a:pPr>
            <a:r>
              <a:rPr sz="1400" dirty="0" err="1">
                <a:solidFill>
                  <a:schemeClr val="bg1"/>
                </a:solidFill>
                <a:latin typeface="Calibri"/>
              </a:rPr>
              <a:t>screenOptions</a:t>
            </a:r>
            <a:r>
              <a:rPr sz="1400" dirty="0">
                <a:solidFill>
                  <a:schemeClr val="bg1"/>
                </a:solidFill>
                <a:latin typeface="Calibri"/>
              </a:rPr>
              <a:t> apply to every tab.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286000"/>
            <a:ext cx="31089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15584" y="2288814"/>
            <a:ext cx="15934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&lt;</a:t>
            </a:r>
            <a:r>
              <a:rPr sz="1600" b="1" dirty="0" err="1">
                <a:solidFill>
                  <a:srgbClr val="003865"/>
                </a:solidFill>
                <a:latin typeface="Calibri"/>
              </a:rPr>
              <a:t>Tabs.Screen</a:t>
            </a:r>
            <a:r>
              <a:rPr sz="1600" b="1" dirty="0">
                <a:solidFill>
                  <a:srgbClr val="003865"/>
                </a:solidFill>
                <a:latin typeface="Calibri"/>
              </a:rPr>
              <a:t>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2648009"/>
            <a:ext cx="2798064" cy="77489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One per tab file.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name = filename (no extension).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options = title, icon, badge, etc.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3474720"/>
            <a:ext cx="31089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3" y="3547872"/>
            <a:ext cx="26250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003865"/>
                </a:solidFill>
                <a:latin typeface="Calibri"/>
              </a:rPr>
              <a:t>screenOptions</a:t>
            </a:r>
            <a:r>
              <a:rPr sz="1600" b="1" dirty="0">
                <a:solidFill>
                  <a:srgbClr val="003865"/>
                </a:solidFill>
                <a:latin typeface="Calibri"/>
              </a:rPr>
              <a:t> vs 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9618" y="3895344"/>
            <a:ext cx="3108960" cy="618759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100" dirty="0" err="1">
                <a:solidFill>
                  <a:srgbClr val="334155"/>
                </a:solidFill>
                <a:latin typeface="Calibri"/>
              </a:rPr>
              <a:t>screenOptions</a:t>
            </a:r>
            <a:r>
              <a:rPr sz="1100" dirty="0">
                <a:solidFill>
                  <a:srgbClr val="334155"/>
                </a:solidFill>
                <a:latin typeface="Calibri"/>
              </a:rPr>
              <a:t> on &lt;Tabs&gt;  →  defaults for ALL tabs.</a:t>
            </a:r>
          </a:p>
          <a:p>
            <a:pPr>
              <a:lnSpc>
                <a:spcPct val="115000"/>
              </a:lnSpc>
            </a:pPr>
            <a:r>
              <a:rPr sz="1100" dirty="0">
                <a:solidFill>
                  <a:srgbClr val="334155"/>
                </a:solidFill>
                <a:latin typeface="Calibri"/>
              </a:rPr>
              <a:t>options on &lt;</a:t>
            </a:r>
            <a:r>
              <a:rPr sz="11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100" dirty="0">
                <a:solidFill>
                  <a:srgbClr val="334155"/>
                </a:solidFill>
                <a:latin typeface="Calibri"/>
              </a:rPr>
              <a:t>&gt;  →  overrides for one tab.</a:t>
            </a:r>
          </a:p>
          <a:p>
            <a:pPr>
              <a:lnSpc>
                <a:spcPct val="115000"/>
              </a:lnSpc>
            </a:pPr>
            <a:r>
              <a:rPr sz="1100" dirty="0">
                <a:solidFill>
                  <a:srgbClr val="334155"/>
                </a:solidFill>
                <a:latin typeface="Calibri"/>
              </a:rPr>
              <a:t>Specific wins over general.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6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FF6CAF-CA12-D6B5-D111-A50A01FD0311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103991"/>
            <a:ext cx="507485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Icons — @expo/vector-icons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44335"/>
            <a:ext cx="873559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2400" dirty="0">
                <a:solidFill>
                  <a:schemeClr val="bg1"/>
                </a:solidFill>
                <a:latin typeface="Calibri"/>
              </a:rPr>
              <a:t>Bundled with Expo. 14 icon sets, 5k+ glyphs.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Ionicons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is the default.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4572000" cy="370332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143000"/>
            <a:ext cx="43525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59E0B"/>
                </a:solidFill>
                <a:latin typeface="Calibri"/>
              </a:rPr>
              <a:t>Ionicons in 3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408176"/>
            <a:ext cx="4352544" cy="334670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1. Install (already in Expo!)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//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npx</a:t>
            </a:r>
            <a:r>
              <a:rPr sz="950" dirty="0">
                <a:solidFill>
                  <a:srgbClr val="F1F5F9"/>
                </a:solidFill>
                <a:latin typeface="Consolas"/>
              </a:rPr>
              <a:t> expo install @expo/vector-icons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2. Import the set you want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950" dirty="0" err="1">
                <a:solidFill>
                  <a:srgbClr val="DBEAFE"/>
                </a:solidFill>
                <a:latin typeface="Consolas"/>
              </a:rPr>
              <a:t>Ionicons</a:t>
            </a:r>
            <a:r>
              <a:rPr sz="950" dirty="0">
                <a:solidFill>
                  <a:srgbClr val="DBEAFE"/>
                </a:solidFill>
                <a:latin typeface="Consolas"/>
              </a:rPr>
              <a:t> } from '@expo/vector-icons';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3. Use as the </a:t>
            </a:r>
            <a:r>
              <a:rPr sz="950" dirty="0" err="1">
                <a:solidFill>
                  <a:srgbClr val="059669"/>
                </a:solidFill>
                <a:latin typeface="Consolas"/>
              </a:rPr>
              <a:t>tabBarIcon</a:t>
            </a:r>
            <a:endParaRPr sz="95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&lt;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Tabs.Screen</a:t>
            </a: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name="courses"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options={{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title: 'Courses',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tabBarIcon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({ color, size, focused }) =&gt; (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Ionicons</a:t>
            </a: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59E0B"/>
                </a:solidFill>
                <a:latin typeface="Consolas"/>
              </a:rPr>
              <a:t>        name={focused ? 'book' : 'book-outline'}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  size={size}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  color={color}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/&gt;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),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}}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/&gt;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browse: </a:t>
            </a:r>
            <a:r>
              <a:rPr sz="950" dirty="0" err="1">
                <a:solidFill>
                  <a:srgbClr val="059669"/>
                </a:solidFill>
                <a:latin typeface="Consolas"/>
              </a:rPr>
              <a:t>icons.expo.fyi</a:t>
            </a:r>
            <a:endParaRPr sz="950" dirty="0">
              <a:solidFill>
                <a:srgbClr val="059669"/>
              </a:solidFill>
              <a:latin typeface="Consola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20640" y="1097280"/>
            <a:ext cx="36576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66944" y="1125607"/>
            <a:ext cx="218386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🎨  Icon Sets You'll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0566" y="1437219"/>
            <a:ext cx="358767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(default — clean iOS look)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MaterialIcons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MaterialCommunityIcons</a:t>
            </a:r>
            <a:endParaRPr sz="1200" dirty="0">
              <a:solidFill>
                <a:srgbClr val="334155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FontAwesome5  ·  Feather  · 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AntDesign</a:t>
            </a:r>
            <a:endParaRPr sz="120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120640" y="2148840"/>
            <a:ext cx="36576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2177167"/>
            <a:ext cx="24296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💡  Focused vs Unfocused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0566" y="2488779"/>
            <a:ext cx="358767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focused=true when the tab is active.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Convention: filled when active, outline when not.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Example: 'home' vs 'home-outline'.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3200400"/>
            <a:ext cx="3657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6944" y="3228727"/>
            <a:ext cx="166641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🔍  Finding Icons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694" y="3522291"/>
            <a:ext cx="3657600" cy="130792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Visit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icons.expo.fyi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 — full searchable catalog.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Click an icon → get its exact name.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Each set uses its own naming convention.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Sizes default to 24, color defaults to text color.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Use size &amp; color from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tabBarIcon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props for free theming.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7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2743A4-624A-418B-91AA-6E1B1C9C8C29}"/>
              </a:ext>
            </a:extLst>
          </p:cNvPr>
          <p:cNvSpPr/>
          <p:nvPr/>
        </p:nvSpPr>
        <p:spPr>
          <a:xfrm flipV="1">
            <a:off x="365760" y="477536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7209"/>
            <a:ext cx="335162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Styling the Tab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43146"/>
            <a:ext cx="761612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Every visual aspect is a </a:t>
            </a:r>
            <a:r>
              <a:rPr sz="2000" dirty="0" err="1">
                <a:solidFill>
                  <a:schemeClr val="bg1"/>
                </a:solidFill>
                <a:latin typeface="Calibri"/>
              </a:rPr>
              <a:t>screenOption</a:t>
            </a:r>
            <a:r>
              <a:rPr sz="2000" dirty="0">
                <a:solidFill>
                  <a:schemeClr val="bg1"/>
                </a:solidFill>
                <a:latin typeface="Calibri"/>
              </a:rPr>
              <a:t> — colors, fonts, height, badges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6477"/>
            <a:ext cx="5029200" cy="4116512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1" y="958637"/>
            <a:ext cx="5029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dirty="0">
                <a:solidFill>
                  <a:srgbClr val="F59E0B"/>
                </a:solidFill>
                <a:latin typeface="Calibri"/>
              </a:rPr>
              <a:t>A theme-able tab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066370"/>
            <a:ext cx="4809744" cy="4032129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&lt;Tabs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screenOptions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={{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</a:t>
            </a:r>
            <a:r>
              <a:rPr lang="en-US" sz="1000" dirty="0">
                <a:solidFill>
                  <a:srgbClr val="059669"/>
                </a:solidFill>
                <a:latin typeface="Consolas"/>
              </a:rPr>
              <a:t>Bar </a:t>
            </a:r>
            <a:r>
              <a:rPr sz="1000" dirty="0">
                <a:solidFill>
                  <a:srgbClr val="059669"/>
                </a:solidFill>
                <a:latin typeface="Consolas"/>
              </a:rPr>
              <a:t>Colors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tabBarActiveTintColor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  '#F59E0B',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tabBarInactiveTintColor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'#94A3B8',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Bar </a:t>
            </a:r>
            <a:r>
              <a:rPr lang="en-US" sz="1000" dirty="0">
                <a:solidFill>
                  <a:srgbClr val="059669"/>
                </a:solidFill>
                <a:latin typeface="Consolas"/>
              </a:rPr>
              <a:t>Style</a:t>
            </a:r>
            <a:endParaRPr sz="100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tabBarStyle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{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'#0F172A',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borderTopColor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 '#1E293B',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height: 64,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paddingBottom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8,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},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Label </a:t>
            </a:r>
            <a:r>
              <a:rPr lang="en-US" sz="1000" dirty="0">
                <a:solidFill>
                  <a:srgbClr val="059669"/>
                </a:solidFill>
                <a:latin typeface="Consolas"/>
              </a:rPr>
              <a:t>Style: </a:t>
            </a:r>
            <a:r>
              <a:rPr sz="1000" dirty="0">
                <a:solidFill>
                  <a:srgbClr val="059669"/>
                </a:solidFill>
                <a:latin typeface="Consolas"/>
              </a:rPr>
              <a:t>font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tabBarLabelStyle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{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fontSize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11,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fontWeight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'600',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},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Hide labels, icon-only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//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tabBarShowLabel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false,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Header above the screen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headerStyle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'#003865' },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headerTintColor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'#FFFFFF',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}} /&gt;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222790"/>
            <a:ext cx="32004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24144" y="1233187"/>
            <a:ext cx="161877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🔢  Add a Badge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567094"/>
            <a:ext cx="3200399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tabBarBadge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3      → red dot with '3'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tabBarBadge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'99+'  → string is also OK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tabBarBadgeStyle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{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backgroundColor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'#DC2626' 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2502950"/>
            <a:ext cx="32004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24144" y="2513347"/>
            <a:ext cx="195649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📱  Hide the Tab Bar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5472" y="2839162"/>
            <a:ext cx="3383280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tabBarStyle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{ display: 'none' }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Useful on a full-screen video player or onboarding.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Set it per-screen with options on that &lt;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200" dirty="0">
                <a:solidFill>
                  <a:srgbClr val="334155"/>
                </a:solidFill>
                <a:latin typeface="Calibri"/>
              </a:rPr>
              <a:t>&gt;.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783110"/>
            <a:ext cx="32004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3793507"/>
            <a:ext cx="213340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🚫  Hide a Tab Entirely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4167874"/>
            <a:ext cx="3200399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href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null on the &lt;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200" dirty="0">
                <a:solidFill>
                  <a:srgbClr val="334155"/>
                </a:solidFill>
                <a:latin typeface="Calibri"/>
              </a:rPr>
              <a:t>&gt;.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File still exists, just no button in the bar.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200" dirty="0">
                <a:solidFill>
                  <a:srgbClr val="334155"/>
                </a:solidFill>
                <a:latin typeface="Calibri"/>
              </a:rPr>
              <a:t>Great for admin-only or deep-link-only screens.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8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31230A-A279-5FAA-E206-BE0EC9158231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103990"/>
            <a:ext cx="551086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3200" b="1" dirty="0">
                <a:solidFill>
                  <a:schemeClr val="bg1"/>
                </a:solidFill>
                <a:latin typeface="Calibri"/>
              </a:rPr>
              <a:t>Common </a:t>
            </a:r>
            <a:r>
              <a:rPr sz="3200" b="1" dirty="0">
                <a:solidFill>
                  <a:schemeClr val="bg1"/>
                </a:solidFill>
                <a:latin typeface="Calibri"/>
              </a:rPr>
              <a:t>Tab </a:t>
            </a:r>
            <a:r>
              <a:rPr lang="en-US" sz="3200" b="1" dirty="0">
                <a:solidFill>
                  <a:schemeClr val="bg1"/>
                </a:solidFill>
                <a:latin typeface="Calibri"/>
              </a:rPr>
              <a:t>Screen Properties</a:t>
            </a:r>
            <a:endParaRPr sz="3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571225"/>
            <a:ext cx="52727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dirty="0">
                <a:solidFill>
                  <a:schemeClr val="bg1"/>
                </a:solidFill>
                <a:latin typeface="Calibri"/>
              </a:rPr>
              <a:t>The 15 properties you'll reach for daily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149898" y="1097280"/>
            <a:ext cx="2184595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9898" y="1097280"/>
            <a:ext cx="2184595" cy="41148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l"/>
            <a:r>
              <a:rPr sz="2000" b="1" dirty="0">
                <a:solidFill>
                  <a:srgbClr val="FFFFFF"/>
                </a:solidFill>
                <a:latin typeface="Calibri"/>
              </a:rPr>
              <a:t>Identity &amp;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626" y="1627632"/>
            <a:ext cx="63350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F59E0B"/>
                </a:solidFill>
                <a:latin typeface="Consolas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26" y="1828800"/>
            <a:ext cx="173060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filename without .</a:t>
            </a:r>
            <a:r>
              <a:rPr sz="1400" dirty="0" err="1">
                <a:solidFill>
                  <a:srgbClr val="475569"/>
                </a:solidFill>
                <a:latin typeface="Calibri"/>
              </a:rPr>
              <a:t>tsx</a:t>
            </a:r>
            <a:endParaRPr sz="1400" dirty="0">
              <a:solidFill>
                <a:srgbClr val="475569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9626" y="2103120"/>
            <a:ext cx="7457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26" y="2304288"/>
            <a:ext cx="192482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shown in label + header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26" y="2578608"/>
            <a:ext cx="141897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26" y="2779776"/>
            <a:ext cx="183165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override the label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626" y="3054096"/>
            <a:ext cx="63350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href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626" y="3255264"/>
            <a:ext cx="15519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set null to hide tab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30539" y="1097280"/>
            <a:ext cx="2403176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30539" y="1097280"/>
            <a:ext cx="2403176" cy="41148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l"/>
            <a:r>
              <a:rPr sz="2000" b="1" dirty="0">
                <a:solidFill>
                  <a:srgbClr val="FFFFFF"/>
                </a:solidFill>
                <a:latin typeface="Calibri"/>
              </a:rPr>
              <a:t>Icon &amp; Badge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0267" y="1627632"/>
            <a:ext cx="130676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tabBarIcon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0267" y="1828800"/>
            <a:ext cx="21604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({color, size, focused}) =&gt;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0267" y="2103120"/>
            <a:ext cx="141897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tabBarBadge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40267" y="2304288"/>
            <a:ext cx="141378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number or string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40267" y="2578608"/>
            <a:ext cx="198002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tabBarBadgeStyle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40267" y="2779776"/>
            <a:ext cx="18666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background, color, font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0267" y="3054096"/>
            <a:ext cx="186781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tabBarShowLabel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40267" y="3255264"/>
            <a:ext cx="98103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true / false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0859" y="1097280"/>
            <a:ext cx="341401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520859" y="1097280"/>
            <a:ext cx="3414010" cy="41148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l"/>
            <a:r>
              <a:rPr sz="2000" b="1" dirty="0">
                <a:solidFill>
                  <a:srgbClr val="FFFFFF"/>
                </a:solidFill>
                <a:latin typeface="Calibri"/>
              </a:rPr>
              <a:t>Header &amp; Bar Style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0859" y="1627632"/>
            <a:ext cx="21080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tabBarStyle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602485" y="1828800"/>
            <a:ext cx="27655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height, </a:t>
            </a:r>
            <a:r>
              <a:rPr sz="1400" dirty="0" err="1">
                <a:solidFill>
                  <a:srgbClr val="475569"/>
                </a:solidFill>
                <a:latin typeface="Calibri"/>
              </a:rPr>
              <a:t>bg</a:t>
            </a:r>
            <a:r>
              <a:rPr sz="1400" dirty="0">
                <a:solidFill>
                  <a:srgbClr val="475569"/>
                </a:solidFill>
                <a:latin typeface="Calibri"/>
              </a:rPr>
              <a:t>, border, padding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2485" y="2103120"/>
            <a:ext cx="31485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tabBarActiveTintColor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47450" y="2304288"/>
            <a:ext cx="20504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active icon + label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48835" y="2578608"/>
            <a:ext cx="34266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tabBarInactiveTintColor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02485" y="2779776"/>
            <a:ext cx="2231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inactive icon + label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2485" y="3036166"/>
            <a:ext cx="20264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headerShown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02484" y="3255264"/>
            <a:ext cx="23432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true (default) or false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20859" y="3574409"/>
            <a:ext cx="3454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headerStyle</a:t>
            </a:r>
            <a:r>
              <a:rPr sz="1600" b="1" dirty="0">
                <a:solidFill>
                  <a:srgbClr val="F59E0B"/>
                </a:solidFill>
                <a:latin typeface="Consolas"/>
              </a:rPr>
              <a:t> / </a:t>
            </a:r>
            <a:r>
              <a:rPr sz="1600" b="1" dirty="0" err="1">
                <a:solidFill>
                  <a:srgbClr val="F59E0B"/>
                </a:solidFill>
                <a:latin typeface="Consolas"/>
              </a:rPr>
              <a:t>headerTintColor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548836" y="3766611"/>
            <a:ext cx="2697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color the top header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02485" y="4148509"/>
            <a:ext cx="20264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headerRight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47449" y="4385537"/>
            <a:ext cx="29171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() =&gt; &lt;Button&gt; on the right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9 / 18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A61ED6F-4FDC-7DC5-79FA-0B17CDCD5DA9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770"/>
            <a:ext cx="698428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Tab Order, Initial Tab &amp; Conditional Tabs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0051"/>
            <a:ext cx="707618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Calibri"/>
              </a:rPr>
              <a:t>3</a:t>
            </a:r>
            <a:r>
              <a:rPr sz="2400" dirty="0">
                <a:solidFill>
                  <a:schemeClr val="bg1"/>
                </a:solidFill>
                <a:latin typeface="Calibri"/>
              </a:rPr>
              <a:t> practical patterns you will use often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78892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1533" y="1143273"/>
            <a:ext cx="1606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1.  Tab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86" y="1517904"/>
            <a:ext cx="2642616" cy="257788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Tabs appear in the order they are LISTED inside</a:t>
            </a: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&lt;Tabs&gt;, NOT alphabetically.</a:t>
            </a:r>
          </a:p>
          <a:p>
            <a:pPr>
              <a:lnSpc>
                <a:spcPct val="115000"/>
              </a:lnSpc>
            </a:pPr>
            <a:endParaRPr sz="1600" dirty="0">
              <a:solidFill>
                <a:schemeClr val="bg1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Re-order by re-arranging the</a:t>
            </a: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&lt;</a:t>
            </a:r>
            <a:r>
              <a:rPr sz="1600" dirty="0" err="1">
                <a:solidFill>
                  <a:schemeClr val="bg1"/>
                </a:solidFill>
                <a:latin typeface="Calibri"/>
              </a:rPr>
              <a:t>Tabs.Screen</a:t>
            </a:r>
            <a:r>
              <a:rPr sz="1600" dirty="0">
                <a:solidFill>
                  <a:schemeClr val="bg1"/>
                </a:solidFill>
                <a:latin typeface="Calibri"/>
              </a:rPr>
              <a:t>&gt; elements.</a:t>
            </a:r>
          </a:p>
          <a:p>
            <a:pPr>
              <a:lnSpc>
                <a:spcPct val="115000"/>
              </a:lnSpc>
            </a:pPr>
            <a:endParaRPr sz="1600" dirty="0">
              <a:solidFill>
                <a:schemeClr val="bg1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Best practice: index first, profile 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097280"/>
            <a:ext cx="2834640" cy="3867912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0" name="TextBox 9"/>
          <p:cNvSpPr txBox="1"/>
          <p:nvPr/>
        </p:nvSpPr>
        <p:spPr>
          <a:xfrm>
            <a:off x="3355848" y="1143000"/>
            <a:ext cx="79874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Calibri"/>
              </a:rPr>
              <a:t>Initial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583" y="1408176"/>
            <a:ext cx="2816352" cy="3093476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Default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// Whichever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// with name="index" appears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// FIRST loads on app open.</a:t>
            </a:r>
          </a:p>
          <a:p>
            <a:pPr algn="l">
              <a:lnSpc>
                <a:spcPct val="105000"/>
              </a:lnSpc>
            </a:pPr>
            <a:endParaRPr sz="12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&lt;Tabs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initialRouteName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="index"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name="index" /&gt;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name="search" /&gt;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name="profile" /&gt;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&lt;/Tabs&gt;</a:t>
            </a:r>
          </a:p>
          <a:p>
            <a:pPr algn="l">
              <a:lnSpc>
                <a:spcPct val="105000"/>
              </a:lnSpc>
            </a:pPr>
            <a:endParaRPr sz="12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</a:t>
            </a:r>
            <a:r>
              <a:rPr sz="1200" dirty="0" err="1">
                <a:solidFill>
                  <a:srgbClr val="059669"/>
                </a:solidFill>
                <a:latin typeface="Consolas"/>
              </a:rPr>
              <a:t>initialRouteName</a:t>
            </a:r>
            <a:r>
              <a:rPr sz="1200" dirty="0">
                <a:solidFill>
                  <a:srgbClr val="059669"/>
                </a:solidFill>
                <a:latin typeface="Consolas"/>
              </a:rPr>
              <a:t> ALSO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controls which tab the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back-button returns 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097280"/>
            <a:ext cx="2606040" cy="3867912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6281928" y="1143000"/>
            <a:ext cx="152721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Calibri"/>
              </a:rPr>
              <a:t>Hide tab dynamically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408176"/>
            <a:ext cx="2386584" cy="3093476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Conditional tab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// Hide the Admin tab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// unless user is admin.</a:t>
            </a:r>
          </a:p>
          <a:p>
            <a:pPr algn="l">
              <a:lnSpc>
                <a:spcPct val="105000"/>
              </a:lnSpc>
            </a:pPr>
            <a:endParaRPr sz="120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&lt;Tabs.Screen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name="admin"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options={{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  href: isAdmin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    ? '/admin'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59E0B"/>
                </a:solidFill>
                <a:latin typeface="Consolas"/>
              </a:rPr>
              <a:t>      : null,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}}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/&gt;</a:t>
            </a:r>
          </a:p>
          <a:p>
            <a:pPr algn="l">
              <a:lnSpc>
                <a:spcPct val="105000"/>
              </a:lnSpc>
            </a:pPr>
            <a:endParaRPr sz="120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href: null hides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the tab button BUT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keeps the route valid.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10 / 18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7E255E-A50D-5FCE-14D7-216F5280B7DA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771"/>
            <a:ext cx="554594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Nested Navigation </a:t>
            </a:r>
            <a:r>
              <a:rPr sz="3200" b="1" dirty="0">
                <a:solidFill>
                  <a:schemeClr val="bg1"/>
                </a:solidFill>
                <a:latin typeface="Calibri"/>
              </a:rPr>
              <a:t>Tabs +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855" y="614372"/>
            <a:ext cx="89991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Each tab can contain its own stack of pushed screens</a:t>
            </a:r>
            <a:endParaRPr lang="en-US" sz="2000" dirty="0">
              <a:solidFill>
                <a:schemeClr val="bg1"/>
              </a:solidFill>
              <a:latin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Real apps almost always combine the two: a tab bar at the bottom, and inside each tab, a stack you can drill down through. Day 2 covers stacks in depth — here's the preview.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54185"/>
            <a:ext cx="4572000" cy="310896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963693"/>
            <a:ext cx="23220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F59E0B"/>
                </a:solidFill>
                <a:latin typeface="Calibri"/>
              </a:rPr>
              <a:t>A tab that contains a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265081"/>
            <a:ext cx="4352544" cy="265797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59E0B"/>
                </a:solidFill>
                <a:latin typeface="Consolas"/>
              </a:rPr>
              <a:t>app/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├── _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       # root Stack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59E0B"/>
                </a:solidFill>
                <a:latin typeface="Consolas"/>
              </a:rPr>
              <a:t>├── (tabs)/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├── _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  # Tabs shell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├──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index.tsx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    # Home tab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59E0B"/>
                </a:solidFill>
                <a:latin typeface="Consolas"/>
              </a:rPr>
              <a:t>│    ├── courses/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│    ├── _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# Stack inside Courses tab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│    ├──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index.tsx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# course LIST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│    └── [id].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# course DETAIL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└──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profile.tsx</a:t>
            </a:r>
            <a:endParaRPr sz="11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endParaRPr sz="11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User taps Courses tab,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  sees list, taps a course,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  stack pushes [id].</a:t>
            </a:r>
            <a:r>
              <a:rPr sz="1100" dirty="0" err="1">
                <a:solidFill>
                  <a:srgbClr val="059669"/>
                </a:solidFill>
                <a:latin typeface="Consolas"/>
              </a:rPr>
              <a:t>tsx</a:t>
            </a:r>
            <a:r>
              <a:rPr sz="1100" dirty="0">
                <a:solidFill>
                  <a:srgbClr val="059669"/>
                </a:solidFill>
                <a:latin typeface="Consolas"/>
              </a:rPr>
              <a:t> —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  tab bar STAYS visible.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954185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76672" y="2063913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12843" y="2928021"/>
            <a:ext cx="98841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003865"/>
                </a:solidFill>
                <a:latin typeface="Calibri"/>
              </a:rPr>
              <a:t>Course List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76672" y="4294134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76672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3590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3590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508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508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1954185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51192" y="2063913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82274" y="2928021"/>
            <a:ext cx="139858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003865"/>
                </a:solidFill>
                <a:latin typeface="Calibri"/>
              </a:rPr>
              <a:t>CPRG-303 Detail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51192" y="4294134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51192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8110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8110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5027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cxnSp>
        <p:nvCxnSpPr>
          <p:cNvPr id="30" name="Connector 29"/>
          <p:cNvCxnSpPr>
            <a:cxnSpLocks/>
          </p:cNvCxnSpPr>
          <p:nvPr/>
        </p:nvCxnSpPr>
        <p:spPr>
          <a:xfrm>
            <a:off x="6837426" y="3508665"/>
            <a:ext cx="340614" cy="0"/>
          </a:xfrm>
          <a:prstGeom prst="line">
            <a:avLst/>
          </a:prstGeom>
          <a:ln w="50800">
            <a:solidFill>
              <a:srgbClr val="FF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11 / 18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AC6B9E2-C125-A5AE-D44E-8FE22FBB5F19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52509"/>
            <a:ext cx="785311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Code Walkthrough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  <a:r>
              <a:rPr lang="en-US" sz="3200" b="1" dirty="0">
                <a:solidFill>
                  <a:srgbClr val="003865"/>
                </a:solidFill>
                <a:latin typeface="Calibri"/>
              </a:rPr>
              <a:t> (1/2)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78157"/>
            <a:ext cx="659834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We'll build this together: Home · Courses · Profile · Settings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434" y="1296452"/>
            <a:ext cx="5378390" cy="3360723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7912" y="1305960"/>
            <a:ext cx="28996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F59E0B"/>
                </a:solidFill>
                <a:latin typeface="Calibri"/>
              </a:rPr>
              <a:t>The whole shell — one file, four tabs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114" y="1607348"/>
            <a:ext cx="5175504" cy="293266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dirty="0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// app/(tabs)/_</a:t>
            </a:r>
            <a:r>
              <a:rPr sz="14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layout.tsx</a:t>
            </a:r>
            <a:endParaRPr lang="en-US" sz="1400" dirty="0">
              <a:solidFill>
                <a:schemeClr val="bg2">
                  <a:lumMod val="20000"/>
                  <a:lumOff val="80000"/>
                </a:schemeClr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endParaRPr sz="140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DBEAFE"/>
                </a:solidFill>
                <a:latin typeface="Consolas"/>
              </a:rPr>
              <a:t>import { Tabs } from 'expo-router';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1100" dirty="0" err="1">
                <a:solidFill>
                  <a:srgbClr val="DBEAFE"/>
                </a:solidFill>
                <a:latin typeface="Consolas"/>
              </a:rPr>
              <a:t>Ionicons</a:t>
            </a:r>
            <a:r>
              <a:rPr sz="1100" dirty="0">
                <a:solidFill>
                  <a:srgbClr val="DBEAFE"/>
                </a:solidFill>
                <a:latin typeface="Consolas"/>
              </a:rPr>
              <a:t> } from '@expo/vector-icons';</a:t>
            </a:r>
          </a:p>
          <a:p>
            <a:pPr algn="l">
              <a:lnSpc>
                <a:spcPct val="105000"/>
              </a:lnSpc>
            </a:pPr>
            <a:endParaRPr sz="110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export default function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TabLayout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() {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return (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&lt;Tabs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screenOptions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={{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tabBarActiveTintColor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'#F59E0B',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tabBarInactiveTintColor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'#94A3B8',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tabBarStyle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'#0F172A',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borderTopColor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</a:t>
            </a:r>
            <a:r>
              <a:rPr lang="en-US" sz="1100" dirty="0">
                <a:solidFill>
                  <a:srgbClr val="F1F5F9"/>
                </a:solidFill>
                <a:latin typeface="Consolas"/>
              </a:rPr>
              <a:t>								   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'#1E293B' },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headerStyle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'#003865' },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headerTintColor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'#FFFFFF',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}}&gt;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5868002" y="979099"/>
            <a:ext cx="3008376" cy="39210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6014306" y="1043684"/>
            <a:ext cx="24945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🎬  Demo Plan (30 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2594" y="1391156"/>
            <a:ext cx="2843784" cy="3481531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1.  Open 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CampusHub_starter</a:t>
            </a:r>
            <a:endParaRPr sz="15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2.  Show file tree — note (tabs) folder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3.  Run on Expo Go — three placeholder tabs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4.  Add 4th tab —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settings.tsx</a:t>
            </a:r>
            <a:endParaRPr sz="15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5.  Wire up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500" dirty="0">
                <a:solidFill>
                  <a:srgbClr val="334155"/>
                </a:solidFill>
                <a:latin typeface="Calibri"/>
              </a:rPr>
              <a:t> for all 4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6.  Switch active tint to amber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7.  Add badge '2' to Profile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8.  Hide tab bar on a child screen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9.  Use focused: filled vs outline icons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10. Compare to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CampusHub_final</a:t>
            </a:r>
            <a:endParaRPr sz="150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36269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12 / 18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189B5F-B504-4612-1774-C5AC7F53CD46}"/>
              </a:ext>
            </a:extLst>
          </p:cNvPr>
          <p:cNvSpPr/>
          <p:nvPr/>
        </p:nvSpPr>
        <p:spPr>
          <a:xfrm flipV="1">
            <a:off x="365760" y="486325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1FC16-ABAD-809C-4CAB-632A7E1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E46339-F4FB-520A-E4D0-BAED50C159A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B4F387-05F6-8867-F2CD-7B7111D03487}"/>
              </a:ext>
            </a:extLst>
          </p:cNvPr>
          <p:cNvSpPr txBox="1"/>
          <p:nvPr/>
        </p:nvSpPr>
        <p:spPr>
          <a:xfrm>
            <a:off x="365760" y="-52509"/>
            <a:ext cx="785311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Code Walkthrough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  <a:r>
              <a:rPr lang="en-US" sz="3200" b="1" dirty="0">
                <a:solidFill>
                  <a:srgbClr val="003865"/>
                </a:solidFill>
                <a:latin typeface="Calibri"/>
              </a:rPr>
              <a:t> (2/2)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2FFE890-24F1-EE9F-B04B-F97F874065DC}"/>
              </a:ext>
            </a:extLst>
          </p:cNvPr>
          <p:cNvGrpSpPr/>
          <p:nvPr/>
        </p:nvGrpSpPr>
        <p:grpSpPr>
          <a:xfrm>
            <a:off x="515406" y="1323612"/>
            <a:ext cx="8084790" cy="1917071"/>
            <a:chOff x="515406" y="1323612"/>
            <a:chExt cx="8084790" cy="191707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FE4609F-5C56-97CA-8452-2F42DE575008}"/>
                </a:ext>
              </a:extLst>
            </p:cNvPr>
            <p:cNvSpPr/>
            <p:nvPr/>
          </p:nvSpPr>
          <p:spPr>
            <a:xfrm>
              <a:off x="515406" y="1323612"/>
              <a:ext cx="8084790" cy="1917071"/>
            </a:xfrm>
            <a:prstGeom prst="rect">
              <a:avLst/>
            </a:prstGeom>
            <a:solidFill>
              <a:srgbClr val="0F172A"/>
            </a:solidFill>
            <a:ln w="6350">
              <a:solidFill>
                <a:srgbClr val="33415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5F199D-EE95-2305-683D-176B0A76DF38}"/>
                </a:ext>
              </a:extLst>
            </p:cNvPr>
            <p:cNvSpPr txBox="1"/>
            <p:nvPr/>
          </p:nvSpPr>
          <p:spPr>
            <a:xfrm>
              <a:off x="747085" y="1543977"/>
              <a:ext cx="7853111" cy="1542282"/>
            </a:xfrm>
            <a:prstGeom prst="rect">
              <a:avLst/>
            </a:prstGeom>
            <a:noFill/>
          </p:spPr>
          <p:txBody>
            <a:bodyPr wrap="square" lIns="25400" tIns="0" rIns="25400" bIns="0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Tabs.Screen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name="courses"  options={{ title: 'Courses',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  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tabBarIcon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: ({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color,size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}) =&gt; 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Ionicons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name='book' size={size} color={color}/&gt;}}/&gt;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Tabs.Screen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name="profile"  options={{ title: 'Profile',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  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tabBarIcon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: ({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color,size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}) =&gt; 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Ionicons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name='person' size={size} color={color}/&gt;,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  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tabBarBadge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: 2 }}/&gt;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&lt;/Tabs&gt;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);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}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B54C3B6-D22C-CA42-D3F5-58BD9CE296BD}"/>
              </a:ext>
            </a:extLst>
          </p:cNvPr>
          <p:cNvSpPr txBox="1"/>
          <p:nvPr/>
        </p:nvSpPr>
        <p:spPr>
          <a:xfrm>
            <a:off x="7936269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12 / 18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E6FAA93-6A67-FBFE-7C9D-4DACA48F48C8}"/>
              </a:ext>
            </a:extLst>
          </p:cNvPr>
          <p:cNvSpPr/>
          <p:nvPr/>
        </p:nvSpPr>
        <p:spPr>
          <a:xfrm flipV="1">
            <a:off x="365760" y="486325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4996069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61558"/>
            <a:ext cx="498206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Inside a Tab — Plain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05320"/>
            <a:ext cx="686200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A tab file is just a regular React component — nothing special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2012"/>
            <a:ext cx="4480560" cy="3788475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070574"/>
            <a:ext cx="207781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dirty="0">
                <a:solidFill>
                  <a:srgbClr val="F59E0B"/>
                </a:solidFill>
                <a:latin typeface="Calibri"/>
              </a:rPr>
              <a:t>No special imports, no boilerplate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62909"/>
            <a:ext cx="4187952" cy="3386248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dirty="0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// app/(tabs)/</a:t>
            </a:r>
            <a:r>
              <a:rPr sz="10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index.tsx</a:t>
            </a:r>
            <a:r>
              <a:rPr sz="1000" dirty="0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 — the Home tab</a:t>
            </a:r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endParaRPr sz="1000" dirty="0">
              <a:solidFill>
                <a:schemeClr val="bg2">
                  <a:lumMod val="20000"/>
                  <a:lumOff val="80000"/>
                </a:schemeClr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DBEAFE"/>
                </a:solidFill>
                <a:latin typeface="Consolas"/>
              </a:rPr>
              <a:t>import { View, Text, </a:t>
            </a:r>
            <a:r>
              <a:rPr sz="950" dirty="0" err="1">
                <a:solidFill>
                  <a:srgbClr val="DBEAFE"/>
                </a:solidFill>
                <a:latin typeface="Consolas"/>
              </a:rPr>
              <a:t>StyleSheet</a:t>
            </a:r>
            <a:r>
              <a:rPr sz="950" dirty="0">
                <a:solidFill>
                  <a:srgbClr val="DBEAFE"/>
                </a:solidFill>
                <a:latin typeface="Consolas"/>
              </a:rPr>
              <a:t> } from 'react-native';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950" dirty="0" err="1">
                <a:solidFill>
                  <a:srgbClr val="DBEAFE"/>
                </a:solidFill>
                <a:latin typeface="Consolas"/>
              </a:rPr>
              <a:t>SafeAreaView</a:t>
            </a:r>
            <a:r>
              <a:rPr sz="950" dirty="0">
                <a:solidFill>
                  <a:srgbClr val="DBEAFE"/>
                </a:solidFill>
                <a:latin typeface="Consolas"/>
              </a:rPr>
              <a:t> } from 'react-native-safe-area-context';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export default function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HomeScreen</a:t>
            </a:r>
            <a:r>
              <a:rPr sz="950" dirty="0">
                <a:solidFill>
                  <a:srgbClr val="F1F5F9"/>
                </a:solidFill>
                <a:latin typeface="Consolas"/>
              </a:rPr>
              <a:t>() {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return (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&lt;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SafeAreaView</a:t>
            </a:r>
            <a:r>
              <a:rPr sz="950" dirty="0">
                <a:solidFill>
                  <a:srgbClr val="F1F5F9"/>
                </a:solidFill>
                <a:latin typeface="Consolas"/>
              </a:rPr>
              <a:t> style={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s.safe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} edges={['top']}&gt;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&lt;Text style={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s.title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}&gt;Welcome to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CampusHub</a:t>
            </a:r>
            <a:r>
              <a:rPr sz="950" dirty="0">
                <a:solidFill>
                  <a:srgbClr val="F1F5F9"/>
                </a:solidFill>
                <a:latin typeface="Consolas"/>
              </a:rPr>
              <a:t>&lt;/Text&gt;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&lt;Text style={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s.body</a:t>
            </a:r>
            <a:r>
              <a:rPr sz="950" dirty="0">
                <a:solidFill>
                  <a:srgbClr val="F1F5F9"/>
                </a:solidFill>
                <a:latin typeface="Consolas"/>
              </a:rPr>
              <a:t>}&gt;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  Your courses, schedule, and grades — all in one place.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&lt;/Text&gt;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&lt;/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SafeAreaView</a:t>
            </a:r>
            <a:r>
              <a:rPr sz="950" dirty="0">
                <a:solidFill>
                  <a:srgbClr val="F1F5F9"/>
                </a:solidFill>
                <a:latin typeface="Consolas"/>
              </a:rPr>
              <a:t>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);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const s =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StyleSheet.create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({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safe:  { flex: 1,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'#F8FAFC', padding: 20 },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title: {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fontSize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24,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fontWeight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'700', color: '#003865' },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body:  {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fontSize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14, color: '#475569',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marginTop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8 },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});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097280"/>
            <a:ext cx="39319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4992624" y="1170432"/>
            <a:ext cx="250190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🧠  Each Tab Has Its Own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1517904"/>
            <a:ext cx="362102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Switching to Profile and back to Home preserves Home.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chemeClr val="bg1"/>
                </a:solidFill>
                <a:latin typeface="Calibri"/>
              </a:rPr>
              <a:t>useState</a:t>
            </a:r>
            <a:r>
              <a:rPr sz="1200" dirty="0">
                <a:solidFill>
                  <a:schemeClr val="bg1"/>
                </a:solidFill>
                <a:latin typeface="Calibri"/>
              </a:rPr>
              <a:t> values persist while the app is open.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No reset until you fully close the app.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468880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4992624" y="2542032"/>
            <a:ext cx="26908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📐  Use SafeAreaView per 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2889504"/>
            <a:ext cx="3621024" cy="458459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edges={['top']} — top notch only (bar is at bottom).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Avoids double-padding under the tab bar.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3749039"/>
            <a:ext cx="39319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992624" y="3822191"/>
            <a:ext cx="193726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🧩  Reuse Components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4169663"/>
            <a:ext cx="362102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The same </a:t>
            </a:r>
            <a:r>
              <a:rPr sz="1200" dirty="0" err="1">
                <a:solidFill>
                  <a:schemeClr val="bg1"/>
                </a:solidFill>
                <a:latin typeface="Calibri"/>
              </a:rPr>
              <a:t>MovieCard</a:t>
            </a:r>
            <a:r>
              <a:rPr sz="1200" dirty="0">
                <a:solidFill>
                  <a:schemeClr val="bg1"/>
                </a:solidFill>
                <a:latin typeface="Calibri"/>
              </a:rPr>
              <a:t> / </a:t>
            </a:r>
            <a:r>
              <a:rPr sz="1200" dirty="0" err="1">
                <a:solidFill>
                  <a:schemeClr val="bg1"/>
                </a:solidFill>
                <a:latin typeface="Calibri"/>
              </a:rPr>
              <a:t>CourseCard</a:t>
            </a:r>
            <a:r>
              <a:rPr sz="1200" dirty="0">
                <a:solidFill>
                  <a:schemeClr val="bg1"/>
                </a:solidFill>
                <a:latin typeface="Calibri"/>
              </a:rPr>
              <a:t> works inside tabs.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Components don't know they're in a tab — keep them generic.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13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21E869-6BF2-A0E5-9C6F-8C8B3ECBF10F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9238-5A65-2DC2-9DF4-43D1E19B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ED3864-6E49-0172-21AE-885244B9EAB3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EA716-3FE2-D7EA-338B-2F6DDD82D1DB}"/>
              </a:ext>
            </a:extLst>
          </p:cNvPr>
          <p:cNvSpPr txBox="1"/>
          <p:nvPr/>
        </p:nvSpPr>
        <p:spPr>
          <a:xfrm>
            <a:off x="365760" y="-70608"/>
            <a:ext cx="542975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Live Demo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54064D-A658-5B31-D46A-982D5D156985}"/>
              </a:ext>
            </a:extLst>
          </p:cNvPr>
          <p:cNvSpPr/>
          <p:nvPr/>
        </p:nvSpPr>
        <p:spPr>
          <a:xfrm>
            <a:off x="365760" y="631716"/>
            <a:ext cx="8412480" cy="4363065"/>
          </a:xfrm>
          <a:prstGeom prst="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C49299-7725-2614-5798-56156C0068EE}"/>
              </a:ext>
            </a:extLst>
          </p:cNvPr>
          <p:cNvSpPr txBox="1"/>
          <p:nvPr/>
        </p:nvSpPr>
        <p:spPr>
          <a:xfrm>
            <a:off x="548639" y="695181"/>
            <a:ext cx="796161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fontAlgn="t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Create a new Expo project using the </a:t>
            </a:r>
            <a:r>
              <a:rPr lang="en-US" b="1" dirty="0"/>
              <a:t>Tabs template</a:t>
            </a:r>
            <a:endParaRPr lang="en-US" dirty="0"/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npx</a:t>
            </a:r>
            <a:r>
              <a:rPr lang="en-US" dirty="0"/>
              <a:t> create-expo-app </a:t>
            </a:r>
            <a:r>
              <a:rPr lang="en-US" dirty="0" err="1"/>
              <a:t>CampusHubTabs</a:t>
            </a:r>
            <a:r>
              <a:rPr lang="en-US" dirty="0"/>
              <a:t> -t tabs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Explore the generated structure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Review app/(tabs)/_</a:t>
            </a:r>
            <a:r>
              <a:rPr lang="en-US" dirty="0" err="1"/>
              <a:t>layout.tsx</a:t>
            </a:r>
            <a:r>
              <a:rPr lang="en-US" dirty="0"/>
              <a:t>, </a:t>
            </a:r>
            <a:r>
              <a:rPr lang="en-US" dirty="0" err="1"/>
              <a:t>index.tsx</a:t>
            </a:r>
            <a:r>
              <a:rPr lang="en-US" dirty="0"/>
              <a:t>, and </a:t>
            </a:r>
            <a:r>
              <a:rPr lang="en-US" dirty="0" err="1"/>
              <a:t>explore.tsx</a:t>
            </a:r>
            <a:endParaRPr lang="en-US" dirty="0"/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Rename </a:t>
            </a:r>
            <a:r>
              <a:rPr lang="en-US" dirty="0" err="1"/>
              <a:t>explore.tsx</a:t>
            </a:r>
            <a:r>
              <a:rPr lang="en-US" dirty="0"/>
              <a:t> to </a:t>
            </a:r>
            <a:r>
              <a:rPr lang="en-US" dirty="0" err="1"/>
              <a:t>courses.tsx</a:t>
            </a:r>
            <a:endParaRPr lang="en-US" dirty="0"/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Update the screen content for Courses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Create </a:t>
            </a:r>
            <a:r>
              <a:rPr lang="en-US" dirty="0" err="1"/>
              <a:t>profile.tsx</a:t>
            </a:r>
            <a:r>
              <a:rPr lang="en-US" dirty="0"/>
              <a:t> and </a:t>
            </a:r>
            <a:r>
              <a:rPr lang="en-US" dirty="0" err="1"/>
              <a:t>settings.tsx</a:t>
            </a:r>
            <a:endParaRPr lang="en-US" dirty="0"/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Add simple screen content for both tabs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Import </a:t>
            </a:r>
            <a:r>
              <a:rPr lang="en-US" dirty="0" err="1"/>
              <a:t>Ionicons</a:t>
            </a:r>
            <a:r>
              <a:rPr lang="en-US" dirty="0"/>
              <a:t> and configure tab icons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Add icons for Home, Courses, Profile, and Settings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Style the tab bar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Navy background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Amber active tint</a:t>
            </a:r>
          </a:p>
          <a:p>
            <a:pPr marL="342900" lvl="0" indent="-342900" fontAlgn="t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Add a badge 2 to the Profile tab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Demonstrate </a:t>
            </a:r>
            <a:r>
              <a:rPr lang="en-US" dirty="0" err="1"/>
              <a:t>tabBarBadge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4B2938-29FC-5384-196A-B08F3C0BD3E2}"/>
              </a:ext>
            </a:extLst>
          </p:cNvPr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14 / 18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A0A48DB-4196-9129-A957-14A250EB392D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500228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91179-5BF0-97EE-D652-1FDBC894A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BFB8F7-B8AE-FFD2-85F0-380C20773A2E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C7B027-6AC8-B30C-7C8E-3967953739D1}"/>
              </a:ext>
            </a:extLst>
          </p:cNvPr>
          <p:cNvSpPr txBox="1"/>
          <p:nvPr/>
        </p:nvSpPr>
        <p:spPr>
          <a:xfrm>
            <a:off x="365760" y="-70608"/>
            <a:ext cx="542975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Live Demo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8E2868-CBFA-9CEA-C67D-960D2F08D754}"/>
              </a:ext>
            </a:extLst>
          </p:cNvPr>
          <p:cNvSpPr/>
          <p:nvPr/>
        </p:nvSpPr>
        <p:spPr>
          <a:xfrm>
            <a:off x="365760" y="1201989"/>
            <a:ext cx="8412480" cy="2350899"/>
          </a:xfrm>
          <a:prstGeom prst="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0A23D8-56A0-0D72-5000-22009660CE2E}"/>
              </a:ext>
            </a:extLst>
          </p:cNvPr>
          <p:cNvSpPr txBox="1"/>
          <p:nvPr/>
        </p:nvSpPr>
        <p:spPr>
          <a:xfrm>
            <a:off x="548639" y="1422772"/>
            <a:ext cx="7961617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fontAlgn="t">
              <a:lnSpc>
                <a:spcPct val="100000"/>
              </a:lnSpc>
              <a:buFont typeface="+mj-lt"/>
              <a:buAutoNum type="arabicPeriod" startAt="8"/>
            </a:pPr>
            <a:r>
              <a:rPr lang="en-US" dirty="0"/>
              <a:t>Show focused vs. unfocused icons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'home' vs 'home-outline'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Explain the focused parameter</a:t>
            </a:r>
          </a:p>
          <a:p>
            <a:pPr marL="342900" indent="-342900" fontAlgn="t">
              <a:buFont typeface="+mj-lt"/>
              <a:buAutoNum type="arabicPeriod" startAt="8"/>
            </a:pPr>
            <a:r>
              <a:rPr lang="en-US" dirty="0"/>
              <a:t>Run and test the application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Verify all four tabs, icons, badge, and theme</a:t>
            </a:r>
          </a:p>
          <a:p>
            <a:pPr marL="342900" indent="-342900" fontAlgn="t">
              <a:buFont typeface="+mj-lt"/>
              <a:buAutoNum type="arabicPeriod" startAt="8"/>
            </a:pPr>
            <a:r>
              <a:rPr lang="en-US" dirty="0"/>
              <a:t>Review how Expo Router creates routes from files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Connect file names to generated tabs</a:t>
            </a:r>
          </a:p>
          <a:p>
            <a:pPr algn="l">
              <a:spcAft>
                <a:spcPts val="1200"/>
              </a:spcAft>
            </a:pPr>
            <a:endParaRPr lang="en-US" sz="160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8D50F7-A603-D900-0054-E26022ABA255}"/>
              </a:ext>
            </a:extLst>
          </p:cNvPr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14 / 18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704BC4-3D07-B4A1-5EA1-4B243F1D4AE3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775498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8975"/>
            <a:ext cx="681071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dirty="0">
                <a:solidFill>
                  <a:srgbClr val="003865"/>
                </a:solidFill>
                <a:latin typeface="Calibri"/>
              </a:rPr>
              <a:t>Activity — Build a 4-Tab Fitness Tracker 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5129" y="641533"/>
            <a:ext cx="88397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Calibri"/>
              </a:rPr>
              <a:t>Go to Unit resources and o</a:t>
            </a:r>
            <a:r>
              <a:rPr dirty="0">
                <a:solidFill>
                  <a:schemeClr val="bg1"/>
                </a:solidFill>
                <a:latin typeface="Calibri"/>
              </a:rPr>
              <a:t>pen </a:t>
            </a:r>
            <a:r>
              <a:rPr lang="en-US" dirty="0" err="1">
                <a:solidFill>
                  <a:schemeClr val="bg1"/>
                </a:solidFill>
                <a:latin typeface="Calibri"/>
              </a:rPr>
              <a:t>Tabs_Fitness_Tracker_</a:t>
            </a:r>
            <a:r>
              <a:rPr dirty="0" err="1">
                <a:solidFill>
                  <a:schemeClr val="bg1"/>
                </a:solidFill>
                <a:latin typeface="Calibri"/>
              </a:rPr>
              <a:t>Activity</a:t>
            </a:r>
            <a:r>
              <a:rPr lang="en-US" dirty="0" err="1">
                <a:solidFill>
                  <a:schemeClr val="bg1"/>
                </a:solidFill>
                <a:latin typeface="Calibri"/>
              </a:rPr>
              <a:t>_Guide</a:t>
            </a:r>
            <a:r>
              <a:rPr lang="en-US" dirty="0">
                <a:solidFill>
                  <a:schemeClr val="bg1"/>
                </a:solidFill>
                <a:latin typeface="Calibri"/>
              </a:rPr>
              <a:t> for full instr</a:t>
            </a:r>
            <a:r>
              <a:rPr dirty="0">
                <a:solidFill>
                  <a:schemeClr val="bg1"/>
                </a:solidFill>
                <a:latin typeface="Calibri"/>
              </a:rPr>
              <a:t>uctions</a:t>
            </a:r>
            <a:endParaRPr lang="en-US" dirty="0">
              <a:solidFill>
                <a:schemeClr val="bg1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Build </a:t>
            </a:r>
            <a:r>
              <a:rPr lang="en-US" sz="2000" dirty="0">
                <a:solidFill>
                  <a:schemeClr val="bg1"/>
                </a:solidFill>
              </a:rPr>
              <a:t>the</a:t>
            </a:r>
            <a:r>
              <a:rPr lang="en-US" dirty="0">
                <a:solidFill>
                  <a:schemeClr val="bg1"/>
                </a:solidFill>
              </a:rPr>
              <a:t> shell of a fitness tracking app named '</a:t>
            </a:r>
            <a:r>
              <a:rPr lang="en-US" dirty="0" err="1">
                <a:solidFill>
                  <a:schemeClr val="bg1"/>
                </a:solidFill>
              </a:rPr>
              <a:t>FitPal</a:t>
            </a:r>
            <a:r>
              <a:rPr lang="en-US" dirty="0">
                <a:solidFill>
                  <a:schemeClr val="bg1"/>
                </a:solidFill>
              </a:rPr>
              <a:t>' with 4 tabs: Today, Workouts, Stats, Profile.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Oval 7"/>
          <p:cNvSpPr/>
          <p:nvPr/>
        </p:nvSpPr>
        <p:spPr>
          <a:xfrm>
            <a:off x="457200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738267"/>
            <a:ext cx="134857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Scaffold (5 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41187"/>
            <a:ext cx="1828800" cy="1884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Create app/(tabs)/_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layout.tsx</a:t>
            </a:r>
            <a:endParaRPr sz="1400" dirty="0">
              <a:solidFill>
                <a:srgbClr val="334155"/>
              </a:solidFill>
              <a:latin typeface="Calibri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&lt;Tabs&gt; with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screenOptions</a:t>
            </a:r>
            <a:endParaRPr sz="1400" dirty="0">
              <a:solidFill>
                <a:srgbClr val="334155"/>
              </a:solidFill>
              <a:latin typeface="Calibri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Set the navy + amber palette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Oval 11"/>
          <p:cNvSpPr/>
          <p:nvPr/>
        </p:nvSpPr>
        <p:spPr>
          <a:xfrm>
            <a:off x="2560320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1738267"/>
            <a:ext cx="155298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Four Tabs (10 min)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241187"/>
            <a:ext cx="1828800" cy="1884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Create  index, workouts, stats, profile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Add &lt;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400" dirty="0">
                <a:solidFill>
                  <a:srgbClr val="334155"/>
                </a:solidFill>
                <a:latin typeface="Calibri"/>
              </a:rPr>
              <a:t>&gt; for each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Use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for each tab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Oval 15"/>
          <p:cNvSpPr/>
          <p:nvPr/>
        </p:nvSpPr>
        <p:spPr>
          <a:xfrm>
            <a:off x="4663440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1738267"/>
            <a:ext cx="129426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Polish (10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241187"/>
            <a:ext cx="1828800" cy="214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Dark tab bar background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focused icon = filled, unfocused = outline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Badge on Today: number of workouts logged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Oval 19"/>
          <p:cNvSpPr/>
          <p:nvPr/>
        </p:nvSpPr>
        <p:spPr>
          <a:xfrm>
            <a:off x="6766559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1738267"/>
            <a:ext cx="128516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Stretch (5 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241187"/>
            <a:ext cx="1828800" cy="16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Add a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settings.tsx</a:t>
            </a:r>
            <a:r>
              <a:rPr sz="1400" dirty="0">
                <a:solidFill>
                  <a:srgbClr val="334155"/>
                </a:solidFill>
                <a:latin typeface="Calibri"/>
              </a:rPr>
              <a:t>, then hide it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with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href</a:t>
            </a:r>
            <a:r>
              <a:rPr sz="1400" dirty="0">
                <a:solidFill>
                  <a:srgbClr val="334155"/>
                </a:solidFill>
                <a:latin typeface="Calibri"/>
              </a:rPr>
              <a:t>: null  on its &lt;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400" dirty="0">
                <a:solidFill>
                  <a:srgbClr val="334155"/>
                </a:solidFill>
                <a:latin typeface="Calibri"/>
              </a:rPr>
              <a:t>&gt;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Reachable only by URL /settings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26280"/>
            <a:ext cx="8412480" cy="4251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rtlCol="0" anchor="ctr"/>
          <a:lstStyle/>
          <a:p>
            <a:pPr algn="ctr"/>
            <a:r>
              <a:rPr sz="1400" b="1">
                <a:solidFill>
                  <a:schemeClr val="bg1"/>
                </a:solidFill>
                <a:latin typeface="Calibri"/>
              </a:rPr>
              <a:t>Deliverable:  All 4 tabs render with unique icons · navy + amber theme · badge on Today · runs on Expo Go without errors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15 / 18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ABE999-BEE8-B50F-5DE9-24CA5E5249F2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768"/>
            <a:ext cx="544020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dirty="0">
                <a:solidFill>
                  <a:srgbClr val="003865"/>
                </a:solidFill>
                <a:latin typeface="Calibri"/>
              </a:rPr>
              <a:t>Common Mistakes to Avoid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51001"/>
            <a:ext cx="699531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chemeClr val="bg1"/>
                </a:solidFill>
                <a:latin typeface="Calibri"/>
              </a:rPr>
              <a:t>If something looks wrong, it's almost always one of these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52470"/>
            <a:ext cx="242047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Forgetting the parentheses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08047"/>
            <a:ext cx="39319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(tabs) — without them, expo-router treats /tabs as a URL segment.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254089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app/tabs/_layout.tsx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1254089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app/(tabs)/_layout.tsx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47088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820383"/>
            <a:ext cx="308719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Importing Tabs from wrong 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03120"/>
            <a:ext cx="355924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It lives in expo-router, NOT @react-navigation.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003897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import { Tabs } from '@react-navigation/...'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2003897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import { Tabs } from 'expo-router';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96896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552085"/>
            <a:ext cx="264957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Missing </a:t>
            </a:r>
            <a:r>
              <a:rPr sz="1400" b="1" dirty="0" err="1">
                <a:solidFill>
                  <a:srgbClr val="003865"/>
                </a:solidFill>
                <a:latin typeface="Calibri"/>
              </a:rPr>
              <a:t>index.tsx</a:t>
            </a:r>
            <a:r>
              <a:rPr sz="1400" b="1" dirty="0">
                <a:solidFill>
                  <a:srgbClr val="003865"/>
                </a:solidFill>
                <a:latin typeface="Calibri"/>
              </a:rPr>
              <a:t> inside (tabs)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834822"/>
            <a:ext cx="4069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Without it, the default tab is undefined → blank screen on launch.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2753704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(tabs) has only courses.tsx + profile.tsx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753704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Add (tabs)/index.tsx — your first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46703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319999"/>
            <a:ext cx="204088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Hardcoding icon color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1" y="3575576"/>
            <a:ext cx="4069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Use the color prop passed to </a:t>
            </a:r>
            <a:r>
              <a:rPr sz="1400" dirty="0" err="1">
                <a:solidFill>
                  <a:schemeClr val="bg1"/>
                </a:solidFill>
                <a:latin typeface="Calibri"/>
              </a:rPr>
              <a:t>tabBarIcon</a:t>
            </a:r>
            <a:r>
              <a:rPr sz="1400" dirty="0">
                <a:solidFill>
                  <a:schemeClr val="bg1"/>
                </a:solidFill>
                <a:latin typeface="Calibri"/>
              </a:rPr>
              <a:t> — themes break without 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3503512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color='#000'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503512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color={color}  // from tabBarIcon props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96511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4051701"/>
            <a:ext cx="340150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Wrapping every tab in </a:t>
            </a:r>
            <a:r>
              <a:rPr sz="1400" b="1" dirty="0" err="1">
                <a:solidFill>
                  <a:srgbClr val="003865"/>
                </a:solidFill>
                <a:latin typeface="Calibri"/>
              </a:rPr>
              <a:t>SafeAreaProvider</a:t>
            </a:r>
            <a:endParaRPr sz="1400" b="1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4352544"/>
            <a:ext cx="407848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 err="1">
                <a:solidFill>
                  <a:schemeClr val="bg1"/>
                </a:solidFill>
                <a:latin typeface="Calibri"/>
              </a:rPr>
              <a:t>SafeAreaProvider</a:t>
            </a:r>
            <a:r>
              <a:rPr sz="1400" dirty="0">
                <a:solidFill>
                  <a:schemeClr val="bg1"/>
                </a:solidFill>
                <a:latin typeface="Calibri"/>
              </a:rPr>
              <a:t> goes once at the ROOT, not per tab.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253321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Provider in every tab 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4253321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Provider in app/_layout.tsx 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16 / 18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321EFC5-6E34-6764-AB0F-4A7F23476062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8714"/>
            <a:ext cx="661726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dirty="0">
                <a:solidFill>
                  <a:srgbClr val="003865"/>
                </a:solidFill>
                <a:latin typeface="Calibri"/>
              </a:rPr>
              <a:t>Tab Navigation </a:t>
            </a:r>
            <a:r>
              <a:rPr lang="en-US" sz="3600" b="1" dirty="0">
                <a:solidFill>
                  <a:srgbClr val="003865"/>
                </a:solidFill>
                <a:latin typeface="Calibri"/>
              </a:rPr>
              <a:t>Essentials: Review</a:t>
            </a:r>
            <a:endParaRPr sz="3600" b="1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88773"/>
            <a:ext cx="152746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3865"/>
                </a:solidFill>
                <a:latin typeface="Calibri"/>
              </a:rPr>
              <a:t>(tabs)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353676"/>
            <a:ext cx="60909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chemeClr val="bg1"/>
                </a:solidFill>
                <a:latin typeface="Calibri"/>
              </a:rPr>
              <a:t>The parentheses make it a 'group' — name is hidden from URL.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00784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700784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692277"/>
            <a:ext cx="198067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Two _layout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957179"/>
            <a:ext cx="639444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chemeClr val="bg1"/>
                </a:solidFill>
                <a:latin typeface="Calibri"/>
              </a:rPr>
              <a:t>Root Stack in app/_</a:t>
            </a:r>
            <a:r>
              <a:rPr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dirty="0">
                <a:solidFill>
                  <a:schemeClr val="bg1"/>
                </a:solidFill>
                <a:latin typeface="Calibri"/>
              </a:rPr>
              <a:t> · Tabs shell in app/(tabs)/_</a:t>
            </a:r>
            <a:r>
              <a:rPr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04288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304288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295781"/>
            <a:ext cx="169835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&lt;Tabs.Screen&gt;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0684"/>
            <a:ext cx="599747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chemeClr val="bg1"/>
                </a:solidFill>
                <a:latin typeface="Calibri"/>
              </a:rPr>
              <a:t>One per tab file. name = filename. options = title, icon, badge.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07792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2907792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899285"/>
            <a:ext cx="169629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Theme it once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164188"/>
            <a:ext cx="653319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bg1"/>
                </a:solidFill>
                <a:latin typeface="Calibri"/>
              </a:rPr>
              <a:t>screenOptions on &lt;Tabs&gt; — tabBarActiveTintColor, tabBarStyle, etc.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11296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511296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02789"/>
            <a:ext cx="107625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Ionicons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67692"/>
            <a:ext cx="651319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bg1"/>
                </a:solidFill>
                <a:latin typeface="Calibri"/>
              </a:rPr>
              <a:t>({color, size, focused}) → return &lt;Ionicons name=… color={color} /&gt;.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14800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4114800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106292"/>
            <a:ext cx="12690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Hide a tab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371196"/>
            <a:ext cx="67480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bg1"/>
                </a:solidFill>
                <a:latin typeface="Calibri"/>
              </a:rPr>
              <a:t>href: null on a &lt;Tabs.Screen&gt; keeps the route but removes the button.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17 / 18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A71D635-D29E-FBCC-54E2-2784AE84785D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79663"/>
            <a:ext cx="400667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dirty="0">
                <a:solidFill>
                  <a:srgbClr val="003865"/>
                </a:solidFill>
                <a:latin typeface="Calibri"/>
              </a:rPr>
              <a:t>Wrap-Up  ·  Up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3428"/>
            <a:ext cx="847783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Calibri"/>
              </a:rPr>
              <a:t>Next</a:t>
            </a:r>
            <a:r>
              <a:rPr sz="2200" dirty="0">
                <a:solidFill>
                  <a:schemeClr val="bg1"/>
                </a:solidFill>
                <a:latin typeface="Calibri"/>
              </a:rPr>
              <a:t>: Stack Navigation — push, pop, headers, params, dynamic routes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4160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2064" y="1179940"/>
            <a:ext cx="26418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✅  What We Covered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1" y="1527412"/>
            <a:ext cx="3931919" cy="3004733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1.  Mental model — tabs vs stack vs drawer.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2.  The (tabs) folder convention and the two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_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layout.tsx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files that work together.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3.  &lt;Tabs&gt; with shared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screenOptions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and per-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screen overrides via options.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+ the focused / unfocused pattern.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5.  Styling: bar color, label font, badges,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hidden bars, hidden tabs (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href:null</a:t>
            </a:r>
            <a:r>
              <a:rPr sz="140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6.  Live demo —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CampusHub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4-tab shell.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7.  Class activity —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FitPal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fitness tracker.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8.  Common pitfalls to look out for in your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own projects.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143000"/>
            <a:ext cx="4160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09744" y="1179940"/>
            <a:ext cx="261360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▶  Day 2 — Stack 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1" y="1536465"/>
            <a:ext cx="3849624" cy="2756973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From a list to a detail, with a back button:</a:t>
            </a:r>
          </a:p>
          <a:p>
            <a:pPr>
              <a:lnSpc>
                <a:spcPct val="115000"/>
              </a:lnSpc>
            </a:pPr>
            <a:endParaRPr sz="14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&lt;Stack&gt; in expo-router (push / pop / replace)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router.push</a:t>
            </a:r>
            <a:r>
              <a:rPr sz="1400" dirty="0">
                <a:solidFill>
                  <a:srgbClr val="334155"/>
                </a:solidFill>
                <a:latin typeface="Calibri"/>
              </a:rPr>
              <a:t>('/course/cprg303')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Dynamic routes — app/course/[id].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tsx</a:t>
            </a:r>
            <a:endParaRPr sz="14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useLocalSearchParams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() to read the param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Customising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the header (title, right button)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Nesting a Stack inside one of today's tabs</a:t>
            </a:r>
          </a:p>
          <a:p>
            <a:pPr>
              <a:lnSpc>
                <a:spcPct val="115000"/>
              </a:lnSpc>
            </a:pPr>
            <a:endParaRPr sz="14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Bring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CampusHub_starter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from today — we'll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extend it tomorrow.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8412480" cy="292608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Before Day 2:  finish the </a:t>
            </a:r>
            <a:r>
              <a:rPr sz="1400" b="1" dirty="0" err="1">
                <a:solidFill>
                  <a:srgbClr val="FFFFFF"/>
                </a:solidFill>
                <a:latin typeface="Calibri"/>
              </a:rPr>
              <a:t>FitPal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 activity  ·  skim the expo-router docs page on 'Tabs'  ·  bring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18 / 18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D55010-4338-0054-46C9-96E03A8333AD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3430</Words>
  <Application>Microsoft Office PowerPoint</Application>
  <PresentationFormat>On-screen Show (16:9)</PresentationFormat>
  <Paragraphs>576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2026-09-21T15:22:30Z</dcterms:created>
  <dcterms:modified xsi:type="dcterms:W3CDTF">2026-09-21T15:26:43Z</dcterms:modified>
  <cp:category/>
</cp:coreProperties>
</file>