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" y="20116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WEEK 12 OF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Week 12: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05740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60A5FA"/>
                </a:solidFill>
                <a:latin typeface="Calibri"/>
              </a:rPr>
              <a:t>Supabase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383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  <a:latin typeface="Calibri"/>
              </a:rPr>
              <a:t>Real Login, Protected Routes, Session Persistence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206240"/>
            <a:ext cx="457200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Campus Hub  ·  Mobile Development  ·  React Native + Expo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51663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" y="54406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51663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19656" y="54406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Forms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51663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82696" y="54406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73168" y="51663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45736" y="54406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51663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08776" y="54406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8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Camera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99248" y="51663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71816" y="54406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Calibri"/>
              </a:rPr>
              <a:t>W12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BEAFE"/>
                </a:solidFill>
                <a:latin typeface="Calibri"/>
              </a:rPr>
              <a:t>Auth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62288" y="51663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34856" y="54406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3688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DB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25328" y="51663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97896" y="54406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96728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Deploy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4 hours · 2 sessions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5394960" cy="5212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39496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Day 1  —  2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500" dirty="0">
                <a:solidFill>
                  <a:srgbClr val="111827"/>
                </a:solidFill>
                <a:latin typeface="Calibri"/>
              </a:rPr>
              <a:t>What is </a:t>
            </a:r>
            <a:r>
              <a:rPr sz="1500" dirty="0" err="1">
                <a:solidFill>
                  <a:srgbClr val="111827"/>
                </a:solidFill>
                <a:latin typeface="Calibri"/>
              </a:rPr>
              <a:t>Supabase</a:t>
            </a:r>
            <a:r>
              <a:rPr sz="1500" dirty="0">
                <a:solidFill>
                  <a:srgbClr val="111827"/>
                </a:solidFill>
                <a:latin typeface="Calibri"/>
              </a:rPr>
              <a:t>? — project setup + API keys</a:t>
            </a:r>
          </a:p>
          <a:p>
            <a:pPr algn="l"/>
            <a:r>
              <a:rPr sz="15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500" dirty="0">
                <a:solidFill>
                  <a:srgbClr val="111827"/>
                </a:solidFill>
                <a:latin typeface="Calibri"/>
              </a:rPr>
              <a:t>Environment variables — .env file, EXPO_PUBLIC_ prefix</a:t>
            </a:r>
          </a:p>
          <a:p>
            <a:pPr algn="l"/>
            <a:r>
              <a:rPr sz="15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500" dirty="0">
                <a:solidFill>
                  <a:srgbClr val="111827"/>
                </a:solidFill>
                <a:latin typeface="Calibri"/>
              </a:rPr>
              <a:t>Create lib/</a:t>
            </a:r>
            <a:r>
              <a:rPr sz="1500" dirty="0" err="1">
                <a:solidFill>
                  <a:srgbClr val="111827"/>
                </a:solidFill>
                <a:latin typeface="Calibri"/>
              </a:rPr>
              <a:t>supabase.ts</a:t>
            </a:r>
            <a:r>
              <a:rPr sz="1500" dirty="0">
                <a:solidFill>
                  <a:srgbClr val="111827"/>
                </a:solidFill>
                <a:latin typeface="Calibri"/>
              </a:rPr>
              <a:t> — the client connection</a:t>
            </a:r>
          </a:p>
          <a:p>
            <a:pPr algn="l"/>
            <a:r>
              <a:rPr sz="15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500" dirty="0">
                <a:solidFill>
                  <a:srgbClr val="111827"/>
                </a:solidFill>
                <a:latin typeface="Calibri"/>
              </a:rPr>
              <a:t>Build </a:t>
            </a:r>
            <a:r>
              <a:rPr sz="1500" dirty="0" err="1">
                <a:solidFill>
                  <a:srgbClr val="111827"/>
                </a:solidFill>
                <a:latin typeface="Calibri"/>
              </a:rPr>
              <a:t>AuthContext</a:t>
            </a:r>
            <a:r>
              <a:rPr sz="1500" dirty="0">
                <a:solidFill>
                  <a:srgbClr val="111827"/>
                </a:solidFill>
                <a:latin typeface="Calibri"/>
              </a:rPr>
              <a:t> — React Context API explained</a:t>
            </a:r>
          </a:p>
          <a:p>
            <a:pPr algn="l"/>
            <a:r>
              <a:rPr sz="15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500" dirty="0">
                <a:solidFill>
                  <a:srgbClr val="111827"/>
                </a:solidFill>
                <a:latin typeface="Calibri"/>
              </a:rPr>
              <a:t>Build app/_</a:t>
            </a:r>
            <a:r>
              <a:rPr sz="1500" dirty="0" err="1">
                <a:solidFill>
                  <a:srgbClr val="111827"/>
                </a:solidFill>
                <a:latin typeface="Calibri"/>
              </a:rPr>
              <a:t>layout.tsx</a:t>
            </a:r>
            <a:r>
              <a:rPr sz="1500" dirty="0">
                <a:solidFill>
                  <a:srgbClr val="111827"/>
                </a:solidFill>
                <a:latin typeface="Calibri"/>
              </a:rPr>
              <a:t> — </a:t>
            </a:r>
            <a:r>
              <a:rPr sz="1500" dirty="0" err="1">
                <a:solidFill>
                  <a:srgbClr val="111827"/>
                </a:solidFill>
                <a:latin typeface="Calibri"/>
              </a:rPr>
              <a:t>AuthProvider</a:t>
            </a:r>
            <a:r>
              <a:rPr sz="1500" dirty="0">
                <a:solidFill>
                  <a:srgbClr val="111827"/>
                </a:solidFill>
                <a:latin typeface="Calibri"/>
              </a:rPr>
              <a:t> + </a:t>
            </a:r>
            <a:r>
              <a:rPr sz="1500" dirty="0" err="1">
                <a:solidFill>
                  <a:srgbClr val="111827"/>
                </a:solidFill>
                <a:latin typeface="Calibri"/>
              </a:rPr>
              <a:t>AuthGuard</a:t>
            </a:r>
            <a:endParaRPr sz="150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5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500" dirty="0">
                <a:solidFill>
                  <a:srgbClr val="111827"/>
                </a:solidFill>
                <a:latin typeface="Calibri"/>
              </a:rPr>
              <a:t>Build app/</a:t>
            </a:r>
            <a:r>
              <a:rPr sz="1500" dirty="0" err="1">
                <a:solidFill>
                  <a:srgbClr val="111827"/>
                </a:solidFill>
                <a:latin typeface="Calibri"/>
              </a:rPr>
              <a:t>login.tsx</a:t>
            </a:r>
            <a:r>
              <a:rPr sz="1500" dirty="0">
                <a:solidFill>
                  <a:srgbClr val="111827"/>
                </a:solidFill>
                <a:latin typeface="Calibri"/>
              </a:rPr>
              <a:t> — RHF + Zod sign-in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4747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9672" y="1097280"/>
            <a:ext cx="5394960" cy="5212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19672" y="1097280"/>
            <a:ext cx="539496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2552" y="11155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Day 2  —  2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2862072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500" dirty="0">
                <a:solidFill>
                  <a:srgbClr val="111827"/>
                </a:solidFill>
                <a:latin typeface="Calibri"/>
              </a:rPr>
              <a:t>Build app/</a:t>
            </a:r>
            <a:r>
              <a:rPr sz="1500" dirty="0" err="1">
                <a:solidFill>
                  <a:srgbClr val="111827"/>
                </a:solidFill>
                <a:latin typeface="Calibri"/>
              </a:rPr>
              <a:t>signup.tsx</a:t>
            </a:r>
            <a:r>
              <a:rPr sz="1500" dirty="0">
                <a:solidFill>
                  <a:srgbClr val="111827"/>
                </a:solidFill>
                <a:latin typeface="Calibri"/>
              </a:rPr>
              <a:t> — .refine() cross-field validation</a:t>
            </a:r>
          </a:p>
          <a:p>
            <a:pPr algn="l"/>
            <a:r>
              <a:rPr sz="15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500" dirty="0">
                <a:solidFill>
                  <a:srgbClr val="111827"/>
                </a:solidFill>
                <a:latin typeface="Calibri"/>
              </a:rPr>
              <a:t>Session persistence demo — force-close + reopen</a:t>
            </a:r>
          </a:p>
          <a:p>
            <a:pPr algn="l"/>
            <a:r>
              <a:rPr sz="15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500" dirty="0">
                <a:solidFill>
                  <a:srgbClr val="111827"/>
                </a:solidFill>
                <a:latin typeface="Calibri"/>
              </a:rPr>
              <a:t>Add Sign Out to Settings</a:t>
            </a:r>
          </a:p>
          <a:p>
            <a:pPr algn="l"/>
            <a:r>
              <a:rPr sz="15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500" dirty="0">
                <a:solidFill>
                  <a:srgbClr val="111827"/>
                </a:solidFill>
                <a:latin typeface="Calibri"/>
              </a:rPr>
              <a:t>Show signed-in user on Home screen</a:t>
            </a:r>
          </a:p>
          <a:p>
            <a:pPr algn="l"/>
            <a:r>
              <a:rPr sz="15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500" dirty="0">
                <a:solidFill>
                  <a:srgbClr val="111827"/>
                </a:solidFill>
                <a:latin typeface="Calibri"/>
              </a:rPr>
              <a:t>Full flow walkthrough + </a:t>
            </a:r>
            <a:r>
              <a:rPr sz="1500" dirty="0" err="1">
                <a:solidFill>
                  <a:srgbClr val="111827"/>
                </a:solidFill>
                <a:latin typeface="Calibri"/>
              </a:rPr>
              <a:t>AuthGuard</a:t>
            </a:r>
            <a:r>
              <a:rPr sz="1500" dirty="0">
                <a:solidFill>
                  <a:srgbClr val="111827"/>
                </a:solidFill>
                <a:latin typeface="Calibri"/>
              </a:rPr>
              <a:t> protection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Week 11 had camera + maps but no identity — Week 12 adds real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5394960" cy="525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051560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6984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BEFORE  (end of Week 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90088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App opens straight to the home tab — no login</a:t>
            </a:r>
          </a:p>
          <a:p>
            <a:pPr algn="l"/>
            <a:r>
              <a:rPr sz="14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No concept of "who is using the app"</a:t>
            </a:r>
          </a:p>
          <a:p>
            <a:pPr algn="l"/>
            <a:r>
              <a:rPr sz="14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Every user sees the same data on every device</a:t>
            </a:r>
          </a:p>
          <a:p>
            <a:pPr algn="l"/>
            <a:r>
              <a:rPr sz="14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Anyone can navigate to any screen freely</a:t>
            </a:r>
          </a:p>
          <a:p>
            <a:pPr algn="l"/>
            <a:r>
              <a:rPr sz="14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Profile saves locally but has no real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4747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563EB"/>
                </a:solidFill>
                <a:latin typeface="Calibri"/>
              </a:rPr>
              <a:t>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9672" y="1051560"/>
            <a:ext cx="5394960" cy="525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19672" y="1051560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2552" y="106984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AFTER  (end of Week 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3081528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App opens → loading spinner → login screen (if no session)</a:t>
            </a:r>
          </a:p>
          <a:p>
            <a:pPr algn="l"/>
            <a:r>
              <a:rPr sz="14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Full sign-up and sign-in flow with </a:t>
            </a:r>
            <a:r>
              <a:rPr sz="1400" dirty="0" err="1">
                <a:solidFill>
                  <a:srgbClr val="111827"/>
                </a:solidFill>
                <a:latin typeface="Calibri"/>
              </a:rPr>
              <a:t>Supabase</a:t>
            </a:r>
            <a:endParaRPr sz="140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4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Signed-in user’s email shown on the home screen</a:t>
            </a:r>
          </a:p>
          <a:p>
            <a:pPr algn="l"/>
            <a:r>
              <a:rPr sz="14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All 4 tabs protected — </a:t>
            </a:r>
            <a:r>
              <a:rPr sz="1400" dirty="0" err="1">
                <a:solidFill>
                  <a:srgbClr val="111827"/>
                </a:solidFill>
                <a:latin typeface="Calibri"/>
              </a:rPr>
              <a:t>AuthGuard</a:t>
            </a:r>
            <a:r>
              <a:rPr sz="1400" dirty="0">
                <a:solidFill>
                  <a:srgbClr val="111827"/>
                </a:solidFill>
                <a:latin typeface="Calibri"/>
              </a:rPr>
              <a:t> redirects if not logged in</a:t>
            </a:r>
          </a:p>
          <a:p>
            <a:pPr algn="l"/>
            <a:r>
              <a:rPr sz="14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Session persists across restarts — stay logged in</a:t>
            </a:r>
          </a:p>
          <a:p>
            <a:pPr algn="l"/>
            <a:r>
              <a:rPr sz="14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Sign Out in Settings — session cleared, back to login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Supabase?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An open-source Firebase alternative — Postgres + Auth + Storage + Realtime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Supabase at a Glance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91640"/>
            <a:ext cx="5212080" cy="96012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9397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Sign up, sign in, sessions, OAuth, password reset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70632"/>
            <a:ext cx="5212080" cy="96012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8437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1729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Hosted Postgres with a visual editor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49624"/>
            <a:ext cx="5212080" cy="96012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39227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251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File uploads (Week 14)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928616"/>
            <a:ext cx="5212080" cy="96012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50017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Realtime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33095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Live data subscriptions (Week 13)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914400"/>
            <a:ext cx="5605272" cy="52395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0024" y="13350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11827"/>
                </a:solidFill>
                <a:latin typeface="Calibri"/>
              </a:rPr>
              <a:t>Why </a:t>
            </a:r>
            <a:r>
              <a:rPr sz="1600" b="1" dirty="0" err="1">
                <a:solidFill>
                  <a:srgbClr val="111827"/>
                </a:solidFill>
                <a:latin typeface="Calibri"/>
              </a:rPr>
              <a:t>Supabase</a:t>
            </a:r>
            <a:r>
              <a:rPr sz="1600" b="1" dirty="0">
                <a:solidFill>
                  <a:srgbClr val="111827"/>
                </a:solidFill>
                <a:latin typeface="Calibri"/>
              </a:rPr>
              <a:t> for this course?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2402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No server code to write — focus on the mobile app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Free tier handles unlimited class demos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JavaScript SDK works identically in React Native and web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Production-grade: used by thousands of real startups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Week 12: Auth only. Week 13: the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Authentication vs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DBEAFE"/>
                </a:solidFill>
                <a:latin typeface="Calibri"/>
              </a:rPr>
              <a:t>Two different concepts — we only build Authentication this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394960" cy="47548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Authentication — "Who are you?"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Verifying identity: email + password → yes, that’s you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What we build this week: sign up, sign in, sign out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Result: a Session containing the user’s JWT and UUID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9672" y="1097280"/>
            <a:ext cx="5394960" cy="47548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02552" y="11155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Authorization — "What can you do?"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193852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D97706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Checking permissions: can this user see this data?</a:t>
            </a:r>
          </a:p>
          <a:p>
            <a:pPr algn="l"/>
            <a:r>
              <a:rPr sz="1400" b="1" dirty="0">
                <a:solidFill>
                  <a:srgbClr val="D97706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NOT built this week — comes in Week 13 with Row Level Security</a:t>
            </a:r>
          </a:p>
          <a:p>
            <a:pPr algn="l"/>
            <a:r>
              <a:rPr sz="1400" b="1" dirty="0">
                <a:solidFill>
                  <a:srgbClr val="D97706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Example: "You can read courses where </a:t>
            </a:r>
            <a:r>
              <a:rPr sz="1400" dirty="0" err="1">
                <a:solidFill>
                  <a:srgbClr val="111827"/>
                </a:solidFill>
                <a:latin typeface="Calibri"/>
              </a:rPr>
              <a:t>user_id</a:t>
            </a:r>
            <a:r>
              <a:rPr sz="1400" dirty="0">
                <a:solidFill>
                  <a:srgbClr val="111827"/>
                </a:solidFill>
                <a:latin typeface="Calibri"/>
              </a:rPr>
              <a:t> = your UUID"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650992"/>
            <a:ext cx="11612880" cy="86868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74243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563EB"/>
                </a:solidFill>
                <a:latin typeface="Calibri"/>
              </a:rPr>
              <a:t>Week 12 = Authentication only. The database stays open. Week 13 closes it with RLS.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API keys must never be hardcoded — .env + EXPO_PUBLIC_ prefix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Why Environment Variables?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69164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API keys must NEVER be hardcoded in source code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Git history is permanent — deleting a key later doesn’t help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.env file lives on your machine only — gitignored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.env.example is committed — shows structure, no real values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EXPO_PUBLIC_ prefix embeds the var in the JS bundle at build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097280"/>
            <a:ext cx="5943600" cy="420624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08192" y="1234440"/>
            <a:ext cx="5614416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# .env  (gitignored)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EXPO_PUBLIC_SUPABASE_URL=https://abc.supabase.co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EXPO_PUBLIC_SUPABASE_ANON_KEY=eyJhbGci...</a:t>
            </a:r>
          </a:p>
          <a:p>
            <a:pPr algn="l"/>
            <a:endParaRPr sz="11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# .env.example  (committed to git)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EXPO_PUBLIC_SUPABASE_URL=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EXPO_PUBLIC_SUPABASE_ANON_KEY=</a:t>
            </a:r>
          </a:p>
          <a:p>
            <a:pPr algn="l"/>
            <a:endParaRPr sz="11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# lib/supabase.ts — reads at build time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const url =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process.env.EXPO_PUBLIC_SUPABASE_URL ?? '';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const anonKey =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process.env.EXPO_PUBLIC_SUPABASE_ANON_KEY ?? '';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468112"/>
            <a:ext cx="11612880" cy="91440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⚠  NEVER use the service_role key in the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It bypasses all security. The anon key is designed for clients — it only allows what your Row Level Security policies permit.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BEAFE"/>
                </a:solidFill>
                <a:latin typeface="Calibri"/>
              </a:rPr>
              <a:t>WEEK 12 —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Supabase Setup
+ Auth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BEAFE"/>
                </a:solidFill>
                <a:latin typeface="Calibri"/>
              </a:rPr>
              <a:t>lib/supabase.ts · context/AuthContext.tsx · app/login.tsx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lib/supabase.ts — The Connection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One file, one client instance, four options explained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6217920" cy="557784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88720"/>
            <a:ext cx="5888736" cy="5349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import { createClient } from "@supabase/supabase-js";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import AsyncStorage from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"@react-native-async-storage/async-storage";</a:t>
            </a:r>
          </a:p>
          <a:p>
            <a:pPr algn="l"/>
            <a:endParaRPr sz="11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const supabaseUrl =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process.env.EXPO_PUBLIC_SUPABASE_URL ?? "";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const supabaseAnonKey =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process.env.EXPO_PUBLIC_SUPABASE_ANON_KEY ?? "";</a:t>
            </a:r>
          </a:p>
          <a:p>
            <a:pPr algn="l"/>
            <a:endParaRPr sz="11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export const supabase = createClient(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supabaseUrl,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supabaseAnonKey,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{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auth: {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storage: AsyncStorage,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autoRefreshToken: true,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persistSession: true,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detectSessionInUrl: false,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},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051560"/>
            <a:ext cx="5120640" cy="12344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31152" y="1143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storage: AsyncStorage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15087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Session saved to device — same storage from Week 9. Survives app restarts.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423160"/>
            <a:ext cx="5120640" cy="12344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31152" y="2514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autoRefreshToken: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28803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JWTs expire after 1 hour. Supabase silently gets a new one before expiry.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794760"/>
            <a:ext cx="5120640" cy="12344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31152" y="3886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persistSession: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42519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Calls AsyncStorage.setItem on sign-in. Loaded on next startup.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5166360"/>
            <a:ext cx="5120640" cy="12344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31152" y="5257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detectSessionInUrl: false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56235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Browser feature — reads auth tokens from the URL. Not needed in React Native.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54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Calibri"/>
              </a:rPr>
              <a:t>React Context API — Sharing State Across the Entire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6954" y="6065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DBEAFE"/>
                </a:solidFill>
                <a:latin typeface="Calibri"/>
              </a:rPr>
              <a:t>The problem: prop drilling. The solution: a broadcast.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Calibri"/>
              </a:rPr>
              <a:t>The Problem — Prop Drilling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45920"/>
            <a:ext cx="5212080" cy="292608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783080"/>
            <a:ext cx="4882896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Without Context (prop drilling):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_layout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→ (tab layout) → needs session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→ home      → needs session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    → each component → needs session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Each level must receive + pass props</a:t>
            </a:r>
          </a:p>
          <a:p>
            <a:pPr algn="l"/>
            <a:endParaRPr sz="10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Every level must declare: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const TabLayout = ({ session }) =&gt; ...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const Home = ({ session }) =&gt; ...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Every parent must pass: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&lt;Home session={session} /&gt;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6A34A"/>
                </a:solidFill>
                <a:latin typeface="Calibri"/>
              </a:rPr>
              <a:t>The Solution —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577840" cy="292608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783080"/>
            <a:ext cx="5248656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With Context: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AuthProvider  ← broadcasts session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├── home    → useAuth()  ← tune in anywhere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├── settings → useAuth() ← tune in anywhere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└── index   → useAuth()  ← tune in anywhere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No props needed. One broadcast, many receivers.</a:t>
            </a:r>
          </a:p>
          <a:p>
            <a:pPr algn="l"/>
            <a:endParaRPr sz="10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Any component, anywhere: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const { session, signOut } = useAuth();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No prop passing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919472"/>
            <a:ext cx="11612880" cy="169164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01091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»»  Context is a radio broadcast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13248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The Provider transmits on one frequency. Any component tunes in with useAuth(). No wires. You can add a new screen that needs auth data and it just calls useAuth() — zero changes to any parent.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context/AuthContext.tsx — Three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Type definition · Provider component · useAuth() hook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51560"/>
            <a:ext cx="3794760" cy="43891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069848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AuthContextType — what we share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72768"/>
            <a:ext cx="3584448" cy="4956048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709928"/>
            <a:ext cx="3255264" cy="4727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type AuthContextType = {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session: Session | null;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user: User | null;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isLoading: boolean;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signIn: (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email: string,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password: string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) =&gt; Promise&lt;void&gt;;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signUp: (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email: string,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password: string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) =&gt; Promise&lt;void&gt;;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signOut: () =&gt; Promise&lt;void&gt;;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};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3672" y="1051560"/>
            <a:ext cx="3794760" cy="43891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0832" y="1069848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AuthProvider — the broadcaster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72768"/>
            <a:ext cx="3584448" cy="4956048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1709928"/>
            <a:ext cx="3255264" cy="4727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useEffect(() =&gt; {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// 1. Load saved session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supabase.auth.getSession()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.then(({ data: { session } }) =&gt; {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setSession(session);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setIsLoading(false);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});</a:t>
            </a:r>
          </a:p>
          <a:p>
            <a:pPr algn="l"/>
            <a:endParaRPr sz="10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// 2. Listen for future changes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const { data: { subscription } } =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supabase.auth.onAuthStateChange(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(_event, session) =&gt; setSession(session)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);</a:t>
            </a:r>
          </a:p>
          <a:p>
            <a:pPr algn="l"/>
            <a:endParaRPr sz="10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return () =&gt; subscription.unsubscribe();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}, []);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1" y="1051560"/>
            <a:ext cx="3794760" cy="43891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069848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useAuth() — the tuner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39" y="1572768"/>
            <a:ext cx="3584448" cy="4956048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85631" y="1709928"/>
            <a:ext cx="3255264" cy="4727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export const useAuth = () =&gt; {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const context =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useContext(AuthContext);</a:t>
            </a:r>
          </a:p>
          <a:p>
            <a:pPr algn="l"/>
            <a:endParaRPr sz="10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if (!context) {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throw new Error(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"useAuth must be called"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+ " inside &lt;AuthProvider&gt;"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 algn="l"/>
            <a:endParaRPr sz="10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return context;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};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Auth Lifecycle — Four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onAuthStateChange handles every transition automatically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11612880" cy="201168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88720"/>
            <a:ext cx="11283696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E2E8F0"/>
                </a:solidFill>
                <a:latin typeface="Courier New"/>
              </a:rPr>
              <a:t>SIGNED_OUT  ——signIn()——►  SIGNED_IN</a:t>
            </a:r>
          </a:p>
          <a:p>
            <a:pPr algn="l"/>
            <a:r>
              <a:rPr sz="1300">
                <a:solidFill>
                  <a:srgbClr val="E2E8F0"/>
                </a:solidFill>
                <a:latin typeface="Courier New"/>
              </a:rPr>
              <a:t>SIGNED_IN   —signOut()——►  SIGNED_OUT</a:t>
            </a:r>
          </a:p>
          <a:p>
            <a:pPr algn="l"/>
            <a:r>
              <a:rPr sz="1300">
                <a:solidFill>
                  <a:srgbClr val="E2E8F0"/>
                </a:solidFill>
                <a:latin typeface="Courier New"/>
              </a:rPr>
              <a:t>SIGNED_IN   —(auto)————►  TOKEN_REFRESHED  (every ~1 hour)</a:t>
            </a:r>
          </a:p>
          <a:p>
            <a:pPr algn="l"/>
            <a:r>
              <a:rPr sz="1300">
                <a:solidFill>
                  <a:srgbClr val="E2E8F0"/>
                </a:solidFill>
                <a:latin typeface="Courier New"/>
              </a:rPr>
              <a:t>SIGNED_OUT  —(email)———►  PASSWORD_RECOVERY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onAuthStateChange listens to all four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22191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One listener handles every auth event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We never manually set session after signIn() — the listener does it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This is why we don’t call router.push() after signIn() — AuthGuard reacts instead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JWT Token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22191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Signed by Supabase’s private key — can’t be forged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Contains: user UUID, email, issued-at, expires-at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Default expiry: 1 hour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autoRefreshToken silently fetches a new one before expiry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Stored in AsyncStorage as JSON — loaded on next startup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AuthGuard — One Component Protects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DBEAFE"/>
                </a:solidFill>
                <a:latin typeface="Calibri"/>
              </a:rPr>
              <a:t>Watches session + segments — redirects automatically on 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6583680" cy="557784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88720"/>
            <a:ext cx="6254496" cy="5349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AuthGuard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 = ({ children }) =&gt; {</a:t>
            </a: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const { session, 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isLoading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 } = 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useAuth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const segments = 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useSegments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const router = 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useRouter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 algn="l"/>
            <a:endParaRPr lang="en-US" sz="11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useEffect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(() =&gt; {</a:t>
            </a: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  if (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isLoading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) return; // wait for session to load</a:t>
            </a:r>
          </a:p>
          <a:p>
            <a:pPr algn="l"/>
            <a:endParaRPr lang="en-US" sz="11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  const 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inTabGroup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 = segments[0] === "(tab)";</a:t>
            </a:r>
          </a:p>
          <a:p>
            <a:pPr algn="l"/>
            <a:endParaRPr lang="en-US" sz="11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  if (!session &amp;&amp; 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inTabGroup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) {</a:t>
            </a: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    // not signed in → login</a:t>
            </a: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    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router.replace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("/login");</a:t>
            </a: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  } else if (session &amp;&amp; !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inTabGroup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) {</a:t>
            </a: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    // signed in → app</a:t>
            </a: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    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router.replace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("/(tab)/home");</a:t>
            </a: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  }</a:t>
            </a: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}, [session, </a:t>
            </a:r>
            <a:r>
              <a:rPr lang="en-US" sz="1100" dirty="0" err="1">
                <a:solidFill>
                  <a:srgbClr val="E2E8F0"/>
                </a:solidFill>
                <a:latin typeface="Courier New"/>
              </a:rPr>
              <a:t>isLoading</a:t>
            </a:r>
            <a:r>
              <a:rPr lang="en-US" sz="1100" dirty="0">
                <a:solidFill>
                  <a:srgbClr val="E2E8F0"/>
                </a:solidFill>
                <a:latin typeface="Courier New"/>
              </a:rPr>
              <a:t>, segments]);</a:t>
            </a:r>
          </a:p>
          <a:p>
            <a:pPr algn="l"/>
            <a:endParaRPr lang="en-US" sz="11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  return &lt;&gt;{children}&lt;/&gt;;</a:t>
            </a:r>
          </a:p>
          <a:p>
            <a:pPr algn="l"/>
            <a:r>
              <a:rPr lang="en-US" sz="1100" dirty="0">
                <a:solidFill>
                  <a:srgbClr val="E2E8F0"/>
                </a:solidFill>
                <a:latin typeface="Courier New"/>
              </a:rPr>
              <a:t>};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051560"/>
            <a:ext cx="4983480" cy="12344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59168" y="1143000"/>
            <a:ext cx="4645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useSegments()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508760"/>
            <a:ext cx="4645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Returns URL path as array. On /(tab)/home: ["(tab)", "home"]. On /login: ["login"].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423160"/>
            <a:ext cx="4983480" cy="12344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59168" y="2514600"/>
            <a:ext cx="4645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useEffect deps: [session, isLoading, segments]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2880360"/>
            <a:ext cx="4645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Runs whenever session changes (sign-in/sign-out) OR route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794760"/>
            <a:ext cx="4983480" cy="12344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59168" y="3886200"/>
            <a:ext cx="4645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router.replace() not push()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4251960"/>
            <a:ext cx="4645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Removes login from the stack. Back button won’t return to login screen.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5166360"/>
            <a:ext cx="4983480" cy="12344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59168" y="5257800"/>
            <a:ext cx="4645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Why a component, not a function?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5623560"/>
            <a:ext cx="4645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Hooks (useAuth, useSegments, useRouter) can only be called inside components.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app/login.tsx — Same Pattern as the Profile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React Hook Form + Zod · two error levels · AuthGuard handles navigation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Login Form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300" dirty="0">
                <a:solidFill>
                  <a:srgbClr val="111827"/>
                </a:solidFill>
                <a:latin typeface="Calibri"/>
              </a:rPr>
              <a:t>Same React Hook Form + Zod pattern from Week 8</a:t>
            </a:r>
          </a:p>
          <a:p>
            <a:r>
              <a:rPr sz="13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300" dirty="0">
                <a:solidFill>
                  <a:srgbClr val="111827"/>
                </a:solidFill>
                <a:latin typeface="Calibri"/>
              </a:rPr>
              <a:t>Two fields: email (</a:t>
            </a:r>
            <a:r>
              <a:rPr sz="1300" dirty="0" err="1">
                <a:solidFill>
                  <a:srgbClr val="111827"/>
                </a:solidFill>
                <a:latin typeface="Calibri"/>
              </a:rPr>
              <a:t>keyboardType</a:t>
            </a:r>
            <a:r>
              <a:rPr sz="1300" dirty="0">
                <a:solidFill>
                  <a:srgbClr val="111827"/>
                </a:solidFill>
                <a:latin typeface="Calibri"/>
              </a:rPr>
              <a:t>="email-address") + password (</a:t>
            </a:r>
            <a:r>
              <a:rPr sz="1300" dirty="0" err="1">
                <a:solidFill>
                  <a:srgbClr val="111827"/>
                </a:solidFill>
                <a:latin typeface="Calibri"/>
              </a:rPr>
              <a:t>secureTextEntry</a:t>
            </a:r>
            <a:r>
              <a:rPr sz="1300" dirty="0">
                <a:solidFill>
                  <a:srgbClr val="111827"/>
                </a:solidFill>
                <a:latin typeface="Calibri"/>
              </a:rPr>
              <a:t>)</a:t>
            </a:r>
          </a:p>
          <a:p>
            <a:r>
              <a:rPr sz="13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300" dirty="0">
                <a:solidFill>
                  <a:srgbClr val="111827"/>
                </a:solidFill>
                <a:latin typeface="Calibri"/>
              </a:rPr>
              <a:t>Two error levels: Zod field errors + </a:t>
            </a:r>
            <a:r>
              <a:rPr sz="1300" dirty="0" err="1">
                <a:solidFill>
                  <a:srgbClr val="111827"/>
                </a:solidFill>
                <a:latin typeface="Calibri"/>
              </a:rPr>
              <a:t>authError</a:t>
            </a:r>
            <a:r>
              <a:rPr sz="1300" dirty="0">
                <a:solidFill>
                  <a:srgbClr val="111827"/>
                </a:solidFill>
                <a:latin typeface="Calibri"/>
              </a:rPr>
              <a:t> state for </a:t>
            </a:r>
            <a:r>
              <a:rPr sz="1300" dirty="0" err="1">
                <a:solidFill>
                  <a:srgbClr val="111827"/>
                </a:solidFill>
                <a:latin typeface="Calibri"/>
              </a:rPr>
              <a:t>Supabase</a:t>
            </a:r>
            <a:r>
              <a:rPr sz="1300" dirty="0">
                <a:solidFill>
                  <a:srgbClr val="111827"/>
                </a:solidFill>
                <a:latin typeface="Calibri"/>
              </a:rPr>
              <a:t> errors</a:t>
            </a:r>
          </a:p>
          <a:p>
            <a:r>
              <a:rPr sz="13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300" dirty="0" err="1">
                <a:solidFill>
                  <a:srgbClr val="111827"/>
                </a:solidFill>
                <a:latin typeface="Calibri"/>
              </a:rPr>
              <a:t>isSubmitting</a:t>
            </a:r>
            <a:r>
              <a:rPr sz="1300" dirty="0">
                <a:solidFill>
                  <a:srgbClr val="111827"/>
                </a:solidFill>
                <a:latin typeface="Calibri"/>
              </a:rPr>
              <a:t> state → button shows </a:t>
            </a:r>
            <a:r>
              <a:rPr sz="1300" dirty="0" err="1">
                <a:solidFill>
                  <a:srgbClr val="111827"/>
                </a:solidFill>
                <a:latin typeface="Calibri"/>
              </a:rPr>
              <a:t>ActivityIndicator</a:t>
            </a:r>
            <a:r>
              <a:rPr sz="1300" dirty="0">
                <a:solidFill>
                  <a:srgbClr val="111827"/>
                </a:solidFill>
                <a:latin typeface="Calibri"/>
              </a:rPr>
              <a:t> while request in flight</a:t>
            </a:r>
          </a:p>
          <a:p>
            <a:r>
              <a:rPr sz="13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300" dirty="0" err="1">
                <a:solidFill>
                  <a:srgbClr val="111827"/>
                </a:solidFill>
                <a:latin typeface="Calibri"/>
              </a:rPr>
              <a:t>onSubmit</a:t>
            </a:r>
            <a:r>
              <a:rPr sz="1300" dirty="0">
                <a:solidFill>
                  <a:srgbClr val="111827"/>
                </a:solidFill>
                <a:latin typeface="Calibri"/>
              </a:rPr>
              <a:t> calls </a:t>
            </a:r>
            <a:r>
              <a:rPr sz="1300" dirty="0" err="1">
                <a:solidFill>
                  <a:srgbClr val="111827"/>
                </a:solidFill>
                <a:latin typeface="Calibri"/>
              </a:rPr>
              <a:t>signIn</a:t>
            </a:r>
            <a:r>
              <a:rPr sz="1300" dirty="0">
                <a:solidFill>
                  <a:srgbClr val="111827"/>
                </a:solidFill>
                <a:latin typeface="Calibri"/>
              </a:rPr>
              <a:t>() then does nothing — </a:t>
            </a:r>
            <a:r>
              <a:rPr sz="1300" dirty="0" err="1">
                <a:solidFill>
                  <a:srgbClr val="111827"/>
                </a:solidFill>
                <a:latin typeface="Calibri"/>
              </a:rPr>
              <a:t>AuthGuard</a:t>
            </a:r>
            <a:r>
              <a:rPr sz="1300" dirty="0">
                <a:solidFill>
                  <a:srgbClr val="111827"/>
                </a:solidFill>
                <a:latin typeface="Calibri"/>
              </a:rPr>
              <a:t> handles navigation</a:t>
            </a:r>
          </a:p>
          <a:p>
            <a:r>
              <a:rPr sz="13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300" dirty="0" err="1">
                <a:solidFill>
                  <a:srgbClr val="111827"/>
                </a:solidFill>
                <a:latin typeface="Calibri"/>
              </a:rPr>
              <a:t>router.replace</a:t>
            </a:r>
            <a:r>
              <a:rPr sz="1300" dirty="0">
                <a:solidFill>
                  <a:srgbClr val="111827"/>
                </a:solidFill>
                <a:latin typeface="Calibri"/>
              </a:rPr>
              <a:t>("/signup") on "Don't have an account?"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097280"/>
            <a:ext cx="6126480" cy="553212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25312" y="1234440"/>
            <a:ext cx="5797296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const onSubmit = async (data: LoginForm) =&gt; {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try {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setAuthError(null);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setIsSubmitting(true);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await signIn(data.email, data.password);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// No router.push() here!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// signIn()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//   → onAuthStateChange fires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//   → session state updates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//   → AuthGuard redirects automatically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} catch (e) {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setAuthError(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e instanceof Error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  ? e.message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  : "Sign in failed."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);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} finally {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setIsSubmitting(false);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};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BEAFE"/>
                </a:solidFill>
                <a:latin typeface="Calibri"/>
              </a:rPr>
              <a:t>WEEK 12 — 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Sign-Up · Sessions
· Logout · User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BEAFE"/>
                </a:solidFill>
                <a:latin typeface="Calibri"/>
              </a:rPr>
              <a:t>app/signup.tsx · settings/index.tsx · home.tsx · Session Persistence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app/signup.tsx — Cross-Field Validation with .refine()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Normal Zod validates one field at a time — .refine() spans two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How .refine()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Normal Zod validators check ONE field at a time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"password must equal confirmPassword" requires TWO fields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.refine() runs AFTER all individual fields pass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Receives the full form data object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Returns true (valid) or false (invalid)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path: ["confirmPassword"] places the error under that specific field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097280"/>
            <a:ext cx="6126480" cy="384048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25312" y="1234440"/>
            <a:ext cx="5797296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const signUpSchema = z.object({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email: z.string().trim()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.email("Valid email required."),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password: z.string()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.min(6, "At least 6 characters."),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confirmPassword: z.string()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.min(1, "Confirm your password."),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})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.refine(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(data) =&gt;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data.password === data.confirmPassword,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{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message: "Passwords don't match.",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path: ["confirmPassword"],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// ↑ which field gets the error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074920"/>
            <a:ext cx="5577840" cy="155448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51480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Email confirmation OFF (dev mode)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0468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signUp() → session set immediately → AuthGuard redirects to home. User is 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074920"/>
            <a:ext cx="5577840" cy="155448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51480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Email confirmation ON (production)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50468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signUp() → no session yet → show "Check your inbox" screen. User must confirm.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Session Persistence — Stay Logged In Across Restarts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AsyncStorage + getSession() = no login prompt on reopen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11612880" cy="438912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88720"/>
            <a:ext cx="11283696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First sign-in: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signIn() called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→ Supabase validates credentials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→ Returns Session (JWT + user)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  → onAuthStateChange fires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    → AuthContext saves to state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      → Supabase saves to AsyncStorage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        ↓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    App shows home screen</a:t>
            </a:r>
          </a:p>
          <a:p>
            <a:pPr algn="l"/>
            <a:endParaRPr sz="10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App force-closed and reopened: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app/index.tsx mounts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→ isLoading = true → spinner shown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→ supabase.auth.getSession() reads AsyncStorage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  → Session found (token still valid)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    → setSession(session) + setIsLoading(false)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      → index.tsx: session exists → &lt;Redirect to home&gt;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        ↓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        Home screen — no login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596128"/>
            <a:ext cx="11612880" cy="105156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D97706"/>
                </a:solidFill>
                <a:latin typeface="Calibri"/>
              </a:rPr>
              <a:t>⚠  Token expiry and offline </a:t>
            </a:r>
            <a:r>
              <a:rPr sz="1300" b="1" dirty="0" err="1">
                <a:solidFill>
                  <a:srgbClr val="D97706"/>
                </a:solidFill>
                <a:latin typeface="Calibri"/>
              </a:rPr>
              <a:t>behaviour</a:t>
            </a:r>
            <a:endParaRPr sz="1300" b="1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11827"/>
                </a:solidFill>
                <a:latin typeface="Calibri"/>
              </a:rPr>
              <a:t>The token expires after 1 hour. </a:t>
            </a:r>
            <a:r>
              <a:rPr sz="1200" b="0" dirty="0" err="1">
                <a:solidFill>
                  <a:srgbClr val="111827"/>
                </a:solidFill>
                <a:latin typeface="Calibri"/>
              </a:rPr>
              <a:t>autoRefreshToken</a:t>
            </a:r>
            <a:r>
              <a:rPr sz="1200" b="0" dirty="0">
                <a:solidFill>
                  <a:srgbClr val="111827"/>
                </a:solidFill>
                <a:latin typeface="Calibri"/>
              </a:rPr>
              <a:t>: true silently fetches a new one while the app is in the foreground. If offline for days, the token will be invalid — user must sign in again.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Sign Out — Reactive Navigation from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Three lines changed in settings/index.tsx — zero explicit navigation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3 Changes to settings/index.tsx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91640"/>
            <a:ext cx="5029200" cy="658368"/>
          </a:xfrm>
          <a:prstGeom prst="roundRect">
            <a:avLst>
              <a:gd name="adj" fmla="val 2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4709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1.  </a:t>
            </a:r>
            <a:r>
              <a:rPr sz="1300">
                <a:solidFill>
                  <a:srgbClr val="111827"/>
                </a:solidFill>
                <a:latin typeface="Calibri"/>
              </a:rPr>
              <a:t>import { useAuth } from "../../context/AuthContext"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468880"/>
            <a:ext cx="5029200" cy="658368"/>
          </a:xfrm>
          <a:prstGeom prst="roundRect">
            <a:avLst>
              <a:gd name="adj" fmla="val 2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4709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2.  </a:t>
            </a:r>
            <a:r>
              <a:rPr sz="1300">
                <a:solidFill>
                  <a:srgbClr val="111827"/>
                </a:solidFill>
                <a:latin typeface="Calibri"/>
              </a:rPr>
              <a:t>const { signOut } = useAuth()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246120"/>
            <a:ext cx="5029200" cy="658368"/>
          </a:xfrm>
          <a:prstGeom prst="roundRect">
            <a:avLst>
              <a:gd name="adj" fmla="val 2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337560"/>
            <a:ext cx="4709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3.  </a:t>
            </a:r>
            <a:r>
              <a:rPr sz="1300">
                <a:solidFill>
                  <a:srgbClr val="111827"/>
                </a:solidFill>
                <a:latin typeface="Calibri"/>
              </a:rPr>
              <a:t>Add Sign Out AppCard at the bottom of the screen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1097280"/>
            <a:ext cx="6126480" cy="320040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25312" y="1234440"/>
            <a:ext cx="5797296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dirty="0" err="1">
                <a:solidFill>
                  <a:srgbClr val="E2E8F0"/>
                </a:solidFill>
                <a:latin typeface="Courier New"/>
              </a:rPr>
              <a:t>handleSignOut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()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→ await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signOut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()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→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supabase.auth.signOut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()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→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AsyncStorage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token cleared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  →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onAuthStateChange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fires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    → session state → null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      →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AuthGuard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useEffect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runs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        → !session &amp;&amp;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inTabGroup</a:t>
            </a:r>
            <a:endParaRPr sz="12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          →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router.replace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("/login")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" y="4389120"/>
            <a:ext cx="11731752" cy="22402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11827"/>
                </a:solidFill>
                <a:latin typeface="Calibri"/>
              </a:rPr>
              <a:t>Why no </a:t>
            </a:r>
            <a:r>
              <a:rPr sz="1500" b="1" dirty="0" err="1">
                <a:solidFill>
                  <a:srgbClr val="111827"/>
                </a:solidFill>
                <a:latin typeface="Calibri"/>
              </a:rPr>
              <a:t>router.push</a:t>
            </a:r>
            <a:r>
              <a:rPr sz="1500" b="1" dirty="0">
                <a:solidFill>
                  <a:srgbClr val="111827"/>
                </a:solidFill>
                <a:latin typeface="Calibri"/>
              </a:rPr>
              <a:t>() after </a:t>
            </a:r>
            <a:r>
              <a:rPr sz="1500" b="1" dirty="0" err="1">
                <a:solidFill>
                  <a:srgbClr val="111827"/>
                </a:solidFill>
                <a:latin typeface="Calibri"/>
              </a:rPr>
              <a:t>signOut</a:t>
            </a:r>
            <a:r>
              <a:rPr sz="1500" b="1" dirty="0">
                <a:solidFill>
                  <a:srgbClr val="111827"/>
                </a:solidFill>
                <a:latin typeface="Calibri"/>
              </a:rPr>
              <a:t>()?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10912"/>
            <a:ext cx="11247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11827"/>
                </a:solidFill>
                <a:latin typeface="Calibri"/>
              </a:rPr>
              <a:t>This chain fires automatically for EVERY component that calls </a:t>
            </a:r>
            <a:r>
              <a:rPr sz="1300" b="0" dirty="0" err="1">
                <a:solidFill>
                  <a:srgbClr val="111827"/>
                </a:solidFill>
                <a:latin typeface="Calibri"/>
              </a:rPr>
              <a:t>signOut</a:t>
            </a:r>
            <a:r>
              <a:rPr sz="1300" b="0" dirty="0">
                <a:solidFill>
                  <a:srgbClr val="111827"/>
                </a:solidFill>
                <a:latin typeface="Calibri"/>
              </a:rPr>
              <a:t>() — settings, profile, or any future screen. You never need to add navigation code after </a:t>
            </a:r>
            <a:r>
              <a:rPr sz="1300" b="0" dirty="0" err="1">
                <a:solidFill>
                  <a:srgbClr val="111827"/>
                </a:solidFill>
                <a:latin typeface="Calibri"/>
              </a:rPr>
              <a:t>signOut</a:t>
            </a:r>
            <a:r>
              <a:rPr sz="1300" b="0" dirty="0">
                <a:solidFill>
                  <a:srgbClr val="111827"/>
                </a:solidFill>
                <a:latin typeface="Calibri"/>
              </a:rPr>
              <a:t>(). </a:t>
            </a:r>
            <a:r>
              <a:rPr sz="1300" b="0" dirty="0" err="1">
                <a:solidFill>
                  <a:srgbClr val="111827"/>
                </a:solidFill>
                <a:latin typeface="Calibri"/>
              </a:rPr>
              <a:t>AuthGuard</a:t>
            </a:r>
            <a:r>
              <a:rPr sz="1300" b="0" dirty="0">
                <a:solidFill>
                  <a:srgbClr val="111827"/>
                </a:solidFill>
                <a:latin typeface="Calibri"/>
              </a:rPr>
              <a:t> is the single source of truth for where the user ends 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Showing the Signed-In User — useAuth() on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Three lines in home.tsx — user.email is all we need this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3 Changes to home.tsx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91640"/>
            <a:ext cx="5029200" cy="658368"/>
          </a:xfrm>
          <a:prstGeom prst="roundRect">
            <a:avLst>
              <a:gd name="adj" fmla="val 2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4709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1.  </a:t>
            </a:r>
            <a:r>
              <a:rPr sz="1300">
                <a:solidFill>
                  <a:srgbClr val="111827"/>
                </a:solidFill>
                <a:latin typeface="Calibri"/>
              </a:rPr>
              <a:t>import { useAuth } from "../../context/AuthContext"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468880"/>
            <a:ext cx="5029200" cy="658368"/>
          </a:xfrm>
          <a:prstGeom prst="roundRect">
            <a:avLst>
              <a:gd name="adj" fmla="val 2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4709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2.  </a:t>
            </a:r>
            <a:r>
              <a:rPr sz="1300">
                <a:solidFill>
                  <a:srgbClr val="111827"/>
                </a:solidFill>
                <a:latin typeface="Calibri"/>
              </a:rPr>
              <a:t>const { user } = useAuth()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246120"/>
            <a:ext cx="5029200" cy="658368"/>
          </a:xfrm>
          <a:prstGeom prst="roundRect">
            <a:avLst>
              <a:gd name="adj" fmla="val 2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337560"/>
            <a:ext cx="4709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3.  </a:t>
            </a:r>
            <a:r>
              <a:rPr sz="1300">
                <a:solidFill>
                  <a:srgbClr val="111827"/>
                </a:solidFill>
                <a:latin typeface="Calibri"/>
              </a:rPr>
              <a:t>{user?.email &amp;&amp; &lt;Text style={styles.userEmail}&gt;{user.email}&lt;/Text&gt;}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1097280"/>
            <a:ext cx="6126480" cy="109728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25312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user.email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1554480"/>
            <a:ext cx="5760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The email they signed up with. Shown on the home screen this week.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2331720"/>
            <a:ext cx="6126480" cy="109728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25312" y="24231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user.id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2788920"/>
            <a:ext cx="5760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Their UUID. You’ll use this in Week 13 to query their database rows.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3566160"/>
            <a:ext cx="6126480" cy="109728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25312" y="3657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user?.email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4023360"/>
            <a:ext cx="5760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Optional chaining because user is null when not signed in. AuthGuard should prevent this, but defensive code is better.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4800600"/>
            <a:ext cx="6126480" cy="109728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25312" y="4892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Week 13 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5312" y="5257800"/>
            <a:ext cx="5760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This week shows only email. Week 13 uses user.id to load personalized courses, grades, and attendance.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Full Architecture — How All the Pieces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From environment variables to protected tabs — the complete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11612880" cy="557784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88720"/>
            <a:ext cx="11283696" cy="5349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.env (gitignored)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EXPO_PUBLIC_SUPABASE_URL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EXPO_PUBLIC_SUPABASE_ANON_KEY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 ↓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lib/supabase.ts          ← createClient() — one instance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 ↓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context/AuthContext.tsx  ← session state, signIn/signUp/signOut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 ↓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app/_layout.tsx          ← AuthProvider wraps everything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└── AuthGuard          ← watches session + segments → redirects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 ↓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app/index.tsx            ← first render: spinner → redirect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 ↓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┌────────────────────┐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│ /login  /signup    │  ← Public screens (no auth needed)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└────────────────────┘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         ↓ sign in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┌─────────────────────────────────────┐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│ (tab)/home   (tab)/courses             │  ← Protected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│ (tab)/map    (tab)/settings            │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urier New"/>
              </a:rPr>
              <a:t>   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Files Added + Modified — Week 12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Five new files, six modified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NEW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5212080" cy="8686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76479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.env.example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0756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Committed template for env vars — shows structure, no real 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51760"/>
            <a:ext cx="5212080" cy="8686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72491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lib/supabase.ts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0358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Supabase client with AsyncStorage session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611880"/>
            <a:ext cx="5212080" cy="8686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context/AuthContext.tsx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9959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React Context + useAuth() hook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572000"/>
            <a:ext cx="5212080" cy="8686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46451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app/login.tsx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9560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Sign-in form (RHF + Zod)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532120"/>
            <a:ext cx="5212080" cy="8686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560527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app/signup.tsx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59161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Sign-up with .refine() cross-field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097280"/>
            <a:ext cx="566928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111556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MODIFIED Files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691640"/>
            <a:ext cx="5440680" cy="74980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175564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app/_layout.tsx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20391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AuthProvider + AuthGuard + new screens registered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532888"/>
            <a:ext cx="5440680" cy="74980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3952" y="259689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app/index.tsx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Spinner + auth-based redirect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374136"/>
            <a:ext cx="5440680" cy="74980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3438144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app/(tab)/home.tsx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372160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User email display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215384"/>
            <a:ext cx="5440680" cy="74980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952" y="427939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app/(tab)/settings/index.tsx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456285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Sign Out button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5056632"/>
            <a:ext cx="5440680" cy="74980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51206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.gitignore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540410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.env added to ignored files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5897880"/>
            <a:ext cx="5440680" cy="74980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73952" y="596188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package.json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624535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@supabase/supabase-js added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Common Mistakes — Watch for 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Four patterns that trip up most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051560"/>
            <a:ext cx="5760720" cy="38404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Calibri"/>
              </a:rPr>
              <a:t>✗  Forgetting EXPO_PUBLIC_ prefix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527048"/>
            <a:ext cx="5541264" cy="1993392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64208"/>
            <a:ext cx="5212080" cy="176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❌ undefined in app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process.env.SUPABASE_URL</a:t>
            </a:r>
          </a:p>
          <a:p>
            <a:pPr algn="l"/>
            <a:endParaRPr sz="10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✅ embedded at build time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process.env.EXPO_PUBLIC_SUPABASE_URL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051560"/>
            <a:ext cx="5760720" cy="38404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✗  Calling useAuth() outside AuthProvider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3368" y="1527048"/>
            <a:ext cx="5541264" cy="1993392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664208"/>
            <a:ext cx="5212080" cy="176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❌ RootLayout is not inside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AuthProvider yet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const RootLayout = () =&gt; {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const { session } = useAuth();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// ↑ throws!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return &lt;AuthProvider&gt;...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794760"/>
            <a:ext cx="5760720" cy="38404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8404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✗  Manually navigating after signIn()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70248"/>
            <a:ext cx="5541264" cy="1993392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407408"/>
            <a:ext cx="5212080" cy="176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❌ AuthGuard already handles this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await signIn(email, password);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router.replace("/(tab)/home");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↑ race condition</a:t>
            </a:r>
          </a:p>
          <a:p>
            <a:pPr algn="l"/>
            <a:endParaRPr sz="10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✅ let AuthGuard react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await signIn(email, password);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done.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94760"/>
            <a:ext cx="5760720" cy="38404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8404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✗  No isLoading guard in index.tsx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73368" y="4270248"/>
            <a:ext cx="5541264" cy="1993392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4407408"/>
            <a:ext cx="5212080" cy="176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❌ flashes login on cold start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const { session } = useAuth();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null before storage loads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return &lt;Redirect href={session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  ? "..." : "/login"} /&gt;;</a:t>
            </a:r>
          </a:p>
          <a:p>
            <a:pPr algn="l"/>
            <a:endParaRPr sz="100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// ✅ wait for storage to load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urier New"/>
              </a:rPr>
              <a:t>if (isLoading) return &lt;Spinner /&gt;;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What’s Secure — and What Isn’t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Production-grade identity — data security comes in Week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51560"/>
            <a:ext cx="3794760" cy="45720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06984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Secure 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45920"/>
            <a:ext cx="3584448" cy="987552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" y="1737360"/>
            <a:ext cx="3273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✓  </a:t>
            </a:r>
            <a:r>
              <a:rPr sz="1200">
                <a:solidFill>
                  <a:srgbClr val="111827"/>
                </a:solidFill>
                <a:latin typeface="Calibri"/>
              </a:rPr>
              <a:t>Passwords hashed by Supabase (bcrypt) — we never see them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43200"/>
            <a:ext cx="3584448" cy="987552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" y="2834640"/>
            <a:ext cx="3273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✓  </a:t>
            </a:r>
            <a:r>
              <a:rPr sz="1200">
                <a:solidFill>
                  <a:srgbClr val="111827"/>
                </a:solidFill>
                <a:latin typeface="Calibri"/>
              </a:rPr>
              <a:t>JWTs signed by Supabase’s private key — can’t be forged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840480"/>
            <a:ext cx="3584448" cy="987552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" y="3931920"/>
            <a:ext cx="3273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✓  </a:t>
            </a:r>
            <a:r>
              <a:rPr sz="1200">
                <a:solidFill>
                  <a:srgbClr val="111827"/>
                </a:solidFill>
                <a:latin typeface="Calibri"/>
              </a:rPr>
              <a:t>Anon key is public by design — safe in the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937760"/>
            <a:ext cx="3584448" cy="987552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5029200"/>
            <a:ext cx="3273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✓  </a:t>
            </a:r>
            <a:r>
              <a:rPr sz="1200">
                <a:solidFill>
                  <a:srgbClr val="111827"/>
                </a:solidFill>
                <a:latin typeface="Calibri"/>
              </a:rPr>
              <a:t>Auto token refresh — sessions stay valid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3672" y="1051560"/>
            <a:ext cx="3794760" cy="45720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70832" y="106984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Acceptable for Now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645920"/>
            <a:ext cx="3584448" cy="987552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9704" y="1737360"/>
            <a:ext cx="3273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~  </a:t>
            </a:r>
            <a:r>
              <a:rPr sz="1200">
                <a:solidFill>
                  <a:srgbClr val="111827"/>
                </a:solidFill>
                <a:latin typeface="Calibri"/>
              </a:rPr>
              <a:t>AsyncStorage for session tokens — unencrypted on disk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743200"/>
            <a:ext cx="3584448" cy="987552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9704" y="2834640"/>
            <a:ext cx="3273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~  </a:t>
            </a:r>
            <a:r>
              <a:rPr sz="1200">
                <a:solidFill>
                  <a:srgbClr val="111827"/>
                </a:solidFill>
                <a:latin typeface="Calibri"/>
              </a:rPr>
              <a:t>Production: use expo-secure-store (iOS Keychain / Android Keystore)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840480"/>
            <a:ext cx="3584448" cy="987552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9704" y="3931920"/>
            <a:ext cx="3273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~  </a:t>
            </a:r>
            <a:r>
              <a:rPr sz="1200">
                <a:solidFill>
                  <a:srgbClr val="111827"/>
                </a:solidFill>
                <a:latin typeface="Calibri"/>
              </a:rPr>
              <a:t>For a course demo app, AsyncStorage is sufficient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1" y="1051560"/>
            <a:ext cx="3794760" cy="45720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48471" y="106984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NOT Yet Secure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39" y="1645920"/>
            <a:ext cx="3584448" cy="987552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67343" y="1737360"/>
            <a:ext cx="3273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>
                <a:solidFill>
                  <a:srgbClr val="111827"/>
                </a:solidFill>
                <a:latin typeface="Calibri"/>
              </a:rPr>
              <a:t>AuthGuard is client-side only — can be bypassed by a skilled attacker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39" y="2743200"/>
            <a:ext cx="3584448" cy="987552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3" y="2834640"/>
            <a:ext cx="3273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>
                <a:solidFill>
                  <a:srgbClr val="111827"/>
                </a:solidFill>
                <a:latin typeface="Calibri"/>
              </a:rPr>
              <a:t>Mock API returns same data to all users — no user filtering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39" y="3840480"/>
            <a:ext cx="3584448" cy="987552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67343" y="3931920"/>
            <a:ext cx="3273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>
                <a:solidFill>
                  <a:srgbClr val="111827"/>
                </a:solidFill>
                <a:latin typeface="Calibri"/>
              </a:rPr>
              <a:t>Fix in Week 13: Row Level Security — database enforces user_id = auth.uid()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6327648"/>
            <a:ext cx="11612880" cy="438912"/>
          </a:xfrm>
          <a:prstGeom prst="roundRect">
            <a:avLst>
              <a:gd name="adj" fmla="val 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36422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auth is production-grade for identity. Data protection comes in Week 13.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Student Challenge — Try It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Two required parts, two bonus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11612880" cy="1828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051560"/>
            <a:ext cx="11612880" cy="420624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881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Part 1 (Required) — Test the Full Auth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27048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Create account → sign out → sign in → force-close → reopen → still logged in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Verify the spinner appears on cold start before the redirect fires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Sign out → confirm you are redirected to login, not a blank screen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044952"/>
            <a:ext cx="11612880" cy="1828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4320" y="3044952"/>
            <a:ext cx="11612880" cy="420624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Part 2 (Required) — Test AuthGuard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Sign out → Expo dev menu → "Open URL" → type /(tab)/home → confirm redirect to /login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Sign in → try to navigate to /login directly → confirm redirect to /(tab)/home</a:t>
            </a:r>
          </a:p>
          <a:p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Kill the app while signed in → reopen → AuthGuard sends you straight to home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038344"/>
            <a:ext cx="11612880" cy="1828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4320" y="5038344"/>
            <a:ext cx="11612880" cy="420624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Part 3 (Bonus) — Pre-fill Email in Profile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13832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In profile.tsx, import useAuth and get user?.email</a:t>
            </a:r>
          </a:p>
          <a:p>
            <a:r>
              <a:rPr sz="1300" b="1">
                <a:solidFill>
                  <a:srgbClr val="D9770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Pass user?.email as defaultValues.email in useForm()</a:t>
            </a:r>
          </a:p>
          <a:p>
            <a:r>
              <a:rPr sz="1300" b="1">
                <a:solidFill>
                  <a:srgbClr val="D9770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Verify the email field is pre-filled when the profile screen opens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7031736"/>
            <a:ext cx="11612880" cy="1828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74320" y="7031736"/>
            <a:ext cx="11612880" cy="420624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70683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Part 4 (Double Bonus) — Password Visibility Toggle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7507224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Add eye icon (eye-outline / eye-off-outline) to password fields in login.tsx and signup.tsx</a:t>
            </a:r>
          </a:p>
          <a:p>
            <a:r>
              <a:rPr sz="1300" b="1">
                <a:solidFill>
                  <a:srgbClr val="D9770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Toggle secureTextEntry with useState(true) on the icon press</a:t>
            </a:r>
          </a:p>
          <a:p>
            <a:r>
              <a:rPr sz="1300" b="1">
                <a:solidFill>
                  <a:srgbClr val="D9770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Apply the same toggle to confirmPassword in signup.tsx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What’s Next — Week 13: Supabase Database +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We know WHO you are — now we make the data YOURS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The Gap We’re Closing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11827"/>
                </a:solidFill>
                <a:latin typeface="Calibri"/>
              </a:rPr>
              <a:t>Week 12: we know WHO you are (auth)</a:t>
            </a:r>
          </a:p>
          <a:p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11827"/>
                </a:solidFill>
                <a:latin typeface="Calibri"/>
              </a:rPr>
              <a:t>Week 13: we make the data YOURS (database + RLS)</a:t>
            </a:r>
          </a:p>
          <a:p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11827"/>
                </a:solidFill>
                <a:latin typeface="Calibri"/>
              </a:rPr>
              <a:t>The mock api.ts finally gets replaced — piece by piece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58768"/>
            <a:ext cx="5212080" cy="219456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39502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»»  After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34340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The app is fully real. Every user sees only their own data, enforced at the database level — not just in the JavaScript.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887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Week 13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6916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11827"/>
                </a:solidFill>
                <a:latin typeface="Calibri"/>
              </a:rPr>
              <a:t>Create Postgres tables: courses, attendance, deadlines</a:t>
            </a:r>
          </a:p>
          <a:p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11827"/>
                </a:solidFill>
                <a:latin typeface="Calibri"/>
              </a:rPr>
              <a:t>user_id column links every row to a Supabase user</a:t>
            </a:r>
          </a:p>
          <a:p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11827"/>
                </a:solidFill>
                <a:latin typeface="Calibri"/>
              </a:rPr>
              <a:t>Row Level Security: auth.uid() = user_id — enforced in Postgres</a:t>
            </a:r>
          </a:p>
          <a:p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11827"/>
                </a:solidFill>
                <a:latin typeface="Calibri"/>
              </a:rPr>
              <a:t>Replace mock API functions with real Supabase queries</a:t>
            </a:r>
          </a:p>
          <a:p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11827"/>
                </a:solidFill>
                <a:latin typeface="Calibri"/>
              </a:rPr>
              <a:t>Real-time subscriptions: live data updates in the UI</a:t>
            </a:r>
          </a:p>
          <a:p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11827"/>
                </a:solidFill>
                <a:latin typeface="Calibri"/>
              </a:rPr>
              <a:t>Optimistic UI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6492240"/>
            <a:ext cx="11612880" cy="292608"/>
          </a:xfrm>
          <a:prstGeom prst="roundRect">
            <a:avLst>
              <a:gd name="adj" fmla="val 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Coming up  —  Week 13: Supabase DB  ·  Postgres tables  ·  Row Level Security  ·  Real queries  ·  Real-time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3939</Words>
  <Application>Microsoft Office PowerPoint</Application>
  <PresentationFormat>Custom</PresentationFormat>
  <Paragraphs>530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Al-Haifi</cp:lastModifiedBy>
  <cp:revision>4</cp:revision>
  <dcterms:created xsi:type="dcterms:W3CDTF">2013-01-27T09:14:16Z</dcterms:created>
  <dcterms:modified xsi:type="dcterms:W3CDTF">2026-03-27T16:41:30Z</dcterms:modified>
  <cp:category/>
</cp:coreProperties>
</file>