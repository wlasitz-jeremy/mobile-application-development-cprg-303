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</p:sldMasterIdLst>
  <p:notesMasterIdLst>
    <p:notesMasterId r:id="rId19"/>
  </p:notesMasterIdLst>
  <p:sldIdLst>
    <p:sldId id="278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5254" autoAdjust="0"/>
  </p:normalViewPr>
  <p:slideViewPr>
    <p:cSldViewPr snapToGrid="0" snapToObjects="1">
      <p:cViewPr varScale="1">
        <p:scale>
          <a:sx n="50" d="100"/>
          <a:sy n="50" d="100"/>
        </p:scale>
        <p:origin x="1668" y="44"/>
      </p:cViewPr>
      <p:guideLst>
        <p:guide orient="horz" pos="2160"/>
        <p:guide pos="2880"/>
      </p:guideLst>
    </p:cSldViewPr>
  </p:slideViewPr>
  <p:notesTextViewPr>
    <p:cViewPr>
      <p:scale>
        <a:sx n="200" d="100"/>
        <a:sy n="2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DFD0F1-04EA-4E2D-9BE2-5FA82ED26E4E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4CCB6C-C611-49A4-A593-F2FC98E52A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233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5631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CCB6C-C611-49A4-A593-F2FC98E52A8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7605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CCB6C-C611-49A4-A593-F2FC98E52A8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4726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CCB6C-C611-49A4-A593-F2FC98E52A8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0518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CCB6C-C611-49A4-A593-F2FC98E52A8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4683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CCB6C-C611-49A4-A593-F2FC98E52A8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020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fontAlgn="t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CCB6C-C611-49A4-A593-F2FC98E52A8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4821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CCB6C-C611-49A4-A593-F2FC98E52A8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0593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CCB6C-C611-49A4-A593-F2FC98E52A8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1012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CCB6C-C611-49A4-A593-F2FC98E52A8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301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28650" marR="0" lvl="1" indent="-17145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CCB6C-C611-49A4-A593-F2FC98E52A8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0513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CCB6C-C611-49A4-A593-F2FC98E52A8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0881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CCB6C-C611-49A4-A593-F2FC98E52A8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449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CCB6C-C611-49A4-A593-F2FC98E52A8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9476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CCB6C-C611-49A4-A593-F2FC98E52A8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799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68CD6-059C-BDEA-4975-C6762FAA6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0BFC4D-5330-BA02-A4B9-2EC822E2A18B}"/>
              </a:ext>
            </a:extLst>
          </p:cNvPr>
          <p:cNvSpPr/>
          <p:nvPr/>
        </p:nvSpPr>
        <p:spPr>
          <a:xfrm>
            <a:off x="1191" y="0"/>
            <a:ext cx="9141714" cy="4114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EAE3AF-A4B8-D87E-6F15-348280BB2285}"/>
              </a:ext>
            </a:extLst>
          </p:cNvPr>
          <p:cNvSpPr/>
          <p:nvPr/>
        </p:nvSpPr>
        <p:spPr>
          <a:xfrm>
            <a:off x="1191" y="4732020"/>
            <a:ext cx="9141714" cy="4114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59A74F-EDDD-43EA-66DA-3A431EC8BA5B}"/>
              </a:ext>
            </a:extLst>
          </p:cNvPr>
          <p:cNvSpPr txBox="1"/>
          <p:nvPr/>
        </p:nvSpPr>
        <p:spPr>
          <a:xfrm>
            <a:off x="1191" y="1337310"/>
            <a:ext cx="9141714" cy="715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50" b="1" dirty="0">
                <a:solidFill>
                  <a:srgbClr val="FFFFFF"/>
                </a:solidFill>
              </a:rPr>
              <a:t>Sharing State with Context API</a:t>
            </a:r>
            <a:endParaRPr sz="4050" b="1" dirty="0">
              <a:solidFill>
                <a:srgbClr val="FFFFFF"/>
              </a:solidFill>
            </a:endParaRP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5C8C59F1-D53D-553A-3A4D-D405D2515E69}"/>
              </a:ext>
            </a:extLst>
          </p:cNvPr>
          <p:cNvSpPr txBox="1">
            <a:spLocks/>
          </p:cNvSpPr>
          <p:nvPr/>
        </p:nvSpPr>
        <p:spPr>
          <a:xfrm>
            <a:off x="1191" y="2767274"/>
            <a:ext cx="9141618" cy="124182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Titillium" panose="00000500000000000000" pitchFamily="50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pPr algn="ctr" defTabSz="342900">
              <a:lnSpc>
                <a:spcPct val="120000"/>
              </a:lnSpc>
              <a:spcAft>
                <a:spcPts val="450"/>
              </a:spcAft>
            </a:pPr>
            <a:r>
              <a:rPr lang="en-US" sz="36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Edited By:</a:t>
            </a:r>
          </a:p>
          <a:p>
            <a:pPr algn="ctr" defTabSz="342900">
              <a:lnSpc>
                <a:spcPct val="120000"/>
              </a:lnSpc>
              <a:spcAft>
                <a:spcPts val="450"/>
              </a:spcAft>
            </a:pPr>
            <a:r>
              <a:rPr lang="en-US" sz="36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Dr. Hamdy Ibrahim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9DD5F5D-D9F7-EAEF-7160-ECAC2D736E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2" y="3039775"/>
            <a:ext cx="1223889" cy="1667260"/>
          </a:xfrm>
          <a:prstGeom prst="rect">
            <a:avLst/>
          </a:prstGeom>
        </p:spPr>
      </p:pic>
      <p:sp>
        <p:nvSpPr>
          <p:cNvPr id="16" name="Subtitle 3">
            <a:extLst>
              <a:ext uri="{FF2B5EF4-FFF2-40B4-BE49-F238E27FC236}">
                <a16:creationId xmlns:a16="http://schemas.microsoft.com/office/drawing/2014/main" id="{4A819F09-A09E-C95D-E4A0-452C78500D97}"/>
              </a:ext>
            </a:extLst>
          </p:cNvPr>
          <p:cNvSpPr txBox="1">
            <a:spLocks/>
          </p:cNvSpPr>
          <p:nvPr/>
        </p:nvSpPr>
        <p:spPr>
          <a:xfrm>
            <a:off x="202621" y="436466"/>
            <a:ext cx="5928567" cy="615250"/>
          </a:xfrm>
          <a:prstGeom prst="rect">
            <a:avLst/>
          </a:prstGeom>
        </p:spPr>
        <p:txBody>
          <a:bodyPr anchor="ctr"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100" dirty="0"/>
              <a:t>CPRG303 – Mobile Application Development</a:t>
            </a: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C50D2861-CE99-D5FE-52C7-0ED2A300BCCD}"/>
              </a:ext>
            </a:extLst>
          </p:cNvPr>
          <p:cNvSpPr/>
          <p:nvPr/>
        </p:nvSpPr>
        <p:spPr>
          <a:xfrm>
            <a:off x="1192" y="4746562"/>
            <a:ext cx="9141713" cy="396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SADT  ·  School For Advanced Digital Technology</a:t>
            </a:r>
            <a:endParaRPr lang="en-US" sz="135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1B0297-11EE-671F-AC55-18D0E761D9C1}"/>
              </a:ext>
            </a:extLst>
          </p:cNvPr>
          <p:cNvSpPr txBox="1"/>
          <p:nvPr/>
        </p:nvSpPr>
        <p:spPr>
          <a:xfrm>
            <a:off x="1192" y="2091614"/>
            <a:ext cx="9141617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0" i="0" dirty="0" err="1">
                <a:solidFill>
                  <a:srgbClr val="94A3B8"/>
                </a:solidFill>
                <a:latin typeface="Calibri"/>
              </a:rPr>
              <a:t>createContext</a:t>
            </a:r>
            <a:r>
              <a:rPr sz="2200" b="0" i="0" dirty="0">
                <a:solidFill>
                  <a:srgbClr val="94A3B8"/>
                </a:solidFill>
                <a:latin typeface="Calibri"/>
              </a:rPr>
              <a:t> · Provider · </a:t>
            </a:r>
            <a:r>
              <a:rPr sz="2200" b="0" i="0" dirty="0" err="1">
                <a:solidFill>
                  <a:srgbClr val="94A3B8"/>
                </a:solidFill>
                <a:latin typeface="Calibri"/>
              </a:rPr>
              <a:t>useContext</a:t>
            </a:r>
            <a:r>
              <a:rPr sz="2200" b="0" i="0" dirty="0">
                <a:solidFill>
                  <a:srgbClr val="94A3B8"/>
                </a:solidFill>
                <a:latin typeface="Calibri"/>
              </a:rPr>
              <a:t> · custom hooks · app-wide dark mode</a:t>
            </a:r>
          </a:p>
        </p:txBody>
      </p:sp>
    </p:spTree>
    <p:extLst>
      <p:ext uri="{BB962C8B-B14F-4D97-AF65-F5344CB8AC3E}">
        <p14:creationId xmlns:p14="http://schemas.microsoft.com/office/powerpoint/2010/main" val="2059201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16291"/>
            <a:ext cx="84124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03865"/>
                </a:solidFill>
                <a:latin typeface="Calibri"/>
              </a:rPr>
              <a:t>Wh</a:t>
            </a:r>
            <a:r>
              <a:rPr lang="en-US" sz="3200" b="1" i="0" dirty="0">
                <a:solidFill>
                  <a:srgbClr val="003865"/>
                </a:solidFill>
                <a:latin typeface="Calibri"/>
              </a:rPr>
              <a:t>at we Covered – Recap?</a:t>
            </a:r>
            <a:endParaRPr sz="3200" b="1" i="0" dirty="0">
              <a:solidFill>
                <a:srgbClr val="003865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 flipV="1">
            <a:off x="365760" y="522662"/>
            <a:ext cx="8705812" cy="45719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648891"/>
            <a:ext cx="84124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i="0" dirty="0">
                <a:solidFill>
                  <a:srgbClr val="FF0000"/>
                </a:solidFill>
                <a:latin typeface="Calibri"/>
              </a:rPr>
              <a:t>What you can already do with </a:t>
            </a:r>
            <a:r>
              <a:rPr sz="2400" b="0" i="0" dirty="0" err="1">
                <a:solidFill>
                  <a:srgbClr val="FF0000"/>
                </a:solidFill>
                <a:latin typeface="Calibri"/>
              </a:rPr>
              <a:t>useState</a:t>
            </a:r>
            <a:r>
              <a:rPr sz="2400" b="0" i="0" dirty="0">
                <a:solidFill>
                  <a:srgbClr val="FF0000"/>
                </a:solidFill>
                <a:latin typeface="Calibri"/>
              </a:rPr>
              <a:t> and props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>
                <a:solidFill>
                  <a:srgbClr val="F59E0B"/>
                </a:solidFill>
                <a:latin typeface="Calibri"/>
              </a:rPr>
              <a:t>2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52963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3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152963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FFFFFF"/>
                </a:solidFill>
                <a:latin typeface="Calibri"/>
              </a:rPr>
              <a:t>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125986"/>
            <a:ext cx="78638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3865"/>
                </a:solidFill>
                <a:latin typeface="Calibri"/>
              </a:rPr>
              <a:t>useState</a:t>
            </a:r>
            <a:endParaRPr sz="2000" b="1" i="0" dirty="0">
              <a:solidFill>
                <a:srgbClr val="003865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97280" y="1436882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solidFill>
                  <a:srgbClr val="475569"/>
                </a:solidFill>
                <a:latin typeface="Calibri"/>
              </a:rPr>
              <a:t>Holds state INSIDE one component. When it changes, that component re-renders.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994211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3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994211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⬇️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1940075"/>
            <a:ext cx="78638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Calibri"/>
              </a:rPr>
              <a:t>Props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250971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475569"/>
                </a:solidFill>
                <a:latin typeface="Calibri"/>
              </a:rPr>
              <a:t>Pass data DOWN — parent to child. One level at a time, by hand.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835459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3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2835459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🗂️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7535"/>
            <a:ext cx="78638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Calibri"/>
              </a:rPr>
              <a:t>Tabs &amp; Stack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28431"/>
            <a:ext cx="7863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475569"/>
                </a:solidFill>
                <a:latin typeface="Calibri"/>
              </a:rPr>
              <a:t>Expo Router gives each screen its own file. Screens are SIBLINGS, not parent/child.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676707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3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3676707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658783"/>
            <a:ext cx="78638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Calibri"/>
              </a:rPr>
              <a:t>The dead switch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969679"/>
            <a:ext cx="786384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solidFill>
                  <a:srgbClr val="475569"/>
                </a:solidFill>
                <a:latin typeface="Calibri"/>
              </a:rPr>
              <a:t>Settings has a 'Dark mode' toggle… that changes nothing else. Today we make it real.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1806" y="4463997"/>
            <a:ext cx="6074875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dirty="0">
                <a:solidFill>
                  <a:srgbClr val="FF0000"/>
                </a:solidFill>
                <a:latin typeface="Calibri"/>
              </a:rPr>
              <a:t>The gap: how do SIBLING screens share ONE piece of state? Props can't reach sideways.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27744"/>
            <a:ext cx="9144000" cy="5171243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43453"/>
            <a:ext cx="84124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03865"/>
                </a:solidFill>
                <a:latin typeface="Calibri"/>
              </a:rP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>
                <a:solidFill>
                  <a:srgbClr val="F59E0B"/>
                </a:solidFill>
                <a:latin typeface="Calibri"/>
              </a:rPr>
              <a:t>3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184695" y="853927"/>
            <a:ext cx="502920" cy="3840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TextBox 9"/>
          <p:cNvSpPr txBox="1"/>
          <p:nvPr/>
        </p:nvSpPr>
        <p:spPr>
          <a:xfrm>
            <a:off x="184695" y="907452"/>
            <a:ext cx="502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0F172A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75" y="699844"/>
            <a:ext cx="326739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The prop-drilling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74" y="1045951"/>
            <a:ext cx="389072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solidFill>
                  <a:srgbClr val="475569"/>
                </a:solidFill>
                <a:latin typeface="Calibri"/>
              </a:rPr>
              <a:t>Why props alone fall apart across screens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4695" y="1754651"/>
            <a:ext cx="502920" cy="3840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TextBox 13"/>
          <p:cNvSpPr txBox="1"/>
          <p:nvPr/>
        </p:nvSpPr>
        <p:spPr>
          <a:xfrm>
            <a:off x="184695" y="1808176"/>
            <a:ext cx="502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0F172A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75" y="1600568"/>
            <a:ext cx="3267397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What Context 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76" y="1946674"/>
            <a:ext cx="3267396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solidFill>
                  <a:srgbClr val="475569"/>
                </a:solidFill>
                <a:latin typeface="Calibri"/>
              </a:rPr>
              <a:t>The broadcast model — Provider sends, consumers tune 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4695" y="2926992"/>
            <a:ext cx="502920" cy="3840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TextBox 17"/>
          <p:cNvSpPr txBox="1"/>
          <p:nvPr/>
        </p:nvSpPr>
        <p:spPr>
          <a:xfrm>
            <a:off x="184695" y="2980517"/>
            <a:ext cx="502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0F172A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75" y="2818173"/>
            <a:ext cx="34290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The three pieces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74" y="3119016"/>
            <a:ext cx="356616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 err="1">
                <a:solidFill>
                  <a:srgbClr val="475569"/>
                </a:solidFill>
                <a:latin typeface="Calibri"/>
              </a:rPr>
              <a:t>createContext</a:t>
            </a:r>
            <a:r>
              <a:rPr b="0" i="0" dirty="0">
                <a:solidFill>
                  <a:srgbClr val="475569"/>
                </a:solidFill>
                <a:latin typeface="Calibri"/>
              </a:rPr>
              <a:t> · Provider · </a:t>
            </a:r>
            <a:r>
              <a:rPr b="0" i="0" dirty="0" err="1">
                <a:solidFill>
                  <a:srgbClr val="475569"/>
                </a:solidFill>
                <a:latin typeface="Calibri"/>
              </a:rPr>
              <a:t>useContext</a:t>
            </a:r>
            <a:endParaRPr b="0" i="0" dirty="0">
              <a:solidFill>
                <a:srgbClr val="475569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84695" y="3972573"/>
            <a:ext cx="502920" cy="3840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TextBox 21"/>
          <p:cNvSpPr txBox="1"/>
          <p:nvPr/>
        </p:nvSpPr>
        <p:spPr>
          <a:xfrm>
            <a:off x="184695" y="4026098"/>
            <a:ext cx="502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0F172A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75" y="3836596"/>
            <a:ext cx="34290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Building a </a:t>
            </a:r>
            <a:r>
              <a:rPr sz="2000" b="1" i="0" dirty="0" err="1">
                <a:solidFill>
                  <a:srgbClr val="003865"/>
                </a:solidFill>
                <a:latin typeface="Calibri"/>
              </a:rPr>
              <a:t>ThemeProvider</a:t>
            </a:r>
            <a:endParaRPr sz="2000" b="1" i="0" dirty="0">
              <a:solidFill>
                <a:srgbClr val="003865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24775" y="4164597"/>
            <a:ext cx="38907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solidFill>
                  <a:srgbClr val="475569"/>
                </a:solidFill>
                <a:latin typeface="Calibri"/>
              </a:rPr>
              <a:t>State + a toggle, wrapped around the app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33721" y="856281"/>
            <a:ext cx="502920" cy="3840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TextBox 25"/>
          <p:cNvSpPr txBox="1"/>
          <p:nvPr/>
        </p:nvSpPr>
        <p:spPr>
          <a:xfrm>
            <a:off x="5033721" y="909806"/>
            <a:ext cx="502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0F172A"/>
                </a:solidFill>
                <a:latin typeface="Calibr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73801" y="702198"/>
            <a:ext cx="318953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The </a:t>
            </a:r>
            <a:r>
              <a:rPr sz="2000" b="1" i="0" dirty="0" err="1">
                <a:solidFill>
                  <a:srgbClr val="003865"/>
                </a:solidFill>
                <a:latin typeface="Calibri"/>
              </a:rPr>
              <a:t>useTheme</a:t>
            </a:r>
            <a:r>
              <a:rPr sz="2000" b="1" i="0" dirty="0">
                <a:solidFill>
                  <a:srgbClr val="003865"/>
                </a:solidFill>
                <a:latin typeface="Calibri"/>
              </a:rPr>
              <a:t> custom hook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3801" y="1048305"/>
            <a:ext cx="3267396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solidFill>
                  <a:srgbClr val="475569"/>
                </a:solidFill>
                <a:latin typeface="Calibri"/>
              </a:rPr>
              <a:t>One clean import + a safety guard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33721" y="1766058"/>
            <a:ext cx="502920" cy="3840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TextBox 29"/>
          <p:cNvSpPr txBox="1"/>
          <p:nvPr/>
        </p:nvSpPr>
        <p:spPr>
          <a:xfrm>
            <a:off x="5033721" y="1810530"/>
            <a:ext cx="502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0F172A"/>
                </a:solidFill>
                <a:latin typeface="Calibr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73801" y="1602922"/>
            <a:ext cx="301288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Wiring it in Expo Router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3801" y="1949029"/>
            <a:ext cx="3267397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 err="1">
                <a:solidFill>
                  <a:srgbClr val="475569"/>
                </a:solidFill>
                <a:latin typeface="Calibri"/>
              </a:rPr>
              <a:t>ThemeProvider</a:t>
            </a:r>
            <a:r>
              <a:rPr b="0" i="0" dirty="0">
                <a:solidFill>
                  <a:srgbClr val="475569"/>
                </a:solidFill>
                <a:latin typeface="Calibri"/>
              </a:rPr>
              <a:t> in the root _</a:t>
            </a:r>
            <a:r>
              <a:rPr b="0" i="0" dirty="0" err="1">
                <a:solidFill>
                  <a:srgbClr val="475569"/>
                </a:solidFill>
                <a:latin typeface="Calibri"/>
              </a:rPr>
              <a:t>layout.tsx</a:t>
            </a:r>
            <a:endParaRPr b="0" i="0" dirty="0">
              <a:solidFill>
                <a:srgbClr val="475569"/>
              </a:solidFill>
              <a:latin typeface="Calibr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033721" y="2929346"/>
            <a:ext cx="502920" cy="3840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TextBox 33"/>
          <p:cNvSpPr txBox="1"/>
          <p:nvPr/>
        </p:nvSpPr>
        <p:spPr>
          <a:xfrm>
            <a:off x="5033721" y="2982871"/>
            <a:ext cx="502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0F172A"/>
                </a:solidFill>
                <a:latin typeface="Calibri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73801" y="2820528"/>
            <a:ext cx="338789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Context vs Props vs </a:t>
            </a:r>
            <a:r>
              <a:rPr sz="2000" b="1" i="0" dirty="0" err="1">
                <a:solidFill>
                  <a:srgbClr val="003865"/>
                </a:solidFill>
                <a:latin typeface="Calibri"/>
              </a:rPr>
              <a:t>useState</a:t>
            </a:r>
            <a:endParaRPr sz="2000" b="1" i="0" dirty="0">
              <a:solidFill>
                <a:srgbClr val="003865"/>
              </a:solidFill>
              <a:latin typeface="Calibri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673801" y="3121370"/>
            <a:ext cx="326739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solidFill>
                  <a:srgbClr val="475569"/>
                </a:solidFill>
                <a:latin typeface="Calibri"/>
              </a:rPr>
              <a:t>When to reach for which tool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33721" y="3974927"/>
            <a:ext cx="502920" cy="3840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TextBox 37"/>
          <p:cNvSpPr txBox="1"/>
          <p:nvPr/>
        </p:nvSpPr>
        <p:spPr>
          <a:xfrm>
            <a:off x="5033721" y="4028452"/>
            <a:ext cx="502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0F172A"/>
                </a:solidFill>
                <a:latin typeface="Calibri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73801" y="3838950"/>
            <a:ext cx="250958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Live Code + Activity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73801" y="4166951"/>
            <a:ext cx="3189536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solidFill>
                  <a:srgbClr val="475569"/>
                </a:solidFill>
                <a:latin typeface="Calibri"/>
              </a:rPr>
              <a:t>Make the dead dark-mode switch theme the whole app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6133F0E-8D4D-67EB-B921-D7EF4C6297A1}"/>
              </a:ext>
            </a:extLst>
          </p:cNvPr>
          <p:cNvSpPr/>
          <p:nvPr/>
        </p:nvSpPr>
        <p:spPr>
          <a:xfrm flipV="1">
            <a:off x="365760" y="522662"/>
            <a:ext cx="8705812" cy="45719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7239"/>
            <a:ext cx="9144000" cy="519161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7239"/>
            <a:ext cx="84124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Prop Drilling </a:t>
            </a:r>
            <a:r>
              <a:rPr sz="3200" b="1" i="0" dirty="0">
                <a:solidFill>
                  <a:schemeClr val="bg1"/>
                </a:solidFill>
                <a:latin typeface="Calibri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7077" y="651194"/>
            <a:ext cx="8804495" cy="1508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b="0" i="0" dirty="0">
                <a:solidFill>
                  <a:schemeClr val="bg1"/>
                </a:solidFill>
                <a:latin typeface="Calibri"/>
              </a:rPr>
              <a:t>Passing state down through layers that don't even use it</a:t>
            </a:r>
            <a:endParaRPr lang="en-US" b="0" i="0" dirty="0">
              <a:solidFill>
                <a:schemeClr val="bg1"/>
              </a:solidFill>
              <a:latin typeface="Calibri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It requires every component in between to pass the value along, even if it doesn't use it.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With Expo Router, route screens are managed by the router</a:t>
            </a:r>
            <a:r>
              <a:rPr lang="en-US" sz="2000" dirty="0">
                <a:solidFill>
                  <a:schemeClr val="bg1"/>
                </a:solidFill>
              </a:rPr>
              <a:t>, so you cannot directly pass props to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938031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 dirty="0">
                <a:solidFill>
                  <a:srgbClr val="F59E0B"/>
                </a:solidFill>
                <a:latin typeface="Calibri"/>
              </a:rPr>
              <a:t>4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7077" y="2283725"/>
            <a:ext cx="3017520" cy="384048"/>
          </a:xfrm>
          <a:prstGeom prst="roundRect">
            <a:avLst>
              <a:gd name="adj" fmla="val 8000"/>
            </a:avLst>
          </a:prstGeom>
          <a:solidFill>
            <a:srgbClr val="003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1" name="TextBox 10"/>
          <p:cNvSpPr txBox="1"/>
          <p:nvPr/>
        </p:nvSpPr>
        <p:spPr>
          <a:xfrm>
            <a:off x="267077" y="233725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>
                <a:solidFill>
                  <a:srgbClr val="FFFFFF"/>
                </a:solidFill>
                <a:latin typeface="Calibri"/>
              </a:rPr>
              <a:t>App  (holds dark)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7197" y="2649485"/>
            <a:ext cx="1463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FF0000"/>
                </a:solidFill>
                <a:latin typeface="Calibri"/>
              </a:rPr>
              <a:t>↓ dark, </a:t>
            </a:r>
            <a:r>
              <a:rPr sz="1400" b="0" i="0" dirty="0" err="1">
                <a:solidFill>
                  <a:srgbClr val="FF0000"/>
                </a:solidFill>
                <a:latin typeface="Calibri"/>
              </a:rPr>
              <a:t>setDark</a:t>
            </a:r>
            <a:endParaRPr sz="1400" b="0" i="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67077" y="2850653"/>
            <a:ext cx="3017520" cy="384048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4" name="TextBox 13"/>
          <p:cNvSpPr txBox="1"/>
          <p:nvPr/>
        </p:nvSpPr>
        <p:spPr>
          <a:xfrm>
            <a:off x="267077" y="2904178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Layout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7197" y="3216413"/>
            <a:ext cx="1463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FF0000"/>
                </a:solidFill>
                <a:latin typeface="Calibri"/>
              </a:rPr>
              <a:t>↓ dark, </a:t>
            </a:r>
            <a:r>
              <a:rPr sz="1400" b="0" i="0" dirty="0" err="1">
                <a:solidFill>
                  <a:srgbClr val="FF0000"/>
                </a:solidFill>
                <a:latin typeface="Calibri"/>
              </a:rPr>
              <a:t>setDark</a:t>
            </a:r>
            <a:endParaRPr sz="1400" b="0" i="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267077" y="3417581"/>
            <a:ext cx="3017520" cy="384048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7" name="TextBox 16"/>
          <p:cNvSpPr txBox="1"/>
          <p:nvPr/>
        </p:nvSpPr>
        <p:spPr>
          <a:xfrm>
            <a:off x="267077" y="3471106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Tabs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7197" y="3783341"/>
            <a:ext cx="1463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FF0000"/>
                </a:solidFill>
                <a:latin typeface="Calibri"/>
              </a:rPr>
              <a:t>↓ dark, </a:t>
            </a:r>
            <a:r>
              <a:rPr sz="1400" b="0" i="0" dirty="0" err="1">
                <a:solidFill>
                  <a:srgbClr val="FF0000"/>
                </a:solidFill>
                <a:latin typeface="Calibri"/>
              </a:rPr>
              <a:t>setDark</a:t>
            </a:r>
            <a:endParaRPr sz="1400" b="0" i="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67077" y="3984509"/>
            <a:ext cx="3017520" cy="384048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0" name="TextBox 19"/>
          <p:cNvSpPr txBox="1"/>
          <p:nvPr/>
        </p:nvSpPr>
        <p:spPr>
          <a:xfrm>
            <a:off x="267077" y="4038034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Screen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7197" y="4350269"/>
            <a:ext cx="1463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FF0000"/>
                </a:solidFill>
                <a:latin typeface="Calibri"/>
              </a:rPr>
              <a:t>↓ dark, </a:t>
            </a:r>
            <a:r>
              <a:rPr sz="1400" b="0" i="0" dirty="0" err="1">
                <a:solidFill>
                  <a:srgbClr val="FF0000"/>
                </a:solidFill>
                <a:latin typeface="Calibri"/>
              </a:rPr>
              <a:t>setDark</a:t>
            </a:r>
            <a:endParaRPr sz="1400" b="0" i="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267077" y="4551437"/>
            <a:ext cx="3017520" cy="38404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3" name="TextBox 22"/>
          <p:cNvSpPr txBox="1"/>
          <p:nvPr/>
        </p:nvSpPr>
        <p:spPr>
          <a:xfrm>
            <a:off x="267077" y="4604962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…needs dark 😫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86119" y="2265164"/>
            <a:ext cx="516636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5" name="TextBox 24"/>
          <p:cNvSpPr txBox="1"/>
          <p:nvPr/>
        </p:nvSpPr>
        <p:spPr>
          <a:xfrm>
            <a:off x="3832423" y="2302468"/>
            <a:ext cx="469087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😫  Tedious &amp; fragile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32423" y="2649940"/>
            <a:ext cx="4690872" cy="860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>
                <a:solidFill>
                  <a:schemeClr val="bg1"/>
                </a:solidFill>
                <a:latin typeface="Calibri"/>
              </a:rPr>
              <a:t>Middle components carry props they don't care about. Rename one prop and you edit five files. This is called PROP DRILLING.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86119" y="3527400"/>
            <a:ext cx="5208904" cy="140808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8" name="TextBox 27"/>
          <p:cNvSpPr txBox="1"/>
          <p:nvPr/>
        </p:nvSpPr>
        <p:spPr>
          <a:xfrm>
            <a:off x="3832423" y="3736711"/>
            <a:ext cx="469087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Calibri"/>
              </a:rPr>
              <a:t>🚫  Expo Router blocks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32423" y="4084183"/>
            <a:ext cx="5020056" cy="860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>
                <a:solidFill>
                  <a:srgbClr val="334155"/>
                </a:solidFill>
                <a:latin typeface="Calibri"/>
              </a:rPr>
              <a:t>You never write &lt;Profile dark={dark} /&gt; — the router renders /profile for you. There's literally no place to pass the prop. Context is the built-in answer.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541E0C2-E3C1-9937-EF2B-C85FDCF14745}"/>
              </a:ext>
            </a:extLst>
          </p:cNvPr>
          <p:cNvSpPr/>
          <p:nvPr/>
        </p:nvSpPr>
        <p:spPr>
          <a:xfrm flipV="1">
            <a:off x="365760" y="522662"/>
            <a:ext cx="8705812" cy="45719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7233"/>
            <a:ext cx="84124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03865"/>
                </a:solidFill>
                <a:latin typeface="Calibri"/>
              </a:rPr>
              <a:t>What is Context?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" y="659179"/>
            <a:ext cx="8412480" cy="17697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chemeClr val="bg1"/>
                </a:solidFill>
                <a:latin typeface="Calibri"/>
              </a:rPr>
              <a:t>A radio station for your app's state — broadcast once, listen anywhere</a:t>
            </a:r>
            <a:endParaRPr lang="en-US" sz="2000" b="0" i="0" dirty="0">
              <a:solidFill>
                <a:schemeClr val="bg1"/>
              </a:solidFill>
              <a:latin typeface="Calibri"/>
            </a:endParaRPr>
          </a:p>
          <a:p>
            <a:pPr marL="342900" indent="-342900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Context lets a parent </a:t>
            </a:r>
            <a:r>
              <a:rPr lang="en-US" sz="2000" b="1" dirty="0">
                <a:solidFill>
                  <a:schemeClr val="bg1"/>
                </a:solidFill>
              </a:rPr>
              <a:t>broadcast</a:t>
            </a:r>
            <a:r>
              <a:rPr lang="en-US" sz="2000" dirty="0">
                <a:solidFill>
                  <a:schemeClr val="bg1"/>
                </a:solidFill>
              </a:rPr>
              <a:t> a value to EVERY component beneath it, no matter how deep, without passing props.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You wrap your app in a Provider once; any component inside can tune in and read (or change) the shared value directly.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>
                <a:solidFill>
                  <a:srgbClr val="F59E0B"/>
                </a:solidFill>
                <a:latin typeface="Calibri"/>
              </a:rPr>
              <a:t>5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3190" y="2580636"/>
            <a:ext cx="2743200" cy="17642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439494" y="2690364"/>
            <a:ext cx="245059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dirty="0">
                <a:solidFill>
                  <a:srgbClr val="003865"/>
                </a:solidFill>
                <a:latin typeface="Calibri"/>
              </a:rPr>
              <a:t>📡  Provider = the tower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686" y="3037836"/>
            <a:ext cx="2505456" cy="11515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>
                <a:solidFill>
                  <a:srgbClr val="334155"/>
                </a:solidFill>
                <a:latin typeface="Calibri"/>
              </a:rPr>
              <a:t>&lt;</a:t>
            </a:r>
            <a:r>
              <a:rPr b="0" i="0" dirty="0" err="1">
                <a:solidFill>
                  <a:srgbClr val="334155"/>
                </a:solidFill>
                <a:latin typeface="Calibri"/>
              </a:rPr>
              <a:t>ThemeProvider</a:t>
            </a:r>
            <a:r>
              <a:rPr b="0" i="0" dirty="0">
                <a:solidFill>
                  <a:srgbClr val="334155"/>
                </a:solidFill>
                <a:latin typeface="Calibri"/>
              </a:rPr>
              <a:t>&gt; sits near the top and broadcasts the current value to everything inside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5262" y="2580636"/>
            <a:ext cx="2889936" cy="17642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TextBox 13"/>
          <p:cNvSpPr txBox="1"/>
          <p:nvPr/>
        </p:nvSpPr>
        <p:spPr>
          <a:xfrm>
            <a:off x="3301566" y="2690364"/>
            <a:ext cx="245059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003865"/>
                </a:solidFill>
                <a:latin typeface="Calibri"/>
              </a:rPr>
              <a:t>📻  Consumers = radios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1566" y="3037836"/>
            <a:ext cx="2753208" cy="11515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>
                <a:solidFill>
                  <a:srgbClr val="334155"/>
                </a:solidFill>
                <a:latin typeface="Calibri"/>
              </a:rPr>
              <a:t>Any screen calls </a:t>
            </a:r>
            <a:r>
              <a:rPr b="0" i="0" dirty="0" err="1">
                <a:solidFill>
                  <a:srgbClr val="334155"/>
                </a:solidFill>
                <a:latin typeface="Calibri"/>
              </a:rPr>
              <a:t>useContext</a:t>
            </a:r>
            <a:r>
              <a:rPr b="0" i="0" dirty="0">
                <a:solidFill>
                  <a:srgbClr val="334155"/>
                </a:solidFill>
                <a:latin typeface="Calibri"/>
              </a:rPr>
              <a:t> (via our </a:t>
            </a:r>
            <a:r>
              <a:rPr b="0" i="0" dirty="0" err="1">
                <a:solidFill>
                  <a:srgbClr val="334155"/>
                </a:solidFill>
                <a:latin typeface="Calibri"/>
              </a:rPr>
              <a:t>useTheme</a:t>
            </a:r>
            <a:r>
              <a:rPr b="0" i="0" dirty="0">
                <a:solidFill>
                  <a:srgbClr val="334155"/>
                </a:solidFill>
                <a:latin typeface="Calibri"/>
              </a:rPr>
              <a:t> hook) to receive the value — instantly, no props.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1502" y="2580636"/>
            <a:ext cx="2743200" cy="17642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TextBox 16"/>
          <p:cNvSpPr txBox="1"/>
          <p:nvPr/>
        </p:nvSpPr>
        <p:spPr>
          <a:xfrm>
            <a:off x="6337806" y="2690364"/>
            <a:ext cx="245059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003865"/>
                </a:solidFill>
                <a:latin typeface="Calibri"/>
              </a:rPr>
              <a:t>🔄  Broadcast updates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7806" y="3037836"/>
            <a:ext cx="2450592" cy="11515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>
                <a:solidFill>
                  <a:srgbClr val="334155"/>
                </a:solidFill>
                <a:latin typeface="Calibri"/>
              </a:rPr>
              <a:t>When the Provider's value changes, every listening component re-renders with the new value.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" y="4524320"/>
            <a:ext cx="87782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000" b="1" dirty="0">
                <a:solidFill>
                  <a:schemeClr val="bg1"/>
                </a:solidFill>
                <a:latin typeface="Calibri"/>
              </a:rPr>
              <a:t>Key idea: </a:t>
            </a:r>
            <a:r>
              <a:rPr sz="2000" dirty="0">
                <a:solidFill>
                  <a:schemeClr val="bg1"/>
                </a:solidFill>
                <a:latin typeface="Calibri"/>
              </a:rPr>
              <a:t>state lives in ONE place (the Provider); everyone reads the SAME copy.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65EA479-B664-E114-3EA5-4E7465509CF5}"/>
              </a:ext>
            </a:extLst>
          </p:cNvPr>
          <p:cNvSpPr/>
          <p:nvPr/>
        </p:nvSpPr>
        <p:spPr>
          <a:xfrm flipV="1">
            <a:off x="365760" y="522662"/>
            <a:ext cx="8705812" cy="45719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59498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8973"/>
            <a:ext cx="84124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400" b="1" i="0" dirty="0">
                <a:solidFill>
                  <a:srgbClr val="003865"/>
                </a:solidFill>
                <a:latin typeface="Calibri"/>
              </a:rPr>
              <a:t>Context API: 3 Core Parts</a:t>
            </a:r>
            <a:endParaRPr sz="2400" b="1" i="0" dirty="0">
              <a:solidFill>
                <a:srgbClr val="003865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662400"/>
            <a:ext cx="84124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i="0" dirty="0">
                <a:solidFill>
                  <a:schemeClr val="bg1"/>
                </a:solidFill>
                <a:latin typeface="Calibri"/>
              </a:rPr>
              <a:t>Every Context you ever build is just these three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748220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>
                <a:solidFill>
                  <a:srgbClr val="F59E0B"/>
                </a:solidFill>
                <a:latin typeface="Calibri"/>
              </a:rPr>
              <a:t>6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34440"/>
            <a:ext cx="640080" cy="86868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234440"/>
            <a:ext cx="640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 i="0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234439"/>
            <a:ext cx="7818120" cy="1004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1325880" y="1229328"/>
            <a:ext cx="73152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3865"/>
                </a:solidFill>
                <a:latin typeface="Consolas"/>
              </a:rPr>
              <a:t>createContext</a:t>
            </a:r>
            <a:r>
              <a:rPr sz="2000" b="1" i="0" dirty="0">
                <a:solidFill>
                  <a:srgbClr val="003865"/>
                </a:solidFill>
                <a:latin typeface="Consolas"/>
              </a:rPr>
              <a:t>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575405"/>
            <a:ext cx="7315200" cy="569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>
                <a:solidFill>
                  <a:srgbClr val="334155"/>
                </a:solidFill>
                <a:latin typeface="Calibri"/>
              </a:rPr>
              <a:t>Creates the channel. You call this ONCE per context, at the top of a file. Returns an object with a .Provider.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374803"/>
            <a:ext cx="640080" cy="86868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2374803"/>
            <a:ext cx="640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 i="0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2374802"/>
            <a:ext cx="7818120" cy="1004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TextBox 16"/>
          <p:cNvSpPr txBox="1"/>
          <p:nvPr/>
        </p:nvSpPr>
        <p:spPr>
          <a:xfrm>
            <a:off x="1325880" y="2377440"/>
            <a:ext cx="73152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onsolas"/>
              </a:rPr>
              <a:t>&lt;</a:t>
            </a:r>
            <a:r>
              <a:rPr sz="2000" b="1" i="0" dirty="0" err="1">
                <a:solidFill>
                  <a:srgbClr val="003865"/>
                </a:solidFill>
                <a:latin typeface="Consolas"/>
              </a:rPr>
              <a:t>Context.Provider</a:t>
            </a:r>
            <a:r>
              <a:rPr sz="2000" b="1" i="0" dirty="0">
                <a:solidFill>
                  <a:srgbClr val="003865"/>
                </a:solidFill>
                <a:latin typeface="Consolas"/>
              </a:rPr>
              <a:t> value={…}&gt;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2723517"/>
            <a:ext cx="7315200" cy="569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>
                <a:solidFill>
                  <a:srgbClr val="334155"/>
                </a:solidFill>
                <a:latin typeface="Calibri"/>
              </a:rPr>
              <a:t>Wraps part of your tree and broadcasts `value`. Everything inside can read it. Usually you wrap the WHOLE app.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546169"/>
            <a:ext cx="640080" cy="86868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3546169"/>
            <a:ext cx="640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 i="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3546168"/>
            <a:ext cx="7818120" cy="1004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TextBox 21"/>
          <p:cNvSpPr txBox="1"/>
          <p:nvPr/>
        </p:nvSpPr>
        <p:spPr>
          <a:xfrm>
            <a:off x="1325880" y="3572053"/>
            <a:ext cx="73152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3865"/>
                </a:solidFill>
                <a:latin typeface="Consolas"/>
              </a:rPr>
              <a:t>useContext</a:t>
            </a:r>
            <a:r>
              <a:rPr sz="2000" b="1" i="0" dirty="0">
                <a:solidFill>
                  <a:srgbClr val="003865"/>
                </a:solidFill>
                <a:latin typeface="Consolas"/>
              </a:rPr>
              <a:t>(Context)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933628"/>
            <a:ext cx="7635240" cy="569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>
                <a:solidFill>
                  <a:srgbClr val="334155"/>
                </a:solidFill>
                <a:latin typeface="Calibri"/>
              </a:rPr>
              <a:t>Called inside any component to READ the current value. We'll wrap this in a tidy custom hook called </a:t>
            </a:r>
            <a:r>
              <a:rPr b="0" i="0" dirty="0" err="1">
                <a:solidFill>
                  <a:srgbClr val="334155"/>
                </a:solidFill>
                <a:latin typeface="Calibri"/>
              </a:rPr>
              <a:t>useTheme</a:t>
            </a:r>
            <a:r>
              <a:rPr b="0" i="0" dirty="0">
                <a:solidFill>
                  <a:srgbClr val="334155"/>
                </a:solidFill>
                <a:latin typeface="Calibri"/>
              </a:rPr>
              <a:t>().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C0E6EE9-6764-58ED-1EEA-8A11CE808A47}"/>
              </a:ext>
            </a:extLst>
          </p:cNvPr>
          <p:cNvSpPr/>
          <p:nvPr/>
        </p:nvSpPr>
        <p:spPr>
          <a:xfrm flipV="1">
            <a:off x="365760" y="522662"/>
            <a:ext cx="8705812" cy="45719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34398"/>
            <a:ext cx="84124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 dirty="0">
                <a:solidFill>
                  <a:schemeClr val="bg1"/>
                </a:solidFill>
                <a:latin typeface="Calibri"/>
              </a:rPr>
              <a:t>Step 1 — </a:t>
            </a:r>
            <a:r>
              <a:rPr sz="3200" b="1" i="0" dirty="0" err="1">
                <a:solidFill>
                  <a:schemeClr val="bg1"/>
                </a:solidFill>
                <a:latin typeface="Calibri"/>
              </a:rPr>
              <a:t>createContext</a:t>
            </a:r>
            <a:r>
              <a:rPr sz="3200" b="1" i="0" dirty="0">
                <a:solidFill>
                  <a:schemeClr val="bg1"/>
                </a:solidFill>
                <a:latin typeface="Calibri"/>
              </a:rPr>
              <a:t>()</a:t>
            </a:r>
            <a:r>
              <a:rPr lang="en-US" sz="3200" b="1" dirty="0">
                <a:solidFill>
                  <a:schemeClr val="bg1"/>
                </a:solidFill>
              </a:rPr>
              <a:t> — Theme Context</a:t>
            </a:r>
            <a:endParaRPr sz="3200" b="1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569411"/>
            <a:ext cx="84124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i="0" dirty="0">
                <a:solidFill>
                  <a:schemeClr val="bg1"/>
                </a:solidFill>
                <a:latin typeface="Calibri"/>
              </a:rPr>
              <a:t>Define the shape of what you'll share, then create the channel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>
                <a:solidFill>
                  <a:srgbClr val="F59E0B"/>
                </a:solidFill>
                <a:latin typeface="Calibri"/>
              </a:rPr>
              <a:t>7 / 18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2D9E93E-59C5-FF44-BF17-BAF95DE76356}"/>
              </a:ext>
            </a:extLst>
          </p:cNvPr>
          <p:cNvGrpSpPr/>
          <p:nvPr/>
        </p:nvGrpSpPr>
        <p:grpSpPr>
          <a:xfrm>
            <a:off x="363638" y="1097280"/>
            <a:ext cx="4288382" cy="3867912"/>
            <a:chOff x="221626" y="1097280"/>
            <a:chExt cx="4288382" cy="3867912"/>
          </a:xfrm>
        </p:grpSpPr>
        <p:sp>
          <p:nvSpPr>
            <p:cNvPr id="9" name="Rectangle 8"/>
            <p:cNvSpPr/>
            <p:nvPr/>
          </p:nvSpPr>
          <p:spPr>
            <a:xfrm>
              <a:off x="221626" y="1097280"/>
              <a:ext cx="4288382" cy="3867912"/>
            </a:xfrm>
            <a:prstGeom prst="rect">
              <a:avLst/>
            </a:prstGeom>
            <a:solidFill>
              <a:srgbClr val="0F172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65760" y="1112133"/>
              <a:ext cx="4144247" cy="24622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600" b="1" i="0" dirty="0">
                  <a:solidFill>
                    <a:schemeClr val="bg2">
                      <a:lumMod val="40000"/>
                      <a:lumOff val="60000"/>
                    </a:schemeClr>
                  </a:solidFill>
                  <a:latin typeface="Calibri"/>
                </a:rPr>
                <a:t>context/</a:t>
              </a:r>
              <a:r>
                <a:rPr sz="1600" b="1" i="0" dirty="0" err="1">
                  <a:solidFill>
                    <a:schemeClr val="bg2">
                      <a:lumMod val="40000"/>
                      <a:lumOff val="60000"/>
                    </a:schemeClr>
                  </a:solidFill>
                  <a:latin typeface="Calibri"/>
                </a:rPr>
                <a:t>ThemeContext.tsx</a:t>
              </a:r>
              <a:endParaRPr sz="1600" b="1" i="0" dirty="0">
                <a:solidFill>
                  <a:schemeClr val="bg2">
                    <a:lumMod val="40000"/>
                    <a:lumOff val="60000"/>
                  </a:schemeClr>
                </a:solidFill>
                <a:latin typeface="Calibri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65760" y="1437542"/>
              <a:ext cx="3989264" cy="32389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200" b="0" i="0" dirty="0">
                  <a:solidFill>
                    <a:srgbClr val="FFFF00"/>
                  </a:solidFill>
                  <a:latin typeface="Consolas"/>
                </a:rPr>
                <a:t>// context/</a:t>
              </a:r>
              <a:r>
                <a:rPr sz="1200" b="0" i="0" dirty="0" err="1">
                  <a:solidFill>
                    <a:srgbClr val="FFFF00"/>
                  </a:solidFill>
                  <a:latin typeface="Consolas"/>
                </a:rPr>
                <a:t>ThemeContext.tsx</a:t>
              </a:r>
              <a:br>
                <a:rPr sz="3200" dirty="0"/>
              </a:br>
              <a:r>
                <a:rPr sz="1200" b="0" i="0" dirty="0">
                  <a:latin typeface="Consolas"/>
                </a:rPr>
                <a:t>import { </a:t>
              </a:r>
              <a:r>
                <a:rPr sz="1200" b="0" i="0" dirty="0" err="1">
                  <a:latin typeface="Consolas"/>
                </a:rPr>
                <a:t>createContext</a:t>
              </a:r>
              <a:r>
                <a:rPr sz="1200" b="0" i="0" dirty="0">
                  <a:latin typeface="Consolas"/>
                </a:rPr>
                <a:t> } from 'react';</a:t>
              </a:r>
              <a:br>
                <a:rPr sz="3200" dirty="0"/>
              </a:br>
              <a:br>
                <a:rPr lang="en-US" sz="1050" dirty="0"/>
              </a:br>
              <a:r>
                <a:rPr sz="1200" b="0" i="0" dirty="0">
                  <a:solidFill>
                    <a:srgbClr val="FFFF00"/>
                  </a:solidFill>
                  <a:latin typeface="Consolas"/>
                </a:rPr>
                <a:t>// 1. What will every screen receive?</a:t>
              </a:r>
              <a:br>
                <a:rPr sz="3200" dirty="0"/>
              </a:br>
              <a:r>
                <a:rPr sz="1200" b="0" i="0" dirty="0">
                  <a:latin typeface="Consolas"/>
                </a:rPr>
                <a:t>export type Theme = {</a:t>
              </a:r>
              <a:br>
                <a:rPr sz="3200" dirty="0"/>
              </a:br>
              <a:r>
                <a:rPr sz="1200" b="0" i="0" dirty="0">
                  <a:latin typeface="Consolas"/>
                </a:rPr>
                <a:t>  dark: </a:t>
              </a:r>
              <a:r>
                <a:rPr sz="1200" b="0" i="0" dirty="0" err="1">
                  <a:latin typeface="Consolas"/>
                </a:rPr>
                <a:t>boolean</a:t>
              </a:r>
              <a:r>
                <a:rPr sz="1200" b="0" i="0" dirty="0">
                  <a:latin typeface="Consolas"/>
                </a:rPr>
                <a:t>;          // is dark mode on?</a:t>
              </a:r>
              <a:br>
                <a:rPr sz="3200" dirty="0"/>
              </a:br>
              <a:r>
                <a:rPr sz="1200" b="0" i="0" dirty="0">
                  <a:latin typeface="Consolas"/>
                </a:rPr>
                <a:t>  toggle: () =&gt; void;     // flip it</a:t>
              </a:r>
              <a:br>
                <a:rPr sz="3200" dirty="0"/>
              </a:br>
              <a:r>
                <a:rPr sz="1200" b="0" i="0" dirty="0">
                  <a:latin typeface="Consolas"/>
                </a:rPr>
                <a:t>  colors: {               // the active palette</a:t>
              </a:r>
              <a:br>
                <a:rPr sz="3200" dirty="0"/>
              </a:br>
              <a:r>
                <a:rPr sz="1200" b="0" i="0" dirty="0">
                  <a:latin typeface="Consolas"/>
                </a:rPr>
                <a:t>    </a:t>
              </a:r>
              <a:r>
                <a:rPr sz="1200" b="0" i="0" dirty="0" err="1">
                  <a:latin typeface="Consolas"/>
                </a:rPr>
                <a:t>bg</a:t>
              </a:r>
              <a:r>
                <a:rPr sz="1200" b="0" i="0" dirty="0">
                  <a:latin typeface="Consolas"/>
                </a:rPr>
                <a:t>: string;</a:t>
              </a:r>
              <a:br>
                <a:rPr sz="3200" dirty="0"/>
              </a:br>
              <a:r>
                <a:rPr sz="1200" b="0" i="0" dirty="0">
                  <a:latin typeface="Consolas"/>
                </a:rPr>
                <a:t>    card: string;</a:t>
              </a:r>
              <a:br>
                <a:rPr sz="3200" dirty="0"/>
              </a:br>
              <a:r>
                <a:rPr sz="1200" b="0" i="0" dirty="0">
                  <a:latin typeface="Consolas"/>
                </a:rPr>
                <a:t>    text: string;</a:t>
              </a:r>
              <a:br>
                <a:rPr sz="3200" dirty="0"/>
              </a:br>
              <a:r>
                <a:rPr sz="1200" b="0" i="0" dirty="0">
                  <a:latin typeface="Consolas"/>
                </a:rPr>
                <a:t>  };</a:t>
              </a:r>
              <a:br>
                <a:rPr sz="3200" dirty="0"/>
              </a:br>
              <a:r>
                <a:rPr sz="1200" b="0" i="0" dirty="0">
                  <a:latin typeface="Consolas"/>
                </a:rPr>
                <a:t>};</a:t>
              </a:r>
              <a:br>
                <a:rPr sz="3200" dirty="0"/>
              </a:br>
              <a:br>
                <a:rPr lang="en-US" sz="1050" dirty="0"/>
              </a:br>
              <a:r>
                <a:rPr sz="1200" b="0" i="0" dirty="0">
                  <a:solidFill>
                    <a:srgbClr val="FFFF00"/>
                  </a:solidFill>
                  <a:latin typeface="Consolas"/>
                </a:rPr>
                <a:t>// 2. Create the channel (empty for now)</a:t>
              </a:r>
              <a:br>
                <a:rPr sz="3200" dirty="0"/>
              </a:br>
              <a:r>
                <a:rPr sz="1200" b="0" i="0" dirty="0">
                  <a:latin typeface="Consolas"/>
                </a:rPr>
                <a:t>export const </a:t>
              </a:r>
              <a:r>
                <a:rPr sz="1200" b="0" i="0" dirty="0" err="1">
                  <a:latin typeface="Consolas"/>
                </a:rPr>
                <a:t>ThemeContext</a:t>
              </a:r>
              <a:r>
                <a:rPr sz="1200" b="0" i="0" dirty="0">
                  <a:latin typeface="Consolas"/>
                </a:rPr>
                <a:t> =</a:t>
              </a:r>
              <a:br>
                <a:rPr sz="3200" dirty="0"/>
              </a:br>
              <a:r>
                <a:rPr sz="1200" b="0" i="0" dirty="0">
                  <a:latin typeface="Consolas"/>
                </a:rPr>
                <a:t>  </a:t>
              </a:r>
              <a:r>
                <a:rPr sz="1200" b="0" i="0" dirty="0" err="1">
                  <a:latin typeface="Consolas"/>
                </a:rPr>
                <a:t>createContext</a:t>
              </a:r>
              <a:r>
                <a:rPr sz="1200" b="0" i="0" dirty="0">
                  <a:latin typeface="Consolas"/>
                </a:rPr>
                <a:t>&lt;Theme | undefined&gt;(undefined);</a:t>
              </a:r>
            </a:p>
          </p:txBody>
        </p:sp>
      </p:grpSp>
      <p:sp>
        <p:nvSpPr>
          <p:cNvPr id="12" name="Rounded Rectangle 11"/>
          <p:cNvSpPr/>
          <p:nvPr/>
        </p:nvSpPr>
        <p:spPr>
          <a:xfrm>
            <a:off x="4874217" y="1190268"/>
            <a:ext cx="4086903" cy="15382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TextBox 12"/>
          <p:cNvSpPr txBox="1"/>
          <p:nvPr/>
        </p:nvSpPr>
        <p:spPr>
          <a:xfrm>
            <a:off x="5013701" y="1199258"/>
            <a:ext cx="361823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Why a type?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702" y="1562229"/>
            <a:ext cx="3764538" cy="11515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>
                <a:solidFill>
                  <a:schemeClr val="bg1"/>
                </a:solidFill>
                <a:latin typeface="Calibri"/>
              </a:rPr>
              <a:t>The Theme type documents exactly what consumers get: a </a:t>
            </a:r>
            <a:r>
              <a:rPr b="0" i="0" dirty="0" err="1">
                <a:solidFill>
                  <a:schemeClr val="bg1"/>
                </a:solidFill>
                <a:latin typeface="Calibri"/>
              </a:rPr>
              <a:t>boolean</a:t>
            </a:r>
            <a:r>
              <a:rPr b="0" i="0" dirty="0">
                <a:solidFill>
                  <a:schemeClr val="bg1"/>
                </a:solidFill>
                <a:latin typeface="Calibri"/>
              </a:rPr>
              <a:t>, a toggle function, and a colors object. TypeScript then autocompletes it everywhere.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74217" y="2900042"/>
            <a:ext cx="4086903" cy="189280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6" name="TextBox 15"/>
          <p:cNvSpPr txBox="1"/>
          <p:nvPr/>
        </p:nvSpPr>
        <p:spPr>
          <a:xfrm>
            <a:off x="5013702" y="2963276"/>
            <a:ext cx="361823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Why | undefined?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3701" y="3302999"/>
            <a:ext cx="3764539" cy="14424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>
                <a:solidFill>
                  <a:schemeClr val="bg1"/>
                </a:solidFill>
                <a:latin typeface="Calibri"/>
              </a:rPr>
              <a:t>The default value is undefined because no Provider exists yet. That lets our hook DETECT a screen used outside the Provider and throw a clear error instead of crashing mysteriously.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4DBF74D-DF6F-13BA-36BF-39CB1286D07B}"/>
              </a:ext>
            </a:extLst>
          </p:cNvPr>
          <p:cNvSpPr/>
          <p:nvPr/>
        </p:nvSpPr>
        <p:spPr>
          <a:xfrm flipV="1">
            <a:off x="365760" y="522662"/>
            <a:ext cx="8705812" cy="45719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365760" y="-25344"/>
            <a:ext cx="84124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chemeClr val="bg1"/>
                </a:solidFill>
                <a:latin typeface="Calibri"/>
              </a:rPr>
              <a:t>Step 2 — The </a:t>
            </a:r>
            <a:r>
              <a:rPr lang="en-US" sz="3200" b="1" i="0" dirty="0">
                <a:solidFill>
                  <a:schemeClr val="bg1"/>
                </a:solidFill>
                <a:latin typeface="Calibri"/>
              </a:rPr>
              <a:t>Theme </a:t>
            </a:r>
            <a:r>
              <a:rPr sz="3200" b="1" i="0" dirty="0">
                <a:solidFill>
                  <a:schemeClr val="bg1"/>
                </a:solidFill>
                <a:latin typeface="Calibri"/>
              </a:rPr>
              <a:t>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06919"/>
            <a:ext cx="84124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i="0" dirty="0">
                <a:solidFill>
                  <a:schemeClr val="bg1"/>
                </a:solidFill>
                <a:latin typeface="Calibri"/>
              </a:rPr>
              <a:t>A component that OWNS the state and broadcasts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>
                <a:solidFill>
                  <a:srgbClr val="F59E0B"/>
                </a:solidFill>
                <a:latin typeface="Calibri"/>
              </a:rPr>
              <a:t>8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4829911" cy="394473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94714"/>
            <a:ext cx="4701896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Calibri"/>
              </a:rPr>
              <a:t>ThemeProvider</a:t>
            </a:r>
            <a:endParaRPr sz="1600" b="1" i="0" dirty="0">
              <a:solidFill>
                <a:schemeClr val="bg2">
                  <a:lumMod val="20000"/>
                  <a:lumOff val="80000"/>
                </a:schemeClr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93776" y="1421506"/>
            <a:ext cx="4701896" cy="356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dirty="0">
                <a:solidFill>
                  <a:srgbClr val="FFFF00"/>
                </a:solidFill>
                <a:latin typeface="Consolas"/>
              </a:rPr>
              <a:t>// context/</a:t>
            </a:r>
            <a:r>
              <a:rPr sz="1100" b="0" i="0" dirty="0" err="1">
                <a:solidFill>
                  <a:srgbClr val="FFFF00"/>
                </a:solidFill>
                <a:latin typeface="Consolas"/>
              </a:rPr>
              <a:t>ThemeContext.tsx</a:t>
            </a:r>
            <a:r>
              <a:rPr sz="1100" b="0" i="0" dirty="0">
                <a:solidFill>
                  <a:srgbClr val="FFFF00"/>
                </a:solidFill>
                <a:latin typeface="Consolas"/>
              </a:rPr>
              <a:t> (continued)</a:t>
            </a:r>
            <a:br>
              <a:rPr sz="3200" dirty="0"/>
            </a:br>
            <a:r>
              <a:rPr sz="1100" b="0" i="0" dirty="0">
                <a:latin typeface="Consolas"/>
              </a:rPr>
              <a:t>import { </a:t>
            </a:r>
            <a:r>
              <a:rPr sz="1100" b="0" i="0" dirty="0" err="1">
                <a:latin typeface="Consolas"/>
              </a:rPr>
              <a:t>useState</a:t>
            </a:r>
            <a:r>
              <a:rPr sz="1100" b="0" i="0" dirty="0">
                <a:latin typeface="Consolas"/>
              </a:rPr>
              <a:t> } from 'react</a:t>
            </a:r>
            <a:r>
              <a:rPr lang="en-US" sz="1100" b="0" i="0" dirty="0">
                <a:latin typeface="Consolas"/>
              </a:rPr>
              <a:t>'</a:t>
            </a:r>
            <a:r>
              <a:rPr sz="1100" b="0" i="0" dirty="0">
                <a:latin typeface="Consolas"/>
              </a:rPr>
              <a:t>;</a:t>
            </a:r>
            <a:br>
              <a:rPr sz="3200" dirty="0"/>
            </a:br>
            <a:br>
              <a:rPr lang="en-US" sz="1200" dirty="0"/>
            </a:br>
            <a:r>
              <a:rPr sz="1100" b="0" i="0" dirty="0">
                <a:latin typeface="Consolas"/>
              </a:rPr>
              <a:t>export function </a:t>
            </a:r>
            <a:r>
              <a:rPr sz="1100" b="0" i="0" dirty="0" err="1">
                <a:latin typeface="Consolas"/>
              </a:rPr>
              <a:t>ThemeProvider</a:t>
            </a:r>
            <a:r>
              <a:rPr sz="1100" b="0" i="0" dirty="0">
                <a:latin typeface="Consolas"/>
              </a:rPr>
              <a:t>(</a:t>
            </a:r>
            <a:br>
              <a:rPr sz="3200" dirty="0"/>
            </a:br>
            <a:r>
              <a:rPr sz="1100" b="0" i="0" dirty="0">
                <a:latin typeface="Consolas"/>
              </a:rPr>
              <a:t>  { children }: { children: </a:t>
            </a:r>
            <a:r>
              <a:rPr sz="1100" b="0" i="0" dirty="0" err="1">
                <a:latin typeface="Consolas"/>
              </a:rPr>
              <a:t>React.ReactNode</a:t>
            </a:r>
            <a:r>
              <a:rPr sz="1100" b="0" i="0" dirty="0">
                <a:latin typeface="Consolas"/>
              </a:rPr>
              <a:t> }</a:t>
            </a:r>
            <a:br>
              <a:rPr sz="3200" dirty="0"/>
            </a:br>
            <a:r>
              <a:rPr sz="1100" b="0" i="0" dirty="0">
                <a:latin typeface="Consolas"/>
              </a:rPr>
              <a:t>) {</a:t>
            </a:r>
            <a:br>
              <a:rPr sz="3200" dirty="0"/>
            </a:br>
            <a:r>
              <a:rPr sz="1100" b="0" i="0" dirty="0">
                <a:solidFill>
                  <a:srgbClr val="FFFF00"/>
                </a:solidFill>
                <a:latin typeface="Consolas"/>
              </a:rPr>
              <a:t>  // state lives HERE, once, for the whole app</a:t>
            </a:r>
            <a:br>
              <a:rPr sz="3200" dirty="0"/>
            </a:br>
            <a:r>
              <a:rPr sz="1100" b="0" i="0" dirty="0">
                <a:latin typeface="Consolas"/>
              </a:rPr>
              <a:t>  const [dark, </a:t>
            </a:r>
            <a:r>
              <a:rPr sz="1100" b="0" i="0" dirty="0" err="1">
                <a:latin typeface="Consolas"/>
              </a:rPr>
              <a:t>setDark</a:t>
            </a:r>
            <a:r>
              <a:rPr sz="1100" b="0" i="0" dirty="0">
                <a:latin typeface="Consolas"/>
              </a:rPr>
              <a:t>] = </a:t>
            </a:r>
            <a:r>
              <a:rPr sz="1100" b="0" i="0" dirty="0" err="1">
                <a:latin typeface="Consolas"/>
              </a:rPr>
              <a:t>useState</a:t>
            </a:r>
            <a:r>
              <a:rPr sz="1100" b="0" i="0" dirty="0">
                <a:latin typeface="Consolas"/>
              </a:rPr>
              <a:t>(false);</a:t>
            </a:r>
            <a:br>
              <a:rPr sz="3200" dirty="0"/>
            </a:br>
            <a:r>
              <a:rPr sz="1100" b="0" i="0" dirty="0">
                <a:latin typeface="Consolas"/>
              </a:rPr>
              <a:t>  const toggle = () =&gt; </a:t>
            </a:r>
            <a:r>
              <a:rPr sz="1100" b="0" i="0" dirty="0" err="1">
                <a:latin typeface="Consolas"/>
              </a:rPr>
              <a:t>setDark</a:t>
            </a:r>
            <a:r>
              <a:rPr sz="1100" b="0" i="0" dirty="0">
                <a:latin typeface="Consolas"/>
              </a:rPr>
              <a:t>(d =&gt; !d);</a:t>
            </a:r>
            <a:br>
              <a:rPr sz="3200" dirty="0"/>
            </a:br>
            <a:br>
              <a:rPr lang="en-US" sz="1200" dirty="0"/>
            </a:br>
            <a:r>
              <a:rPr sz="1100" b="0" i="0" dirty="0">
                <a:latin typeface="Consolas"/>
              </a:rPr>
              <a:t>  const colors = dark</a:t>
            </a:r>
            <a:br>
              <a:rPr sz="3200" dirty="0"/>
            </a:br>
            <a:r>
              <a:rPr sz="1100" b="0" i="0" dirty="0">
                <a:latin typeface="Consolas"/>
              </a:rPr>
              <a:t>    ? { </a:t>
            </a:r>
            <a:r>
              <a:rPr sz="1100" b="0" i="0" dirty="0" err="1">
                <a:latin typeface="Consolas"/>
              </a:rPr>
              <a:t>bg</a:t>
            </a:r>
            <a:r>
              <a:rPr sz="1100" b="0" i="0" dirty="0">
                <a:latin typeface="Consolas"/>
              </a:rPr>
              <a:t>:'#0F172A', card:'#1E293B', text:'#F1F5F9' }</a:t>
            </a:r>
            <a:br>
              <a:rPr sz="3200" dirty="0"/>
            </a:br>
            <a:r>
              <a:rPr sz="1100" b="0" i="0" dirty="0">
                <a:latin typeface="Consolas"/>
              </a:rPr>
              <a:t>    : { </a:t>
            </a:r>
            <a:r>
              <a:rPr sz="1100" b="0" i="0" dirty="0" err="1">
                <a:latin typeface="Consolas"/>
              </a:rPr>
              <a:t>bg</a:t>
            </a:r>
            <a:r>
              <a:rPr sz="1100" b="0" i="0" dirty="0">
                <a:latin typeface="Consolas"/>
              </a:rPr>
              <a:t>:'#F8FAFC', card:'#FFFFFF', text:'#0F172A' };</a:t>
            </a:r>
            <a:br>
              <a:rPr sz="3200" dirty="0"/>
            </a:br>
            <a:br>
              <a:rPr sz="1200" dirty="0"/>
            </a:br>
            <a:r>
              <a:rPr sz="1100" b="0" i="0" dirty="0">
                <a:latin typeface="Consolas"/>
              </a:rPr>
              <a:t>  return (</a:t>
            </a:r>
            <a:br>
              <a:rPr sz="3200" dirty="0"/>
            </a:br>
            <a:r>
              <a:rPr sz="1100" b="0" i="0" dirty="0">
                <a:latin typeface="Consolas"/>
              </a:rPr>
              <a:t>    &lt;</a:t>
            </a:r>
            <a:r>
              <a:rPr sz="1100" b="0" i="0" dirty="0" err="1">
                <a:latin typeface="Consolas"/>
              </a:rPr>
              <a:t>ThemeContext.Provider</a:t>
            </a:r>
            <a:r>
              <a:rPr sz="1100" b="0" i="0" dirty="0">
                <a:latin typeface="Consolas"/>
              </a:rPr>
              <a:t> value={{ dark, toggle, colors }}&gt;</a:t>
            </a:r>
            <a:br>
              <a:rPr sz="3200" dirty="0"/>
            </a:br>
            <a:r>
              <a:rPr sz="1100" b="0" i="0" dirty="0">
                <a:latin typeface="Consolas"/>
              </a:rPr>
              <a:t>      {children}</a:t>
            </a:r>
            <a:br>
              <a:rPr sz="3200" dirty="0"/>
            </a:br>
            <a:r>
              <a:rPr sz="1100" b="0" i="0" dirty="0">
                <a:latin typeface="Consolas"/>
              </a:rPr>
              <a:t>    &lt;/</a:t>
            </a:r>
            <a:r>
              <a:rPr sz="1100" b="0" i="0" dirty="0" err="1">
                <a:latin typeface="Consolas"/>
              </a:rPr>
              <a:t>ThemeContext.Provider</a:t>
            </a:r>
            <a:r>
              <a:rPr sz="1100" b="0" i="0" dirty="0">
                <a:latin typeface="Consolas"/>
              </a:rPr>
              <a:t>&gt;</a:t>
            </a:r>
            <a:br>
              <a:rPr sz="3200" dirty="0"/>
            </a:br>
            <a:r>
              <a:rPr sz="1100" b="0" i="0" dirty="0">
                <a:latin typeface="Consolas"/>
              </a:rPr>
              <a:t>  );</a:t>
            </a:r>
            <a:br>
              <a:rPr sz="3200" dirty="0"/>
            </a:br>
            <a:r>
              <a:rPr sz="1100" b="0" i="0" dirty="0">
                <a:latin typeface="Consolas"/>
              </a:rP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1432" y="1302381"/>
            <a:ext cx="3070504" cy="1542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TextBox 12"/>
          <p:cNvSpPr txBox="1"/>
          <p:nvPr/>
        </p:nvSpPr>
        <p:spPr>
          <a:xfrm>
            <a:off x="5744611" y="1335194"/>
            <a:ext cx="288732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{children}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44610" y="1691213"/>
            <a:ext cx="2732817" cy="11515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>
                <a:solidFill>
                  <a:srgbClr val="334155"/>
                </a:solidFill>
                <a:latin typeface="Calibri"/>
              </a:rPr>
              <a:t>Whatever you wrap goes in {children}. The Provider renders it AND broadcasts the value to all of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61433" y="3204334"/>
            <a:ext cx="3070503" cy="155809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6" name="TextBox 15"/>
          <p:cNvSpPr txBox="1"/>
          <p:nvPr/>
        </p:nvSpPr>
        <p:spPr>
          <a:xfrm>
            <a:off x="5724144" y="3237147"/>
            <a:ext cx="29077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One source of truth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3593165"/>
            <a:ext cx="2907792" cy="11515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>
                <a:solidFill>
                  <a:srgbClr val="334155"/>
                </a:solidFill>
                <a:latin typeface="Calibri"/>
              </a:rPr>
              <a:t>dark, toggle and colors are bundled into the value object. Change dark once → every listener gets the new colors.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87B674-D7CE-1937-64D3-40A8D8E7ED7D}"/>
              </a:ext>
            </a:extLst>
          </p:cNvPr>
          <p:cNvSpPr/>
          <p:nvPr/>
        </p:nvSpPr>
        <p:spPr>
          <a:xfrm flipV="1">
            <a:off x="365760" y="522662"/>
            <a:ext cx="8705812" cy="45719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9921"/>
            <a:ext cx="84124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chemeClr val="bg1"/>
                </a:solidFill>
                <a:latin typeface="Calibri"/>
              </a:rPr>
              <a:t>Step 3 — The </a:t>
            </a:r>
            <a:r>
              <a:rPr sz="3200" b="1" i="0" dirty="0" err="1">
                <a:solidFill>
                  <a:schemeClr val="bg1"/>
                </a:solidFill>
                <a:latin typeface="Calibri"/>
              </a:rPr>
              <a:t>useTheme</a:t>
            </a:r>
            <a:r>
              <a:rPr sz="3200" b="1" i="0" dirty="0">
                <a:solidFill>
                  <a:schemeClr val="bg1"/>
                </a:solidFill>
                <a:latin typeface="Calibri"/>
              </a:rPr>
              <a:t> Hook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89432"/>
            <a:ext cx="84124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i="0" dirty="0">
                <a:solidFill>
                  <a:schemeClr val="bg1"/>
                </a:solidFill>
                <a:latin typeface="Calibri"/>
              </a:rPr>
              <a:t>Wrap </a:t>
            </a:r>
            <a:r>
              <a:rPr sz="2400" b="0" i="0" dirty="0" err="1">
                <a:solidFill>
                  <a:schemeClr val="bg1"/>
                </a:solidFill>
                <a:latin typeface="Calibri"/>
              </a:rPr>
              <a:t>useContext</a:t>
            </a:r>
            <a:r>
              <a:rPr sz="2400" b="0" i="0" dirty="0">
                <a:solidFill>
                  <a:schemeClr val="bg1"/>
                </a:solidFill>
                <a:latin typeface="Calibri"/>
              </a:rPr>
              <a:t> once so screens get a clean, safe import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>
                <a:solidFill>
                  <a:srgbClr val="F59E0B"/>
                </a:solidFill>
                <a:latin typeface="Calibri"/>
              </a:rPr>
              <a:t>9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4206241" cy="3108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146516"/>
            <a:ext cx="5111496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Calibri"/>
              </a:rPr>
              <a:t>useTheme</a:t>
            </a:r>
            <a:r>
              <a:rPr sz="1600" b="1" i="0" dirty="0">
                <a:solidFill>
                  <a:schemeClr val="bg2">
                    <a:lumMod val="20000"/>
                    <a:lumOff val="80000"/>
                  </a:schemeClr>
                </a:solidFill>
                <a:latin typeface="Calibri"/>
              </a:rPr>
              <a:t>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7" y="1481328"/>
            <a:ext cx="4078224" cy="2690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FFF00"/>
                </a:solidFill>
                <a:latin typeface="Consolas"/>
              </a:rPr>
              <a:t>// context/</a:t>
            </a:r>
            <a:r>
              <a:rPr sz="1100" dirty="0" err="1">
                <a:solidFill>
                  <a:srgbClr val="FFFF00"/>
                </a:solidFill>
                <a:latin typeface="Consolas"/>
              </a:rPr>
              <a:t>ThemeContext.tsx</a:t>
            </a:r>
            <a:r>
              <a:rPr sz="1100" dirty="0">
                <a:solidFill>
                  <a:srgbClr val="FFFF00"/>
                </a:solidFill>
                <a:latin typeface="Consolas"/>
              </a:rPr>
              <a:t> (continued)</a:t>
            </a:r>
            <a:br>
              <a:rPr sz="2800" dirty="0"/>
            </a:br>
            <a:r>
              <a:rPr sz="1100" b="0" i="0" dirty="0">
                <a:latin typeface="Consolas"/>
              </a:rPr>
              <a:t>import { </a:t>
            </a:r>
            <a:r>
              <a:rPr sz="1100" b="0" i="0" dirty="0" err="1">
                <a:latin typeface="Consolas"/>
              </a:rPr>
              <a:t>useContext</a:t>
            </a:r>
            <a:r>
              <a:rPr sz="1100" b="0" i="0" dirty="0">
                <a:latin typeface="Consolas"/>
              </a:rPr>
              <a:t> } from 'react';</a:t>
            </a:r>
            <a:br>
              <a:rPr sz="2800" dirty="0"/>
            </a:br>
            <a:br>
              <a:rPr sz="1200" dirty="0"/>
            </a:br>
            <a:r>
              <a:rPr sz="1100" b="0" i="0" dirty="0">
                <a:latin typeface="Consolas"/>
              </a:rPr>
              <a:t>export function </a:t>
            </a:r>
            <a:r>
              <a:rPr sz="1100" b="0" i="0" dirty="0" err="1">
                <a:latin typeface="Consolas"/>
              </a:rPr>
              <a:t>useTheme</a:t>
            </a:r>
            <a:r>
              <a:rPr sz="1100" b="0" i="0" dirty="0">
                <a:latin typeface="Consolas"/>
              </a:rPr>
              <a:t>() {</a:t>
            </a:r>
            <a:br>
              <a:rPr sz="2800" dirty="0"/>
            </a:br>
            <a:r>
              <a:rPr sz="1100" b="0" i="0" dirty="0">
                <a:latin typeface="Consolas"/>
              </a:rPr>
              <a:t>  const </a:t>
            </a:r>
            <a:r>
              <a:rPr sz="1100" b="0" i="0" dirty="0" err="1">
                <a:latin typeface="Consolas"/>
              </a:rPr>
              <a:t>ctx</a:t>
            </a:r>
            <a:r>
              <a:rPr sz="1100" b="0" i="0" dirty="0">
                <a:latin typeface="Consolas"/>
              </a:rPr>
              <a:t> = </a:t>
            </a:r>
            <a:r>
              <a:rPr sz="1100" b="0" i="0" dirty="0" err="1">
                <a:latin typeface="Consolas"/>
              </a:rPr>
              <a:t>useContext</a:t>
            </a:r>
            <a:r>
              <a:rPr sz="1100" b="0" i="0" dirty="0">
                <a:latin typeface="Consolas"/>
              </a:rPr>
              <a:t>(</a:t>
            </a:r>
            <a:r>
              <a:rPr sz="1100" b="0" i="0" dirty="0" err="1">
                <a:latin typeface="Consolas"/>
              </a:rPr>
              <a:t>ThemeContext</a:t>
            </a:r>
            <a:r>
              <a:rPr sz="1100" b="0" i="0" dirty="0">
                <a:latin typeface="Consolas"/>
              </a:rPr>
              <a:t>);</a:t>
            </a:r>
            <a:br>
              <a:rPr sz="2800" dirty="0"/>
            </a:br>
            <a:br>
              <a:rPr sz="1200" dirty="0"/>
            </a:br>
            <a:r>
              <a:rPr sz="1100" b="0" i="0" dirty="0">
                <a:solidFill>
                  <a:srgbClr val="059696"/>
                </a:solidFill>
                <a:latin typeface="Consolas"/>
              </a:rPr>
              <a:t>  </a:t>
            </a:r>
            <a:r>
              <a:rPr sz="1100" dirty="0">
                <a:solidFill>
                  <a:srgbClr val="FFFF00"/>
                </a:solidFill>
                <a:latin typeface="Consolas"/>
              </a:rPr>
              <a:t>// guard: did someone forget the Provider?</a:t>
            </a:r>
            <a:br>
              <a:rPr sz="2800" dirty="0"/>
            </a:br>
            <a:r>
              <a:rPr sz="1100" b="0" i="0" dirty="0">
                <a:solidFill>
                  <a:srgbClr val="059696"/>
                </a:solidFill>
                <a:latin typeface="Consolas"/>
              </a:rPr>
              <a:t>  </a:t>
            </a:r>
            <a:r>
              <a:rPr sz="1100" b="0" i="0" dirty="0">
                <a:latin typeface="Consolas"/>
              </a:rPr>
              <a:t>if (</a:t>
            </a:r>
            <a:r>
              <a:rPr sz="1100" b="0" i="0" dirty="0" err="1">
                <a:latin typeface="Consolas"/>
              </a:rPr>
              <a:t>ctx</a:t>
            </a:r>
            <a:r>
              <a:rPr sz="1100" b="0" i="0" dirty="0">
                <a:latin typeface="Consolas"/>
              </a:rPr>
              <a:t> === undefined) {</a:t>
            </a:r>
            <a:br>
              <a:rPr sz="2800" dirty="0"/>
            </a:br>
            <a:r>
              <a:rPr sz="1100" b="0" i="0" dirty="0">
                <a:latin typeface="Consolas"/>
              </a:rPr>
              <a:t>    throw new Error(</a:t>
            </a:r>
            <a:br>
              <a:rPr sz="2800" dirty="0"/>
            </a:br>
            <a:r>
              <a:rPr sz="1100" b="0" i="0" dirty="0">
                <a:latin typeface="Consolas"/>
              </a:rPr>
              <a:t>      '</a:t>
            </a:r>
            <a:r>
              <a:rPr sz="1100" b="0" i="0" dirty="0" err="1">
                <a:latin typeface="Consolas"/>
              </a:rPr>
              <a:t>useTheme</a:t>
            </a:r>
            <a:r>
              <a:rPr sz="1100" b="0" i="0" dirty="0">
                <a:latin typeface="Consolas"/>
              </a:rPr>
              <a:t> must be used inside </a:t>
            </a:r>
            <a:r>
              <a:rPr sz="1100" b="0" i="0" dirty="0" err="1">
                <a:latin typeface="Consolas"/>
              </a:rPr>
              <a:t>ThemeProvider</a:t>
            </a:r>
            <a:r>
              <a:rPr sz="1100" b="0" i="0" dirty="0">
                <a:latin typeface="Consolas"/>
              </a:rPr>
              <a:t>'</a:t>
            </a:r>
            <a:br>
              <a:rPr sz="2800" dirty="0"/>
            </a:br>
            <a:r>
              <a:rPr sz="1100" b="0" i="0" dirty="0">
                <a:latin typeface="Consolas"/>
              </a:rPr>
              <a:t>    );</a:t>
            </a:r>
            <a:br>
              <a:rPr sz="2800" dirty="0"/>
            </a:br>
            <a:r>
              <a:rPr sz="1100" b="0" i="0" dirty="0">
                <a:latin typeface="Consolas"/>
              </a:rPr>
              <a:t>  }</a:t>
            </a:r>
            <a:br>
              <a:rPr sz="2800" dirty="0"/>
            </a:br>
            <a:br>
              <a:rPr sz="1200" dirty="0"/>
            </a:br>
            <a:r>
              <a:rPr sz="1100" b="0" i="0" dirty="0">
                <a:solidFill>
                  <a:srgbClr val="059696"/>
                </a:solidFill>
                <a:latin typeface="Consolas"/>
              </a:rPr>
              <a:t>  </a:t>
            </a:r>
            <a:r>
              <a:rPr sz="1100" b="0" i="0" dirty="0">
                <a:latin typeface="Consolas"/>
              </a:rPr>
              <a:t>return </a:t>
            </a:r>
            <a:r>
              <a:rPr sz="1100" b="0" i="0" dirty="0" err="1">
                <a:latin typeface="Consolas"/>
              </a:rPr>
              <a:t>ctx</a:t>
            </a:r>
            <a:r>
              <a:rPr sz="1100" b="0" i="0" dirty="0">
                <a:latin typeface="Consolas"/>
              </a:rPr>
              <a:t>; </a:t>
            </a:r>
            <a:r>
              <a:rPr sz="1100" b="0" i="0" dirty="0">
                <a:solidFill>
                  <a:srgbClr val="FFFF00"/>
                </a:solidFill>
                <a:latin typeface="Consolas"/>
              </a:rPr>
              <a:t>// { dark, toggle, colors </a:t>
            </a:r>
            <a:r>
              <a:rPr sz="1100" dirty="0">
                <a:solidFill>
                  <a:srgbClr val="FFFF00"/>
                </a:solidFill>
                <a:latin typeface="Consolas"/>
              </a:rPr>
              <a:t>}</a:t>
            </a:r>
            <a:br>
              <a:rPr sz="2800" dirty="0"/>
            </a:br>
            <a:r>
              <a:rPr sz="1100" b="0" i="0" dirty="0">
                <a:latin typeface="Consolas"/>
              </a:rP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66824" y="1097280"/>
            <a:ext cx="3411416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TextBox 12"/>
          <p:cNvSpPr txBox="1"/>
          <p:nvPr/>
        </p:nvSpPr>
        <p:spPr>
          <a:xfrm>
            <a:off x="5477256" y="1129633"/>
            <a:ext cx="31546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Why a custom hook?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77256" y="1463038"/>
            <a:ext cx="3154680" cy="1023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>
                <a:solidFill>
                  <a:srgbClr val="334155"/>
                </a:solidFill>
                <a:latin typeface="Calibri"/>
              </a:rPr>
              <a:t>Screens write </a:t>
            </a:r>
            <a:r>
              <a:rPr sz="1600" b="0" i="0" dirty="0" err="1">
                <a:solidFill>
                  <a:srgbClr val="334155"/>
                </a:solidFill>
                <a:latin typeface="Calibri"/>
              </a:rPr>
              <a:t>useTheme</a:t>
            </a:r>
            <a:r>
              <a:rPr sz="1600" b="0" i="0" dirty="0">
                <a:solidFill>
                  <a:srgbClr val="334155"/>
                </a:solidFill>
                <a:latin typeface="Calibri"/>
              </a:rPr>
              <a:t>() instead of </a:t>
            </a:r>
            <a:r>
              <a:rPr sz="1600" b="0" i="0" dirty="0" err="1">
                <a:solidFill>
                  <a:srgbClr val="334155"/>
                </a:solidFill>
                <a:latin typeface="Calibri"/>
              </a:rPr>
              <a:t>useContext</a:t>
            </a:r>
            <a:r>
              <a:rPr sz="1600" b="0" i="0" dirty="0">
                <a:solidFill>
                  <a:srgbClr val="334155"/>
                </a:solidFill>
                <a:latin typeface="Calibri"/>
              </a:rPr>
              <a:t>(</a:t>
            </a:r>
            <a:r>
              <a:rPr sz="1600" b="0" i="0" dirty="0" err="1">
                <a:solidFill>
                  <a:srgbClr val="334155"/>
                </a:solidFill>
                <a:latin typeface="Calibri"/>
              </a:rPr>
              <a:t>ThemeContext</a:t>
            </a:r>
            <a:r>
              <a:rPr sz="1600" b="0" i="0" dirty="0">
                <a:solidFill>
                  <a:srgbClr val="334155"/>
                </a:solidFill>
                <a:latin typeface="Calibri"/>
              </a:rPr>
              <a:t>). Shorter, and the context object stays private to this file.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66824" y="2651760"/>
            <a:ext cx="3411415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6" name="TextBox 15"/>
          <p:cNvSpPr txBox="1"/>
          <p:nvPr/>
        </p:nvSpPr>
        <p:spPr>
          <a:xfrm>
            <a:off x="5769864" y="2684114"/>
            <a:ext cx="286207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Calibri"/>
              </a:rPr>
              <a:t>The guard earns its keep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7256" y="3024552"/>
            <a:ext cx="3154680" cy="1023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>
                <a:solidFill>
                  <a:srgbClr val="334155"/>
                </a:solidFill>
                <a:latin typeface="Calibri"/>
              </a:rPr>
              <a:t>If a component calls </a:t>
            </a:r>
            <a:r>
              <a:rPr sz="1600" b="0" i="0" dirty="0" err="1">
                <a:solidFill>
                  <a:srgbClr val="334155"/>
                </a:solidFill>
                <a:latin typeface="Calibri"/>
              </a:rPr>
              <a:t>useTheme</a:t>
            </a:r>
            <a:r>
              <a:rPr sz="1600" b="0" i="0" dirty="0">
                <a:solidFill>
                  <a:srgbClr val="334155"/>
                </a:solidFill>
                <a:latin typeface="Calibri"/>
              </a:rPr>
              <a:t>() but no Provider wraps it, </a:t>
            </a:r>
            <a:r>
              <a:rPr sz="1600" b="0" i="0" dirty="0" err="1">
                <a:solidFill>
                  <a:srgbClr val="334155"/>
                </a:solidFill>
                <a:latin typeface="Calibri"/>
              </a:rPr>
              <a:t>ctx</a:t>
            </a:r>
            <a:r>
              <a:rPr sz="1600" b="0" i="0" dirty="0">
                <a:solidFill>
                  <a:srgbClr val="334155"/>
                </a:solidFill>
                <a:latin typeface="Calibri"/>
              </a:rPr>
              <a:t> is undefined. We throw a readable error pointing straight at the cause.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587" y="4308824"/>
            <a:ext cx="7554351" cy="73866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Calibri"/>
              </a:rPr>
              <a:t>3</a:t>
            </a:r>
            <a:r>
              <a:rPr sz="2400" dirty="0">
                <a:solidFill>
                  <a:schemeClr val="bg1"/>
                </a:solidFill>
                <a:latin typeface="Calibri"/>
              </a:rPr>
              <a:t> exports from one file: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ThemeContext</a:t>
            </a:r>
            <a:r>
              <a:rPr sz="2400" dirty="0">
                <a:solidFill>
                  <a:schemeClr val="bg1"/>
                </a:solidFill>
                <a:latin typeface="Calibri"/>
              </a:rPr>
              <a:t>,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ThemeProvider</a:t>
            </a:r>
            <a:r>
              <a:rPr sz="2400" dirty="0">
                <a:solidFill>
                  <a:schemeClr val="bg1"/>
                </a:solidFill>
                <a:latin typeface="Calibri"/>
              </a:rPr>
              <a:t>, and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useTheme</a:t>
            </a:r>
            <a:r>
              <a:rPr sz="2400" dirty="0">
                <a:solidFill>
                  <a:schemeClr val="bg1"/>
                </a:solidFill>
                <a:latin typeface="Calibri"/>
              </a:rPr>
              <a:t>. Screens only ever import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useTheme</a:t>
            </a:r>
            <a:r>
              <a:rPr sz="2400" dirty="0">
                <a:solidFill>
                  <a:schemeClr val="bg1"/>
                </a:solidFill>
                <a:latin typeface="Calibri"/>
              </a:rPr>
              <a:t>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AEB6A20-E332-D0A5-F39F-348D3C5BB43E}"/>
              </a:ext>
            </a:extLst>
          </p:cNvPr>
          <p:cNvSpPr/>
          <p:nvPr/>
        </p:nvSpPr>
        <p:spPr>
          <a:xfrm flipV="1">
            <a:off x="365760" y="522662"/>
            <a:ext cx="8705812" cy="45719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61563"/>
            <a:ext cx="84124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defTabSz="914400">
              <a:defRPr/>
            </a:pPr>
            <a:r>
              <a:rPr lang="en-US" sz="3200" b="1" dirty="0">
                <a:solidFill>
                  <a:schemeClr val="bg1"/>
                </a:solidFill>
              </a:rPr>
              <a:t>Integrating </a:t>
            </a:r>
            <a:r>
              <a:rPr lang="en-US" sz="3200" b="1" dirty="0" err="1">
                <a:solidFill>
                  <a:schemeClr val="bg1"/>
                </a:solidFill>
              </a:rPr>
              <a:t>ThemeProvider</a:t>
            </a:r>
            <a:r>
              <a:rPr lang="en-US" sz="3200" b="1" dirty="0">
                <a:solidFill>
                  <a:schemeClr val="bg1"/>
                </a:solidFill>
              </a:rPr>
              <a:t> into the App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631636"/>
            <a:ext cx="84124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i="0" dirty="0">
                <a:solidFill>
                  <a:schemeClr val="bg1"/>
                </a:solidFill>
                <a:latin typeface="Calibri"/>
              </a:rPr>
              <a:t>The Provider goes in the ROOT layout so every route is inside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>
                <a:solidFill>
                  <a:srgbClr val="F59E0B"/>
                </a:solidFill>
                <a:latin typeface="Calibri"/>
              </a:rPr>
              <a:t>10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4930726" cy="3931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118380"/>
            <a:ext cx="5486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 dirty="0">
                <a:solidFill>
                  <a:schemeClr val="bg2">
                    <a:lumMod val="20000"/>
                    <a:lumOff val="80000"/>
                  </a:schemeClr>
                </a:solidFill>
                <a:latin typeface="Calibri"/>
              </a:rPr>
              <a:t>app/_</a:t>
            </a:r>
            <a:r>
              <a:rPr sz="1600" b="1" i="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Calibri"/>
              </a:rPr>
              <a:t>layout.tsx</a:t>
            </a:r>
            <a:endParaRPr sz="1600" b="1" i="0" dirty="0">
              <a:solidFill>
                <a:schemeClr val="bg2">
                  <a:lumMod val="20000"/>
                  <a:lumOff val="80000"/>
                </a:schemeClr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93777" y="1403954"/>
            <a:ext cx="4718304" cy="34820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 dirty="0">
                <a:solidFill>
                  <a:srgbClr val="FFFF00"/>
                </a:solidFill>
                <a:latin typeface="Consolas"/>
              </a:rPr>
              <a:t>// app/_</a:t>
            </a:r>
            <a:r>
              <a:rPr sz="1200" b="1" i="0" dirty="0" err="1">
                <a:solidFill>
                  <a:srgbClr val="FFFF00"/>
                </a:solidFill>
                <a:latin typeface="Consolas"/>
              </a:rPr>
              <a:t>layout.tsx</a:t>
            </a:r>
            <a:br>
              <a:rPr sz="3600" dirty="0"/>
            </a:br>
            <a:r>
              <a:rPr sz="1200" b="0" i="0" dirty="0">
                <a:latin typeface="Consolas"/>
              </a:rPr>
              <a:t>import { Stack } from 'expo-router';</a:t>
            </a:r>
            <a:br>
              <a:rPr sz="3600" dirty="0"/>
            </a:br>
            <a:r>
              <a:rPr sz="1200" b="0" i="0" dirty="0">
                <a:latin typeface="Consolas"/>
              </a:rPr>
              <a:t>import { </a:t>
            </a:r>
            <a:r>
              <a:rPr sz="1200" b="0" i="0" dirty="0" err="1">
                <a:latin typeface="Consolas"/>
              </a:rPr>
              <a:t>SafeAreaProvider</a:t>
            </a:r>
            <a:r>
              <a:rPr sz="1200" b="0" i="0" dirty="0">
                <a:latin typeface="Consolas"/>
              </a:rPr>
              <a:t> }</a:t>
            </a:r>
            <a:br>
              <a:rPr sz="3600" dirty="0"/>
            </a:br>
            <a:r>
              <a:rPr sz="1200" b="0" i="0" dirty="0">
                <a:latin typeface="Consolas"/>
              </a:rPr>
              <a:t>  from 'react-native-safe-area-context';</a:t>
            </a:r>
            <a:br>
              <a:rPr sz="3600" dirty="0"/>
            </a:br>
            <a:r>
              <a:rPr sz="1200" b="0" i="0" dirty="0">
                <a:latin typeface="Consolas"/>
              </a:rPr>
              <a:t>import { </a:t>
            </a:r>
            <a:r>
              <a:rPr sz="1200" b="0" i="0" dirty="0" err="1">
                <a:latin typeface="Consolas"/>
              </a:rPr>
              <a:t>ThemeProvider</a:t>
            </a:r>
            <a:r>
              <a:rPr sz="1200" b="0" i="0" dirty="0">
                <a:latin typeface="Consolas"/>
              </a:rPr>
              <a:t> }</a:t>
            </a:r>
            <a:br>
              <a:rPr sz="3600" dirty="0"/>
            </a:br>
            <a:r>
              <a:rPr sz="1200" b="0" i="0" dirty="0">
                <a:latin typeface="Consolas"/>
              </a:rPr>
              <a:t>  from '../context/</a:t>
            </a:r>
            <a:r>
              <a:rPr sz="1200" b="0" i="0" dirty="0" err="1">
                <a:latin typeface="Consolas"/>
              </a:rPr>
              <a:t>ThemeContext</a:t>
            </a:r>
            <a:r>
              <a:rPr sz="1200" b="0" i="0" dirty="0">
                <a:latin typeface="Consolas"/>
              </a:rPr>
              <a:t>';</a:t>
            </a:r>
            <a:br>
              <a:rPr sz="3600" dirty="0"/>
            </a:br>
            <a:br>
              <a:rPr sz="1400" dirty="0"/>
            </a:br>
            <a:r>
              <a:rPr sz="1200" b="0" i="0" dirty="0">
                <a:latin typeface="Consolas"/>
              </a:rPr>
              <a:t>export default function </a:t>
            </a:r>
            <a:r>
              <a:rPr sz="1200" b="0" i="0" dirty="0" err="1">
                <a:latin typeface="Consolas"/>
              </a:rPr>
              <a:t>RootLayout</a:t>
            </a:r>
            <a:r>
              <a:rPr sz="1200" b="0" i="0" dirty="0">
                <a:latin typeface="Consolas"/>
              </a:rPr>
              <a:t>() {</a:t>
            </a:r>
            <a:br>
              <a:rPr sz="3600" dirty="0"/>
            </a:br>
            <a:r>
              <a:rPr sz="1200" b="0" i="0" dirty="0">
                <a:latin typeface="Consolas"/>
              </a:rPr>
              <a:t>  return (</a:t>
            </a:r>
            <a:br>
              <a:rPr sz="3600" dirty="0"/>
            </a:br>
            <a:r>
              <a:rPr sz="1200" b="0" i="0" dirty="0">
                <a:latin typeface="Consolas"/>
              </a:rPr>
              <a:t>    &lt;</a:t>
            </a:r>
            <a:r>
              <a:rPr sz="1200" b="0" i="0" dirty="0" err="1">
                <a:latin typeface="Consolas"/>
              </a:rPr>
              <a:t>ThemeProvider</a:t>
            </a:r>
            <a:r>
              <a:rPr sz="1200" b="0" i="0" dirty="0">
                <a:latin typeface="Consolas"/>
              </a:rPr>
              <a:t>&gt;          {/* wraps EVERYTHING */}</a:t>
            </a:r>
            <a:br>
              <a:rPr sz="3600" dirty="0"/>
            </a:br>
            <a:r>
              <a:rPr sz="1200" b="0" i="0" dirty="0">
                <a:latin typeface="Consolas"/>
              </a:rPr>
              <a:t>      &lt;</a:t>
            </a:r>
            <a:r>
              <a:rPr sz="1200" b="0" i="0" dirty="0" err="1">
                <a:latin typeface="Consolas"/>
              </a:rPr>
              <a:t>SafeAreaProvider</a:t>
            </a:r>
            <a:r>
              <a:rPr sz="1200" b="0" i="0" dirty="0">
                <a:latin typeface="Consolas"/>
              </a:rPr>
              <a:t>&gt;</a:t>
            </a:r>
            <a:br>
              <a:rPr sz="3600" dirty="0"/>
            </a:br>
            <a:r>
              <a:rPr sz="1200" b="0" i="0" dirty="0">
                <a:latin typeface="Consolas"/>
              </a:rPr>
              <a:t>        &lt;Stack </a:t>
            </a:r>
            <a:r>
              <a:rPr sz="1200" b="0" i="0" dirty="0" err="1">
                <a:latin typeface="Consolas"/>
              </a:rPr>
              <a:t>screenOptions</a:t>
            </a:r>
            <a:r>
              <a:rPr sz="1200" b="0" i="0" dirty="0">
                <a:latin typeface="Consolas"/>
              </a:rPr>
              <a:t>={{ </a:t>
            </a:r>
            <a:r>
              <a:rPr sz="1200" b="0" i="0" dirty="0" err="1">
                <a:latin typeface="Consolas"/>
              </a:rPr>
              <a:t>headerShown:false</a:t>
            </a:r>
            <a:r>
              <a:rPr sz="1200" b="0" i="0" dirty="0">
                <a:latin typeface="Consolas"/>
              </a:rPr>
              <a:t> }}&gt;</a:t>
            </a:r>
            <a:br>
              <a:rPr sz="3600" dirty="0"/>
            </a:br>
            <a:r>
              <a:rPr sz="1200" b="0" i="0" dirty="0">
                <a:latin typeface="Consolas"/>
              </a:rPr>
              <a:t>          &lt;</a:t>
            </a:r>
            <a:r>
              <a:rPr sz="1200" b="0" i="0" dirty="0" err="1">
                <a:latin typeface="Consolas"/>
              </a:rPr>
              <a:t>Stack.Screen</a:t>
            </a:r>
            <a:r>
              <a:rPr sz="1200" b="0" i="0" dirty="0">
                <a:latin typeface="Consolas"/>
              </a:rPr>
              <a:t> name='(tabs)' /&gt;</a:t>
            </a:r>
            <a:br>
              <a:rPr sz="3600" dirty="0"/>
            </a:br>
            <a:r>
              <a:rPr sz="1200" b="0" i="0" dirty="0">
                <a:latin typeface="Consolas"/>
              </a:rPr>
              <a:t>        &lt;/Stack&gt;</a:t>
            </a:r>
            <a:br>
              <a:rPr sz="3600" dirty="0"/>
            </a:br>
            <a:r>
              <a:rPr sz="1200" b="0" i="0" dirty="0">
                <a:latin typeface="Consolas"/>
              </a:rPr>
              <a:t>      &lt;/</a:t>
            </a:r>
            <a:r>
              <a:rPr sz="1200" b="0" i="0" dirty="0" err="1">
                <a:latin typeface="Consolas"/>
              </a:rPr>
              <a:t>SafeAreaProvider</a:t>
            </a:r>
            <a:r>
              <a:rPr sz="1200" b="0" i="0" dirty="0">
                <a:latin typeface="Consolas"/>
              </a:rPr>
              <a:t>&gt;</a:t>
            </a:r>
            <a:br>
              <a:rPr sz="3600" dirty="0"/>
            </a:br>
            <a:r>
              <a:rPr sz="1200" b="0" i="0" dirty="0">
                <a:latin typeface="Consolas"/>
              </a:rPr>
              <a:t>    &lt;/</a:t>
            </a:r>
            <a:r>
              <a:rPr sz="1200" b="0" i="0" dirty="0" err="1">
                <a:latin typeface="Consolas"/>
              </a:rPr>
              <a:t>ThemeProvider</a:t>
            </a:r>
            <a:r>
              <a:rPr sz="1200" b="0" i="0" dirty="0">
                <a:latin typeface="Consolas"/>
              </a:rPr>
              <a:t>&gt;</a:t>
            </a:r>
            <a:br>
              <a:rPr sz="3600" dirty="0"/>
            </a:br>
            <a:r>
              <a:rPr sz="1200" b="0" i="0" dirty="0">
                <a:latin typeface="Consolas"/>
              </a:rPr>
              <a:t>  );</a:t>
            </a:r>
            <a:br>
              <a:rPr sz="3600" dirty="0"/>
            </a:br>
            <a:r>
              <a:rPr sz="1200" b="0" i="0" dirty="0">
                <a:latin typeface="Consolas"/>
              </a:rP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2246" y="1161077"/>
            <a:ext cx="3298874" cy="196647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TextBox 12"/>
          <p:cNvSpPr txBox="1"/>
          <p:nvPr/>
        </p:nvSpPr>
        <p:spPr>
          <a:xfrm>
            <a:off x="5777729" y="1270805"/>
            <a:ext cx="277977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Why the root?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7729" y="1618278"/>
            <a:ext cx="2926080" cy="14424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>
                <a:solidFill>
                  <a:srgbClr val="334155"/>
                </a:solidFill>
                <a:latin typeface="Calibri"/>
              </a:rPr>
              <a:t>_</a:t>
            </a:r>
            <a:r>
              <a:rPr b="0" i="0" dirty="0" err="1">
                <a:solidFill>
                  <a:srgbClr val="334155"/>
                </a:solidFill>
                <a:latin typeface="Calibri"/>
              </a:rPr>
              <a:t>layout.tsx</a:t>
            </a:r>
            <a:r>
              <a:rPr b="0" i="0" dirty="0">
                <a:solidFill>
                  <a:srgbClr val="334155"/>
                </a:solidFill>
                <a:latin typeface="Calibri"/>
              </a:rPr>
              <a:t> is the outermost component in an Expo Router app. Wrap it here and EVERY tab, stack, and screen sits inside the Provider.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87816" y="3201258"/>
            <a:ext cx="3298872" cy="1647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77729" y="3257821"/>
            <a:ext cx="277977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Wrap order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7729" y="3605293"/>
            <a:ext cx="2926080" cy="11515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 err="1">
                <a:solidFill>
                  <a:srgbClr val="334155"/>
                </a:solidFill>
                <a:latin typeface="Calibri"/>
              </a:rPr>
              <a:t>ThemeProvider</a:t>
            </a:r>
            <a:r>
              <a:rPr b="0" i="0" dirty="0">
                <a:solidFill>
                  <a:srgbClr val="334155"/>
                </a:solidFill>
                <a:latin typeface="Calibri"/>
              </a:rPr>
              <a:t> on the outside, navigation inside. Providers can nest — auth, theme, cart — each one wrapping the next.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F34C8C-A2E0-8892-3B42-8A7EA1930BFB}"/>
              </a:ext>
            </a:extLst>
          </p:cNvPr>
          <p:cNvSpPr/>
          <p:nvPr/>
        </p:nvSpPr>
        <p:spPr>
          <a:xfrm flipV="1">
            <a:off x="365760" y="522662"/>
            <a:ext cx="8705812" cy="45719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25343"/>
            <a:ext cx="84124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defTabSz="914400">
              <a:defRPr/>
            </a:pPr>
            <a:r>
              <a:rPr lang="en-US" sz="3200" b="1" dirty="0">
                <a:solidFill>
                  <a:schemeClr val="bg1"/>
                </a:solidFill>
              </a:rPr>
              <a:t>Accessing Shared Theme Data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669422"/>
            <a:ext cx="84124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i="0" dirty="0">
                <a:solidFill>
                  <a:schemeClr val="bg1"/>
                </a:solidFill>
                <a:latin typeface="Calibri"/>
              </a:rPr>
              <a:t>Any screen — no props, no drilling — just </a:t>
            </a:r>
            <a:r>
              <a:rPr sz="2400" b="0" i="0" dirty="0" err="1">
                <a:solidFill>
                  <a:schemeClr val="bg1"/>
                </a:solidFill>
                <a:latin typeface="Calibri"/>
              </a:rPr>
              <a:t>useTheme</a:t>
            </a:r>
            <a:r>
              <a:rPr sz="2400" b="0" i="0" dirty="0">
                <a:solidFill>
                  <a:schemeClr val="bg1"/>
                </a:solidFill>
                <a:latin typeface="Calibri"/>
              </a:rPr>
              <a:t>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>
                <a:solidFill>
                  <a:srgbClr val="F59E0B"/>
                </a:solidFill>
                <a:latin typeface="Calibri"/>
              </a:rPr>
              <a:t>11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131838" y="1278037"/>
            <a:ext cx="5486400" cy="335776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1838" y="1369477"/>
            <a:ext cx="5486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 dirty="0">
                <a:solidFill>
                  <a:schemeClr val="bg2">
                    <a:lumMod val="20000"/>
                    <a:lumOff val="80000"/>
                  </a:schemeClr>
                </a:solidFill>
                <a:latin typeface="Calibri"/>
              </a:rPr>
              <a:t>Home reads colors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854" y="1662085"/>
            <a:ext cx="5230368" cy="28672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FFFF00"/>
                </a:solidFill>
                <a:latin typeface="Consolas"/>
              </a:rPr>
              <a:t>// app/(tabs)/</a:t>
            </a:r>
            <a:r>
              <a:rPr sz="1200" b="0" i="0" dirty="0" err="1">
                <a:solidFill>
                  <a:srgbClr val="FFFF00"/>
                </a:solidFill>
                <a:latin typeface="Consolas"/>
              </a:rPr>
              <a:t>index.tsx</a:t>
            </a:r>
            <a:r>
              <a:rPr sz="1200" b="0" i="0" dirty="0">
                <a:solidFill>
                  <a:srgbClr val="FFFF00"/>
                </a:solidFill>
                <a:latin typeface="Consolas"/>
              </a:rPr>
              <a:t>  - Home</a:t>
            </a:r>
            <a:br>
              <a:rPr sz="3600" dirty="0"/>
            </a:br>
            <a:r>
              <a:rPr sz="1200" b="0" i="0" dirty="0">
                <a:latin typeface="Consolas"/>
              </a:rPr>
              <a:t>import { View, Text } from 'react-native';</a:t>
            </a:r>
            <a:br>
              <a:rPr sz="3600" dirty="0"/>
            </a:br>
            <a:r>
              <a:rPr sz="1200" b="0" i="0" dirty="0">
                <a:latin typeface="Consolas"/>
              </a:rPr>
              <a:t>import { </a:t>
            </a:r>
            <a:r>
              <a:rPr sz="1200" b="0" i="0" dirty="0" err="1">
                <a:latin typeface="Consolas"/>
              </a:rPr>
              <a:t>useTheme</a:t>
            </a:r>
            <a:r>
              <a:rPr sz="1200" b="0" i="0" dirty="0">
                <a:latin typeface="Consolas"/>
              </a:rPr>
              <a:t> } from '../../context/</a:t>
            </a:r>
            <a:r>
              <a:rPr sz="1200" b="0" i="0" dirty="0" err="1">
                <a:latin typeface="Consolas"/>
              </a:rPr>
              <a:t>ThemeContext</a:t>
            </a:r>
            <a:r>
              <a:rPr sz="1200" b="0" i="0" dirty="0">
                <a:latin typeface="Consolas"/>
              </a:rPr>
              <a:t>';</a:t>
            </a:r>
            <a:br>
              <a:rPr sz="3600" dirty="0"/>
            </a:br>
            <a:br>
              <a:rPr sz="1100" dirty="0"/>
            </a:br>
            <a:r>
              <a:rPr sz="1200" b="0" i="0" dirty="0">
                <a:latin typeface="Consolas"/>
              </a:rPr>
              <a:t>export default function Home() {</a:t>
            </a:r>
            <a:br>
              <a:rPr sz="3600" dirty="0"/>
            </a:br>
            <a:r>
              <a:rPr sz="1200" b="0" i="0" dirty="0">
                <a:latin typeface="Consolas"/>
              </a:rPr>
              <a:t>  const { colors } = </a:t>
            </a:r>
            <a:r>
              <a:rPr sz="1200" b="0" i="0" dirty="0" err="1">
                <a:latin typeface="Consolas"/>
              </a:rPr>
              <a:t>useTheme</a:t>
            </a:r>
            <a:r>
              <a:rPr sz="1200" b="0" i="0" dirty="0">
                <a:latin typeface="Consolas"/>
              </a:rPr>
              <a:t>();   </a:t>
            </a:r>
            <a:r>
              <a:rPr sz="1200" b="0" i="0" dirty="0">
                <a:solidFill>
                  <a:srgbClr val="FFFF00"/>
                </a:solidFill>
                <a:latin typeface="Consolas"/>
              </a:rPr>
              <a:t>// tune in</a:t>
            </a:r>
            <a:br>
              <a:rPr sz="3600" dirty="0"/>
            </a:br>
            <a:br>
              <a:rPr sz="1100" dirty="0"/>
            </a:br>
            <a:r>
              <a:rPr sz="1200" b="0" i="0" dirty="0">
                <a:latin typeface="Consolas"/>
              </a:rPr>
              <a:t>  return (</a:t>
            </a:r>
            <a:br>
              <a:rPr sz="3600" dirty="0"/>
            </a:br>
            <a:r>
              <a:rPr sz="1200" b="0" i="0" dirty="0">
                <a:latin typeface="Consolas"/>
              </a:rPr>
              <a:t>    &lt;View style={{ flex:1, </a:t>
            </a:r>
            <a:r>
              <a:rPr sz="1200" b="0" i="0" dirty="0" err="1">
                <a:latin typeface="Consolas"/>
              </a:rPr>
              <a:t>backgroundColor</a:t>
            </a:r>
            <a:r>
              <a:rPr sz="1200" b="0" i="0" dirty="0">
                <a:latin typeface="Consolas"/>
              </a:rPr>
              <a:t>: colors.bg }}&gt;</a:t>
            </a:r>
            <a:br>
              <a:rPr sz="3600" dirty="0"/>
            </a:br>
            <a:r>
              <a:rPr sz="1200" b="0" i="0" dirty="0">
                <a:latin typeface="Consolas"/>
              </a:rPr>
              <a:t>      &lt;Text style={{ color: </a:t>
            </a:r>
            <a:r>
              <a:rPr sz="1200" b="0" i="0" dirty="0" err="1">
                <a:latin typeface="Consolas"/>
              </a:rPr>
              <a:t>colors.text</a:t>
            </a:r>
            <a:r>
              <a:rPr sz="1200" b="0" i="0" dirty="0">
                <a:latin typeface="Consolas"/>
              </a:rPr>
              <a:t> }}&gt;</a:t>
            </a:r>
            <a:br>
              <a:rPr sz="3600" dirty="0"/>
            </a:br>
            <a:r>
              <a:rPr sz="1200" b="0" i="0" dirty="0">
                <a:latin typeface="Consolas"/>
              </a:rPr>
              <a:t>        Hi, </a:t>
            </a:r>
            <a:r>
              <a:rPr lang="en-US" sz="1200" b="0" i="0" dirty="0">
                <a:latin typeface="Consolas"/>
              </a:rPr>
              <a:t>Hamdy</a:t>
            </a:r>
            <a:r>
              <a:rPr sz="1200" b="0" i="0" dirty="0">
                <a:latin typeface="Consolas"/>
              </a:rPr>
              <a:t> 👋</a:t>
            </a:r>
            <a:br>
              <a:rPr sz="3600" dirty="0"/>
            </a:br>
            <a:r>
              <a:rPr sz="1200" b="0" i="0" dirty="0">
                <a:latin typeface="Consolas"/>
              </a:rPr>
              <a:t>      &lt;/Text&gt;</a:t>
            </a:r>
            <a:br>
              <a:rPr sz="3600" dirty="0"/>
            </a:br>
            <a:r>
              <a:rPr sz="1200" b="0" i="0" dirty="0">
                <a:latin typeface="Consolas"/>
              </a:rPr>
              <a:t>    &lt;/View&gt;</a:t>
            </a:r>
            <a:br>
              <a:rPr sz="3600" dirty="0"/>
            </a:br>
            <a:r>
              <a:rPr sz="1200" b="0" i="0" dirty="0">
                <a:latin typeface="Consolas"/>
              </a:rPr>
              <a:t>  );</a:t>
            </a:r>
            <a:br>
              <a:rPr sz="3600" dirty="0"/>
            </a:br>
            <a:r>
              <a:rPr sz="1200" b="0" i="0" dirty="0">
                <a:latin typeface="Consolas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46254" y="1278037"/>
            <a:ext cx="3325318" cy="1681477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17336" y="1369477"/>
            <a:ext cx="2532887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chemeClr val="bg2">
                    <a:lumMod val="20000"/>
                    <a:lumOff val="80000"/>
                  </a:schemeClr>
                </a:solidFill>
                <a:latin typeface="Calibri"/>
              </a:rPr>
              <a:t>Settings flips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805" y="1662085"/>
            <a:ext cx="3132357" cy="11302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 dirty="0">
                <a:solidFill>
                  <a:srgbClr val="FFFF00"/>
                </a:solidFill>
                <a:latin typeface="Consolas"/>
              </a:rPr>
              <a:t>// app/(tabs)/</a:t>
            </a:r>
            <a:r>
              <a:rPr sz="1200" b="1" i="0" dirty="0" err="1">
                <a:solidFill>
                  <a:srgbClr val="FFFF00"/>
                </a:solidFill>
                <a:latin typeface="Consolas"/>
              </a:rPr>
              <a:t>settings.tsx</a:t>
            </a:r>
            <a:endParaRPr lang="en-US" sz="1200" b="1" i="0" dirty="0">
              <a:solidFill>
                <a:srgbClr val="FFFF00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lang="en-US" sz="1200" b="1" dirty="0">
                <a:solidFill>
                  <a:srgbClr val="FFFF00"/>
                </a:solidFill>
                <a:latin typeface="Consolas"/>
              </a:rPr>
              <a:t>// import switch and </a:t>
            </a:r>
            <a:r>
              <a:rPr lang="en-US" sz="1200" b="1" dirty="0" err="1">
                <a:solidFill>
                  <a:srgbClr val="FFFF00"/>
                </a:solidFill>
                <a:latin typeface="Consolas"/>
              </a:rPr>
              <a:t>useTheme</a:t>
            </a:r>
            <a:br>
              <a:rPr sz="3600" dirty="0"/>
            </a:br>
            <a:r>
              <a:rPr sz="1200" b="0" i="0" dirty="0">
                <a:latin typeface="Consolas"/>
              </a:rPr>
              <a:t>const { dark, toggle } = </a:t>
            </a:r>
            <a:r>
              <a:rPr sz="1200" b="0" i="0" dirty="0" err="1">
                <a:latin typeface="Consolas"/>
              </a:rPr>
              <a:t>useTheme</a:t>
            </a:r>
            <a:r>
              <a:rPr sz="1200" b="0" i="0" dirty="0">
                <a:latin typeface="Consolas"/>
              </a:rPr>
              <a:t>();</a:t>
            </a:r>
            <a:br>
              <a:rPr sz="3600" dirty="0"/>
            </a:br>
            <a:br>
              <a:rPr sz="1050" dirty="0"/>
            </a:br>
            <a:r>
              <a:rPr sz="1200" b="0" i="0" dirty="0">
                <a:latin typeface="Consolas"/>
              </a:rPr>
              <a:t>&lt;Switch value={dark}</a:t>
            </a:r>
            <a:br>
              <a:rPr sz="3600" dirty="0"/>
            </a:br>
            <a:r>
              <a:rPr sz="1200" b="0" i="0" dirty="0">
                <a:latin typeface="Consolas"/>
              </a:rPr>
              <a:t>        </a:t>
            </a:r>
            <a:r>
              <a:rPr sz="1200" b="0" i="0" dirty="0" err="1">
                <a:latin typeface="Consolas"/>
              </a:rPr>
              <a:t>onValueChange</a:t>
            </a:r>
            <a:r>
              <a:rPr sz="1200" b="0" i="0" dirty="0">
                <a:latin typeface="Consolas"/>
              </a:rPr>
              <a:t>={toggle} 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84480" y="3046443"/>
            <a:ext cx="3031986" cy="16814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6" name="TextBox 15"/>
          <p:cNvSpPr txBox="1"/>
          <p:nvPr/>
        </p:nvSpPr>
        <p:spPr>
          <a:xfrm>
            <a:off x="6018031" y="3092373"/>
            <a:ext cx="275213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That's the payoff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9530" y="3503643"/>
            <a:ext cx="2770632" cy="11515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>
                <a:solidFill>
                  <a:schemeClr val="bg1"/>
                </a:solidFill>
                <a:latin typeface="Calibri"/>
              </a:rPr>
              <a:t>Settings calls toggle(); Home, About and the tab bar all re-theme at once. Zero props passed.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100E033-2D90-A0EB-8510-158F09C5007F}"/>
              </a:ext>
            </a:extLst>
          </p:cNvPr>
          <p:cNvSpPr/>
          <p:nvPr/>
        </p:nvSpPr>
        <p:spPr>
          <a:xfrm flipV="1">
            <a:off x="365760" y="522662"/>
            <a:ext cx="8705812" cy="45719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43455"/>
            <a:ext cx="84124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defTabSz="914400">
              <a:defRPr/>
            </a:pPr>
            <a:r>
              <a:rPr lang="en-US" sz="3200" b="1" dirty="0">
                <a:solidFill>
                  <a:schemeClr val="bg1"/>
                </a:solidFill>
              </a:rPr>
              <a:t>Theme Update Flow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658790"/>
            <a:ext cx="84124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i="0" dirty="0">
                <a:solidFill>
                  <a:schemeClr val="bg1"/>
                </a:solidFill>
                <a:latin typeface="Calibri"/>
              </a:rPr>
              <a:t>One tap → one state change → everyone re-renders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>
                <a:solidFill>
                  <a:srgbClr val="F59E0B"/>
                </a:solidFill>
                <a:latin typeface="Calibri"/>
              </a:rPr>
              <a:t>12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2699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3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TextBox 9"/>
          <p:cNvSpPr txBox="1"/>
          <p:nvPr/>
        </p:nvSpPr>
        <p:spPr>
          <a:xfrm>
            <a:off x="457200" y="1295016"/>
            <a:ext cx="566928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1173829"/>
            <a:ext cx="7589520" cy="63702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1371600" y="1195306"/>
            <a:ext cx="36576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User taps the Switch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493870"/>
            <a:ext cx="72237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solidFill>
                  <a:schemeClr val="bg1"/>
                </a:solidFill>
                <a:latin typeface="Calibri"/>
              </a:rPr>
              <a:t>Settings calls toggle()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97680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3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457200" y="2044823"/>
            <a:ext cx="566928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88720" y="1923636"/>
            <a:ext cx="7589520" cy="61555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TextBox 16"/>
          <p:cNvSpPr txBox="1"/>
          <p:nvPr/>
        </p:nvSpPr>
        <p:spPr>
          <a:xfrm>
            <a:off x="1371600" y="1945113"/>
            <a:ext cx="36576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Calibri"/>
              </a:rPr>
              <a:t>Provider state changes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243678"/>
            <a:ext cx="72237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 err="1">
                <a:solidFill>
                  <a:schemeClr val="bg1"/>
                </a:solidFill>
                <a:latin typeface="Calibri"/>
              </a:rPr>
              <a:t>setDark</a:t>
            </a:r>
            <a:r>
              <a:rPr b="0" i="0" dirty="0">
                <a:solidFill>
                  <a:schemeClr val="bg1"/>
                </a:solidFill>
                <a:latin typeface="Calibri"/>
              </a:rPr>
              <a:t>(d =&gt; !d) flips dark; colors recompute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726610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3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457200" y="2794631"/>
            <a:ext cx="566928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2673444"/>
            <a:ext cx="7589520" cy="61555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TextBox 21"/>
          <p:cNvSpPr txBox="1"/>
          <p:nvPr/>
        </p:nvSpPr>
        <p:spPr>
          <a:xfrm>
            <a:off x="1371600" y="2694921"/>
            <a:ext cx="36576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Calibri"/>
              </a:rPr>
              <a:t>New value broadcast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993485"/>
            <a:ext cx="72237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chemeClr val="bg1"/>
                </a:solidFill>
                <a:latin typeface="Calibri"/>
              </a:rPr>
              <a:t>The Provider's value object updates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47641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3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5" name="TextBox 24"/>
          <p:cNvSpPr txBox="1"/>
          <p:nvPr/>
        </p:nvSpPr>
        <p:spPr>
          <a:xfrm>
            <a:off x="457200" y="3544439"/>
            <a:ext cx="566928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88720" y="3423252"/>
            <a:ext cx="7589520" cy="61555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TextBox 26"/>
          <p:cNvSpPr txBox="1"/>
          <p:nvPr/>
        </p:nvSpPr>
        <p:spPr>
          <a:xfrm>
            <a:off x="1371600" y="3444729"/>
            <a:ext cx="36576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Calibri"/>
              </a:rPr>
              <a:t>Every consumer re-renders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743293"/>
            <a:ext cx="72237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chemeClr val="bg1"/>
                </a:solidFill>
                <a:latin typeface="Calibri"/>
              </a:rPr>
              <a:t>Home, About, tab bar — all read the new colors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4175402"/>
            <a:ext cx="877824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dirty="0">
                <a:solidFill>
                  <a:schemeClr val="bg1"/>
                </a:solidFill>
                <a:latin typeface="Calibri"/>
              </a:rPr>
              <a:t>You never tell screens to update — React re-renders every component that reads the changed context.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568008D-DAFC-2DA8-E41C-EC4C5BAF17E6}"/>
              </a:ext>
            </a:extLst>
          </p:cNvPr>
          <p:cNvSpPr/>
          <p:nvPr/>
        </p:nvSpPr>
        <p:spPr>
          <a:xfrm flipV="1">
            <a:off x="365760" y="522662"/>
            <a:ext cx="8705812" cy="45719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7237"/>
            <a:ext cx="84124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 err="1">
                <a:solidFill>
                  <a:srgbClr val="003865"/>
                </a:solidFill>
                <a:latin typeface="Calibri"/>
              </a:rPr>
              <a:t>useState</a:t>
            </a:r>
            <a:r>
              <a:rPr sz="3200" b="1" i="0" dirty="0">
                <a:solidFill>
                  <a:srgbClr val="003865"/>
                </a:solidFill>
                <a:latin typeface="Calibri"/>
              </a:rPr>
              <a:t> vs Props vs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69426"/>
            <a:ext cx="84124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dirty="0">
                <a:solidFill>
                  <a:schemeClr val="bg1"/>
                </a:solidFill>
                <a:latin typeface="Calibri"/>
              </a:rPr>
              <a:t>Three tools — reach for the smallest one that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>
                <a:solidFill>
                  <a:srgbClr val="F59E0B"/>
                </a:solidFill>
                <a:latin typeface="Calibri"/>
              </a:rPr>
              <a:t>13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1691639" cy="38404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0" name="TextBox 9"/>
          <p:cNvSpPr txBox="1"/>
          <p:nvPr/>
        </p:nvSpPr>
        <p:spPr>
          <a:xfrm>
            <a:off x="365760" y="1226856"/>
            <a:ext cx="1691639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4560" y="1188720"/>
            <a:ext cx="2057400" cy="384048"/>
          </a:xfrm>
          <a:prstGeom prst="rect">
            <a:avLst/>
          </a:prstGeom>
          <a:solidFill>
            <a:srgbClr val="003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2" name="TextBox 11"/>
          <p:cNvSpPr txBox="1"/>
          <p:nvPr/>
        </p:nvSpPr>
        <p:spPr>
          <a:xfrm>
            <a:off x="2194560" y="1226856"/>
            <a:ext cx="20574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useState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188720"/>
            <a:ext cx="2057400" cy="384048"/>
          </a:xfrm>
          <a:prstGeom prst="rect">
            <a:avLst/>
          </a:prstGeom>
          <a:solidFill>
            <a:srgbClr val="003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4" name="TextBox 13"/>
          <p:cNvSpPr txBox="1"/>
          <p:nvPr/>
        </p:nvSpPr>
        <p:spPr>
          <a:xfrm>
            <a:off x="4389120" y="1226856"/>
            <a:ext cx="20574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Props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1188720"/>
            <a:ext cx="2148840" cy="3840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6" name="TextBox 15"/>
          <p:cNvSpPr txBox="1"/>
          <p:nvPr/>
        </p:nvSpPr>
        <p:spPr>
          <a:xfrm>
            <a:off x="6583680" y="1226856"/>
            <a:ext cx="21488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Context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609344"/>
            <a:ext cx="1691639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rgbClr val="FF000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57200" y="1720632"/>
            <a:ext cx="15087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>
                <a:solidFill>
                  <a:srgbClr val="FF0000"/>
                </a:solidFill>
                <a:latin typeface="Calibri"/>
              </a:rPr>
              <a:t>Scope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1609344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0" name="TextBox 19"/>
          <p:cNvSpPr txBox="1"/>
          <p:nvPr/>
        </p:nvSpPr>
        <p:spPr>
          <a:xfrm>
            <a:off x="2286000" y="1736021"/>
            <a:ext cx="187451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chemeClr val="bg1"/>
                </a:solidFill>
                <a:latin typeface="Calibri"/>
              </a:rPr>
              <a:t>One component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1609344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2" name="TextBox 21"/>
          <p:cNvSpPr txBox="1"/>
          <p:nvPr/>
        </p:nvSpPr>
        <p:spPr>
          <a:xfrm>
            <a:off x="4480559" y="1736021"/>
            <a:ext cx="187451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chemeClr val="bg1"/>
                </a:solidFill>
                <a:latin typeface="Calibri"/>
              </a:rPr>
              <a:t>Parent → child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1609344"/>
            <a:ext cx="21488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4" name="TextBox 23"/>
          <p:cNvSpPr txBox="1"/>
          <p:nvPr/>
        </p:nvSpPr>
        <p:spPr>
          <a:xfrm>
            <a:off x="6675120" y="1736021"/>
            <a:ext cx="19659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 dirty="0">
                <a:solidFill>
                  <a:schemeClr val="bg1"/>
                </a:solidFill>
                <a:latin typeface="Calibri"/>
              </a:rPr>
              <a:t>Whole subtree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139696"/>
            <a:ext cx="1691639" cy="530352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rgbClr val="FF000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57200" y="2250984"/>
            <a:ext cx="15087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FF0000"/>
                </a:solidFill>
                <a:latin typeface="Calibri"/>
              </a:rPr>
              <a:t>Direction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94560" y="2139696"/>
            <a:ext cx="2057400" cy="530352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8" name="TextBox 27"/>
          <p:cNvSpPr txBox="1"/>
          <p:nvPr/>
        </p:nvSpPr>
        <p:spPr>
          <a:xfrm>
            <a:off x="2286000" y="2266373"/>
            <a:ext cx="187451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chemeClr val="bg1"/>
                </a:solidFill>
                <a:latin typeface="Calibri"/>
              </a:rPr>
              <a:t>Internal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2139696"/>
            <a:ext cx="2057400" cy="530352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bg1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480559" y="2266373"/>
            <a:ext cx="187451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chemeClr val="bg1"/>
                </a:solidFill>
                <a:latin typeface="Calibri"/>
              </a:rPr>
              <a:t>Down, one level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2139696"/>
            <a:ext cx="2148840" cy="530352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bg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75120" y="2266373"/>
            <a:ext cx="19659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chemeClr val="bg1"/>
                </a:solidFill>
                <a:latin typeface="Calibri"/>
              </a:rPr>
              <a:t>Down, any depth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670048"/>
            <a:ext cx="1691639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rgbClr val="FF0000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57200" y="2781336"/>
            <a:ext cx="15087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FF0000"/>
                </a:solidFill>
                <a:latin typeface="Calibri"/>
              </a:rPr>
              <a:t>Boilerplate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94560" y="2670048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36" name="TextBox 35"/>
          <p:cNvSpPr txBox="1"/>
          <p:nvPr/>
        </p:nvSpPr>
        <p:spPr>
          <a:xfrm>
            <a:off x="2286000" y="2796725"/>
            <a:ext cx="187451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chemeClr val="bg1"/>
                </a:solidFill>
                <a:latin typeface="Calibri"/>
              </a:rPr>
              <a:t>None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120" y="2670048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bg1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480559" y="2796725"/>
            <a:ext cx="187451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chemeClr val="bg1"/>
                </a:solidFill>
                <a:latin typeface="Calibri"/>
              </a:rPr>
              <a:t>A little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0" y="2670048"/>
            <a:ext cx="21488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bg1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75120" y="2796725"/>
            <a:ext cx="19659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chemeClr val="bg1"/>
                </a:solidFill>
                <a:latin typeface="Calibri"/>
              </a:rPr>
              <a:t>Provider + hook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200400"/>
            <a:ext cx="1691639" cy="530352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rgbClr val="FF0000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57200" y="3311688"/>
            <a:ext cx="15087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FF0000"/>
                </a:solidFill>
                <a:latin typeface="Calibri"/>
              </a:rPr>
              <a:t>Best for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94560" y="3200400"/>
            <a:ext cx="2057400" cy="530352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44" name="TextBox 43"/>
          <p:cNvSpPr txBox="1"/>
          <p:nvPr/>
        </p:nvSpPr>
        <p:spPr>
          <a:xfrm>
            <a:off x="2286000" y="3327077"/>
            <a:ext cx="187451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 dirty="0">
                <a:solidFill>
                  <a:schemeClr val="bg1"/>
                </a:solidFill>
                <a:latin typeface="Calibri"/>
              </a:rPr>
              <a:t>Local UI state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9120" y="3200400"/>
            <a:ext cx="2057400" cy="530352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bg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416761" y="3327077"/>
            <a:ext cx="20574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 dirty="0">
                <a:solidFill>
                  <a:schemeClr val="bg1"/>
                </a:solidFill>
                <a:latin typeface="Calibri"/>
              </a:rPr>
              <a:t>Reusable components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0" y="3200400"/>
            <a:ext cx="2148840" cy="530352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bg1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611322" y="3327077"/>
            <a:ext cx="21031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 dirty="0">
                <a:solidFill>
                  <a:schemeClr val="bg1"/>
                </a:solidFill>
                <a:latin typeface="Calibri"/>
              </a:rPr>
              <a:t>App-wide shared state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3730752"/>
            <a:ext cx="1691639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rgbClr val="FF0000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7200" y="3842040"/>
            <a:ext cx="15087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FF0000"/>
                </a:solidFill>
                <a:latin typeface="Calibri"/>
              </a:rPr>
              <a:t>Examples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94560" y="3730752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52" name="TextBox 51"/>
          <p:cNvSpPr txBox="1"/>
          <p:nvPr/>
        </p:nvSpPr>
        <p:spPr>
          <a:xfrm>
            <a:off x="2264734" y="3857429"/>
            <a:ext cx="19659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 dirty="0">
                <a:solidFill>
                  <a:schemeClr val="bg1"/>
                </a:solidFill>
                <a:latin typeface="Calibri"/>
              </a:rPr>
              <a:t>input text, a counter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89120" y="3730752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54" name="TextBox 53"/>
          <p:cNvSpPr txBox="1"/>
          <p:nvPr/>
        </p:nvSpPr>
        <p:spPr>
          <a:xfrm>
            <a:off x="4448660" y="3857429"/>
            <a:ext cx="19659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 dirty="0">
                <a:solidFill>
                  <a:schemeClr val="bg1"/>
                </a:solidFill>
                <a:latin typeface="Calibri"/>
              </a:rPr>
              <a:t>a </a:t>
            </a:r>
            <a:r>
              <a:rPr b="0" i="0" dirty="0" err="1">
                <a:solidFill>
                  <a:schemeClr val="bg1"/>
                </a:solidFill>
                <a:latin typeface="Calibri"/>
              </a:rPr>
              <a:t>CourseCard's</a:t>
            </a:r>
            <a:r>
              <a:rPr b="0" i="0" dirty="0">
                <a:solidFill>
                  <a:schemeClr val="bg1"/>
                </a:solidFill>
                <a:latin typeface="Calibri"/>
              </a:rPr>
              <a:t> props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83680" y="3730752"/>
            <a:ext cx="21488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56" name="TextBox 55"/>
          <p:cNvSpPr txBox="1"/>
          <p:nvPr/>
        </p:nvSpPr>
        <p:spPr>
          <a:xfrm>
            <a:off x="6632588" y="3857429"/>
            <a:ext cx="21031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 dirty="0">
                <a:solidFill>
                  <a:schemeClr val="bg1"/>
                </a:solidFill>
                <a:latin typeface="Calibri"/>
              </a:rPr>
              <a:t>theme, auth, language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6875" y="4384074"/>
            <a:ext cx="6347637" cy="6155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dirty="0">
                <a:solidFill>
                  <a:schemeClr val="bg1"/>
                </a:solidFill>
                <a:latin typeface="Calibri"/>
              </a:rPr>
              <a:t>Rule of thumb: don't reach for Context until two distant components need the SAME state.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862733-F6FF-2388-33AE-B916F354D148}"/>
              </a:ext>
            </a:extLst>
          </p:cNvPr>
          <p:cNvSpPr/>
          <p:nvPr/>
        </p:nvSpPr>
        <p:spPr>
          <a:xfrm flipV="1">
            <a:off x="365760" y="522662"/>
            <a:ext cx="8705812" cy="45719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25341"/>
            <a:ext cx="84124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03865"/>
                </a:solidFill>
                <a:latin typeface="Calibri"/>
              </a:rPr>
              <a:t>Common Mistakes &amp; Gotchas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16261"/>
            <a:ext cx="84124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2400" b="0" i="0" dirty="0">
                <a:solidFill>
                  <a:schemeClr val="bg1"/>
                </a:solidFill>
                <a:latin typeface="Calibri"/>
              </a:rPr>
              <a:t>The four that bite beginners most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>
                <a:solidFill>
                  <a:srgbClr val="F59E0B"/>
                </a:solidFill>
                <a:latin typeface="Calibri"/>
              </a:rPr>
              <a:t>14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38742"/>
            <a:ext cx="4160520" cy="184321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0" name="TextBox 9"/>
          <p:cNvSpPr txBox="1"/>
          <p:nvPr/>
        </p:nvSpPr>
        <p:spPr>
          <a:xfrm>
            <a:off x="512064" y="1174040"/>
            <a:ext cx="386791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>
                <a:solidFill>
                  <a:srgbClr val="DC2626"/>
                </a:solidFill>
                <a:latin typeface="Calibri"/>
              </a:rPr>
              <a:t>⚠  Forgetting the Provider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595943"/>
            <a:ext cx="3867911" cy="12795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 dirty="0">
                <a:solidFill>
                  <a:schemeClr val="bg1"/>
                </a:solidFill>
                <a:latin typeface="Calibri"/>
              </a:rPr>
              <a:t>Calling </a:t>
            </a:r>
            <a:r>
              <a:rPr sz="2000" b="0" i="0" dirty="0" err="1">
                <a:solidFill>
                  <a:schemeClr val="bg1"/>
                </a:solidFill>
                <a:latin typeface="Calibri"/>
              </a:rPr>
              <a:t>useTheme</a:t>
            </a:r>
            <a:r>
              <a:rPr sz="2000" b="0" i="0" dirty="0">
                <a:solidFill>
                  <a:schemeClr val="bg1"/>
                </a:solidFill>
                <a:latin typeface="Calibri"/>
              </a:rPr>
              <a:t>() in a screen that isn't wrapped → undefined. Our guard throws a clear message. Fix: wrap in root _layout.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138742"/>
            <a:ext cx="4160520" cy="184321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3" name="TextBox 12"/>
          <p:cNvSpPr txBox="1"/>
          <p:nvPr/>
        </p:nvSpPr>
        <p:spPr>
          <a:xfrm>
            <a:off x="4764024" y="1174040"/>
            <a:ext cx="386791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>
                <a:solidFill>
                  <a:srgbClr val="DC2626"/>
                </a:solidFill>
                <a:latin typeface="Calibri"/>
              </a:rPr>
              <a:t>⚠  Wrapping too 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1595943"/>
            <a:ext cx="3867911" cy="956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 dirty="0">
                <a:solidFill>
                  <a:schemeClr val="bg1"/>
                </a:solidFill>
                <a:latin typeface="Calibri"/>
              </a:rPr>
              <a:t>Put the Provider ABOVE everything that needs it. If it's inside one tab, the other tabs can't see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108960"/>
            <a:ext cx="4160520" cy="1856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6" name="TextBox 15"/>
          <p:cNvSpPr txBox="1"/>
          <p:nvPr/>
        </p:nvSpPr>
        <p:spPr>
          <a:xfrm>
            <a:off x="512064" y="3122991"/>
            <a:ext cx="386791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>
                <a:solidFill>
                  <a:srgbClr val="DC2626"/>
                </a:solidFill>
                <a:latin typeface="Calibri"/>
              </a:rPr>
              <a:t>⚠  New object every render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566160"/>
            <a:ext cx="3867911" cy="12795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 dirty="0">
                <a:solidFill>
                  <a:schemeClr val="bg1"/>
                </a:solidFill>
                <a:latin typeface="Calibri"/>
              </a:rPr>
              <a:t>value={{</a:t>
            </a:r>
            <a:r>
              <a:rPr sz="2000" b="0" i="0" dirty="0" err="1">
                <a:solidFill>
                  <a:schemeClr val="bg1"/>
                </a:solidFill>
                <a:latin typeface="Calibri"/>
              </a:rPr>
              <a:t>dark,toggle,colors</a:t>
            </a:r>
            <a:r>
              <a:rPr sz="2000" b="0" i="0" dirty="0">
                <a:solidFill>
                  <a:schemeClr val="bg1"/>
                </a:solidFill>
                <a:latin typeface="Calibri"/>
              </a:rPr>
              <a:t>}} is fine here, but for big apps an unstable value makes consumers re-render a lot. Memorize later.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3108960"/>
            <a:ext cx="4160520" cy="1856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9" name="TextBox 18"/>
          <p:cNvSpPr txBox="1"/>
          <p:nvPr/>
        </p:nvSpPr>
        <p:spPr>
          <a:xfrm>
            <a:off x="4764024" y="3133624"/>
            <a:ext cx="386791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>
                <a:solidFill>
                  <a:srgbClr val="DC2626"/>
                </a:solidFill>
                <a:latin typeface="Calibri"/>
              </a:rPr>
              <a:t>⚠  Overusing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4024" y="3566160"/>
            <a:ext cx="3867911" cy="12795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 dirty="0">
                <a:solidFill>
                  <a:schemeClr val="bg1"/>
                </a:solidFill>
                <a:latin typeface="Calibri"/>
              </a:rPr>
              <a:t>Not every prop belongs in Context. Local state and a couple of props are simpler. Use Context for genuinely shared state.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A4D771E-9063-2473-7856-1B39EA52D0A1}"/>
              </a:ext>
            </a:extLst>
          </p:cNvPr>
          <p:cNvSpPr/>
          <p:nvPr/>
        </p:nvSpPr>
        <p:spPr>
          <a:xfrm flipV="1">
            <a:off x="365760" y="522662"/>
            <a:ext cx="8705812" cy="45719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9921"/>
            <a:ext cx="84124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chemeClr val="bg1"/>
                </a:solidFill>
                <a:latin typeface="Calibri"/>
              </a:rPr>
              <a:t>Live Code — Make the Switch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793"/>
            <a:ext cx="870581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i="0" dirty="0">
                <a:solidFill>
                  <a:schemeClr val="bg1"/>
                </a:solidFill>
                <a:latin typeface="Calibri"/>
              </a:rPr>
              <a:t>Starter → Final · the dead dark-mode toggle comes alive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>
                <a:solidFill>
                  <a:srgbClr val="F59E0B"/>
                </a:solidFill>
                <a:latin typeface="Calibri"/>
              </a:rPr>
              <a:t>15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326" y="1188720"/>
            <a:ext cx="4664502" cy="294894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TextBox 9"/>
          <p:cNvSpPr txBox="1"/>
          <p:nvPr/>
        </p:nvSpPr>
        <p:spPr>
          <a:xfrm>
            <a:off x="548640" y="1262082"/>
            <a:ext cx="38404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>
                <a:solidFill>
                  <a:srgbClr val="003865"/>
                </a:solidFill>
                <a:latin typeface="Calibri"/>
              </a:rPr>
              <a:t>▶  </a:t>
            </a:r>
            <a:r>
              <a:rPr sz="2400" b="1" i="0" dirty="0" err="1">
                <a:solidFill>
                  <a:srgbClr val="003865"/>
                </a:solidFill>
                <a:latin typeface="Calibri"/>
              </a:rPr>
              <a:t>ThemeContext_starter</a:t>
            </a:r>
            <a:endParaRPr sz="2400" b="1" i="0" dirty="0">
              <a:solidFill>
                <a:srgbClr val="003865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4206240" cy="2368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 dirty="0">
                <a:solidFill>
                  <a:srgbClr val="334155"/>
                </a:solidFill>
                <a:latin typeface="Calibri"/>
              </a:rPr>
              <a:t>Three tabs: Home · Settings · About</a:t>
            </a:r>
          </a:p>
          <a:p>
            <a:pPr algn="l">
              <a:lnSpc>
                <a:spcPct val="130000"/>
              </a:lnSpc>
            </a:pPr>
            <a:r>
              <a:rPr sz="2000" b="0" i="0" dirty="0">
                <a:solidFill>
                  <a:srgbClr val="334155"/>
                </a:solidFill>
                <a:latin typeface="Calibri"/>
              </a:rPr>
              <a:t>Settings has a Dark-mode Switch…</a:t>
            </a:r>
          </a:p>
          <a:p>
            <a:pPr algn="l">
              <a:lnSpc>
                <a:spcPct val="130000"/>
              </a:lnSpc>
            </a:pPr>
            <a:r>
              <a:rPr sz="2000" b="0" i="0" dirty="0">
                <a:solidFill>
                  <a:srgbClr val="DC2626"/>
                </a:solidFill>
                <a:latin typeface="Calibri"/>
              </a:rPr>
              <a:t>…but it only re-themes Settings.</a:t>
            </a:r>
          </a:p>
          <a:p>
            <a:pPr algn="l">
              <a:lnSpc>
                <a:spcPct val="130000"/>
              </a:lnSpc>
            </a:pPr>
            <a:r>
              <a:rPr sz="2000" b="0" i="0" dirty="0">
                <a:solidFill>
                  <a:srgbClr val="334155"/>
                </a:solidFill>
                <a:latin typeface="Calibri"/>
              </a:rPr>
              <a:t>Home &amp; About stay stubbornly light.</a:t>
            </a:r>
          </a:p>
          <a:p>
            <a:pPr algn="l">
              <a:lnSpc>
                <a:spcPct val="130000"/>
              </a:lnSpc>
            </a:pPr>
            <a:r>
              <a:rPr sz="2000" b="0" i="0" dirty="0">
                <a:solidFill>
                  <a:srgbClr val="334155"/>
                </a:solidFill>
                <a:latin typeface="Calibri"/>
              </a:rPr>
              <a:t>No way to pass dark to sibling screens.</a:t>
            </a:r>
          </a:p>
          <a:p>
            <a:pPr algn="l">
              <a:lnSpc>
                <a:spcPct val="130000"/>
              </a:lnSpc>
            </a:pPr>
            <a:r>
              <a:rPr sz="2000" b="1" i="0" dirty="0">
                <a:solidFill>
                  <a:srgbClr val="003865"/>
                </a:solidFill>
                <a:latin typeface="Calibri"/>
              </a:rPr>
              <a:t>→ This is the pain we'll remove.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77154" y="1188720"/>
            <a:ext cx="4160520" cy="294894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3" name="TextBox 12"/>
          <p:cNvSpPr txBox="1"/>
          <p:nvPr/>
        </p:nvSpPr>
        <p:spPr>
          <a:xfrm>
            <a:off x="4884597" y="1230183"/>
            <a:ext cx="415307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F59E0B"/>
                </a:solidFill>
                <a:latin typeface="Calibri"/>
              </a:rPr>
              <a:t>✓  </a:t>
            </a:r>
            <a:r>
              <a:rPr sz="2400" b="1" i="0" dirty="0" err="1">
                <a:solidFill>
                  <a:srgbClr val="F59E0B"/>
                </a:solidFill>
                <a:latin typeface="Calibri"/>
              </a:rPr>
              <a:t>ThemeContext_final</a:t>
            </a:r>
            <a:endParaRPr sz="2400" b="1" i="0" dirty="0">
              <a:solidFill>
                <a:srgbClr val="F59E0B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30262" y="1691640"/>
            <a:ext cx="4007412" cy="21314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b="0" i="0" dirty="0">
                <a:solidFill>
                  <a:srgbClr val="E2E8F0"/>
                </a:solidFill>
                <a:latin typeface="Calibri"/>
              </a:rPr>
              <a:t>Add context/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ThemeContext.tsx</a:t>
            </a:r>
            <a:endParaRPr b="0" i="0" dirty="0">
              <a:solidFill>
                <a:srgbClr val="E2E8F0"/>
              </a:solidFill>
              <a:latin typeface="Calibri"/>
            </a:endParaRPr>
          </a:p>
          <a:p>
            <a:pPr algn="l">
              <a:lnSpc>
                <a:spcPct val="130000"/>
              </a:lnSpc>
            </a:pPr>
            <a:r>
              <a:rPr b="0" i="0" dirty="0">
                <a:solidFill>
                  <a:srgbClr val="E2E8F0"/>
                </a:solidFill>
                <a:latin typeface="Calibri"/>
              </a:rPr>
              <a:t>Wrap app in &lt;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ThemeProvider</a:t>
            </a:r>
            <a:r>
              <a:rPr b="0" i="0" dirty="0">
                <a:solidFill>
                  <a:srgbClr val="E2E8F0"/>
                </a:solidFill>
                <a:latin typeface="Calibri"/>
              </a:rPr>
              <a:t>&gt;</a:t>
            </a:r>
          </a:p>
          <a:p>
            <a:pPr algn="l">
              <a:lnSpc>
                <a:spcPct val="130000"/>
              </a:lnSpc>
            </a:pPr>
            <a:r>
              <a:rPr b="0" i="0" dirty="0">
                <a:solidFill>
                  <a:srgbClr val="E2E8F0"/>
                </a:solidFill>
                <a:latin typeface="Calibri"/>
              </a:rPr>
              <a:t>Each screen calls 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useTheme</a:t>
            </a:r>
            <a:r>
              <a:rPr b="0" i="0" dirty="0">
                <a:solidFill>
                  <a:srgbClr val="E2E8F0"/>
                </a:solidFill>
                <a:latin typeface="Calibri"/>
              </a:rPr>
              <a:t>()</a:t>
            </a:r>
          </a:p>
          <a:p>
            <a:pPr algn="l">
              <a:lnSpc>
                <a:spcPct val="130000"/>
              </a:lnSpc>
            </a:pPr>
            <a:r>
              <a:rPr b="0" i="0" dirty="0">
                <a:solidFill>
                  <a:srgbClr val="E2E8F0"/>
                </a:solidFill>
                <a:latin typeface="Calibri"/>
              </a:rPr>
              <a:t>Settings toggle → whole app re-themes</a:t>
            </a:r>
          </a:p>
          <a:p>
            <a:pPr algn="l">
              <a:lnSpc>
                <a:spcPct val="130000"/>
              </a:lnSpc>
            </a:pPr>
            <a:r>
              <a:rPr b="0" i="0" dirty="0">
                <a:solidFill>
                  <a:srgbClr val="E2E8F0"/>
                </a:solidFill>
                <a:latin typeface="Calibri"/>
              </a:rPr>
              <a:t>Tab bar + headers follow the theme too</a:t>
            </a:r>
          </a:p>
          <a:p>
            <a:pPr algn="l">
              <a:lnSpc>
                <a:spcPct val="130000"/>
              </a:lnSpc>
            </a:pPr>
            <a:r>
              <a:rPr b="1" i="0" dirty="0">
                <a:solidFill>
                  <a:srgbClr val="F59E0B"/>
                </a:solidFill>
                <a:latin typeface="Calibri"/>
              </a:rPr>
              <a:t>→ One switch, app-wide dark mode.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334888"/>
            <a:ext cx="85953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dirty="0">
                <a:solidFill>
                  <a:schemeClr val="bg1"/>
                </a:solidFill>
                <a:latin typeface="Calibri"/>
              </a:rPr>
              <a:t>Build order: type the context file, wrap the root, then convert one screen at a time so students see each one light up.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DC63F16-0E74-1165-0671-A4FC221B9782}"/>
              </a:ext>
            </a:extLst>
          </p:cNvPr>
          <p:cNvSpPr/>
          <p:nvPr/>
        </p:nvSpPr>
        <p:spPr>
          <a:xfrm flipV="1">
            <a:off x="365760" y="522662"/>
            <a:ext cx="8705812" cy="45719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7237"/>
            <a:ext cx="84124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03865"/>
                </a:solidFill>
                <a:latin typeface="Calibri"/>
              </a:rPr>
              <a:t>Your Turn —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3735" y="563571"/>
            <a:ext cx="8907837" cy="1631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2400" b="0" i="0" dirty="0">
                <a:solidFill>
                  <a:schemeClr val="bg1"/>
                </a:solidFill>
                <a:latin typeface="Calibri"/>
              </a:rPr>
              <a:t>Add a second shared value to the same Provider</a:t>
            </a:r>
            <a:endParaRPr lang="en-US" sz="2400" b="0" i="0" dirty="0">
              <a:solidFill>
                <a:schemeClr val="bg1"/>
              </a:solidFill>
              <a:latin typeface="Calibri"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Starting from the finished </a:t>
            </a:r>
            <a:r>
              <a:rPr lang="en-US" sz="2400" dirty="0" err="1">
                <a:solidFill>
                  <a:schemeClr val="bg1"/>
                </a:solidFill>
              </a:rPr>
              <a:t>ThemeContext</a:t>
            </a:r>
            <a:r>
              <a:rPr lang="en-US" sz="2400" dirty="0">
                <a:solidFill>
                  <a:schemeClr val="bg1"/>
                </a:solidFill>
              </a:rPr>
              <a:t> app, extend the SAME Provider to share a second value — a font size the user can change in Settings and that every screen respects.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>
                <a:solidFill>
                  <a:srgbClr val="F59E0B"/>
                </a:solidFill>
                <a:latin typeface="Calibri"/>
              </a:rPr>
              <a:t>16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3735" y="2363628"/>
            <a:ext cx="457200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163735" y="2453728"/>
            <a:ext cx="4572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199" y="2350017"/>
            <a:ext cx="3108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dirty="0">
                <a:solidFill>
                  <a:srgbClr val="003865"/>
                </a:solidFill>
                <a:latin typeface="Calibri"/>
              </a:rPr>
              <a:t>Add </a:t>
            </a:r>
            <a:r>
              <a:rPr b="1" i="0" dirty="0" err="1">
                <a:solidFill>
                  <a:srgbClr val="003865"/>
                </a:solidFill>
                <a:latin typeface="Calibri"/>
              </a:rPr>
              <a:t>fontScale</a:t>
            </a:r>
            <a:r>
              <a:rPr b="1" i="0" dirty="0">
                <a:solidFill>
                  <a:srgbClr val="003865"/>
                </a:solidFill>
                <a:latin typeface="Calibri"/>
              </a:rPr>
              <a:t>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198" y="2610517"/>
            <a:ext cx="852306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>
                <a:solidFill>
                  <a:schemeClr val="bg1"/>
                </a:solidFill>
                <a:latin typeface="Calibri"/>
              </a:rPr>
              <a:t>In </a:t>
            </a:r>
            <a:r>
              <a:rPr sz="1600" b="0" i="0" dirty="0" err="1">
                <a:solidFill>
                  <a:schemeClr val="bg1"/>
                </a:solidFill>
                <a:latin typeface="Calibri"/>
              </a:rPr>
              <a:t>ThemeProvider</a:t>
            </a:r>
            <a:r>
              <a:rPr sz="1600" b="0" i="0" dirty="0">
                <a:solidFill>
                  <a:schemeClr val="bg1"/>
                </a:solidFill>
                <a:latin typeface="Calibri"/>
              </a:rPr>
              <a:t> add </a:t>
            </a:r>
            <a:r>
              <a:rPr sz="1600" b="0" i="0" dirty="0" err="1">
                <a:solidFill>
                  <a:schemeClr val="bg1"/>
                </a:solidFill>
                <a:latin typeface="Calibri"/>
              </a:rPr>
              <a:t>useState</a:t>
            </a:r>
            <a:r>
              <a:rPr sz="1600" b="0" i="0" dirty="0">
                <a:solidFill>
                  <a:schemeClr val="bg1"/>
                </a:solidFill>
                <a:latin typeface="Calibri"/>
              </a:rPr>
              <a:t> for </a:t>
            </a:r>
            <a:r>
              <a:rPr sz="1600" b="0" i="0" dirty="0" err="1">
                <a:solidFill>
                  <a:schemeClr val="bg1"/>
                </a:solidFill>
                <a:latin typeface="Calibri"/>
              </a:rPr>
              <a:t>fontScale</a:t>
            </a:r>
            <a:r>
              <a:rPr sz="1600" b="0" i="0" dirty="0">
                <a:solidFill>
                  <a:schemeClr val="bg1"/>
                </a:solidFill>
                <a:latin typeface="Calibri"/>
              </a:rPr>
              <a:t> (e.g. 1.0). Add it to the Theme type and the value object.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3735" y="3032626"/>
            <a:ext cx="457200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163735" y="3122726"/>
            <a:ext cx="4572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199" y="3019015"/>
            <a:ext cx="3108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dirty="0">
                <a:solidFill>
                  <a:srgbClr val="003865"/>
                </a:solidFill>
                <a:latin typeface="Calibri"/>
              </a:rPr>
              <a:t>Add a control in Settings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199" y="3279514"/>
            <a:ext cx="7680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solidFill>
                  <a:schemeClr val="bg1"/>
                </a:solidFill>
                <a:latin typeface="Calibri"/>
              </a:rPr>
              <a:t>Two buttons (A− / A+) that call a setter from the context to lower/raise </a:t>
            </a:r>
            <a:r>
              <a:rPr b="0" i="0" dirty="0" err="1">
                <a:solidFill>
                  <a:schemeClr val="bg1"/>
                </a:solidFill>
                <a:latin typeface="Calibri"/>
              </a:rPr>
              <a:t>fontScale</a:t>
            </a:r>
            <a:r>
              <a:rPr b="0" i="0" dirty="0">
                <a:solidFill>
                  <a:schemeClr val="bg1"/>
                </a:solidFill>
                <a:latin typeface="Calibri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3735" y="3648462"/>
            <a:ext cx="457200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163735" y="3738562"/>
            <a:ext cx="4572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199" y="3666750"/>
            <a:ext cx="3108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003865"/>
                </a:solidFill>
                <a:latin typeface="Calibri"/>
              </a:rPr>
              <a:t>Respect it everywhere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199" y="3895350"/>
            <a:ext cx="7680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solidFill>
                  <a:schemeClr val="bg1"/>
                </a:solidFill>
                <a:latin typeface="Calibri"/>
              </a:rPr>
              <a:t>In Home and About multiply your title </a:t>
            </a:r>
            <a:r>
              <a:rPr b="0" i="0" dirty="0" err="1">
                <a:solidFill>
                  <a:schemeClr val="bg1"/>
                </a:solidFill>
                <a:latin typeface="Calibri"/>
              </a:rPr>
              <a:t>fontSize</a:t>
            </a:r>
            <a:r>
              <a:rPr b="0" i="0" dirty="0">
                <a:solidFill>
                  <a:schemeClr val="bg1"/>
                </a:solidFill>
                <a:latin typeface="Calibri"/>
              </a:rPr>
              <a:t> by </a:t>
            </a:r>
            <a:r>
              <a:rPr b="0" i="0" dirty="0" err="1">
                <a:solidFill>
                  <a:schemeClr val="bg1"/>
                </a:solidFill>
                <a:latin typeface="Calibri"/>
              </a:rPr>
              <a:t>fontScale</a:t>
            </a:r>
            <a:r>
              <a:rPr b="0" i="0" dirty="0">
                <a:solidFill>
                  <a:schemeClr val="bg1"/>
                </a:solidFill>
                <a:latin typeface="Calibri"/>
              </a:rPr>
              <a:t> via </a:t>
            </a:r>
            <a:r>
              <a:rPr b="0" i="0" dirty="0" err="1">
                <a:solidFill>
                  <a:schemeClr val="bg1"/>
                </a:solidFill>
                <a:latin typeface="Calibri"/>
              </a:rPr>
              <a:t>useTheme</a:t>
            </a:r>
            <a:r>
              <a:rPr b="0" i="0" dirty="0">
                <a:solidFill>
                  <a:schemeClr val="bg1"/>
                </a:solidFill>
                <a:latin typeface="Calibri"/>
              </a:rPr>
              <a:t>().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3735" y="4306830"/>
            <a:ext cx="457200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163735" y="4396930"/>
            <a:ext cx="4572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199" y="4282586"/>
            <a:ext cx="3108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dirty="0">
                <a:solidFill>
                  <a:srgbClr val="003865"/>
                </a:solidFill>
                <a:latin typeface="Calibri"/>
              </a:rPr>
              <a:t>Verify it's shared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199" y="4553718"/>
            <a:ext cx="829220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solidFill>
                  <a:schemeClr val="bg1"/>
                </a:solidFill>
                <a:latin typeface="Calibri"/>
              </a:rPr>
              <a:t>Change it on Settings, switch tabs — Home and About text resizes too. Screenshot both.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E5AF659-46A1-FCD0-450B-D45E276482AA}"/>
              </a:ext>
            </a:extLst>
          </p:cNvPr>
          <p:cNvSpPr/>
          <p:nvPr/>
        </p:nvSpPr>
        <p:spPr>
          <a:xfrm flipV="1">
            <a:off x="365760" y="522662"/>
            <a:ext cx="8705812" cy="45719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43453"/>
            <a:ext cx="841248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03865"/>
                </a:solidFill>
                <a:latin typeface="Calibri"/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73727"/>
            <a:ext cx="84124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i="0" dirty="0">
                <a:solidFill>
                  <a:schemeClr val="bg1"/>
                </a:solidFill>
                <a:latin typeface="Calibri"/>
              </a:rPr>
              <a:t>What to remember when you reach for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>
                <a:solidFill>
                  <a:srgbClr val="F59E0B"/>
                </a:solidFill>
                <a:latin typeface="Calibri"/>
              </a:rPr>
              <a:t>17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9433" y="1128110"/>
            <a:ext cx="548640" cy="548640"/>
          </a:xfrm>
          <a:prstGeom prst="roundRect">
            <a:avLst>
              <a:gd name="adj" fmla="val 8000"/>
            </a:avLst>
          </a:prstGeom>
          <a:solidFill>
            <a:srgbClr val="003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9433" y="112811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Calibri"/>
              </a:rPr>
              <a:t>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146398"/>
            <a:ext cx="76809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Context = broadcast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420718"/>
            <a:ext cx="802001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solidFill>
                  <a:schemeClr val="bg1"/>
                </a:solidFill>
                <a:latin typeface="Calibri"/>
              </a:rPr>
              <a:t>A Provider shares one value with every component beneath it — no props passed.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9433" y="1947672"/>
            <a:ext cx="548640" cy="548640"/>
          </a:xfrm>
          <a:prstGeom prst="roundRect">
            <a:avLst>
              <a:gd name="adj" fmla="val 8000"/>
            </a:avLst>
          </a:prstGeom>
          <a:solidFill>
            <a:srgbClr val="003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9433" y="194767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Calibri"/>
              </a:rPr>
              <a:t>3️⃣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1965960"/>
            <a:ext cx="76809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Calibri"/>
              </a:rPr>
              <a:t>Always three pieces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240279"/>
            <a:ext cx="802001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 err="1">
                <a:solidFill>
                  <a:schemeClr val="bg1"/>
                </a:solidFill>
                <a:latin typeface="Calibri"/>
              </a:rPr>
              <a:t>createContext</a:t>
            </a:r>
            <a:r>
              <a:rPr b="0" i="0" dirty="0">
                <a:solidFill>
                  <a:schemeClr val="bg1"/>
                </a:solidFill>
                <a:latin typeface="Calibri"/>
              </a:rPr>
              <a:t>, a Provider that owns the state, and </a:t>
            </a:r>
            <a:r>
              <a:rPr b="0" i="0" dirty="0" err="1">
                <a:solidFill>
                  <a:schemeClr val="bg1"/>
                </a:solidFill>
                <a:latin typeface="Calibri"/>
              </a:rPr>
              <a:t>useContext</a:t>
            </a:r>
            <a:r>
              <a:rPr b="0" i="0" dirty="0">
                <a:solidFill>
                  <a:schemeClr val="bg1"/>
                </a:solidFill>
                <a:latin typeface="Calibri"/>
              </a:rPr>
              <a:t> (wrapped in a hook).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9433" y="2660904"/>
            <a:ext cx="548640" cy="548640"/>
          </a:xfrm>
          <a:prstGeom prst="roundRect">
            <a:avLst>
              <a:gd name="adj" fmla="val 8000"/>
            </a:avLst>
          </a:prstGeom>
          <a:solidFill>
            <a:srgbClr val="003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9433" y="2660904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Calibri"/>
              </a:rPr>
              <a:t>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679192"/>
            <a:ext cx="76809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Calibri"/>
              </a:rPr>
              <a:t>Wrap useContext in a hook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2953512"/>
            <a:ext cx="802001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 err="1">
                <a:solidFill>
                  <a:schemeClr val="bg1"/>
                </a:solidFill>
                <a:latin typeface="Calibri"/>
              </a:rPr>
              <a:t>useTheme</a:t>
            </a:r>
            <a:r>
              <a:rPr b="0" i="0" dirty="0">
                <a:solidFill>
                  <a:schemeClr val="bg1"/>
                </a:solidFill>
                <a:latin typeface="Calibri"/>
              </a:rPr>
              <a:t>() gives a clean import and a guard that catches a missing Provider.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9433" y="3374136"/>
            <a:ext cx="548640" cy="548640"/>
          </a:xfrm>
          <a:prstGeom prst="roundRect">
            <a:avLst>
              <a:gd name="adj" fmla="val 8000"/>
            </a:avLst>
          </a:prstGeom>
          <a:solidFill>
            <a:srgbClr val="003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59433" y="3374136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Calibri"/>
              </a:rPr>
              <a:t>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392424"/>
            <a:ext cx="76809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Calibri"/>
              </a:rPr>
              <a:t>Provider goes high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666744"/>
            <a:ext cx="802001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chemeClr val="bg1"/>
                </a:solidFill>
                <a:latin typeface="Calibri"/>
              </a:rPr>
              <a:t>In Expo Router, put it in the root _layout so every route is inside 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9433" y="4087368"/>
            <a:ext cx="548640" cy="548640"/>
          </a:xfrm>
          <a:prstGeom prst="roundRect">
            <a:avLst>
              <a:gd name="adj" fmla="val 8000"/>
            </a:avLst>
          </a:prstGeom>
          <a:solidFill>
            <a:srgbClr val="003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59433" y="4087368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Calibri"/>
              </a:rPr>
              <a:t>⚖️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052491"/>
            <a:ext cx="76809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Use it sparingly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337444"/>
            <a:ext cx="8020012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solidFill>
                  <a:schemeClr val="bg1"/>
                </a:solidFill>
                <a:latin typeface="Calibri"/>
              </a:rPr>
              <a:t>Only for state that genuinely many, distant components share — theme, auth, language.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13A8C-8C66-2A42-0102-4E02587DEFE8}"/>
              </a:ext>
            </a:extLst>
          </p:cNvPr>
          <p:cNvSpPr/>
          <p:nvPr/>
        </p:nvSpPr>
        <p:spPr>
          <a:xfrm flipV="1">
            <a:off x="365760" y="522662"/>
            <a:ext cx="8705812" cy="45719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2381</Words>
  <Application>Microsoft Office PowerPoint</Application>
  <PresentationFormat>On-screen Show (16:9)</PresentationFormat>
  <Paragraphs>259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2026-08-31T01:50:48Z</dcterms:created>
  <dcterms:modified xsi:type="dcterms:W3CDTF">2026-08-31T01:50:59Z</dcterms:modified>
  <cp:category/>
</cp:coreProperties>
</file>