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324" autoAdjust="0"/>
  </p:normalViewPr>
  <p:slideViewPr>
    <p:cSldViewPr snapToGrid="0" snapToObjects="1">
      <p:cViewPr varScale="1">
        <p:scale>
          <a:sx n="87" d="100"/>
          <a:sy n="87" d="100"/>
        </p:scale>
        <p:origin x="1434" y="7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BE6C3-1FF9-4EA1-AEB4-DBD074E943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10041-958B-4827-88B8-5D98F5B6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6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15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62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2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6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67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53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3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8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47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04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39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81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39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61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10041-958B-4827-88B8-5D98F5B65A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7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7" y="893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7" y="6308610"/>
            <a:ext cx="12185778" cy="54849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87" y="1744228"/>
            <a:ext cx="12185778" cy="861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99" b="1" dirty="0">
                <a:solidFill>
                  <a:srgbClr val="FFFFFF"/>
                </a:solidFill>
              </a:rPr>
              <a:t>API Calls + Loading States</a:t>
            </a:r>
            <a:endParaRPr sz="4999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70091" y="582696"/>
            <a:ext cx="7902697" cy="82012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99" dirty="0">
                <a:solidFill>
                  <a:schemeClr val="bg1"/>
                </a:solidFill>
              </a:rPr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587" y="4174249"/>
            <a:ext cx="12185650" cy="1655331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4052871"/>
            <a:ext cx="1631427" cy="222243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589" y="6327994"/>
            <a:ext cx="12185776" cy="52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270090" y="2957199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DBEAFE"/>
                </a:solidFill>
              </a:rPr>
              <a:t>Simulating Fetching real data from an API and handling every possible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155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4957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457200" y="107799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Day 1  —  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0292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400" dirty="0">
                <a:solidFill>
                  <a:srgbClr val="111827"/>
                </a:solidFill>
                <a:latin typeface="Calibri"/>
              </a:rPr>
              <a:t>Understand why hardcoded data is a problem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Create lib/</a:t>
            </a:r>
            <a:r>
              <a:rPr sz="2400" dirty="0" err="1">
                <a:solidFill>
                  <a:srgbClr val="111827"/>
                </a:solidFill>
                <a:latin typeface="Calibri"/>
              </a:rPr>
              <a:t>api.ts</a:t>
            </a:r>
            <a:r>
              <a:rPr sz="2400" dirty="0">
                <a:solidFill>
                  <a:srgbClr val="111827"/>
                </a:solidFill>
                <a:latin typeface="Calibri"/>
              </a:rPr>
              <a:t> — the mock API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Learn the Four UI States pattern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Introduce try / catch / finally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Update Home screen to fetch data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Demo: loading spinner → data → error → retry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1097280"/>
            <a:ext cx="5394960" cy="4957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19672" y="1097280"/>
            <a:ext cx="5394960" cy="50292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702552" y="107799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Day 2  —  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783080"/>
            <a:ext cx="50292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Extracted fetch functions (retry + refresh)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Update Courses list with pull-to-refresh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ListEmptyComponent — built-in empty state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Build the full Course Detail page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Apply the pattern to all 3 screens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111827"/>
                </a:solidFill>
                <a:latin typeface="Calibri"/>
              </a:rPr>
              <a:t>Demo: full app working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9E07B8-DB65-7E29-9108-FCF0DB8BC483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latin typeface="Calibri"/>
              </a:rPr>
              <a:t>Hardcoded Data</a:t>
            </a:r>
            <a:r>
              <a:rPr lang="en-US" sz="3200" b="1" dirty="0"/>
              <a:t> Problem</a:t>
            </a:r>
            <a:endParaRPr sz="3200" b="1" i="0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527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Everything in the app is fake — same data for every user, every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008" y="1260118"/>
            <a:ext cx="6073244" cy="5120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888" y="1351558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</a:rPr>
              <a:t>❌  What you have 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5448" y="1763038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448" y="1982494"/>
            <a:ext cx="593644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dirty="0">
                <a:solidFill>
                  <a:srgbClr val="FFFF00"/>
                </a:solidFill>
                <a:latin typeface="Courier New"/>
              </a:rPr>
              <a:t>// </a:t>
            </a:r>
            <a:r>
              <a:rPr b="1" dirty="0" err="1">
                <a:solidFill>
                  <a:srgbClr val="FFFF00"/>
                </a:solidFill>
                <a:latin typeface="Courier New"/>
              </a:rPr>
              <a:t>home.tsx</a:t>
            </a:r>
            <a:endParaRPr b="1" dirty="0">
              <a:solidFill>
                <a:srgbClr val="FFFF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&lt;Text&gt;CPRG-216 Assignment due </a:t>
            </a:r>
            <a:r>
              <a:rPr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/>
              </a:rPr>
              <a:t>Friday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&lt;/Text&gt;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&lt;Text&gt;You attended </a:t>
            </a:r>
            <a:r>
              <a:rPr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/>
              </a:rPr>
              <a:t>3/4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classes this week&lt;/Text&gt;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b="1" dirty="0">
                <a:solidFill>
                  <a:srgbClr val="FFFF00"/>
                </a:solidFill>
                <a:latin typeface="Courier New"/>
              </a:rPr>
              <a:t>// courses/</a:t>
            </a:r>
            <a:r>
              <a:rPr b="1" dirty="0" err="1">
                <a:solidFill>
                  <a:srgbClr val="FFFF00"/>
                </a:solidFill>
                <a:latin typeface="Courier New"/>
              </a:rPr>
              <a:t>index.tsx</a:t>
            </a:r>
            <a:endParaRPr b="1" dirty="0">
              <a:solidFill>
                <a:srgbClr val="FFFF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const </a:t>
            </a:r>
            <a:r>
              <a:rPr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/>
              </a:rPr>
              <a:t>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= [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{ id:'cprg216', title:'CPRG-216' },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{ id:'cprg303', title:'CPRG-303' },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{ id:'cprg306', title:'CPRG-306' },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];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b="1" dirty="0">
                <a:solidFill>
                  <a:srgbClr val="FFFF00"/>
                </a:solidFill>
                <a:latin typeface="Courier New"/>
              </a:rPr>
              <a:t>// courses/[id].</a:t>
            </a:r>
            <a:r>
              <a:rPr b="1" dirty="0" err="1">
                <a:solidFill>
                  <a:srgbClr val="FFFF00"/>
                </a:solidFill>
                <a:latin typeface="Courier New"/>
              </a:rPr>
              <a:t>tsx</a:t>
            </a:r>
            <a:endParaRPr b="1" dirty="0">
              <a:solidFill>
                <a:srgbClr val="FFFF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&lt;Text&gt;Course ID: </a:t>
            </a:r>
            <a:r>
              <a:rPr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ourier New"/>
              </a:rPr>
              <a:t>{id}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&lt;/Text&gt;  </a:t>
            </a:r>
            <a:r>
              <a:rPr sz="1600" b="1" dirty="0">
                <a:solidFill>
                  <a:srgbClr val="FFFF00"/>
                </a:solidFill>
                <a:latin typeface="Courier New"/>
              </a:rPr>
              <a:t>// just shows ID!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4724" y="1260117"/>
            <a:ext cx="5577840" cy="5420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604" y="124696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0000"/>
                </a:solidFill>
                <a:latin typeface="Calibri"/>
              </a:rPr>
              <a:t>Why </a:t>
            </a:r>
            <a:r>
              <a:rPr lang="en-US" sz="2400" b="1" i="0" dirty="0">
                <a:solidFill>
                  <a:srgbClr val="FF0000"/>
                </a:solidFill>
                <a:latin typeface="Calibri"/>
              </a:rPr>
              <a:t>it</a:t>
            </a:r>
            <a:r>
              <a:rPr sz="2400" b="1" i="0" dirty="0">
                <a:solidFill>
                  <a:srgbClr val="FF0000"/>
                </a:solidFill>
                <a:latin typeface="Calibri"/>
              </a:rPr>
              <a:t> is a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1884" y="1749886"/>
            <a:ext cx="5303520" cy="80295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804764" y="1698780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  <a:latin typeface="Calibri"/>
              </a:rPr>
              <a:t>Wrong for 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4764" y="1948048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  <a:latin typeface="Calibri"/>
              </a:rPr>
              <a:t>Every student sees the same deadline. What if yours is different?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1884" y="2723158"/>
            <a:ext cx="5303520" cy="85306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6804764" y="2672052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Calibri"/>
              </a:rPr>
              <a:t>Stale forever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4764" y="2946372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"Due Friday" — which Friday? It never updates.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1884" y="3746534"/>
            <a:ext cx="5303520" cy="799314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804764" y="3695428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Calibri"/>
              </a:rPr>
              <a:t>Doesn't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4764" y="394469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  <a:latin typeface="Calibri"/>
              </a:rPr>
              <a:t>Real apps have hundreds of courses. You can't hardcode them 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1884" y="4682228"/>
            <a:ext cx="5303520" cy="84514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804764" y="4631122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Calibri"/>
              </a:rPr>
              <a:t>No error states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4764" y="489291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The app can't fail. Real data can be unavailable.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1884" y="5655500"/>
            <a:ext cx="5303520" cy="84514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804764" y="5604394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Calibri"/>
              </a:rPr>
              <a:t>Not testable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4764" y="5853662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  <a:latin typeface="Calibri"/>
              </a:rPr>
              <a:t>You can't test edge cases like empty data or network errors.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F4E10-5A8D-E816-5A6C-FEDF797CB879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The same 3 screens — completely transformed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9554"/>
            <a:ext cx="539496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89554"/>
            <a:ext cx="5394960" cy="4572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457200" y="1270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BEFORE 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today topic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29634"/>
            <a:ext cx="50292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Home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hardcoded deadline string, hardcoded attendance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Courses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const COURSES = [ ... ] array in the component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Course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detail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shows only the route ID — nothing else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200" b="1" dirty="0">
                <a:solidFill>
                  <a:srgbClr val="FF0000"/>
                </a:solidFill>
                <a:latin typeface="Calibri"/>
              </a:rPr>
              <a:t>Nothing can fail </a:t>
            </a:r>
            <a:r>
              <a:rPr sz="2200" dirty="0">
                <a:solidFill>
                  <a:srgbClr val="111827"/>
                </a:solidFill>
                <a:latin typeface="Calibri"/>
              </a:rPr>
              <a:t>— nothing can be empty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DC2626"/>
                </a:solidFill>
                <a:latin typeface="Calibri"/>
              </a:rPr>
              <a:t>✗  </a:t>
            </a:r>
            <a:r>
              <a:rPr sz="2200" dirty="0">
                <a:solidFill>
                  <a:srgbClr val="111827"/>
                </a:solidFill>
                <a:latin typeface="Calibri"/>
              </a:rPr>
              <a:t>Same data for every student, on every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12714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563EB"/>
                </a:solidFill>
                <a:latin typeface="Calibri"/>
              </a:rPr>
              <a:t>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1289554"/>
            <a:ext cx="539496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9672" y="1289554"/>
            <a:ext cx="5394960" cy="4572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702552" y="127026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AFTER  (end of </a:t>
            </a: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this topic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929634"/>
            <a:ext cx="50292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200" b="1" dirty="0">
                <a:solidFill>
                  <a:srgbClr val="006600"/>
                </a:solidFill>
                <a:latin typeface="Calibri"/>
              </a:rPr>
              <a:t>Home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fetches live dashboard — dynamic greeting, real deadline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200" b="1" dirty="0">
                <a:solidFill>
                  <a:srgbClr val="006600"/>
                </a:solidFill>
                <a:latin typeface="Calibri"/>
              </a:rPr>
              <a:t>Courses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fetches from API, shows instructor name, pull-to-refresh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200" b="1" dirty="0">
                <a:solidFill>
                  <a:srgbClr val="006600"/>
                </a:solidFill>
                <a:latin typeface="Calibri"/>
              </a:rPr>
              <a:t>Course</a:t>
            </a:r>
            <a:r>
              <a:rPr sz="220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006600"/>
                </a:solidFill>
                <a:latin typeface="Calibri"/>
              </a:rPr>
              <a:t>detail</a:t>
            </a:r>
            <a:r>
              <a:rPr sz="2200" dirty="0">
                <a:solidFill>
                  <a:srgbClr val="111827"/>
                </a:solidFill>
                <a:latin typeface="Calibri"/>
              </a:rPr>
              <a:t>: full page — instructor, schedule, grade, announcements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200" dirty="0">
                <a:solidFill>
                  <a:srgbClr val="111827"/>
                </a:solidFill>
                <a:latin typeface="Calibri"/>
              </a:rPr>
              <a:t>Every screen handles: loading spinner, error + retry, empty state</a:t>
            </a:r>
          </a:p>
          <a:p>
            <a:pPr>
              <a:spcAft>
                <a:spcPts val="1400"/>
              </a:spcAft>
            </a:pPr>
            <a:r>
              <a:rPr sz="220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sz="2200" dirty="0">
                <a:solidFill>
                  <a:srgbClr val="111827"/>
                </a:solidFill>
                <a:latin typeface="Calibri"/>
              </a:rPr>
              <a:t>SHOULD_FAIL toggle to simulate network failures during demos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035536-5271-FA5F-8F14-DC8895A6D414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What is an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564543"/>
            <a:ext cx="11384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Application Programming Interface — a way to request data from a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6426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6287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E40AF"/>
                </a:solidFill>
                <a:latin typeface="Calibri"/>
              </a:rPr>
              <a:t>📋  Analogy: A restaurant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2796"/>
            <a:ext cx="11155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  <a:latin typeface="Calibri"/>
              </a:rPr>
              <a:t>You (the app) ask the waiter (API) for food (data). The kitchen (server) prepares it. The waiter brings it back. You don't know how the kitchen works — you just get the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3050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65760" y="2621940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📱  Your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3342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DBEAFE"/>
                </a:solidFill>
                <a:latin typeface="Calibri"/>
              </a:rPr>
              <a:t>Makes a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4457" y="2804820"/>
            <a:ext cx="365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53050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3291840" y="2621940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🌐 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3342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DBEAFE"/>
                </a:solidFill>
                <a:latin typeface="Calibri"/>
              </a:rPr>
              <a:t>Sends the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0598" y="2804820"/>
            <a:ext cx="365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3050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217920" y="2621940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🖥 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3342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DBEAFE"/>
                </a:solidFill>
                <a:latin typeface="Calibri"/>
              </a:rPr>
              <a:t>Processes + returns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04820"/>
            <a:ext cx="45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3050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144000" y="2621940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📱  Your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3342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DBEAFE"/>
                </a:solidFill>
                <a:latin typeface="Calibri"/>
              </a:rPr>
              <a:t>Receives + displays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274" y="3898124"/>
            <a:ext cx="5814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11827"/>
                </a:solidFill>
                <a:latin typeface="Calibri"/>
              </a:rPr>
              <a:t>Real API call: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274" y="4263885"/>
            <a:ext cx="5847525" cy="1097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207" y="4428477"/>
            <a:ext cx="6135013" cy="7335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const response = await fetch('https://api.example.com/courses');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const data = await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response.json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// data is now the courses array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7126" y="3898124"/>
            <a:ext cx="5658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Our mock API (same pattern, no network):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7127" y="4263885"/>
            <a:ext cx="5669280" cy="10972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0007" y="4401045"/>
            <a:ext cx="5447325" cy="76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const courses = await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api.getCourses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// Returns the same data, but from a local array.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// async + await + Promises = identical pattern.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715000"/>
            <a:ext cx="11612880" cy="82296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70705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Calibri"/>
              </a:rPr>
              <a:t>The component code that CALLS the API is identical whether it's a mock or a real server. We swap the mock for Supabase in Week 13 — the components barely change.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8F16AB-4FE8-E2E5-8C44-EB30715B160E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The Mock API  —  lib/</a:t>
            </a:r>
            <a:r>
              <a:rPr sz="3200" b="1" i="0" dirty="0" err="1">
                <a:latin typeface="Calibri"/>
              </a:rPr>
              <a:t>api.ts</a:t>
            </a:r>
            <a:endParaRPr sz="3200" b="1" i="0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39" y="635924"/>
            <a:ext cx="11868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Simulates real network </a:t>
            </a:r>
            <a:r>
              <a:rPr sz="2800" b="0" i="0" dirty="0" err="1">
                <a:latin typeface="Calibri"/>
              </a:rPr>
              <a:t>behaviour</a:t>
            </a:r>
            <a:r>
              <a:rPr sz="2800" b="0" i="0" dirty="0">
                <a:latin typeface="Calibri"/>
              </a:rPr>
              <a:t> without needing an internet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67446"/>
            <a:ext cx="3102725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4606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  <a:latin typeface="Calibri"/>
              </a:rPr>
              <a:t>Why a Mock?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7526"/>
            <a:ext cx="2826327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Free APIs don't have course data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Focus on React patterns, not network debugging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Simulate errors on demand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No API keys or sign-ups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4344" y="1367446"/>
            <a:ext cx="39319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7224" y="1411087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  <a:latin typeface="Calibri"/>
              </a:rPr>
              <a:t>What it simulates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1504" y="2007526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44384" y="1949336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E40AF"/>
                </a:solidFill>
                <a:latin typeface="Courier New"/>
              </a:rPr>
              <a:t>delay(800ms)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4384" y="2228227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  <a:latin typeface="Calibri"/>
              </a:rPr>
              <a:t>Network latency — so we can see the spinner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1504" y="3013366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44384" y="2955176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Courier New"/>
              </a:rPr>
              <a:t>maybeThrow()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4384" y="3234067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SHOULD_FAIL flag forces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1504" y="4019205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44384" y="3961015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Courier New"/>
              </a:rPr>
              <a:t>async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4384" y="4239906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Returns Promises — identical to fetch()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61504" y="5025046"/>
            <a:ext cx="365760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44384" y="4966856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Courier New"/>
              </a:rPr>
              <a:t>Typed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4384" y="5245747"/>
            <a:ext cx="3291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TypeScript types match what a real API returns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50460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SHOULD_FAIL toggle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51608" y="1367446"/>
            <a:ext cx="4227032" cy="5120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6304" y="1504606"/>
            <a:ext cx="4121944" cy="487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1" dirty="0">
                <a:solidFill>
                  <a:srgbClr val="FFFF00"/>
                </a:solidFill>
                <a:latin typeface="Courier New"/>
              </a:rPr>
              <a:t>// lib/</a:t>
            </a:r>
            <a:r>
              <a:rPr sz="1400" b="1" dirty="0" err="1">
                <a:solidFill>
                  <a:srgbClr val="FFFF00"/>
                </a:solidFill>
                <a:latin typeface="Courier New"/>
              </a:rPr>
              <a:t>api.ts</a:t>
            </a:r>
            <a:endParaRPr lang="en-US" sz="1400" b="1" dirty="0">
              <a:solidFill>
                <a:srgbClr val="FFFF0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// ← flip to test errors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const SHOULD_FAIL = false; </a:t>
            </a:r>
            <a:endParaRPr lang="en-US"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endParaRPr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function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maybeThrow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(): void {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if (SHOULD_FAIL) {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  throw new Error(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    'Network request failed.'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export async function 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getCourses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() {</a:t>
            </a:r>
            <a:endParaRPr lang="en-US"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// simulate latency</a:t>
            </a:r>
            <a:endParaRPr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  await delay(); </a:t>
            </a:r>
            <a:r>
              <a:rPr lang="en-US" sz="1400" dirty="0">
                <a:solidFill>
                  <a:srgbClr val="E2E8F0"/>
                </a:solidFill>
                <a:latin typeface="Courier New"/>
              </a:rPr>
              <a:t>   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 // maybe throw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 </a:t>
            </a:r>
            <a:r>
              <a:rPr lang="en-US" sz="1400" dirty="0" err="1">
                <a:solidFill>
                  <a:srgbClr val="E2E8F0"/>
                </a:solidFill>
                <a:latin typeface="Courier New"/>
              </a:rPr>
              <a:t>maybeThrow</a:t>
            </a:r>
            <a:r>
              <a:rPr lang="en-US" sz="1400" dirty="0">
                <a:solidFill>
                  <a:srgbClr val="E2E8F0"/>
                </a:solidFill>
                <a:latin typeface="Courier New"/>
              </a:rPr>
              <a:t>(); 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 // return data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E2E8F0"/>
                </a:solidFill>
                <a:latin typeface="Courier New"/>
              </a:rPr>
              <a:t>   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return COURSES;</a:t>
            </a:r>
            <a:endParaRPr lang="en-US" sz="14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DEDEBF-6C47-1CF8-8B02-A7F01A960BE0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490747"/>
            <a:ext cx="1218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  <a:latin typeface="Calibri"/>
              </a:rPr>
              <a:t>Core Concept: </a:t>
            </a:r>
            <a:r>
              <a:rPr sz="5400" b="1" i="0" dirty="0">
                <a:solidFill>
                  <a:srgbClr val="FFFFFF"/>
                </a:solidFill>
                <a:latin typeface="Calibri"/>
              </a:rPr>
              <a:t>The Four UI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" y="2779216"/>
            <a:ext cx="1218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 dirty="0">
                <a:solidFill>
                  <a:srgbClr val="DBEAFE"/>
                </a:solidFill>
                <a:latin typeface="Calibri"/>
              </a:rPr>
              <a:t>Every screen that fetches data must handle all four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4780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297675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9030"/>
            <a:ext cx="2560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FFFFFF"/>
                </a:solidFill>
                <a:latin typeface="Calibri"/>
              </a:rPr>
              <a:t>Spinner shows while
data is in transit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24780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4297675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759030"/>
            <a:ext cx="2560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Something went wrong.
Show retry button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4780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297675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759030"/>
            <a:ext cx="2560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Success — but no data
to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24780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4297675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759030"/>
            <a:ext cx="2560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Data arrived.
Render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The Four UI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12290"/>
            <a:ext cx="10781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Every fetch screen must handle all four — no 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8894" y="1312643"/>
            <a:ext cx="2533426" cy="504101"/>
          </a:xfrm>
          <a:prstGeom prst="roundRect">
            <a:avLst>
              <a:gd name="adj" fmla="val 4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8894" y="1327766"/>
            <a:ext cx="2533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Component mounts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820073"/>
            <a:ext cx="1463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Calibri"/>
              </a:rPr>
              <a:t>↓  </a:t>
            </a:r>
            <a:r>
              <a:rPr b="0" i="0" dirty="0" err="1">
                <a:latin typeface="Calibri"/>
              </a:rPr>
              <a:t>useEffect</a:t>
            </a:r>
            <a:r>
              <a:rPr b="0" i="0" dirty="0">
                <a:latin typeface="Calibri"/>
              </a:rPr>
              <a:t> fires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1671" y="2185832"/>
            <a:ext cx="3130475" cy="946971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401671" y="2189710"/>
            <a:ext cx="3130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⏳ 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1671" y="2486473"/>
            <a:ext cx="3130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DBEAFE"/>
                </a:solidFill>
                <a:latin typeface="Courier New"/>
              </a:rPr>
              <a:t>&lt;</a:t>
            </a:r>
            <a:r>
              <a:rPr b="0" i="0" dirty="0" err="1">
                <a:solidFill>
                  <a:srgbClr val="DBEAFE"/>
                </a:solidFill>
                <a:latin typeface="Courier New"/>
              </a:rPr>
              <a:t>ActivityIndicator</a:t>
            </a:r>
            <a:r>
              <a:rPr b="0" i="0" dirty="0">
                <a:solidFill>
                  <a:srgbClr val="DBEAFE"/>
                </a:solidFill>
                <a:latin typeface="Courier New"/>
              </a:rPr>
              <a:t> /&gt;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1183" y="2425303"/>
            <a:ext cx="1965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latin typeface="Calibri"/>
              </a:rPr>
              <a:t>← fetch throws an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185833"/>
            <a:ext cx="2331720" cy="905256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189710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chemeClr val="bg1"/>
                </a:solidFill>
                <a:latin typeface="Calibri"/>
              </a:rPr>
              <a:t>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457650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EE2E2"/>
                </a:solidFill>
                <a:latin typeface="Calibri"/>
              </a:rPr>
              <a:t>message + retry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706" y="1710345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Calibri"/>
              </a:rPr>
              <a:t>↑  tap retry → loading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0758" y="2725329"/>
            <a:ext cx="1871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fetch succeeds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579025"/>
            <a:ext cx="2331720" cy="77724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2643033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📭  EMPTY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972217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EF3C7"/>
                </a:solidFill>
                <a:latin typeface="Calibri"/>
              </a:rPr>
              <a:t>"No courses found."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1" y="2154660"/>
            <a:ext cx="2705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Calibri"/>
              </a:rPr>
              <a:t>↑  yes, array</a:t>
            </a:r>
            <a:r>
              <a:rPr lang="en-US" sz="1600" b="0" i="0" dirty="0">
                <a:latin typeface="Calibri"/>
              </a:rPr>
              <a:t> or data</a:t>
            </a:r>
            <a:r>
              <a:rPr sz="1600" b="0" i="0" dirty="0">
                <a:latin typeface="Calibri"/>
              </a:rPr>
              <a:t> is empty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401985"/>
            <a:ext cx="2331720" cy="77724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6620" y="3447705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68282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DCFCE7"/>
                </a:solidFill>
                <a:latin typeface="Calibri"/>
              </a:rPr>
              <a:t>render list /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0" y="3625743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← no, has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50627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In code — the exact order matters: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935685"/>
            <a:ext cx="7772400" cy="139238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5905" y="5072845"/>
            <a:ext cx="8024954" cy="9925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)   return &lt;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ActivityIndicator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/&gt;;  // 1. Loading first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if (error)       </a:t>
            </a:r>
            <a:r>
              <a:rPr lang="en-US" sz="1400" dirty="0">
                <a:solidFill>
                  <a:srgbClr val="E2E8F0"/>
                </a:solidFill>
                <a:latin typeface="Courier New"/>
              </a:rPr>
              <a:t>re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turn &lt;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ErrorView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/&gt;;          // 2. Error before empty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data.length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=== 0) return &lt;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EmptyView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/&gt;;    // 3. Empty before data</a:t>
            </a:r>
          </a:p>
          <a:p>
            <a:pPr>
              <a:spcAft>
                <a:spcPts val="100"/>
              </a:spcAft>
            </a:pPr>
            <a:r>
              <a:rPr sz="1400" dirty="0">
                <a:solidFill>
                  <a:srgbClr val="E2E8F0"/>
                </a:solidFill>
                <a:latin typeface="Courier New"/>
              </a:rPr>
              <a:t>return &lt;</a:t>
            </a:r>
            <a:r>
              <a:rPr sz="1400" dirty="0" err="1">
                <a:solidFill>
                  <a:srgbClr val="E2E8F0"/>
                </a:solidFill>
                <a:latin typeface="Courier New"/>
              </a:rPr>
              <a:t>DataView</a:t>
            </a:r>
            <a:r>
              <a:rPr sz="1400" dirty="0">
                <a:solidFill>
                  <a:srgbClr val="E2E8F0"/>
                </a:solidFill>
                <a:latin typeface="Courier New"/>
              </a:rPr>
              <a:t> data={data} /&gt;;                // 4. Data last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491314"/>
            <a:ext cx="3657600" cy="2165619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5263" y="4520000"/>
            <a:ext cx="334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E40AF"/>
                </a:solidFill>
                <a:latin typeface="Calibri"/>
              </a:rPr>
              <a:t>💡 Why this order?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9724" y="4859225"/>
            <a:ext cx="36575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11827"/>
                </a:solidFill>
                <a:latin typeface="Calibri"/>
              </a:rPr>
              <a:t>Loading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 is checked first — nothing else</a:t>
            </a:r>
            <a:r>
              <a:rPr lang="en-US" sz="1600" b="0" i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should show while data is in transit.
</a:t>
            </a:r>
            <a:r>
              <a:rPr sz="1600" b="1" i="0" dirty="0">
                <a:solidFill>
                  <a:srgbClr val="111827"/>
                </a:solidFill>
                <a:latin typeface="Calibri"/>
              </a:rPr>
              <a:t>Error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 before empty — an error with an</a:t>
            </a:r>
            <a:r>
              <a:rPr lang="en-US" sz="1600" b="0" i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empty array is an error, not empty state.
</a:t>
            </a:r>
            <a:r>
              <a:rPr sz="1600" b="1" i="0" dirty="0">
                <a:solidFill>
                  <a:srgbClr val="111827"/>
                </a:solidFill>
                <a:latin typeface="Calibri"/>
              </a:rPr>
              <a:t>Empty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 before data — avoid rendering a</a:t>
            </a:r>
            <a:r>
              <a:rPr lang="en-US" sz="1600" b="0" i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blank </a:t>
            </a:r>
            <a:r>
              <a:rPr sz="1600" b="0" i="0" dirty="0" err="1">
                <a:solidFill>
                  <a:srgbClr val="111827"/>
                </a:solidFill>
                <a:latin typeface="Calibri"/>
              </a:rPr>
              <a:t>FlatList</a:t>
            </a:r>
            <a:r>
              <a:rPr sz="1600" b="0" i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C937F3-8D08-9E30-43AF-7D7666AA2080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4DA472-2E70-28F6-5E41-6000E7A8F6B7}"/>
              </a:ext>
            </a:extLst>
          </p:cNvPr>
          <p:cNvSpPr txBox="1"/>
          <p:nvPr/>
        </p:nvSpPr>
        <p:spPr>
          <a:xfrm>
            <a:off x="10245436" y="3376990"/>
            <a:ext cx="936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latin typeface="Calibri"/>
              </a:rPr>
              <a:t>↓ 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BB24035A-466C-4EA5-56A4-CFFADA98F98B}"/>
              </a:ext>
            </a:extLst>
          </p:cNvPr>
          <p:cNvSpPr/>
          <p:nvPr/>
        </p:nvSpPr>
        <p:spPr>
          <a:xfrm>
            <a:off x="9571168" y="1581921"/>
            <a:ext cx="2331720" cy="494973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3CBFC-B3EC-2CDA-A6A9-6241ACC3A5F2}"/>
              </a:ext>
            </a:extLst>
          </p:cNvPr>
          <p:cNvSpPr txBox="1"/>
          <p:nvPr/>
        </p:nvSpPr>
        <p:spPr>
          <a:xfrm>
            <a:off x="9578340" y="1658835"/>
            <a:ext cx="2354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Empty 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Three</a:t>
            </a:r>
            <a:r>
              <a:rPr lang="en-US" sz="3200" b="1" i="0" dirty="0">
                <a:latin typeface="Calibri"/>
              </a:rPr>
              <a:t>-</a:t>
            </a:r>
            <a:r>
              <a:rPr sz="3200" b="1" i="0" dirty="0">
                <a:latin typeface="Calibri"/>
              </a:rPr>
              <a:t>State </a:t>
            </a:r>
            <a:r>
              <a:rPr lang="en-US" sz="3200" b="1" i="0" dirty="0">
                <a:latin typeface="Calibri"/>
              </a:rPr>
              <a:t>Pattern for API Requests</a:t>
            </a:r>
            <a:endParaRPr sz="3200" b="1" i="0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26634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2 states with local storage and 3 states with API </a:t>
            </a:r>
            <a:endParaRPr sz="2800" b="0" i="0" dirty="0"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323191"/>
            <a:ext cx="521208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323191"/>
            <a:ext cx="5212080" cy="457200"/>
          </a:xfrm>
          <a:prstGeom prst="roundRect">
            <a:avLst>
              <a:gd name="adj" fmla="val 4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7689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Calibri"/>
              </a:rPr>
              <a:t>Local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 Storage (2 state variables)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917551"/>
            <a:ext cx="4937760" cy="42976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54711"/>
            <a:ext cx="4601584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// </a:t>
            </a:r>
            <a:r>
              <a:rPr lang="en-US" dirty="0">
                <a:solidFill>
                  <a:srgbClr val="E2E8F0"/>
                </a:solidFill>
                <a:latin typeface="Courier New"/>
              </a:rPr>
              <a:t>Storage</a:t>
            </a:r>
            <a:r>
              <a:rPr dirty="0">
                <a:solidFill>
                  <a:srgbClr val="E2E8F0"/>
                </a:solidFill>
                <a:latin typeface="Courier New"/>
              </a:rPr>
              <a:t> pattern (storage — </a:t>
            </a:r>
            <a:endParaRPr lang="en-US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dirty="0">
                <a:solidFill>
                  <a:srgbClr val="E2E8F0"/>
                </a:solidFill>
                <a:latin typeface="Courier New"/>
              </a:rPr>
              <a:t>			// </a:t>
            </a:r>
            <a:r>
              <a:rPr dirty="0">
                <a:solidFill>
                  <a:srgbClr val="E2E8F0"/>
                </a:solidFill>
                <a:latin typeface="Courier New"/>
              </a:rPr>
              <a:t>errors unlikely)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const [data,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setData</a:t>
            </a:r>
            <a:r>
              <a:rPr dirty="0">
                <a:solidFill>
                  <a:srgbClr val="E2E8F0"/>
                </a:solidFill>
                <a:latin typeface="Courier New"/>
              </a:rPr>
              <a:t>]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  =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dirty="0">
                <a:solidFill>
                  <a:srgbClr val="E2E8F0"/>
                </a:solidFill>
                <a:latin typeface="Courier New"/>
              </a:rPr>
              <a:t>(null);</a:t>
            </a:r>
          </a:p>
          <a:p>
            <a:pPr>
              <a:spcAft>
                <a:spcPts val="100"/>
              </a:spcAft>
            </a:pPr>
            <a:endParaRPr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const [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dirty="0">
                <a:solidFill>
                  <a:srgbClr val="E2E8F0"/>
                </a:solidFill>
                <a:latin typeface="Courier New"/>
              </a:rPr>
              <a:t>,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dirty="0">
                <a:solidFill>
                  <a:srgbClr val="E2E8F0"/>
                </a:solidFill>
                <a:latin typeface="Courier New"/>
              </a:rPr>
              <a:t>]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  = </a:t>
            </a:r>
            <a:r>
              <a:rPr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endParaRPr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// No error state needed —</a:t>
            </a:r>
          </a:p>
          <a:p>
            <a:pPr>
              <a:spcAft>
                <a:spcPts val="100"/>
              </a:spcAft>
            </a:pPr>
            <a:r>
              <a:rPr dirty="0">
                <a:solidFill>
                  <a:srgbClr val="E2E8F0"/>
                </a:solidFill>
                <a:latin typeface="Courier New"/>
              </a:rPr>
              <a:t>// local storage almost never </a:t>
            </a:r>
            <a:endParaRPr lang="en-US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dirty="0">
                <a:solidFill>
                  <a:srgbClr val="E2E8F0"/>
                </a:solidFill>
                <a:latin typeface="Courier New"/>
              </a:rPr>
              <a:t>							// </a:t>
            </a:r>
            <a:r>
              <a:rPr dirty="0">
                <a:solidFill>
                  <a:srgbClr val="E2E8F0"/>
                </a:solidFill>
                <a:latin typeface="Courier New"/>
              </a:rPr>
              <a:t>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7986" y="3700631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563EB"/>
                </a:solidFill>
                <a:latin typeface="Calibri"/>
              </a:rPr>
              <a:t>+ 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5342" y="1323191"/>
            <a:ext cx="5467578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3826" y="1323191"/>
            <a:ext cx="5489094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1287689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API (3 state variables)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17551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054711"/>
            <a:ext cx="5029199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</a:t>
            </a:r>
            <a:r>
              <a:rPr lang="en-US" sz="1600" dirty="0">
                <a:solidFill>
                  <a:srgbClr val="E2E8F0"/>
                </a:solidFill>
                <a:latin typeface="Courier New"/>
              </a:rPr>
              <a:t>API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pattern (API — errors expected)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const [data,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setData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]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=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(null);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const [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]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=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const [error,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]       </a:t>
            </a:r>
            <a:r>
              <a:rPr sz="1600" b="1" dirty="0">
                <a:solidFill>
                  <a:srgbClr val="FFFF00"/>
                </a:solidFill>
                <a:latin typeface="Courier New"/>
              </a:rPr>
              <a:t>// ← NEW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=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&lt;string | null&gt;(null);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null = no error  |  string = 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5300831"/>
            <a:ext cx="4937760" cy="68580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5306207"/>
            <a:ext cx="4663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FFFFFF"/>
                </a:solidFill>
                <a:latin typeface="Calibri"/>
              </a:rPr>
              <a:t>error is null when everything is fine. It becomes a string message when a fetch fails.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8395E4-9AA1-0785-925C-CA0158F2D44E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latin typeface="Calibri"/>
              </a:rPr>
              <a:t>Using </a:t>
            </a:r>
            <a:r>
              <a:rPr sz="3200" b="1" i="0" dirty="0">
                <a:latin typeface="Calibri"/>
              </a:rPr>
              <a:t>try</a:t>
            </a:r>
            <a:r>
              <a:rPr lang="en-US" sz="3200" b="1" i="0" dirty="0">
                <a:latin typeface="Calibri"/>
              </a:rPr>
              <a:t>-</a:t>
            </a:r>
            <a:r>
              <a:rPr sz="3200" b="1" i="0" dirty="0">
                <a:latin typeface="Calibri"/>
              </a:rPr>
              <a:t>catch</a:t>
            </a:r>
            <a:r>
              <a:rPr lang="en-US" sz="3200" b="1" i="0" dirty="0">
                <a:latin typeface="Calibri"/>
              </a:rPr>
              <a:t>-</a:t>
            </a:r>
            <a:r>
              <a:rPr sz="3200" b="1" i="0" dirty="0">
                <a:latin typeface="Calibri"/>
              </a:rPr>
              <a:t>finally</a:t>
            </a:r>
            <a:r>
              <a:rPr lang="en-US" sz="3200" b="1" i="0" dirty="0">
                <a:latin typeface="Calibri"/>
              </a:rPr>
              <a:t> with API Calls</a:t>
            </a:r>
            <a:endParaRPr sz="3200" b="1" i="0" dirty="0"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780036"/>
            <a:ext cx="3657600" cy="475301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814555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0000"/>
                </a:solidFill>
                <a:latin typeface="Calibri"/>
              </a:rPr>
              <a:t>What each block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42830"/>
            <a:ext cx="3383280" cy="12801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194679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E40AF"/>
                </a:solidFill>
                <a:latin typeface="Courier New"/>
              </a:rPr>
              <a:t>try {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9132"/>
            <a:ext cx="3108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11827"/>
                </a:solidFill>
                <a:latin typeface="Calibri"/>
              </a:rPr>
              <a:t>Code that might throw an error.
Runs first, always.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05870"/>
            <a:ext cx="3383280" cy="12801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57719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Courier New"/>
              </a:rPr>
              <a:t>catch (e) {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22172"/>
            <a:ext cx="310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11827"/>
                </a:solidFill>
                <a:latin typeface="Calibri"/>
              </a:rPr>
              <a:t>Runs ONLY if try threw.
Handle the error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168910"/>
            <a:ext cx="3383280" cy="12801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20759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Courier New"/>
              </a:rPr>
              <a:t>finally {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5212"/>
            <a:ext cx="3108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11827"/>
                </a:solidFill>
                <a:latin typeface="Calibri"/>
              </a:rPr>
              <a:t>Runs ALWAYS — whether try
succeeded or catch ran.
Perfect for cleanup.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825756"/>
            <a:ext cx="3749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C2626"/>
                </a:solidFill>
                <a:latin typeface="Calibri"/>
              </a:rPr>
              <a:t>❌  Without finally — BUG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1237236"/>
            <a:ext cx="4187826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54145" y="1374396"/>
            <a:ext cx="338327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const result = await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api.getCourses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(result);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(false);  // ← only on success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 catch (e)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e.message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//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is still true!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// Spinner shows FOREVER alongside error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8222" y="825756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6A34A"/>
                </a:solidFill>
                <a:latin typeface="Calibri"/>
              </a:rPr>
              <a:t>✅  With finally — correct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2501" y="1237236"/>
            <a:ext cx="3749039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25381" y="1374396"/>
            <a:ext cx="3345788" cy="32393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try {</a:t>
            </a: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rgbClr val="E2E8F0"/>
                </a:solidFill>
                <a:latin typeface="Courier New"/>
              </a:rPr>
              <a:t>    // clear old error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(null);         </a:t>
            </a: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const result = </a:t>
            </a: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rgbClr val="E2E8F0"/>
                </a:solidFill>
                <a:latin typeface="Courier New"/>
              </a:rPr>
              <a:t>           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await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api.getCourses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setCourses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(result);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 catch (e) {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(e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instanceof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 Error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?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e.message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  : 'Something went wrong');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} finally {</a:t>
            </a:r>
            <a:endParaRPr lang="en-US"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lang="en-US" sz="1200" dirty="0">
                <a:solidFill>
                  <a:srgbClr val="E2E8F0"/>
                </a:solidFill>
                <a:latin typeface="Courier New"/>
              </a:rPr>
              <a:t>    // ← ALWAYS runs</a:t>
            </a:r>
            <a:endParaRPr sz="12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E2E8F0"/>
                </a:solidFill>
                <a:latin typeface="Courier New"/>
              </a:rPr>
              <a:t>(false); }</a:t>
            </a:r>
          </a:p>
          <a:p>
            <a:pPr>
              <a:spcAft>
                <a:spcPts val="100"/>
              </a:spcAft>
            </a:pPr>
            <a:r>
              <a:rPr sz="12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909736"/>
            <a:ext cx="11612880" cy="719664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866708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111827"/>
                </a:solidFill>
                <a:latin typeface="Calibri"/>
              </a:rPr>
              <a:t>🔑  Real-world analogy: try to make a phone call. If it fails (catch), show an error. Finally, put the phone down — whether the call connected or not.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53E499-106C-489A-DB07-4DFA5140D989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The Complete Fetch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189" y="2521059"/>
            <a:ext cx="32183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The same pattern repeated across all 3 screens — </a:t>
            </a:r>
            <a:r>
              <a:rPr lang="en-US" sz="2800" b="0" i="0" dirty="0">
                <a:latin typeface="Calibri"/>
              </a:rPr>
              <a:t>memorize</a:t>
            </a:r>
            <a:r>
              <a:rPr sz="2800" b="0" i="0" dirty="0">
                <a:latin typeface="Calibri"/>
              </a:rPr>
              <a:t>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9758" y="762000"/>
            <a:ext cx="8590878" cy="5831716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12910" y="812199"/>
            <a:ext cx="8401184" cy="582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// ── 1. State variables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const [data,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setData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]         =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&lt;Type | null&gt;(null);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const [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] =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const [error,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]       =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&lt;string | null&gt;(null);</a:t>
            </a:r>
          </a:p>
          <a:p>
            <a:pPr>
              <a:spcAft>
                <a:spcPts val="100"/>
              </a:spcAft>
            </a:pPr>
            <a:endParaRPr sz="13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// ── 2. Fetch function (extracted — reusable for retry + refresh) ───────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loadData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(null);                           // clear previous error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(true);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const result = await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api.getSomething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setData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(result);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} catch (e)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(e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instanceof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Error ?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e.message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: 'Something went wrong');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} finally {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(false);                      // always stop the spinner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3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// ── 3. Call on mount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13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(() =&gt; {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loadData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(); }, []);</a:t>
            </a:r>
          </a:p>
          <a:p>
            <a:pPr>
              <a:spcAft>
                <a:spcPts val="100"/>
              </a:spcAft>
            </a:pPr>
            <a:endParaRPr sz="13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// ── 4. Conditional render ────────────────────────────────────────────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)         return &lt;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ActivityIndicator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/&gt;;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if (error)             return &lt;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ErrorView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onRetry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loadData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} /&gt;;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data.length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=== 0) return &lt;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EmptyView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/&gt;;</a:t>
            </a:r>
          </a:p>
          <a:p>
            <a:pPr>
              <a:spcAft>
                <a:spcPts val="100"/>
              </a:spcAft>
            </a:pPr>
            <a:r>
              <a:rPr sz="1300" dirty="0">
                <a:solidFill>
                  <a:srgbClr val="E2E8F0"/>
                </a:solidFill>
                <a:latin typeface="Courier New"/>
              </a:rPr>
              <a:t>return                        &lt;</a:t>
            </a:r>
            <a:r>
              <a:rPr sz="1300" dirty="0" err="1">
                <a:solidFill>
                  <a:srgbClr val="E2E8F0"/>
                </a:solidFill>
                <a:latin typeface="Courier New"/>
              </a:rPr>
              <a:t>DataView</a:t>
            </a:r>
            <a:r>
              <a:rPr sz="1300" dirty="0">
                <a:solidFill>
                  <a:srgbClr val="E2E8F0"/>
                </a:solidFill>
                <a:latin typeface="Courier New"/>
              </a:rPr>
              <a:t> data={data} /&gt;;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A58EB-ECFB-2443-14C9-8C4D888ED663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Why Extract the Fetch Function?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  <a:latin typeface="Calibri"/>
              </a:rPr>
              <a:t>If it's inside useEffect, you can't call it from a retry button or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986" y="733381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  <a:latin typeface="Calibri"/>
              </a:rPr>
              <a:t>❌  Inside </a:t>
            </a:r>
            <a:r>
              <a:rPr sz="2000" b="1" i="0" dirty="0" err="1">
                <a:solidFill>
                  <a:srgbClr val="DC2626"/>
                </a:solidFill>
                <a:latin typeface="Calibri"/>
              </a:rPr>
              <a:t>useEffect</a:t>
            </a:r>
            <a:endParaRPr sz="2000" b="1" i="0" dirty="0">
              <a:solidFill>
                <a:srgbClr val="DC2626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1666" y="1210178"/>
            <a:ext cx="5718732" cy="3474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573" y="1347338"/>
            <a:ext cx="557784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(() =&gt;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async function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// ...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}, []);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Retry button can't call it — it's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scoped inside the callback!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&lt;Pressable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 // ←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733381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Calibri"/>
              </a:rPr>
              <a:t>✅  Outside useEffect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10178"/>
            <a:ext cx="5577840" cy="3474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44697"/>
            <a:ext cx="52578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Defined in the component body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// ...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Mount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E2E8F0"/>
                </a:solidFill>
                <a:latin typeface="Courier New"/>
              </a:rPr>
              <a:t>useEffect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(() =&gt; {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(); }, []);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Retry button ✓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&lt;Pressable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onPress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Pull-to-refresh ✓</a:t>
            </a:r>
          </a:p>
          <a:p>
            <a:pPr>
              <a:spcAft>
                <a:spcPts val="100"/>
              </a:spcAft>
            </a:pPr>
            <a:r>
              <a:rPr sz="1600" dirty="0" err="1">
                <a:solidFill>
                  <a:srgbClr val="E2E8F0"/>
                </a:solidFill>
                <a:latin typeface="Courier New"/>
              </a:rPr>
              <a:t>onRefresh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handleRefresh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940555"/>
            <a:ext cx="116128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911253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The same </a:t>
            </a:r>
            <a:r>
              <a:rPr sz="2000" b="1" i="0" dirty="0" err="1">
                <a:solidFill>
                  <a:srgbClr val="111827"/>
                </a:solidFill>
                <a:latin typeface="Calibri"/>
              </a:rPr>
              <a:t>loadCourses</a:t>
            </a:r>
            <a:r>
              <a:rPr sz="2000" b="1" i="0" dirty="0">
                <a:solidFill>
                  <a:srgbClr val="111827"/>
                </a:solidFill>
                <a:latin typeface="Calibri"/>
              </a:rPr>
              <a:t>() function is called from 3 different places: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1768"/>
            <a:ext cx="3566160" cy="865885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986" y="5313215"/>
            <a:ext cx="356616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 dirty="0" err="1">
                <a:solidFill>
                  <a:srgbClr val="1E40AF"/>
                </a:solidFill>
                <a:latin typeface="Courier New"/>
              </a:rPr>
              <a:t>useEffect</a:t>
            </a:r>
            <a:r>
              <a:rPr sz="1450" b="1" i="0" dirty="0">
                <a:solidFill>
                  <a:srgbClr val="1E40AF"/>
                </a:solidFill>
                <a:latin typeface="Courier New"/>
              </a:rPr>
              <a:t>(() =&gt; { </a:t>
            </a:r>
            <a:r>
              <a:rPr lang="en-US" sz="1450" b="1" i="0" dirty="0">
                <a:solidFill>
                  <a:srgbClr val="1E40AF"/>
                </a:solidFill>
                <a:latin typeface="Courier New"/>
              </a:rPr>
              <a:t> 	 	 </a:t>
            </a:r>
          </a:p>
          <a:p>
            <a:pPr algn="l"/>
            <a:r>
              <a:rPr lang="en-US" sz="1450" b="1" dirty="0">
                <a:solidFill>
                  <a:srgbClr val="1E40AF"/>
                </a:solidFill>
                <a:latin typeface="Courier New"/>
              </a:rPr>
              <a:t>         </a:t>
            </a:r>
            <a:r>
              <a:rPr sz="1450" b="1" i="0" dirty="0" err="1">
                <a:solidFill>
                  <a:srgbClr val="1E40AF"/>
                </a:solidFill>
                <a:latin typeface="Courier New"/>
              </a:rPr>
              <a:t>loadCourses</a:t>
            </a:r>
            <a:r>
              <a:rPr sz="1450" b="1" i="0" dirty="0">
                <a:solidFill>
                  <a:srgbClr val="1E40AF"/>
                </a:solidFill>
                <a:latin typeface="Courier New"/>
              </a:rPr>
              <a:t>(); }, [])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39471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Calibri"/>
              </a:rPr>
              <a:t>First load on mount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397755"/>
            <a:ext cx="3566160" cy="80989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2186" y="5350539"/>
            <a:ext cx="3461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E40AF"/>
                </a:solidFill>
                <a:latin typeface="Courier New"/>
              </a:rPr>
              <a:t>&lt;Pressable </a:t>
            </a:r>
            <a:r>
              <a:rPr sz="1600" b="1" i="0" dirty="0" err="1">
                <a:solidFill>
                  <a:srgbClr val="1E40AF"/>
                </a:solidFill>
                <a:latin typeface="Courier New"/>
              </a:rPr>
              <a:t>onPress</a:t>
            </a:r>
            <a:r>
              <a:rPr sz="1600" b="1" i="0" dirty="0">
                <a:solidFill>
                  <a:srgbClr val="1E40AF"/>
                </a:solidFill>
                <a:latin typeface="Courier New"/>
              </a:rPr>
              <a:t>={</a:t>
            </a:r>
            <a:r>
              <a:rPr sz="1600" b="1" i="0" dirty="0" err="1">
                <a:solidFill>
                  <a:srgbClr val="1E40AF"/>
                </a:solidFill>
                <a:latin typeface="Courier New"/>
              </a:rPr>
              <a:t>loadCourses</a:t>
            </a:r>
            <a:r>
              <a:rPr sz="1600" b="1" i="0" dirty="0">
                <a:solidFill>
                  <a:srgbClr val="1E40AF"/>
                </a:solidFill>
                <a:latin typeface="Courier New"/>
              </a:rPr>
              <a:t>}&gt;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858131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Calibri"/>
              </a:rPr>
              <a:t>Retry button after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5397755"/>
            <a:ext cx="3566160" cy="80989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5350539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E40AF"/>
                </a:solidFill>
                <a:latin typeface="Courier New"/>
              </a:rPr>
              <a:t>handleRefresh</a:t>
            </a:r>
            <a:r>
              <a:rPr sz="1600" b="1" i="0" dirty="0">
                <a:solidFill>
                  <a:srgbClr val="1E40AF"/>
                </a:solidFill>
                <a:latin typeface="Courier New"/>
              </a:rPr>
              <a:t> → </a:t>
            </a:r>
            <a:endParaRPr lang="en-US" sz="1600" b="1" i="0" dirty="0">
              <a:solidFill>
                <a:srgbClr val="1E40AF"/>
              </a:solidFill>
              <a:latin typeface="Courier New"/>
            </a:endParaRPr>
          </a:p>
          <a:p>
            <a:pPr algn="l"/>
            <a:r>
              <a:rPr lang="en-US" sz="1600" b="1" dirty="0">
                <a:solidFill>
                  <a:srgbClr val="1E40AF"/>
                </a:solidFill>
                <a:latin typeface="Courier New"/>
              </a:rPr>
              <a:t>              </a:t>
            </a:r>
            <a:r>
              <a:rPr sz="1600" b="1" i="0" dirty="0" err="1">
                <a:solidFill>
                  <a:srgbClr val="1E40AF"/>
                </a:solidFill>
                <a:latin typeface="Courier New"/>
              </a:rPr>
              <a:t>loadCourses</a:t>
            </a:r>
            <a:r>
              <a:rPr sz="1600" b="1" i="0" dirty="0">
                <a:solidFill>
                  <a:srgbClr val="1E40AF"/>
                </a:solidFill>
                <a:latin typeface="Courier New"/>
              </a:rPr>
              <a:t>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839472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latin typeface="Calibri"/>
              </a:rPr>
              <a:t>Pull-to-refresh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CAAA69-6F0C-BEC4-F6EA-AD1FAC0A42EB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Pull-to-Refresh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29" y="706329"/>
            <a:ext cx="45328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latin typeface="Calibri"/>
              </a:rPr>
              <a:t>Two separate loading states for two different user experiences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32695"/>
            <a:ext cx="4206240" cy="47365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32695"/>
            <a:ext cx="3840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Why two states?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81335"/>
            <a:ext cx="3840480" cy="192024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07458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  <a:latin typeface="Courier New"/>
              </a:rPr>
              <a:t>isLoading</a:t>
            </a:r>
            <a:endParaRPr sz="2800" b="1" i="0" dirty="0">
              <a:solidFill>
                <a:srgbClr val="FFFFFF"/>
              </a:solidFill>
              <a:latin typeface="Courier Ne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810378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First load:
Screen is blank →
Full-screen spinner →
Data appears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475894"/>
            <a:ext cx="3840480" cy="192024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502017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ourier New"/>
              </a:rPr>
              <a:t>refreshing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04937"/>
            <a:ext cx="3566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Calibri"/>
              </a:rPr>
              <a:t>Pull-to-refresh:
Old data visible →
Small spinner at top →
Data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661" y="642181"/>
            <a:ext cx="3573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11827"/>
                </a:solidFill>
                <a:latin typeface="Calibri"/>
              </a:rPr>
              <a:t>Two state variables, two functions: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987282"/>
            <a:ext cx="7315200" cy="573355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030094"/>
            <a:ext cx="7132320" cy="577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const [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isLoading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,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]   =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(true);   // full-screen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const [refreshing,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setRefreshing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] =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useState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(false);  // pull-to-refresh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// First load — full-screen spinner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loadCourses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(null);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(true);           // ← full-screen spinner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const result = await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api.getCourses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setCourses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(result);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} catch (e) {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(...); }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finally {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setIsLoading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(false); }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// Pull-to-refresh — keeps existing data visible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async function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handleRefresh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() {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setRefreshing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(true);          // ← small spinner at top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(null);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const result = await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api.getCourses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setCourses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(result);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} catch (e) {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setError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(...); }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finally {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setRefreshing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(false); }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05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&lt;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FlatList</a:t>
            </a:r>
            <a:endParaRPr sz="115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data={courses}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refreshing={refreshing}        // shows spinner at top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  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onRefresh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={</a:t>
            </a:r>
            <a:r>
              <a:rPr sz="1150" dirty="0" err="1">
                <a:solidFill>
                  <a:srgbClr val="E2E8F0"/>
                </a:solidFill>
                <a:latin typeface="Courier New"/>
              </a:rPr>
              <a:t>handleRefresh</a:t>
            </a:r>
            <a:r>
              <a:rPr sz="1150" dirty="0">
                <a:solidFill>
                  <a:srgbClr val="E2E8F0"/>
                </a:solidFill>
                <a:latin typeface="Courier New"/>
              </a:rPr>
              <a:t>}      // called when user pulls down</a:t>
            </a:r>
          </a:p>
          <a:p>
            <a:pPr>
              <a:spcAft>
                <a:spcPts val="100"/>
              </a:spcAft>
            </a:pPr>
            <a:r>
              <a:rPr sz="1150" dirty="0">
                <a:solidFill>
                  <a:srgbClr val="E2E8F0"/>
                </a:solidFill>
                <a:latin typeface="Courier New"/>
              </a:rPr>
              <a:t>/&gt;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431976-768B-ADF9-3CCE-4EE116609090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6396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ListEmptyComponent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808" y="582168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i="0" dirty="0" err="1">
                <a:latin typeface="Calibri"/>
              </a:rPr>
              <a:t>FlatList's</a:t>
            </a:r>
            <a:r>
              <a:rPr sz="2800" b="0" i="0" dirty="0">
                <a:latin typeface="Calibri"/>
              </a:rPr>
              <a:t> built-in empty state — no if/else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  <a:latin typeface="Calibri"/>
              </a:rPr>
              <a:t>❌  Manual empty check (messy)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39" y="1508760"/>
            <a:ext cx="5417545" cy="3931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808" y="1645920"/>
            <a:ext cx="5368777" cy="34470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Have to check before rendering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FlatList</a:t>
            </a: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if (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courses.length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=== 0)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&lt;Text&gt;No courses found.&lt;/Text&gt;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);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return (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&lt;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FlatList</a:t>
            </a: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data={courses}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renderItem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={...}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/&gt;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0972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6A34A"/>
                </a:solidFill>
                <a:latin typeface="Calibri"/>
              </a:rPr>
              <a:t>✅  ListEmptyComponent (clean)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5546" y="1508760"/>
            <a:ext cx="5985934" cy="3931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11532" y="1645920"/>
            <a:ext cx="6338042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FlatList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 handles the empty check internally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return (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&lt;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FlatList</a:t>
            </a:r>
            <a:endParaRPr sz="1600" dirty="0">
              <a:solidFill>
                <a:srgbClr val="E2E8F0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data={courses}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ListEmptyComponent={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  &lt;Text style={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styles.emptyText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}&gt;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    No courses found.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  &lt;/Text&gt;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renderItem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={...}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/&gt;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);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// Much cleaner — no extra if/else block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669280"/>
            <a:ext cx="1161288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9" y="5711952"/>
            <a:ext cx="11567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 err="1">
                <a:solidFill>
                  <a:srgbClr val="111827"/>
                </a:solidFill>
                <a:latin typeface="Calibri"/>
              </a:rPr>
              <a:t>FlatList</a:t>
            </a:r>
            <a:r>
              <a:rPr sz="2400" b="0" i="0" dirty="0">
                <a:solidFill>
                  <a:srgbClr val="111827"/>
                </a:solidFill>
                <a:latin typeface="Calibri"/>
              </a:rPr>
              <a:t> renders ListEmptyComponent automatically when data is an empty array [ ].  It does NOT render when data is null or undefined — make sure your initial state is [ ] not null.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4DCD67-8D42-E992-932B-D7CD8A3D515F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" y="2624448"/>
            <a:ext cx="121888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0" dirty="0">
                <a:solidFill>
                  <a:srgbClr val="60A5FA"/>
                </a:solidFill>
                <a:latin typeface="Calibri"/>
              </a:rPr>
              <a:t>Demo</a:t>
            </a:r>
            <a:endParaRPr sz="6600" b="1" i="0" dirty="0">
              <a:solidFill>
                <a:srgbClr val="60A5F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What We're Building — Day by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4864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i="0" dirty="0">
                <a:latin typeface="Calibri"/>
              </a:rPr>
              <a:t>4 files, same pattern applied 3 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39496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394960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1092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Create lib/</a:t>
            </a:r>
            <a:r>
              <a:rPr sz="2000" b="1" i="0" dirty="0" err="1">
                <a:solidFill>
                  <a:srgbClr val="111827"/>
                </a:solidFill>
                <a:latin typeface="Calibri"/>
              </a:rPr>
              <a:t>api.ts</a:t>
            </a:r>
            <a:endParaRPr sz="2000" b="1" i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3336" y="1893696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New file — types, mock data, 3 async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2316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411480" y="246888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4244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Update home.tsx imports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644880"/>
            <a:ext cx="4422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Add </a:t>
            </a:r>
            <a:r>
              <a:rPr b="0" i="0" dirty="0" err="1">
                <a:latin typeface="Calibri"/>
              </a:rPr>
              <a:t>useEffect</a:t>
            </a:r>
            <a:r>
              <a:rPr b="0" i="0" dirty="0">
                <a:latin typeface="Calibri"/>
              </a:rPr>
              <a:t>, </a:t>
            </a:r>
            <a:r>
              <a:rPr b="0" i="0" dirty="0" err="1">
                <a:latin typeface="Calibri"/>
              </a:rPr>
              <a:t>useState</a:t>
            </a:r>
            <a:r>
              <a:rPr b="0" i="0" dirty="0">
                <a:latin typeface="Calibri"/>
              </a:rPr>
              <a:t>, </a:t>
            </a:r>
            <a:r>
              <a:rPr b="0" i="0" dirty="0" err="1">
                <a:latin typeface="Calibri"/>
              </a:rPr>
              <a:t>ActivityIndicator</a:t>
            </a:r>
            <a:r>
              <a:rPr b="0" i="0" dirty="0">
                <a:latin typeface="Calibri"/>
              </a:rPr>
              <a:t>, </a:t>
            </a:r>
            <a:r>
              <a:rPr b="0" i="0" dirty="0" err="1">
                <a:latin typeface="Calibri"/>
              </a:rPr>
              <a:t>api</a:t>
            </a:r>
            <a:endParaRPr b="0" i="0" dirty="0"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315468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411480" y="320040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7396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state + loadDashboard()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66568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3 state variables + try/catch/finally pattern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88620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411480" y="393192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0548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loading + error 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98088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Early returns before the data render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61772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411480" y="466344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53700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Update data 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504" y="4829608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Replace 3 hardcoded strings with dynamic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34924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411480" y="539496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6852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new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511968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latin typeface="Calibri"/>
              </a:rPr>
              <a:t>centered, errorText, retryButton, retryText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9672" y="1097280"/>
            <a:ext cx="539496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19672" y="1097280"/>
            <a:ext cx="5394960" cy="45720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6702552" y="111556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1691640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6656832" y="1737360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161092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Replace courses/index.tsx imports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1923192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Remove COURSES array, add </a:t>
            </a:r>
            <a:r>
              <a:rPr b="0" i="0" dirty="0" err="1">
                <a:latin typeface="Calibri"/>
              </a:rPr>
              <a:t>api</a:t>
            </a:r>
            <a:r>
              <a:rPr b="0" i="0" dirty="0">
                <a:latin typeface="Calibri"/>
              </a:rPr>
              <a:t> imports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2560812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6656832" y="2606532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234244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4 state vars + 2 functions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2605552"/>
            <a:ext cx="4297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courses, </a:t>
            </a:r>
            <a:r>
              <a:rPr b="0" i="0" dirty="0" err="1">
                <a:latin typeface="Calibri"/>
              </a:rPr>
              <a:t>isLoading</a:t>
            </a:r>
            <a:r>
              <a:rPr b="0" i="0" dirty="0">
                <a:latin typeface="Calibri"/>
              </a:rPr>
              <a:t>, refreshing, error + </a:t>
            </a:r>
            <a:r>
              <a:rPr b="0" i="0" dirty="0" err="1">
                <a:latin typeface="Calibri"/>
              </a:rPr>
              <a:t>loadCourses</a:t>
            </a:r>
            <a:r>
              <a:rPr b="0" i="0" dirty="0">
                <a:latin typeface="Calibri"/>
              </a:rPr>
              <a:t> + </a:t>
            </a:r>
            <a:r>
              <a:rPr b="0" i="0" dirty="0" err="1">
                <a:latin typeface="Calibri"/>
              </a:rPr>
              <a:t>handleRefresh</a:t>
            </a:r>
            <a:endParaRPr b="0" i="0" dirty="0"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656832" y="3341493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6" name="TextBox 45"/>
          <p:cNvSpPr txBox="1"/>
          <p:nvPr/>
        </p:nvSpPr>
        <p:spPr>
          <a:xfrm>
            <a:off x="6656832" y="3387213"/>
            <a:ext cx="64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3260773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loading + error returns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3553381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Same pattern as </a:t>
            </a:r>
            <a:r>
              <a:rPr b="0" i="0" dirty="0" err="1">
                <a:latin typeface="Calibri"/>
              </a:rPr>
              <a:t>home.tsx</a:t>
            </a:r>
            <a:endParaRPr b="0" i="0" dirty="0"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656832" y="4053344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/>
          <p:cNvSpPr txBox="1"/>
          <p:nvPr/>
        </p:nvSpPr>
        <p:spPr>
          <a:xfrm>
            <a:off x="6656832" y="4099064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3893968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Update FlatList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8351" y="4176744"/>
            <a:ext cx="4388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data, refreshing, </a:t>
            </a:r>
            <a:r>
              <a:rPr b="0" i="0" dirty="0" err="1">
                <a:latin typeface="Calibri"/>
              </a:rPr>
              <a:t>onRefresh</a:t>
            </a:r>
            <a:r>
              <a:rPr b="0" i="0" dirty="0">
                <a:latin typeface="Calibri"/>
              </a:rPr>
              <a:t>, ListEmptyComponent, item fields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56832" y="4922521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TextBox 53"/>
          <p:cNvSpPr txBox="1"/>
          <p:nvPr/>
        </p:nvSpPr>
        <p:spPr>
          <a:xfrm>
            <a:off x="6656832" y="4968241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8352" y="4841801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Add styles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352" y="5085249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latin typeface="Calibri"/>
              </a:rPr>
              <a:t>centered + error/retry + emptyText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56832" y="5624541"/>
            <a:ext cx="640080" cy="566928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8" name="TextBox 57"/>
          <p:cNvSpPr txBox="1"/>
          <p:nvPr/>
        </p:nvSpPr>
        <p:spPr>
          <a:xfrm>
            <a:off x="6656832" y="5670261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8352" y="5543821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Replace courses/[id].tsx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58855" y="5846261"/>
            <a:ext cx="4526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libri"/>
              </a:rPr>
              <a:t>Full file swap — stub becomes rich detail page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A25229-BE70-2977-D7CD-1D60D47FB985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latin typeface="Calibri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latin typeface="Calibri"/>
              </a:rPr>
              <a:t>These will come up — know them before they happen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43584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43584"/>
            <a:ext cx="164592" cy="96012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517904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0396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Forgetting setError(null) on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60576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DC2626"/>
                </a:solidFill>
                <a:latin typeface="Calibri"/>
              </a:rPr>
              <a:t>Problem: The error message stays on screen during the retry spinner.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341120"/>
            <a:ext cx="612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6A34A"/>
                </a:solidFill>
                <a:latin typeface="Calibri"/>
              </a:rPr>
              <a:t>✓  Add </a:t>
            </a:r>
            <a:r>
              <a:rPr sz="2000" b="0" i="0" dirty="0" err="1">
                <a:solidFill>
                  <a:srgbClr val="16A34A"/>
                </a:solidFill>
                <a:latin typeface="Calibri"/>
              </a:rPr>
              <a:t>setError</a:t>
            </a:r>
            <a:r>
              <a:rPr sz="2000" b="0" i="0" dirty="0">
                <a:solidFill>
                  <a:srgbClr val="16A34A"/>
                </a:solidFill>
                <a:latin typeface="Calibri"/>
              </a:rPr>
              <a:t>(null) as the first line of your fetch function.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295400"/>
            <a:ext cx="27432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Rounded Rectangle 13"/>
          <p:cNvSpPr/>
          <p:nvPr/>
        </p:nvSpPr>
        <p:spPr>
          <a:xfrm>
            <a:off x="274320" y="2295143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4320" y="2295143"/>
            <a:ext cx="164592" cy="96012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569463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555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  <a:latin typeface="Calibri"/>
              </a:rPr>
              <a:t>Using </a:t>
            </a:r>
            <a:r>
              <a:rPr sz="2000" b="1" i="0" dirty="0" err="1">
                <a:solidFill>
                  <a:srgbClr val="111827"/>
                </a:solidFill>
                <a:latin typeface="Calibri"/>
              </a:rPr>
              <a:t>isLoading</a:t>
            </a:r>
            <a:r>
              <a:rPr sz="2000" b="1" i="0" dirty="0">
                <a:solidFill>
                  <a:srgbClr val="111827"/>
                </a:solidFill>
                <a:latin typeface="Calibri"/>
              </a:rPr>
              <a:t> for pull-to-refresh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12135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DC2626"/>
                </a:solidFill>
                <a:latin typeface="Calibri"/>
              </a:rPr>
              <a:t>Problem: Full-screen spinner replaces the list — existing data disappears.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392679"/>
            <a:ext cx="612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A34A"/>
                </a:solidFill>
                <a:latin typeface="Calibri"/>
              </a:rPr>
              <a:t>✓  Use a separate refreshing state. isLoading = first load only.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346959"/>
            <a:ext cx="27432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Rounded Rectangle 20"/>
          <p:cNvSpPr/>
          <p:nvPr/>
        </p:nvSpPr>
        <p:spPr>
          <a:xfrm>
            <a:off x="274320" y="3346704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20" y="3346704"/>
            <a:ext cx="164592" cy="96012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621024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0708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Reading e.message without instanceof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63696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DC2626"/>
                </a:solidFill>
                <a:latin typeface="Calibri"/>
              </a:rPr>
              <a:t>Problem: TypeError crash — thrown value might not be an Error object.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444240"/>
            <a:ext cx="612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A34A"/>
                </a:solidFill>
                <a:latin typeface="Calibri"/>
              </a:rPr>
              <a:t>✓  Use: e instanceof Error ? e.message : 'Something went wrong'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398520"/>
            <a:ext cx="27432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Rounded Rectangle 27"/>
          <p:cNvSpPr/>
          <p:nvPr/>
        </p:nvSpPr>
        <p:spPr>
          <a:xfrm>
            <a:off x="274320" y="4398263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4320" y="4398263"/>
            <a:ext cx="164592" cy="96012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4672583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5863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Forgetting finally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15255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DC2626"/>
                </a:solidFill>
                <a:latin typeface="Calibri"/>
              </a:rPr>
              <a:t>Problem: If catch runs, setIsLoading(false) never executes. Spinner runs forever.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495799"/>
            <a:ext cx="612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A34A"/>
                </a:solidFill>
                <a:latin typeface="Calibri"/>
              </a:rPr>
              <a:t>✓  Always put setIsLoading(false) in finally, not in try or catch.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4450079"/>
            <a:ext cx="27432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Rounded Rectangle 34"/>
          <p:cNvSpPr/>
          <p:nvPr/>
        </p:nvSpPr>
        <p:spPr>
          <a:xfrm>
            <a:off x="274320" y="5449824"/>
            <a:ext cx="116128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74320" y="5449824"/>
            <a:ext cx="164592" cy="96012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5724144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102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  <a:latin typeface="Calibri"/>
              </a:rPr>
              <a:t>Defining fetch inside useEffect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6816"/>
            <a:ext cx="484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DC2626"/>
                </a:solidFill>
                <a:latin typeface="Calibri"/>
              </a:rPr>
              <a:t>Problem: The retry button can't call it — it's out of scope.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547360"/>
            <a:ext cx="6126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A34A"/>
                </a:solidFill>
                <a:latin typeface="Calibri"/>
              </a:rPr>
              <a:t>✓  Define loadData() in the component body, call it from useEffect.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5501640"/>
            <a:ext cx="27432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8DDF50-2727-4528-4DB7-6A29D1E9DBCF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latin typeface="Calibri"/>
              </a:rPr>
              <a:t>Activity</a:t>
            </a:r>
            <a:endParaRPr sz="3200" b="1" i="0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latin typeface="Calibri"/>
              </a:rPr>
              <a:t>Verify, explore, and extend — on your 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731520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6949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  <a:latin typeface="Calibri"/>
              </a:rPr>
              <a:t>Test error states and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783080"/>
            <a:ext cx="70408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1.  Open lib/</a:t>
            </a:r>
            <a:r>
              <a:rPr sz="2000" dirty="0" err="1">
                <a:solidFill>
                  <a:srgbClr val="111827"/>
                </a:solidFill>
                <a:latin typeface="Calibri"/>
              </a:rPr>
              <a:t>api.ts</a:t>
            </a:r>
            <a:r>
              <a:rPr sz="2000" dirty="0">
                <a:solidFill>
                  <a:srgbClr val="111827"/>
                </a:solidFill>
                <a:latin typeface="Calibri"/>
              </a:rPr>
              <a:t> → set SHOULD_FAIL = true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2.  Reload the app — verify all 3 screens show the error state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3.  Confirm: cloud icon, error message, and 'Try Again' button on each screen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4.  Set SHOULD_FAIL = false → tap 'Try Again' on each screen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5.  Pull down on the Courses list → verify the pull-to-refresh spinner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Bonus:  Change delay(800) to delay(3000) — observe the longer spinner</a:t>
            </a:r>
          </a:p>
          <a:p>
            <a:pPr>
              <a:spcAft>
                <a:spcPts val="1200"/>
              </a:spcAft>
            </a:pPr>
            <a:r>
              <a:rPr sz="2000" b="1" dirty="0">
                <a:solidFill>
                  <a:srgbClr val="2563EB"/>
                </a:solidFill>
                <a:latin typeface="Calibri"/>
              </a:rPr>
              <a:t>→  </a:t>
            </a:r>
            <a:r>
              <a:rPr sz="2000" dirty="0">
                <a:solidFill>
                  <a:srgbClr val="111827"/>
                </a:solidFill>
                <a:latin typeface="Calibri"/>
              </a:rPr>
              <a:t>Bonus:  Remove delay() entirely — observe the instant flash (bad UX)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97280"/>
            <a:ext cx="4114800" cy="512064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2801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🎯 Double Bonus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73352"/>
            <a:ext cx="3931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BEAFE"/>
                </a:solidFill>
                <a:latin typeface="Calibri"/>
              </a:rPr>
              <a:t>Add a random failure mode to </a:t>
            </a:r>
            <a:r>
              <a:rPr b="0" i="0" dirty="0" err="1">
                <a:solidFill>
                  <a:srgbClr val="DBEAFE"/>
                </a:solidFill>
                <a:latin typeface="Calibri"/>
              </a:rPr>
              <a:t>maybeThrow</a:t>
            </a:r>
            <a:r>
              <a:rPr b="0" i="0" dirty="0">
                <a:solidFill>
                  <a:srgbClr val="DBEAFE"/>
                </a:solidFill>
                <a:latin typeface="Calibri"/>
              </a:rPr>
              <a:t>() — 30% chance of failure: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423160"/>
            <a:ext cx="39319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2560320"/>
            <a:ext cx="4011034" cy="21518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function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maybeThrow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(): void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if (SHOULD_FAIL ||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  </a:t>
            </a:r>
            <a:r>
              <a:rPr sz="1600" dirty="0" err="1">
                <a:solidFill>
                  <a:srgbClr val="E2E8F0"/>
                </a:solidFill>
                <a:latin typeface="Courier New"/>
              </a:rPr>
              <a:t>Math.random</a:t>
            </a:r>
            <a:r>
              <a:rPr sz="1600" dirty="0">
                <a:solidFill>
                  <a:srgbClr val="E2E8F0"/>
                </a:solidFill>
                <a:latin typeface="Courier New"/>
              </a:rPr>
              <a:t>() &lt; 0.3) {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throw new Error(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  'Network request failed.'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  );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600" dirty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074920"/>
            <a:ext cx="3749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BEAFE"/>
                </a:solidFill>
                <a:latin typeface="Calibri"/>
              </a:rPr>
              <a:t>Use the app with this enabled.
This is the real-world experience
your error handling is designed for.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6A46ED-98BA-29E8-8584-CFCF9F1329B2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-3006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latin typeface="Calibri"/>
              </a:rPr>
              <a:t>Summary</a:t>
            </a:r>
            <a:endParaRPr sz="3200" b="1" i="0" dirty="0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351" y="630936"/>
            <a:ext cx="1210360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600" b="0" i="0" dirty="0">
                <a:latin typeface="Calibri"/>
              </a:rPr>
              <a:t>The patterns from today will appear in every data-driven screen you ever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2352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92352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283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  <a:latin typeface="Calibri"/>
              </a:rPr>
              <a:t>The Four UI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Calibri"/>
              </a:rPr>
              <a:t>Every fetch screen handles loading, error, empty, 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618232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" y="2618232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4871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Calibri"/>
              </a:rPr>
              <a:t>Three State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data + isLoading + error — the complete set for async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944111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" y="3944111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74591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Calibri"/>
              </a:rPr>
              <a:t>try / catch / finally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19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finally always runs — perfect for setIsLoading(false)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269992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" y="5269992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300472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Calibri"/>
              </a:rPr>
              <a:t>Extracted Fetch Fns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Defined outside useEffect so retry + refresh can reuse them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92352"/>
            <a:ext cx="581863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63640" y="1292352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322832"/>
            <a:ext cx="5669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Calibri"/>
              </a:rPr>
              <a:t>Pull-to-Refresh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737360"/>
            <a:ext cx="5669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refreshing state keeps existing data visible during reload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618232"/>
            <a:ext cx="581863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63640" y="2618232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648712"/>
            <a:ext cx="5669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  <a:latin typeface="Calibri"/>
              </a:rPr>
              <a:t>ListEmptyComponent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063240"/>
            <a:ext cx="5669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FlatList's built-in empty state — no extra if/else needed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944111"/>
            <a:ext cx="5818632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63640" y="3944111"/>
            <a:ext cx="164592" cy="1188720"/>
          </a:xfrm>
          <a:prstGeom prst="roundRect">
            <a:avLst>
              <a:gd name="adj" fmla="val 4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3974591"/>
            <a:ext cx="5669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  <a:latin typeface="Calibri"/>
              </a:rPr>
              <a:t>Mock API 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389119"/>
            <a:ext cx="5669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Same component code works with a mock or a real API (Week 13)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706442-ECA8-B47D-C83B-A40E9ADE2F8F}"/>
              </a:ext>
            </a:extLst>
          </p:cNvPr>
          <p:cNvSpPr/>
          <p:nvPr/>
        </p:nvSpPr>
        <p:spPr>
          <a:xfrm flipV="1">
            <a:off x="365759" y="504430"/>
            <a:ext cx="11823065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0185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Calibri"/>
              </a:rPr>
              <a:t>Coming Up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" y="1287864"/>
            <a:ext cx="121888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60A5FA"/>
                </a:solidFill>
                <a:latin typeface="Calibri"/>
              </a:rPr>
              <a:t>Camera +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2188" y="2132963"/>
            <a:ext cx="36576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168" y="2566375"/>
            <a:ext cx="5212080" cy="310896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048" y="2527263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📷 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047" y="3209759"/>
            <a:ext cx="49487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>
                <a:solidFill>
                  <a:srgbClr val="DBEAFE"/>
                </a:solidFill>
                <a:latin typeface="Calibri"/>
              </a:rPr>
              <a:t>expo-image-picker — take or choose a photo
Profile photo with camera badge + circular crop
Permission handling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9448" y="2566375"/>
            <a:ext cx="5212080" cy="310896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2328" y="2527263"/>
            <a:ext cx="484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🗺 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2327" y="3209759"/>
            <a:ext cx="49487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>
                <a:solidFill>
                  <a:srgbClr val="DBEAFE"/>
                </a:solidFill>
                <a:latin typeface="Calibri"/>
              </a:rPr>
              <a:t>react-native-maps — interactive campus map
Building markers + user location dot
latitude, longitude, latitudeDelta explained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96475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>
                <a:solidFill>
                  <a:schemeClr val="bg1"/>
                </a:solidFill>
                <a:latin typeface="Calibri"/>
              </a:rPr>
              <a:t>Both topics use the same permission model: ask → granted/denied → use or explain.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3059</Words>
  <Application>Microsoft Office PowerPoint</Application>
  <PresentationFormat>Custom</PresentationFormat>
  <Paragraphs>486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2026-08-31T13:17:37Z</dcterms:created>
  <dcterms:modified xsi:type="dcterms:W3CDTF">2026-08-31T13:17:48Z</dcterms:modified>
  <cp:category/>
</cp:coreProperties>
</file>