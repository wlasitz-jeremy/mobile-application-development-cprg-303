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2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128" autoAdjust="0"/>
  </p:normalViewPr>
  <p:slideViewPr>
    <p:cSldViewPr snapToGrid="0" snapToObjects="1">
      <p:cViewPr varScale="1">
        <p:scale>
          <a:sx n="73" d="100"/>
          <a:sy n="73" d="100"/>
        </p:scale>
        <p:origin x="1914" y="60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3B30A-5902-449A-AE09-BFA346105FE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1C18B-63A8-41C9-B54E-78387B182D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0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OLD: Week 8, </a:t>
            </a:r>
            <a:r>
              <a:rPr lang="fr-FR" sz="1200" b="1" i="0" dirty="0">
                <a:solidFill>
                  <a:srgbClr val="6B7280"/>
                </a:solidFill>
              </a:rPr>
              <a:t>Campus Hub — SAIT  |  Winter 2026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storage allows mobile apps to remember user data, settings, and preferences even after the app is restarted.</a:t>
            </a:r>
          </a:p>
          <a:p>
            <a:endParaRPr lang="en-US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we explore or learn using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AsynchStorage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store and retrieve data on a device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data can persist even after the app is closed and reopened.</a:t>
            </a:r>
          </a:p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will explore how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useEffect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work together to persist application data between app sessions.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95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OLD: </a:t>
            </a:r>
            <a:r>
              <a:rPr lang="en-US" sz="1200" b="0" dirty="0"/>
              <a:t>Two sessions · 4 hours total</a:t>
            </a:r>
          </a:p>
          <a:p>
            <a:endParaRPr lang="en-US" dirty="0"/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The Problem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 why app data is lost when the app closes.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 the need for persistent local storage.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Introduction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Store and retrieve data on the device.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The Storage Utility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reusable storage utility or helper functions.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Encapsulate storage operations in one place.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useEffect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Mount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 saved data when the screen opens.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code automatically when a component mounts.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Saving Data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 application data to local storage.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 data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Loading States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 data retrieval delays.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 user experience while loading data.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Persist + Hydrate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 data before the app closes.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Hydrate state by restoring saved data when the app starts.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Secure vs Regular Storage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SecureStore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when sensitive data requires secure storage.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lesson demonstrates how to save, retrieve, and restore local data using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application data persists between app sessions.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75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Title: </a:t>
            </a:r>
            <a:r>
              <a:rPr lang="en-US" sz="1200" b="1" i="0" dirty="0">
                <a:solidFill>
                  <a:srgbClr val="111827"/>
                </a:solidFill>
              </a:rPr>
              <a:t>The App Has Amnesia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Storage Is Needed because apps forgets the data when it is closed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storage is a way for persisting the Data on the device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Problem: Data Is Temporary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 state exists only while the app is running.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stored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is kept in memory.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is lost when the app closes or reloads.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Persistent storage is needed to retain user data.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Code: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 a state variable named notifications.</a:t>
            </a:r>
          </a:p>
          <a:p>
            <a:pPr marL="1200150" lvl="2" indent="-285750" fontAlgn="t">
              <a:buFont typeface="Arial" panose="020B0604020202020204" pitchFamily="34" charset="0"/>
              <a:buChar char="•"/>
            </a:pP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 value is true. State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exists only in memory.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 the state value using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setNotifications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 is temporary. Value is not saved to the device.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 Restart Problem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 recreates the component.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returns to its initial value.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 user changes are lost.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50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Temporary State to Persistent Data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and After Local Storage – All about persisting the data on the device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 App Data Persistent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Solving the Data Loss Problem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Transforming the User Experience with Persistence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Before: Week 8 (No Persistence)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is stored only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useState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exists only while the app is running.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settings and form data are lost when the app closes.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preferences are not remembered.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returns to the initial value.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Problem: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exists only in memory.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 is stored on the device.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app "forgets" user data.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After: Week 9 (With Persistence)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is saved to local storage.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survives app restarts.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Previously entered data is restored automatically.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local storage, app data is temporary and lost when the app closes; with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user settings and profile data are persisted and automatically restored when the app restarts.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99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look at how Local data storage (i.e., on device) Works using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AsynchStorage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dirty="0"/>
              <a:t>It is a simple, unencrypted, asynchronous, persistent key-value storage system that stores data globally for React Native apps (similar to </a:t>
            </a:r>
            <a:r>
              <a:rPr lang="en-US" dirty="0" err="1"/>
              <a:t>localStorage</a:t>
            </a:r>
            <a:r>
              <a:rPr lang="en-US" dirty="0"/>
              <a:t> in web browsers).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provides local storage for React Native apps.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Stores data directly on the device.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 data to persist between app sessions.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Commonly used for settings, preferences, and user data.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points: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→ Value Storage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is stored using keys and values.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key uniquely identifies stored data.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 to a persistent JavaScript object.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 </a:t>
            </a:r>
            <a:r>
              <a:rPr lang="en-US" dirty="0"/>
              <a:t>"theme" → "dark“, "notifications"→ "true"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Strings Only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dirty="0" err="1"/>
              <a:t>AsyncStorage</a:t>
            </a:r>
            <a:r>
              <a:rPr lang="en-US" dirty="0"/>
              <a:t> stores strings only --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stores text values.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 and arrays cannot be stored directly.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Objects must be converted to string before saving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 JSON data to string before saving on the device (</a:t>
            </a:r>
            <a:r>
              <a:rPr lang="en-US" dirty="0" err="1"/>
              <a:t>JSON.stringify</a:t>
            </a:r>
            <a:r>
              <a:rPr lang="en-US" dirty="0"/>
              <a:t>(profile)</a:t>
            </a:r>
          </a:p>
          <a:p>
            <a:pPr marL="1085850" marR="0" lvl="2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retrieving the stored string convert it back to JSON (</a:t>
            </a:r>
            <a:r>
              <a:rPr lang="en-US" dirty="0" err="1"/>
              <a:t>JSON.parse</a:t>
            </a:r>
            <a:r>
              <a:rPr lang="en-US" dirty="0"/>
              <a:t>(value)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Survives Restarts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is written to the device's storage.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remains available after app restarts.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stays until removed or the app is uninstalled.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Asynchronous Operations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Reads data from storage.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a Promise.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await.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Writing data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Saves data to storage.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 asynchronously.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await.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Installation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Installs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package.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Enables local device storage in Expo apps.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dirty="0"/>
              <a:t>installs the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async-storage</a:t>
            </a:r>
            <a:r>
              <a:rPr lang="en-US" dirty="0"/>
              <a:t> package from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react-native-async-storage</a:t>
            </a:r>
            <a:r>
              <a:rPr lang="en-US" dirty="0"/>
              <a:t> scope (namespace groups packages)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31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Data Moves In and Out of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save and load Data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stores strings, not JavaScript objects.</a:t>
            </a:r>
          </a:p>
          <a:p>
            <a:pPr marL="628650" marR="0" lvl="1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saving, Data as JS object, array, etc. must be converted to string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085850" marR="0" lvl="2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JSON.stringify</a:t>
            </a:r>
            <a:r>
              <a:rPr lang="en-US" dirty="0"/>
              <a:t>(profile) converts an object to JSON text or string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loading from storage, string Data must be converted back JS object, array, etc..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Retrieves the saved JSON string.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Returns stored text from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085850" marR="0" lvl="2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JSON.parse</a:t>
            </a:r>
            <a:r>
              <a:rPr lang="en-US" dirty="0"/>
              <a:t>(value)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 it back to JS object</a:t>
            </a:r>
          </a:p>
          <a:p>
            <a:pPr marL="1543050" marR="0" lvl="3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Converts JSON text back into a JavaScript object.</a:t>
            </a:r>
          </a:p>
          <a:p>
            <a:pPr marL="1543050" marR="0" lvl="3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Restores the original data structure.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save and load follows the same process.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Catch: Repetitive Code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JSON.stringify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JSON.parse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 are required whenever saving or loading objects.</a:t>
            </a:r>
          </a:p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become repetitive across components.</a:t>
            </a:r>
          </a:p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Easy to forget or implement incorrectly.</a:t>
            </a:r>
          </a:p>
          <a:p>
            <a:endParaRPr lang="en-US" dirty="0"/>
          </a:p>
          <a:p>
            <a:r>
              <a:rPr lang="en-US" b="1" dirty="0"/>
              <a:t>Solution is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a Storage Utility</a:t>
            </a:r>
          </a:p>
          <a:p>
            <a:pPr fontAlgn="t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</a:t>
            </a:r>
          </a:p>
          <a:p>
            <a:pPr fontAlgn="t"/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stores strings only, so JavaScript objects must be converted with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JSON.stringify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before saving and restored with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JSON.parse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after loading.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50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Storage Utility is used to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Centralizes storage logic.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Avoids repeated JSON conversion code.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 components cleaner.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Reduces errors and improves maintainability.</a:t>
            </a:r>
          </a:p>
          <a:p>
            <a:pPr fontAlgn="t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18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OLD: </a:t>
            </a:r>
            <a:r>
              <a:rPr lang="en-US" sz="1200" b="0" i="1" dirty="0">
                <a:solidFill>
                  <a:srgbClr val="6B7280"/>
                </a:solidFill>
              </a:rPr>
              <a:t>NEW file this week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dirty="0">
                <a:solidFill>
                  <a:srgbClr val="6B7280"/>
                </a:solidFill>
              </a:rPr>
              <a:t>Old Title: </a:t>
            </a:r>
            <a:r>
              <a:rPr lang="en-US" sz="1200" b="1" i="0" dirty="0">
                <a:solidFill>
                  <a:srgbClr val="111827"/>
                </a:solidFill>
              </a:rPr>
              <a:t>lib/</a:t>
            </a:r>
            <a:r>
              <a:rPr lang="en-US" sz="1200" b="1" i="0" dirty="0" err="1">
                <a:solidFill>
                  <a:srgbClr val="111827"/>
                </a:solidFill>
              </a:rPr>
              <a:t>storage.ts</a:t>
            </a:r>
            <a:r>
              <a:rPr lang="en-US" sz="1200" b="1" i="0" dirty="0">
                <a:solidFill>
                  <a:srgbClr val="111827"/>
                </a:solidFill>
              </a:rPr>
              <a:t> — One File, Three Functions</a:t>
            </a:r>
          </a:p>
          <a:p>
            <a:endParaRPr lang="en-US" dirty="0"/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one file for all local storage operations 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Reusable, maintainable, less code redundancy, JSON conversions are hidden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Follow separation of concerns concept and 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ake components cleaner and easier to maintain.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STORAGE_KEYS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Defines storage key names in one place.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Prevents typing mistakes.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 key names reusable throughout the app.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“as constant” make the properties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b="1" dirty="0" err="1"/>
              <a:t>Readonly</a:t>
            </a:r>
            <a:r>
              <a:rPr lang="en-US" b="1" dirty="0"/>
              <a:t> properties</a:t>
            </a:r>
            <a:r>
              <a:rPr lang="en-US" dirty="0"/>
              <a:t> - Prevents accidental reassignment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b="1" dirty="0"/>
              <a:t>Literal types</a:t>
            </a:r>
            <a:r>
              <a:rPr lang="en-US" dirty="0"/>
              <a:t> - TypeScript knows the exact string values, not just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endParaRPr lang="en-US" dirty="0"/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Export const get ….: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Async </a:t>
            </a:r>
            <a:r>
              <a:rPr lang="en-US" dirty="0"/>
              <a:t>making this an asynchronous function (returns a Promise)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&lt;T&gt;: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TS generic</a:t>
            </a:r>
            <a:r>
              <a:rPr lang="en-US" dirty="0"/>
              <a:t>. It lets the caller decide what type of data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get()</a:t>
            </a:r>
            <a:r>
              <a:rPr lang="en-US" dirty="0"/>
              <a:t> is expected to return.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T stands for "Type"  and used as a placeholder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For example, suppose you store a user object: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 User = {  name: string;  age: number;};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You can call: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user = await get&lt;User&gt;("user");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Here, TS replaces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en-US" dirty="0"/>
              <a:t> with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en-US" dirty="0"/>
              <a:t>, so the return type becomes: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Promise&lt;User | null&gt;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Therefore, knows: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user?.name  // string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user?.age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// number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b="1" dirty="0"/>
              <a:t>(key: string): </a:t>
            </a:r>
            <a:r>
              <a:rPr lang="en-US" dirty="0"/>
              <a:t>the function parameter name is key and it is string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Promise&lt;T | null&gt; =&gt; {</a:t>
            </a:r>
            <a:endParaRPr lang="en-US" b="1" dirty="0"/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Colon is  return type annotation indicator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&lt;T | null&gt; means type T or null</a:t>
            </a:r>
          </a:p>
          <a:p>
            <a:pPr marL="2000250" lvl="4" indent="-171450">
              <a:buFont typeface="Arial" panose="020B0604020202020204" pitchFamily="34" charset="0"/>
              <a:buChar char="•"/>
            </a:pPr>
            <a:r>
              <a:rPr lang="en-US" dirty="0"/>
              <a:t>So this function returns: </a:t>
            </a:r>
            <a:r>
              <a:rPr lang="en-US" b="1" dirty="0"/>
              <a:t>a Promise that resolves to either type T (the data) OR null</a:t>
            </a:r>
            <a:r>
              <a:rPr lang="en-US" dirty="0"/>
              <a:t>.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value = await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AsyncStorage.getItem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(key);</a:t>
            </a:r>
            <a:endParaRPr lang="en-US" b="1" dirty="0"/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/>
              <a:t>await: Keyword that pauses execution until the Promise resolves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AsyncStorage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imported storage object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getItem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dirty="0" err="1"/>
              <a:t>AsyncStorage</a:t>
            </a:r>
            <a:r>
              <a:rPr lang="en-US" dirty="0"/>
              <a:t> method that retrieves value by key</a:t>
            </a: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dirty="0" err="1"/>
              <a:t>JSON.parse</a:t>
            </a:r>
            <a:r>
              <a:rPr lang="en-US" dirty="0"/>
              <a:t>(): converts JSON string to JavaScript object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Title: </a:t>
            </a:r>
            <a:r>
              <a:rPr lang="en-US" sz="1200" b="1" i="0" dirty="0">
                <a:solidFill>
                  <a:srgbClr val="111827"/>
                </a:solidFill>
              </a:rPr>
              <a:t>Why Wrap It in a Utility?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are Benefits/advantages of using a Storage Utility?</a:t>
            </a:r>
          </a:p>
          <a:p>
            <a:pPr fontAlgn="t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Wrap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 Utility?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Centralizes storage logic in one place.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Reduces repeated code.</a:t>
            </a:r>
          </a:p>
          <a:p>
            <a:pPr marL="628650" marR="0" lvl="1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Keeping Storage Code and components Clean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Components focus on implementing the business logic 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 utility focuses on storing/retrieving/deleting data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Improves readability and maintainability.</a:t>
            </a:r>
          </a:p>
          <a:p>
            <a:pPr marL="628650" marR="0" lvl="1" indent="-17145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Simplifying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Access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better type safety.</a:t>
            </a:r>
          </a:p>
          <a:p>
            <a:pPr fontAlgn="t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a Utility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manual storage access “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getItem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()”.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manual JSON parsing.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code is repeated throughout the app in every component.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 Utility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Cleaner and easier to read and understand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conversion happens automatically.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Components focus only on business logic.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Components use simple helper functions.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direct interaction with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93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Title: </a:t>
            </a:r>
            <a:r>
              <a:rPr lang="en-US" sz="1200" b="1" i="0" dirty="0" err="1">
                <a:solidFill>
                  <a:srgbClr val="111827"/>
                </a:solidFill>
              </a:rPr>
              <a:t>useEffect</a:t>
            </a:r>
            <a:r>
              <a:rPr lang="en-US" sz="1200" b="1" i="0" dirty="0">
                <a:solidFill>
                  <a:srgbClr val="111827"/>
                </a:solidFill>
              </a:rPr>
              <a:t> — Run Once When the Screen Appears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fontAlgn="t"/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UseEffect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is used to load Data When a Screen Opens or renders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useEffect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Purpose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Loads saved data when the screen first appears.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 side-effect code after rendering.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Commonly used to read data from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Code: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Executes code after the component renders.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Perfect place to load persisted data.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empty dependency array controls when it runs.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 Lifecycle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is loaded after the initial render.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updates trigger a re-render.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effect does not run again.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 Dependency Array []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 "run once on mount.“</a:t>
            </a:r>
          </a:p>
          <a:p>
            <a:pPr marL="1085850" lvl="2" indent="-171450" fontAlgn="t">
              <a:buFont typeface="Arial" panose="020B0604020202020204" pitchFamily="34" charset="0"/>
              <a:buChar char="•"/>
            </a:pPr>
            <a:r>
              <a:rPr lang="en-US" dirty="0"/>
              <a:t>executing the code </a:t>
            </a:r>
            <a:r>
              <a:rPr lang="en-US" b="1" dirty="0"/>
              <a:t>only one time</a:t>
            </a:r>
            <a:r>
              <a:rPr lang="en-US" dirty="0"/>
              <a:t>, right after rendering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Executes only when the screen first appears.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for loading saved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[value] : Run When a Value Changes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 on mount.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 again whenever value changes.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Useful for reacting to state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Dependency Array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 after every render.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cause excessive updates.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 create infinite loops if state is updated inside the effect.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45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operations are asynchronous.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dirty="0"/>
              <a:t>when you tell the app to save or load data using </a:t>
            </a:r>
            <a:r>
              <a:rPr lang="en-US" dirty="0" err="1"/>
              <a:t>AsyncStorage</a:t>
            </a:r>
            <a:r>
              <a:rPr lang="en-US" dirty="0"/>
              <a:t>, the app </a:t>
            </a:r>
            <a:r>
              <a:rPr lang="en-US" b="1" dirty="0"/>
              <a:t>does not wait</a:t>
            </a:r>
            <a:r>
              <a:rPr lang="en-US" dirty="0"/>
              <a:t> for that task to finish before moving on to the next line of code.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Reading and writing data returns a Promise.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await is required when accessing storage.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 handling is needed inside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useEffect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t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Incorrect Approach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useEffect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cannot be declared as async.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 expects the callback to return nothing or a cleanup function.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Returning a Promise causes issues.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Correct Approach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an async function inside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useEffect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(i.e.,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loadProfile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loadProgile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immediately.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 use of await while keeping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useEffect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Loading Saved Data: </a:t>
            </a:r>
            <a:r>
              <a:rPr lang="en-US" dirty="0"/>
              <a:t>const data = await </a:t>
            </a:r>
            <a:r>
              <a:rPr lang="en-US" dirty="0" err="1"/>
              <a:t>storage.get</a:t>
            </a:r>
            <a:r>
              <a:rPr lang="en-US" dirty="0"/>
              <a:t>("profile");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Reads saved profile data.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Waits until storage returns the result.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Retrieves data from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Restoring Form Data: </a:t>
            </a:r>
            <a:r>
              <a:rPr lang="en-US" dirty="0"/>
              <a:t>reset(data);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Updates the form with saved values.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Pre-fills fields automatically.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Useful when reopening the app.</a:t>
            </a: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AsyncStorage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operations return Promises,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useEffect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should contain an inner async function that loads data with await and then updates the component state when the screen first appears.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20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Loading State Overview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Prevents empty fields from briefly appearing.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Waits for saved data to load before showing the UI.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 a smoother user experience.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a Loading State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Happens?</a:t>
            </a:r>
          </a:p>
          <a:p>
            <a:r>
              <a:rPr lang="en-US" dirty="0"/>
              <a:t>Render Empty Form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 err="1"/>
              <a:t>useEffect</a:t>
            </a:r>
            <a:r>
              <a:rPr lang="en-US" dirty="0"/>
              <a:t> Starts Loading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Data Arrives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Fields Fill In</a:t>
            </a:r>
          </a:p>
          <a:p>
            <a:pPr fontAlgn="t"/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 briefly see empty fields.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appears to flicker or flash.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 may look broken or slow.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 Loading State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happens</a:t>
            </a:r>
          </a:p>
          <a:p>
            <a:r>
              <a:rPr lang="en-US" dirty="0"/>
              <a:t>Show Loading Indicator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Load Saved Data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Update Form Values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Hide Loading Indicator</a:t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dirty="0"/>
              <a:t>Display Completed 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never sees empty fields.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 appears fully populated.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Smoother startup experience.</a:t>
            </a:r>
          </a:p>
          <a:p>
            <a:r>
              <a:rPr lang="en-US" b="1" dirty="0"/>
              <a:t>The pattern includes the following steps: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Create Loading State: </a:t>
            </a:r>
            <a:r>
              <a:rPr lang="en-US" dirty="0"/>
              <a:t>const [</a:t>
            </a:r>
            <a:r>
              <a:rPr lang="en-US" dirty="0" err="1"/>
              <a:t>isLoading</a:t>
            </a:r>
            <a:r>
              <a:rPr lang="en-US" dirty="0"/>
              <a:t>, </a:t>
            </a:r>
            <a:r>
              <a:rPr lang="en-US" dirty="0" err="1"/>
              <a:t>setIsLoading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(true);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Tracks whether data is still loading.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 as true.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 to false when loading finishes.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Load Saved Data: </a:t>
            </a:r>
            <a:r>
              <a:rPr lang="en-US" dirty="0"/>
              <a:t>const data = await </a:t>
            </a:r>
            <a:r>
              <a:rPr lang="en-US" dirty="0" err="1"/>
              <a:t>storage.get</a:t>
            </a:r>
            <a:r>
              <a:rPr lang="en-US" dirty="0"/>
              <a:t>("profile");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Retrieves saved data from storage.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 inside an async loading function.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Update the Form: </a:t>
            </a:r>
            <a:r>
              <a:rPr lang="en-US" dirty="0"/>
              <a:t>reset(data);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Restores saved values.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Pre-fills form fields automatically.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4: Finish Loading: </a:t>
            </a:r>
            <a:r>
              <a:rPr lang="en-US" dirty="0" err="1"/>
              <a:t>setIsLoading</a:t>
            </a:r>
            <a:r>
              <a:rPr lang="en-US" dirty="0"/>
              <a:t>(false);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Indicates loading is complete.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Allows the main UI to be displayed.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5: Show a Spinner While Loading</a:t>
            </a:r>
          </a:p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US" dirty="0"/>
              <a:t>if (</a:t>
            </a:r>
            <a:r>
              <a:rPr lang="en-US" dirty="0" err="1"/>
              <a:t>isLoading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return (</a:t>
            </a:r>
            <a:br>
              <a:rPr lang="en-US" dirty="0"/>
            </a:br>
            <a:r>
              <a:rPr lang="en-US" dirty="0"/>
              <a:t>	&lt;</a:t>
            </a:r>
            <a:r>
              <a:rPr lang="en-US" dirty="0" err="1"/>
              <a:t>ActivityIndicator</a:t>
            </a:r>
            <a:br>
              <a:rPr lang="en-US" dirty="0"/>
            </a:br>
            <a:r>
              <a:rPr lang="en-US" dirty="0"/>
              <a:t>		size="large"</a:t>
            </a:r>
            <a:br>
              <a:rPr lang="en-US" dirty="0"/>
            </a:br>
            <a:r>
              <a:rPr lang="en-US" dirty="0"/>
              <a:t>	/&gt;</a:t>
            </a:r>
            <a:br>
              <a:rPr lang="en-US" dirty="0"/>
            </a:br>
            <a:r>
              <a:rPr lang="en-US" dirty="0"/>
              <a:t>                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Displays a loading indicator.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Prevents the form from rendering too early.</a:t>
            </a:r>
          </a:p>
          <a:p>
            <a:pPr marL="628650" lvl="1" indent="-171450" fontAlgn="t">
              <a:buFont typeface="Arial" panose="020B0604020202020204" pitchFamily="34" charset="0"/>
              <a:buChar char="•"/>
            </a:pP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while data is loading.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 Loading Flow</a:t>
            </a:r>
          </a:p>
          <a:p>
            <a:r>
              <a:rPr lang="en-US" dirty="0"/>
              <a:t>1. Screen Opens</a:t>
            </a:r>
            <a:br>
              <a:rPr lang="en-US" dirty="0"/>
            </a:br>
            <a:r>
              <a:rPr lang="en-US" dirty="0"/>
              <a:t>2. Show Spinner</a:t>
            </a:r>
            <a:br>
              <a:rPr lang="en-US" dirty="0"/>
            </a:br>
            <a:r>
              <a:rPr lang="en-US" dirty="0"/>
              <a:t>3. Load Saved Data</a:t>
            </a:r>
            <a:br>
              <a:rPr lang="en-US" dirty="0"/>
            </a:br>
            <a:r>
              <a:rPr lang="en-US" dirty="0"/>
              <a:t>4. Populate State/Form</a:t>
            </a:r>
            <a:br>
              <a:rPr lang="en-US" dirty="0"/>
            </a:br>
            <a:r>
              <a:rPr lang="en-US" dirty="0"/>
              <a:t>5. Hide Spinner</a:t>
            </a:r>
            <a:br>
              <a:rPr lang="en-US" dirty="0"/>
            </a:br>
            <a:r>
              <a:rPr lang="en-US" dirty="0"/>
              <a:t>6. Display Completed UI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this should not be graded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1C18B-63A8-41C9-B54E-78387B182DA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07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841535"/>
            <a:ext cx="1218895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 dirty="0">
                <a:solidFill>
                  <a:srgbClr val="FFFFFF"/>
                </a:solidFill>
              </a:rPr>
              <a:t>Local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12188"/>
            <a:ext cx="12185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 err="1">
                <a:solidFill>
                  <a:srgbClr val="BFDBFF"/>
                </a:solidFill>
              </a:rPr>
              <a:t>AsyncStorage</a:t>
            </a:r>
            <a:r>
              <a:rPr sz="2800" b="0" i="0" dirty="0">
                <a:solidFill>
                  <a:srgbClr val="BFDBFF"/>
                </a:solidFill>
              </a:rPr>
              <a:t>  ·  </a:t>
            </a:r>
            <a:r>
              <a:rPr sz="2800" b="0" i="0" dirty="0" err="1">
                <a:solidFill>
                  <a:srgbClr val="BFDBFF"/>
                </a:solidFill>
              </a:rPr>
              <a:t>useEffect</a:t>
            </a:r>
            <a:r>
              <a:rPr sz="2800" b="0" i="0" dirty="0">
                <a:solidFill>
                  <a:srgbClr val="BFDBFF"/>
                </a:solidFill>
              </a:rPr>
              <a:t>  ·  Persistence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3978A374-5C5C-BFAF-4AC9-D7518819060F}"/>
              </a:ext>
            </a:extLst>
          </p:cNvPr>
          <p:cNvSpPr txBox="1">
            <a:spLocks/>
          </p:cNvSpPr>
          <p:nvPr/>
        </p:nvSpPr>
        <p:spPr>
          <a:xfrm>
            <a:off x="1587" y="3689631"/>
            <a:ext cx="12185650" cy="1655331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086">
              <a:lnSpc>
                <a:spcPct val="120000"/>
              </a:lnSpc>
              <a:spcAft>
                <a:spcPts val="600"/>
              </a:spcAft>
            </a:pPr>
            <a:r>
              <a:rPr lang="en-US" sz="4799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086">
              <a:lnSpc>
                <a:spcPct val="120000"/>
              </a:lnSpc>
              <a:spcAft>
                <a:spcPts val="600"/>
              </a:spcAft>
            </a:pPr>
            <a:r>
              <a:rPr lang="en-US" sz="4799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FDEDB0-EFD8-A5D4-81C6-C02A87E69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" y="4052871"/>
            <a:ext cx="1631427" cy="2222434"/>
          </a:xfrm>
          <a:prstGeom prst="rect">
            <a:avLst/>
          </a:prstGeom>
        </p:spPr>
      </p:pic>
      <p:sp>
        <p:nvSpPr>
          <p:cNvPr id="13" name="Subtitle 3">
            <a:extLst>
              <a:ext uri="{FF2B5EF4-FFF2-40B4-BE49-F238E27FC236}">
                <a16:creationId xmlns:a16="http://schemas.microsoft.com/office/drawing/2014/main" id="{54221819-C9F3-6A34-DFFA-2791DEBCA9CB}"/>
              </a:ext>
            </a:extLst>
          </p:cNvPr>
          <p:cNvSpPr txBox="1">
            <a:spLocks/>
          </p:cNvSpPr>
          <p:nvPr/>
        </p:nvSpPr>
        <p:spPr>
          <a:xfrm>
            <a:off x="270091" y="582696"/>
            <a:ext cx="7902697" cy="82012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99" dirty="0">
                <a:solidFill>
                  <a:schemeClr val="bg1"/>
                </a:solidFill>
              </a:rPr>
              <a:t>CPRG303 – Mobile Application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1825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111827"/>
                </a:solidFill>
              </a:rPr>
              <a:t>Agenda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654197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53420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365760" y="1153420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840895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72983"/>
            <a:ext cx="44484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The app has amnesia — nothing is remembered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27564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365760" y="2527564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26616"/>
            <a:ext cx="4585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11827"/>
                </a:solidFill>
              </a:rPr>
              <a:t>AsyncStorage</a:t>
            </a:r>
            <a:endParaRPr sz="2800" b="1" i="0" dirty="0">
              <a:solidFill>
                <a:srgbClr val="111827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647129"/>
            <a:ext cx="44484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Key-value storage that survives app restarts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17462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365760" y="4017462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16512"/>
            <a:ext cx="47868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The storage utility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94900"/>
            <a:ext cx="44484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Wrapping </a:t>
            </a:r>
            <a:r>
              <a:rPr sz="2400" b="0" i="0" dirty="0" err="1"/>
              <a:t>JSON.stringify</a:t>
            </a:r>
            <a:r>
              <a:rPr sz="2400" b="0" i="0" dirty="0"/>
              <a:t> / </a:t>
            </a:r>
            <a:r>
              <a:rPr sz="2400" b="0" i="0" dirty="0" err="1"/>
              <a:t>JSON.parse</a:t>
            </a:r>
            <a:r>
              <a:rPr sz="2400" b="0" i="0" dirty="0"/>
              <a:t>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599949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365760" y="5599949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33724"/>
            <a:ext cx="5024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11827"/>
                </a:solidFill>
              </a:rPr>
              <a:t>useEffect</a:t>
            </a:r>
            <a:r>
              <a:rPr sz="2800" b="1" i="0" dirty="0">
                <a:solidFill>
                  <a:srgbClr val="111827"/>
                </a:solidFill>
              </a:rPr>
              <a:t> on mount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65812"/>
            <a:ext cx="44484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Loading saved data the moment a screen appears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6170" y="1025516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6396170" y="1025516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6250" y="840314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async / await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6250" y="1237678"/>
            <a:ext cx="49605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Storage is asynchronous — await the 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96170" y="2492262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6396170" y="2492262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6250" y="2226037"/>
            <a:ext cx="3467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Loading 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6250" y="2646549"/>
            <a:ext cx="49605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 err="1"/>
              <a:t>ActivityIndicator</a:t>
            </a:r>
            <a:r>
              <a:rPr sz="2400" b="0" i="0" dirty="0"/>
              <a:t> prevents the empty-flash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96170" y="4005308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6396170" y="4005308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6250" y="3715933"/>
            <a:ext cx="50708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Persist + hydrate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6250" y="4194319"/>
            <a:ext cx="49605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Notifications toggle &amp; profile view/edit mode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96170" y="5587795"/>
            <a:ext cx="50292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6396170" y="5587795"/>
            <a:ext cx="50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6250" y="5333145"/>
            <a:ext cx="4832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Secure vs regular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6250" y="5765232"/>
            <a:ext cx="49605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Preferences vs passwords — when to use which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2286000"/>
            <a:ext cx="121888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92597" y="3474720"/>
            <a:ext cx="122814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00"/>
                </a:solidFill>
              </a:rPr>
              <a:t>Why doesn't the app remember anything?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7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3200" b="1" dirty="0"/>
              <a:t>Why Apps Forget Data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365760" y="642626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064" y="704080"/>
            <a:ext cx="71189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i="0" dirty="0">
                <a:solidFill>
                  <a:srgbClr val="111827"/>
                </a:solidFill>
              </a:rPr>
              <a:t>Everything you built lives only in </a:t>
            </a:r>
            <a:r>
              <a:rPr sz="2800" i="0" dirty="0" err="1">
                <a:solidFill>
                  <a:srgbClr val="111827"/>
                </a:solidFill>
              </a:rPr>
              <a:t>useState</a:t>
            </a:r>
            <a:endParaRPr sz="2800" i="0" dirty="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2004" y="1463040"/>
            <a:ext cx="5669280" cy="315352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>
                <a:solidFill>
                  <a:srgbClr val="FFFFFF"/>
                </a:solidFill>
                <a:latin typeface="Courier New"/>
              </a:rPr>
              <a:t>// Week 8 — state lives in memory only
const [notifications,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setNotifications</a:t>
            </a:r>
            <a:r>
              <a:rPr dirty="0">
                <a:solidFill>
                  <a:srgbClr val="FFFFFF"/>
                </a:solidFill>
                <a:latin typeface="Courier New"/>
              </a:rPr>
              <a:t>]
        =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dirty="0">
                <a:solidFill>
                  <a:srgbClr val="FFFFFF"/>
                </a:solidFill>
                <a:latin typeface="Courier New"/>
              </a:rPr>
              <a:t>(true);
// Toggle it off...
// switch tabs...
// come back -&gt; it's TRUE again.
//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dirty="0">
                <a:solidFill>
                  <a:srgbClr val="FFFFFF"/>
                </a:solidFill>
                <a:latin typeface="Courier New"/>
              </a:rPr>
              <a:t> is wiped every time the
// component unmounts or the app closes.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01179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111827"/>
                </a:solidFill>
              </a:rPr>
              <a:t>State is temporary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478878"/>
            <a:ext cx="11338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 err="1"/>
              <a:t>useState</a:t>
            </a:r>
            <a:r>
              <a:rPr sz="2400" b="0" i="0" dirty="0"/>
              <a:t> holds a value for the life of a component. When the screen unmounts or the app is killed, that value is gone. Nothing is written to the device — so nothing survives a restart.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33163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>
                <a:solidFill>
                  <a:srgbClr val="DC2626"/>
                </a:solidFill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364" y="114819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Symptoms of no persistence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9097"/>
            <a:ext cx="5669280" cy="77724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12" name="TextBox 11"/>
          <p:cNvSpPr txBox="1"/>
          <p:nvPr/>
        </p:nvSpPr>
        <p:spPr>
          <a:xfrm>
            <a:off x="6153913" y="1885401"/>
            <a:ext cx="5824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</a:rPr>
              <a:t>✗  Toggle notifications off -&gt; reopen -&gt; it's on again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699217"/>
            <a:ext cx="5669280" cy="77724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14" name="TextBox 13"/>
          <p:cNvSpPr txBox="1"/>
          <p:nvPr/>
        </p:nvSpPr>
        <p:spPr>
          <a:xfrm>
            <a:off x="6126480" y="2845521"/>
            <a:ext cx="594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</a:rPr>
              <a:t>✗  Fill in your profile -&gt; close app -&gt; every field blank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659337"/>
            <a:ext cx="5669280" cy="77724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16" name="TextBox 15"/>
          <p:cNvSpPr txBox="1"/>
          <p:nvPr/>
        </p:nvSpPr>
        <p:spPr>
          <a:xfrm>
            <a:off x="6124163" y="3805641"/>
            <a:ext cx="5760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C2626"/>
                </a:solidFill>
              </a:rPr>
              <a:t>✗  Validated form works perfectly, then forgets everything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619457"/>
            <a:ext cx="5669280" cy="77724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18" name="TextBox 17"/>
          <p:cNvSpPr txBox="1"/>
          <p:nvPr/>
        </p:nvSpPr>
        <p:spPr>
          <a:xfrm>
            <a:off x="6153913" y="4765761"/>
            <a:ext cx="5550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</a:rPr>
              <a:t>✗  No data is ever written to the phone itself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5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Before </a:t>
            </a:r>
            <a:r>
              <a:rPr lang="en-US" sz="3200" b="1" i="0" dirty="0">
                <a:solidFill>
                  <a:srgbClr val="111827"/>
                </a:solidFill>
              </a:rPr>
              <a:t>and</a:t>
            </a:r>
            <a:r>
              <a:rPr sz="3200" b="1" i="0" dirty="0">
                <a:solidFill>
                  <a:srgbClr val="111827"/>
                </a:solidFill>
              </a:rPr>
              <a:t> After</a:t>
            </a:r>
            <a:r>
              <a:rPr lang="en-US" sz="3200" b="1" i="0" dirty="0">
                <a:solidFill>
                  <a:srgbClr val="111827"/>
                </a:solidFill>
              </a:rPr>
              <a:t> Local Storage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48757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Same screens — but now they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0790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53978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463040"/>
            <a:ext cx="3411059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11878"/>
            <a:ext cx="34110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BEFORE</a:t>
            </a:r>
            <a:r>
              <a:rPr lang="en-US" sz="2800" b="1" i="0" dirty="0">
                <a:solidFill>
                  <a:srgbClr val="FFFFFF"/>
                </a:solidFill>
              </a:rPr>
              <a:t> </a:t>
            </a:r>
            <a:r>
              <a:rPr lang="en-US" sz="2800" b="1" i="0" dirty="0" err="1">
                <a:solidFill>
                  <a:srgbClr val="FFFFFF"/>
                </a:solidFill>
              </a:rPr>
              <a:t>LocalStorage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2011680"/>
            <a:ext cx="5120640" cy="257971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>
                <a:solidFill>
                  <a:srgbClr val="FFFFFF"/>
                </a:solidFill>
                <a:latin typeface="Courier New"/>
              </a:rPr>
              <a:t>Settings tab
 |- Notifications toggle
 |    (works... until you leave)
 |- Account -&gt; Edit Profile
      |- 5 validated fields
      |  (work... until you leave)
      |- Save shows an alert,
         then the data vanishes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65421"/>
            <a:ext cx="512064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The form validates correctly, but nothing is remembered. Close the app, reopen it — every field is blank again. The app has amnesia.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5623560" cy="53978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56235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799" y="1463040"/>
            <a:ext cx="3334089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6446520" y="1388728"/>
            <a:ext cx="3334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AFTER </a:t>
            </a:r>
            <a:r>
              <a:rPr lang="en-US" sz="2800" b="1" dirty="0" err="1">
                <a:solidFill>
                  <a:srgbClr val="FFFFFF"/>
                </a:solidFill>
              </a:rPr>
              <a:t>LocalStorage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5166360" cy="296953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>
                <a:solidFill>
                  <a:srgbClr val="FFFFFF"/>
                </a:solidFill>
                <a:latin typeface="Courier New"/>
              </a:rPr>
              <a:t>Settings tab
 |- Notifications toggle
 |    (PERSISTS across restarts)
 |- Account -&gt; Profile
      |- VIEW MODE (data exists)
      |   read-only card + Edit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btn</a:t>
            </a:r>
            <a:r>
              <a:rPr dirty="0">
                <a:solidFill>
                  <a:srgbClr val="FFFFFF"/>
                </a:solidFill>
                <a:latin typeface="Courier New"/>
              </a:rPr>
              <a:t>
      |- EDIT MODE (first visit)
      |   fields PRE-FILLED
      |   Save -&gt; view   Cancel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43675"/>
            <a:ext cx="51663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/>
              <a:t>Now the app remembers. Toggle off -&gt; reopen -&gt; still off. Save your profile -&gt; come back later -&gt; still there. The app has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2286000"/>
            <a:ext cx="121888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 err="1">
                <a:solidFill>
                  <a:srgbClr val="FFFFFF"/>
                </a:solidFill>
              </a:rPr>
              <a:t>AsyncStorage</a:t>
            </a:r>
            <a:endParaRPr sz="5400" b="1" i="0" dirty="0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92597" y="3474720"/>
            <a:ext cx="122814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00"/>
                </a:solidFill>
              </a:rPr>
              <a:t>The device notebook — key-value storage that persists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7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111827"/>
                </a:solidFill>
              </a:rPr>
              <a:t>Introduction to </a:t>
            </a:r>
            <a:r>
              <a:rPr sz="3200" b="1" i="0" dirty="0" err="1">
                <a:solidFill>
                  <a:srgbClr val="111827"/>
                </a:solidFill>
              </a:rPr>
              <a:t>AsyncStorage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25607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A tiny, persistent key-value store on the 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6325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73152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69861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2563EB"/>
                </a:solidFill>
              </a:rPr>
              <a:t>Key -&gt;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055" y="1906349"/>
            <a:ext cx="5303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Stores data as named string keys mapped to string values.</a:t>
            </a:r>
            <a:r>
              <a:rPr lang="en-US" sz="2400" b="0" i="0" dirty="0"/>
              <a:t> </a:t>
            </a:r>
            <a:r>
              <a:rPr sz="2400" b="0" i="0" dirty="0"/>
              <a:t>Think of it as a persistent object that lives on the phone.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577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369861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C3AED"/>
                </a:solidFill>
              </a:rPr>
              <a:t>Strings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06349"/>
            <a:ext cx="5120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It can ONLY store strings. Objects, arrays, and </a:t>
            </a:r>
            <a:r>
              <a:rPr lang="en-US" sz="2400" b="0" i="0" dirty="0"/>
              <a:t>B</a:t>
            </a:r>
            <a:r>
              <a:rPr sz="2400" b="0" i="0" dirty="0"/>
              <a:t>ooleans</a:t>
            </a:r>
            <a:r>
              <a:rPr lang="en-US" sz="2400" b="0" i="0" dirty="0"/>
              <a:t> </a:t>
            </a:r>
            <a:r>
              <a:rPr sz="2400" b="0" i="0" dirty="0"/>
              <a:t>must be turned into JSON text before saving.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79"/>
            <a:ext cx="5577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611879"/>
            <a:ext cx="73152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701580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A34A"/>
                </a:solidFill>
              </a:rPr>
              <a:t>Survives restarts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055" y="4238069"/>
            <a:ext cx="52016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Written to the device's disk. Data stays until you</a:t>
            </a:r>
            <a:r>
              <a:rPr lang="en-US" sz="2400" b="0" i="0" dirty="0"/>
              <a:t> </a:t>
            </a:r>
            <a:r>
              <a:rPr sz="2400" b="0" i="0" dirty="0"/>
              <a:t>remove it or the user uninstalls the app.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11879"/>
            <a:ext cx="557784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611879"/>
            <a:ext cx="73152" cy="21031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701580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C00000"/>
                </a:solidFill>
              </a:rPr>
              <a:t>Asynchronous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38069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Reading and writing disk takes time, so every call</a:t>
            </a:r>
            <a:r>
              <a:rPr lang="en-US" sz="2400" b="0" i="0" dirty="0"/>
              <a:t> </a:t>
            </a:r>
            <a:r>
              <a:rPr sz="2400" b="0" i="0" dirty="0"/>
              <a:t>returns a Promise — you must await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056453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1" i="0" dirty="0">
                <a:solidFill>
                  <a:srgbClr val="FF0000"/>
                </a:solidFill>
              </a:rPr>
              <a:t>Install:  </a:t>
            </a:r>
            <a:r>
              <a:rPr sz="2800" b="1" i="0" dirty="0" err="1"/>
              <a:t>npx</a:t>
            </a:r>
            <a:r>
              <a:rPr sz="2800" b="1" i="0" dirty="0"/>
              <a:t> expo install @react-native-async-storage/async-storage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4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 err="1">
                <a:solidFill>
                  <a:srgbClr val="111827"/>
                </a:solidFill>
              </a:rPr>
              <a:t>AsyncStorage</a:t>
            </a:r>
            <a:r>
              <a:rPr lang="en-US" sz="3200" b="1" i="0" dirty="0">
                <a:solidFill>
                  <a:srgbClr val="111827"/>
                </a:solidFill>
              </a:rPr>
              <a:t> Data Flow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70663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Strings in, strings out — JSON bridges the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6327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8308" y="2079280"/>
            <a:ext cx="5833872" cy="34198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>
                <a:solidFill>
                  <a:srgbClr val="FFFFFF"/>
                </a:solidFill>
                <a:latin typeface="Courier New"/>
              </a:rPr>
              <a:t>// What you HAVE (a JS object)
{ firstName: "Jane", studentId: "000123456" }
        |  JSON.stringify()
        v
// What AsyncStorage STORES (a string)
'{"firstName":"Jane","studentId":"000123456"}'
        |  JSON.parse()
        v
// What you GET BACK (a JS object again)
{ firstName: "Jane", studentId: "000123456"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12" y="1315462"/>
            <a:ext cx="5701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0000"/>
                </a:solidFill>
              </a:rPr>
              <a:t>Every save &amp; load is a round trip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922559"/>
            <a:ext cx="5669280" cy="12801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951262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Saving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2032287"/>
            <a:ext cx="301752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/>
          </a:p>
        </p:txBody>
      </p:sp>
      <p:sp>
        <p:nvSpPr>
          <p:cNvPr id="11" name="TextBox 10"/>
          <p:cNvSpPr txBox="1"/>
          <p:nvPr/>
        </p:nvSpPr>
        <p:spPr>
          <a:xfrm>
            <a:off x="8641080" y="1981125"/>
            <a:ext cx="29260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 err="1">
                <a:solidFill>
                  <a:srgbClr val="FFFFFF"/>
                </a:solidFill>
              </a:rPr>
              <a:t>JSON.stringify</a:t>
            </a:r>
            <a:r>
              <a:rPr sz="2200" b="1" i="0" dirty="0">
                <a:solidFill>
                  <a:srgbClr val="FFFFFF"/>
                </a:solidFill>
              </a:rPr>
              <a:t>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43187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Turns your object/array/</a:t>
            </a:r>
            <a:r>
              <a:rPr sz="2000" b="0" i="0" dirty="0" err="1"/>
              <a:t>boolean</a:t>
            </a:r>
            <a:r>
              <a:rPr sz="2000" b="0" i="0" dirty="0"/>
              <a:t> into a JSON string</a:t>
            </a:r>
            <a:r>
              <a:rPr lang="en-US" sz="2000" b="0" i="0" dirty="0"/>
              <a:t> </a:t>
            </a:r>
            <a:r>
              <a:rPr sz="2000" b="0" i="0" dirty="0"/>
              <a:t>so </a:t>
            </a:r>
            <a:r>
              <a:rPr sz="2000" b="0" i="0" dirty="0" err="1"/>
              <a:t>AsyncStorage</a:t>
            </a:r>
            <a:r>
              <a:rPr sz="2000" b="0" i="0" dirty="0"/>
              <a:t> can accept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339879"/>
            <a:ext cx="5669280" cy="12801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3345432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11827"/>
                </a:solidFill>
              </a:rPr>
              <a:t>Reading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3449607"/>
            <a:ext cx="301752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6" name="TextBox 15"/>
          <p:cNvSpPr txBox="1"/>
          <p:nvPr/>
        </p:nvSpPr>
        <p:spPr>
          <a:xfrm>
            <a:off x="8641080" y="3363720"/>
            <a:ext cx="29260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 err="1">
                <a:solidFill>
                  <a:srgbClr val="FFFFFF"/>
                </a:solidFill>
              </a:rPr>
              <a:t>JSON.parse</a:t>
            </a:r>
            <a:r>
              <a:rPr sz="2200" b="1" i="0" dirty="0">
                <a:solidFill>
                  <a:srgbClr val="FFFFFF"/>
                </a:solidFill>
              </a:rPr>
              <a:t>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814207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Turns the stored string back into a usable
JavaScript value.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757199"/>
            <a:ext cx="5669280" cy="12801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4762752"/>
            <a:ext cx="2743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The catch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4866927"/>
            <a:ext cx="3017520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1" name="TextBox 20"/>
          <p:cNvSpPr txBox="1"/>
          <p:nvPr/>
        </p:nvSpPr>
        <p:spPr>
          <a:xfrm>
            <a:off x="8641080" y="4804190"/>
            <a:ext cx="29260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</a:rPr>
              <a:t>Repetitive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231527"/>
            <a:ext cx="5303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/>
              <a:t>Doing stringify/parse by hand in every component
is noisy and easy to get wrong.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888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The Storage Utility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88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00"/>
                </a:solidFill>
              </a:rPr>
              <a:t>Write the JSON boilerplate once — reuse everywhere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6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Reusable Storage Utility </a:t>
            </a:r>
            <a:r>
              <a:rPr lang="en-US" sz="3200" b="1" i="0" dirty="0">
                <a:solidFill>
                  <a:srgbClr val="111827"/>
                </a:solidFill>
              </a:rPr>
              <a:t>— </a:t>
            </a:r>
            <a:r>
              <a:rPr sz="3200" b="1" i="0" dirty="0">
                <a:solidFill>
                  <a:srgbClr val="111827"/>
                </a:solidFill>
              </a:rPr>
              <a:t> </a:t>
            </a:r>
            <a:r>
              <a:rPr lang="en-US" sz="3200" b="1" dirty="0">
                <a:solidFill>
                  <a:srgbClr val="111827"/>
                </a:solidFill>
              </a:rPr>
              <a:t>lib/</a:t>
            </a:r>
            <a:r>
              <a:rPr lang="en-US" sz="3200" b="1" dirty="0" err="1">
                <a:solidFill>
                  <a:srgbClr val="111827"/>
                </a:solidFill>
              </a:rPr>
              <a:t>storage.ts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642626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5947" y="736266"/>
            <a:ext cx="5503507" cy="603933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dirty="0">
                <a:solidFill>
                  <a:srgbClr val="FFFFFF"/>
                </a:solidFill>
                <a:latin typeface="Courier New"/>
              </a:rPr>
              <a:t>import </a:t>
            </a:r>
            <a:r>
              <a:rPr sz="1300" dirty="0" err="1">
                <a:solidFill>
                  <a:srgbClr val="FFFFFF"/>
                </a:solidFill>
                <a:latin typeface="Courier New"/>
              </a:rPr>
              <a:t>AsyncStorage</a:t>
            </a:r>
            <a:r>
              <a:rPr sz="1300" dirty="0">
                <a:solidFill>
                  <a:srgbClr val="FFFFFF"/>
                </a:solidFill>
                <a:latin typeface="Courier New"/>
              </a:rPr>
              <a:t> from
  "@react-native-async-storage/async-storage";
// Typed key names to prevent typos
export const STORAGE_KEYS = {
  PROFILE: "profile",
  NOTIFICATIONS: "notifications",
} as const;
// Read + parse JSON automatically
export const get = async &lt;T&gt;(key: string)
    : Promise&lt;T | null&gt; =&gt; {
  const value = await </a:t>
            </a:r>
            <a:r>
              <a:rPr sz="1300" dirty="0" err="1">
                <a:solidFill>
                  <a:srgbClr val="FFFFFF"/>
                </a:solidFill>
                <a:latin typeface="Courier New"/>
              </a:rPr>
              <a:t>AsyncStorage.getItem</a:t>
            </a:r>
            <a:r>
              <a:rPr sz="1300" dirty="0">
                <a:solidFill>
                  <a:srgbClr val="FFFFFF"/>
                </a:solidFill>
                <a:latin typeface="Courier New"/>
              </a:rPr>
              <a:t>(key);
  if (value === null) return null;
  return </a:t>
            </a:r>
            <a:r>
              <a:rPr sz="1300" dirty="0" err="1">
                <a:solidFill>
                  <a:srgbClr val="FFFFFF"/>
                </a:solidFill>
                <a:latin typeface="Courier New"/>
              </a:rPr>
              <a:t>JSON.parse</a:t>
            </a:r>
            <a:r>
              <a:rPr sz="1300" dirty="0">
                <a:solidFill>
                  <a:srgbClr val="FFFFFF"/>
                </a:solidFill>
                <a:latin typeface="Courier New"/>
              </a:rPr>
              <a:t>(value) as T;
};
// Stringify + write automatically
export const set = async (key: string,
    value: unknown): Promise&lt;void&gt; =&gt; {
  await </a:t>
            </a:r>
            <a:r>
              <a:rPr sz="1300" dirty="0" err="1">
                <a:solidFill>
                  <a:srgbClr val="FFFFFF"/>
                </a:solidFill>
                <a:latin typeface="Courier New"/>
              </a:rPr>
              <a:t>AsyncStorage.setItem</a:t>
            </a:r>
            <a:r>
              <a:rPr sz="1300" dirty="0">
                <a:solidFill>
                  <a:srgbClr val="FFFFFF"/>
                </a:solidFill>
                <a:latin typeface="Courier New"/>
              </a:rPr>
              <a:t>(key,
    </a:t>
            </a:r>
            <a:r>
              <a:rPr sz="1300" dirty="0" err="1">
                <a:solidFill>
                  <a:srgbClr val="FFFFFF"/>
                </a:solidFill>
                <a:latin typeface="Courier New"/>
              </a:rPr>
              <a:t>JSON.stringify</a:t>
            </a:r>
            <a:r>
              <a:rPr sz="1300" dirty="0">
                <a:solidFill>
                  <a:srgbClr val="FFFFFF"/>
                </a:solidFill>
                <a:latin typeface="Courier New"/>
              </a:rPr>
              <a:t>(value));
};
// Delete a key (useful for logout)
export const remove = async (key: string)
    : Promise&lt;void&gt; =&gt; {
  await </a:t>
            </a:r>
            <a:r>
              <a:rPr sz="1300" dirty="0" err="1">
                <a:solidFill>
                  <a:srgbClr val="FFFFFF"/>
                </a:solidFill>
                <a:latin typeface="Courier New"/>
              </a:rPr>
              <a:t>AsyncStorage.removeItem</a:t>
            </a:r>
            <a:r>
              <a:rPr sz="1300" dirty="0">
                <a:solidFill>
                  <a:srgbClr val="FFFFFF"/>
                </a:solidFill>
                <a:latin typeface="Courier New"/>
              </a:rPr>
              <a:t>(key);
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6623" y="690717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What each piece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0534" y="1113485"/>
            <a:ext cx="4434847" cy="9052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22246" y="1113484"/>
            <a:ext cx="73152" cy="86284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05126" y="1076077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563EB"/>
                </a:solidFill>
              </a:rPr>
              <a:t>get&lt;T&gt;(key)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5126" y="1372426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Reads a value and parses it from JSON.
Returns null if the key was never 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0534" y="2171282"/>
            <a:ext cx="4434847" cy="80384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0534" y="2171281"/>
            <a:ext cx="54864" cy="8038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05126" y="2133874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set(key,val)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5126" y="2388659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Stringifies any value and saves it.
Works with objects, arrays, </a:t>
            </a:r>
            <a:r>
              <a:rPr b="0" i="0" dirty="0" err="1"/>
              <a:t>booleans</a:t>
            </a:r>
            <a:r>
              <a:rPr b="0" i="0" dirty="0"/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0534" y="3114778"/>
            <a:ext cx="4434847" cy="77748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0534" y="3114778"/>
            <a:ext cx="45719" cy="77748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5126" y="307737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563EB"/>
                </a:solidFill>
              </a:rPr>
              <a:t>remove(key)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5126" y="3300982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Deletes a key. Clean wrapper for
logout or clearing saved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0534" y="3995928"/>
            <a:ext cx="4434847" cy="81591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40534" y="3995928"/>
            <a:ext cx="45719" cy="81591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05126" y="3958520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7C3AED"/>
                </a:solidFill>
              </a:rPr>
              <a:t>STORAGE_KEYS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5126" y="4202914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Named constants for key strings.
STORAGE_KEYS.PROFILE beats "</a:t>
            </a:r>
            <a:r>
              <a:rPr b="0" i="0" dirty="0" err="1"/>
              <a:t>proflie</a:t>
            </a:r>
            <a:r>
              <a:rPr b="0" i="0" dirty="0"/>
              <a:t>".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0534" y="4939424"/>
            <a:ext cx="4434847" cy="8533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40534" y="4939423"/>
            <a:ext cx="45719" cy="85331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05126" y="4902016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6A34A"/>
                </a:solidFill>
              </a:rPr>
              <a:t>&lt;T&gt; generic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5126" y="5156801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Tells the function what type to return.
get&lt;</a:t>
            </a:r>
            <a:r>
              <a:rPr b="0" i="0" dirty="0" err="1"/>
              <a:t>boolean</a:t>
            </a:r>
            <a:r>
              <a:rPr b="0" i="0" dirty="0"/>
              <a:t>&gt;(...) -&gt; </a:t>
            </a:r>
            <a:r>
              <a:rPr b="0" i="0" dirty="0" err="1"/>
              <a:t>boolean</a:t>
            </a:r>
            <a:r>
              <a:rPr b="0" i="0" dirty="0"/>
              <a:t> | null.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0534" y="5893310"/>
            <a:ext cx="4434847" cy="85331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0534" y="5893310"/>
            <a:ext cx="54864" cy="853317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05126" y="5876685"/>
            <a:ext cx="219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0000"/>
                </a:solidFill>
              </a:rPr>
              <a:t>as const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5126" y="6100297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Makes the keys </a:t>
            </a:r>
            <a:r>
              <a:rPr b="0" i="0" dirty="0" err="1"/>
              <a:t>readonly</a:t>
            </a:r>
            <a:r>
              <a:rPr b="0" i="0" dirty="0"/>
              <a:t> and narrows
them to literal string types.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7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Why </a:t>
            </a:r>
            <a:r>
              <a:rPr lang="en-US" sz="3200" b="1" i="0" dirty="0">
                <a:solidFill>
                  <a:srgbClr val="111827"/>
                </a:solidFill>
              </a:rPr>
              <a:t>Storage </a:t>
            </a:r>
            <a:r>
              <a:rPr sz="3200" b="1" i="0" dirty="0">
                <a:solidFill>
                  <a:srgbClr val="111827"/>
                </a:solidFill>
              </a:rPr>
              <a:t>Utility?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96326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201168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6650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Without a utility (repetitive)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212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>
                <a:solidFill>
                  <a:srgbClr val="FFFFFF"/>
                </a:solidFill>
                <a:latin typeface="Courier New"/>
              </a:rPr>
              <a:t>const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json</a:t>
            </a:r>
            <a:r>
              <a:rPr dirty="0">
                <a:solidFill>
                  <a:srgbClr val="FFFFFF"/>
                </a:solidFill>
                <a:latin typeface="Courier New"/>
              </a:rPr>
              <a:t> = await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AsyncStorage</a:t>
            </a:r>
            <a:r>
              <a:rPr dirty="0">
                <a:solidFill>
                  <a:srgbClr val="FFFFFF"/>
                </a:solidFill>
                <a:latin typeface="Courier New"/>
              </a:rPr>
              <a:t>
  .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getItem</a:t>
            </a:r>
            <a:r>
              <a:rPr dirty="0">
                <a:solidFill>
                  <a:srgbClr val="FFFFFF"/>
                </a:solidFill>
                <a:latin typeface="Courier New"/>
              </a:rPr>
              <a:t>("profile");
const data =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json</a:t>
            </a:r>
            <a:r>
              <a:rPr dirty="0">
                <a:solidFill>
                  <a:srgbClr val="FFFFFF"/>
                </a:solidFill>
                <a:latin typeface="Courier New"/>
              </a:rPr>
              <a:t>
  ?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JSON.parse</a:t>
            </a:r>
            <a:r>
              <a:rPr dirty="0">
                <a:solidFill>
                  <a:srgbClr val="FFFFFF"/>
                </a:solidFill>
                <a:latin typeface="Courier New"/>
              </a:rPr>
              <a:t>(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json</a:t>
            </a:r>
            <a:r>
              <a:rPr dirty="0">
                <a:solidFill>
                  <a:srgbClr val="FFFFFF"/>
                </a:solidFill>
                <a:latin typeface="Courier New"/>
              </a:rPr>
              <a:t>) : null;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9000"/>
            <a:ext cx="5577840" cy="18288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461065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6A34A"/>
                </a:solidFill>
              </a:rPr>
              <a:t>With the utility (clean)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2120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>
                <a:solidFill>
                  <a:srgbClr val="FFFFFF"/>
                </a:solidFill>
                <a:latin typeface="Courier New"/>
              </a:rPr>
              <a:t>const data = await storage
  .get&lt;ProfileForm&gt;("profile");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163190"/>
            <a:ext cx="566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226F2"/>
                </a:solidFill>
              </a:rPr>
              <a:t>A utility module pays 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37360"/>
            <a:ext cx="5669280" cy="731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09360" y="1734751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/>
              <a:t>-&gt; </a:t>
            </a:r>
            <a:r>
              <a:rPr sz="2000" b="1" i="0" dirty="0" err="1"/>
              <a:t>JSON.stringify</a:t>
            </a:r>
            <a:r>
              <a:rPr sz="2000" b="1" i="0" dirty="0"/>
              <a:t> / </a:t>
            </a:r>
            <a:r>
              <a:rPr sz="2000" b="1" i="0" dirty="0" err="1"/>
              <a:t>JSON.parse</a:t>
            </a:r>
            <a:r>
              <a:rPr sz="2000" b="1" i="0" dirty="0"/>
              <a:t> written ONCE, not in every component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606039"/>
            <a:ext cx="5669280" cy="731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9360" y="2591556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/>
              <a:t>-&gt; Components call </a:t>
            </a:r>
            <a:r>
              <a:rPr sz="2000" b="1" i="0" dirty="0" err="1"/>
              <a:t>storage.get</a:t>
            </a:r>
            <a:r>
              <a:rPr sz="2000" b="1" i="0" dirty="0"/>
              <a:t>() and </a:t>
            </a:r>
            <a:r>
              <a:rPr sz="2000" b="1" i="0" dirty="0" err="1"/>
              <a:t>storage.set</a:t>
            </a:r>
            <a:r>
              <a:rPr sz="2000" b="1" i="0" dirty="0"/>
              <a:t>() without touching 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474720"/>
            <a:ext cx="5669280" cy="731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60" y="3448361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/>
              <a:t>-&gt; Typed keys (STORAGE_KEYS) kill an entire class of typo bugs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343400"/>
            <a:ext cx="5669280" cy="731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09360" y="4328916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/>
              <a:t>-&gt; One place to change if storage ever swaps (e.g. </a:t>
            </a:r>
            <a:r>
              <a:rPr sz="2000" b="1" i="0" dirty="0" err="1"/>
              <a:t>SecureStore</a:t>
            </a:r>
            <a:r>
              <a:rPr sz="2000" b="1" i="0" dirty="0"/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5212079"/>
            <a:ext cx="5669280" cy="7315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09360" y="5209470"/>
            <a:ext cx="5303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/>
              <a:t>-&gt; The &lt;T&gt; generic gives every read the right TypeScript 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2286000"/>
            <a:ext cx="121888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Loading Data on 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" y="3474720"/>
            <a:ext cx="12188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 err="1">
                <a:solidFill>
                  <a:srgbClr val="FFFF00"/>
                </a:solidFill>
              </a:rPr>
              <a:t>useEffect</a:t>
            </a:r>
            <a:r>
              <a:rPr sz="3200" b="1" i="0" dirty="0">
                <a:solidFill>
                  <a:srgbClr val="FFFF00"/>
                </a:solidFill>
              </a:rPr>
              <a:t> · async/await · loading states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5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200" b="1" dirty="0"/>
              <a:t>Loading Saved Data with </a:t>
            </a:r>
            <a:r>
              <a:rPr lang="en-US" sz="3200" b="1" dirty="0" err="1"/>
              <a:t>useEffect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365760" y="607901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63882" y="735682"/>
            <a:ext cx="6125292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>
                <a:solidFill>
                  <a:srgbClr val="FFFFFF"/>
                </a:solidFill>
                <a:latin typeface="Courier New"/>
              </a:rPr>
              <a:t>useEffect(() =&gt; {
  // Runs ONCE after the first render
  // Perfect place to load saved data
}, []);
//  ^^ empty array = "no dependencies"
//     = "only run on mount"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994839"/>
            <a:ext cx="60605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5226F2"/>
                </a:solidFill>
              </a:rPr>
              <a:t>The lifecycle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3882" y="3489447"/>
            <a:ext cx="6125292" cy="32735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dirty="0">
                <a:solidFill>
                  <a:srgbClr val="FFFFFF"/>
                </a:solidFill>
                <a:latin typeface="Courier New"/>
              </a:rPr>
              <a:t>Component renders for the first time
        |
        v
</a:t>
            </a:r>
            <a:r>
              <a:rPr sz="2000" dirty="0" err="1">
                <a:solidFill>
                  <a:srgbClr val="FFFFFF"/>
                </a:solidFill>
                <a:latin typeface="Courier New"/>
              </a:rPr>
              <a:t>useEffect</a:t>
            </a:r>
            <a:r>
              <a:rPr sz="2000" dirty="0">
                <a:solidFill>
                  <a:srgbClr val="FFFFFF"/>
                </a:solidFill>
                <a:latin typeface="Courier New"/>
              </a:rPr>
              <a:t> runs -&gt; loads from storage
        |
        v
Data arrives -&gt; </a:t>
            </a:r>
            <a:r>
              <a:rPr sz="2000" dirty="0" err="1">
                <a:solidFill>
                  <a:srgbClr val="FFFFFF"/>
                </a:solidFill>
                <a:latin typeface="Courier New"/>
              </a:rPr>
              <a:t>setState</a:t>
            </a:r>
            <a:r>
              <a:rPr sz="2000" dirty="0">
                <a:solidFill>
                  <a:srgbClr val="FFFFFF"/>
                </a:solidFill>
                <a:latin typeface="Courier New"/>
              </a:rPr>
              <a:t> -&gt; re-render
        |
        v
Effect does NOT run again ([] deps)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5332" y="1200311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Reading the dependency array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6772" y="1783080"/>
            <a:ext cx="55321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36772" y="1783080"/>
            <a:ext cx="6400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19652" y="1965960"/>
            <a:ext cx="14630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6765372" y="1984248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[</a:t>
            </a:r>
            <a:r>
              <a:rPr lang="en-US" sz="2000" b="1" i="0" dirty="0">
                <a:solidFill>
                  <a:srgbClr val="FFFFFF"/>
                </a:solidFill>
              </a:rPr>
              <a:t> </a:t>
            </a:r>
            <a:r>
              <a:rPr sz="2000" b="1" i="0" dirty="0">
                <a:solidFill>
                  <a:srgbClr val="FFFFFF"/>
                </a:solidFill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5572" y="1853623"/>
            <a:ext cx="3566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Empty array = run only on mount.</a:t>
            </a:r>
            <a:r>
              <a:rPr lang="en-US" sz="2000" b="0" i="0" dirty="0">
                <a:solidFill>
                  <a:srgbClr val="111827"/>
                </a:solidFill>
              </a:rPr>
              <a:t> </a:t>
            </a:r>
            <a:r>
              <a:rPr sz="2000" b="0" i="0" dirty="0">
                <a:solidFill>
                  <a:srgbClr val="111827"/>
                </a:solidFill>
              </a:rPr>
              <a:t>Exactly what loading saved data needs.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6772" y="3017520"/>
            <a:ext cx="55321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6772" y="3017520"/>
            <a:ext cx="64008" cy="10972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19652" y="3200400"/>
            <a:ext cx="1463040" cy="38404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6765372" y="3218688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[value]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5572" y="3123688"/>
            <a:ext cx="3566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Re-runs whenever value changes.</a:t>
            </a:r>
            <a:r>
              <a:rPr lang="en-US" sz="2000" b="0" i="0" dirty="0">
                <a:solidFill>
                  <a:srgbClr val="111827"/>
                </a:solidFill>
              </a:rPr>
              <a:t> </a:t>
            </a:r>
            <a:r>
              <a:rPr sz="2000" b="0" i="0" dirty="0">
                <a:solidFill>
                  <a:srgbClr val="111827"/>
                </a:solidFill>
              </a:rPr>
              <a:t>Not needed for a one-time load.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6772" y="4251960"/>
            <a:ext cx="55321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36772" y="4251960"/>
            <a:ext cx="64008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19652" y="4434840"/>
            <a:ext cx="14630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6765372" y="4453128"/>
            <a:ext cx="137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(omitted)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5572" y="4346253"/>
            <a:ext cx="3566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11827"/>
                </a:solidFill>
              </a:rPr>
              <a:t>Runs after EVERY render. If the effect</a:t>
            </a:r>
            <a:r>
              <a:rPr lang="en-US" sz="2000" b="0" i="0" dirty="0">
                <a:solidFill>
                  <a:srgbClr val="111827"/>
                </a:solidFill>
              </a:rPr>
              <a:t> </a:t>
            </a:r>
            <a:r>
              <a:rPr sz="2000" b="0" i="0" dirty="0">
                <a:solidFill>
                  <a:srgbClr val="111827"/>
                </a:solidFill>
              </a:rPr>
              <a:t>sets state -&gt; infinite loop -&gt; app freezes.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5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Async Functions Inside </a:t>
            </a:r>
            <a:r>
              <a:rPr sz="3200" b="1" i="0" dirty="0" err="1">
                <a:solidFill>
                  <a:srgbClr val="111827"/>
                </a:solidFill>
              </a:rPr>
              <a:t>useEffect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1683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800" b="0" dirty="0"/>
              <a:t>Storage is asynchronous — but </a:t>
            </a:r>
            <a:r>
              <a:rPr sz="2800" b="0" dirty="0" err="1"/>
              <a:t>useEffect</a:t>
            </a:r>
            <a:r>
              <a:rPr sz="2800" b="0" dirty="0"/>
              <a:t> can't be async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6324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2286000"/>
          </a:xfrm>
          <a:prstGeom prst="rect">
            <a:avLst/>
          </a:prstGeom>
          <a:solidFill>
            <a:srgbClr val="FF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62082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DC2626"/>
                </a:solidFill>
              </a:rPr>
              <a:t>✗  </a:t>
            </a:r>
            <a:r>
              <a:rPr sz="2000" b="1" i="0" dirty="0" err="1">
                <a:solidFill>
                  <a:srgbClr val="DC2626"/>
                </a:solidFill>
              </a:rPr>
              <a:t>useEffect</a:t>
            </a:r>
            <a:r>
              <a:rPr sz="2000" b="1" i="0" dirty="0">
                <a:solidFill>
                  <a:srgbClr val="DC2626"/>
                </a:solidFill>
              </a:rPr>
              <a:t> cannot be async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2120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 err="1">
                <a:solidFill>
                  <a:srgbClr val="FFFFFF"/>
                </a:solidFill>
                <a:latin typeface="Courier New"/>
              </a:rPr>
              <a:t>useEffect</a:t>
            </a:r>
            <a:r>
              <a:rPr dirty="0">
                <a:solidFill>
                  <a:srgbClr val="FFFFFF"/>
                </a:solidFill>
                <a:latin typeface="Courier New"/>
              </a:rPr>
              <a:t>(async () =&gt; {
  const data = await
   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storage.get</a:t>
            </a:r>
            <a:r>
              <a:rPr dirty="0">
                <a:solidFill>
                  <a:srgbClr val="FFFFFF"/>
                </a:solidFill>
                <a:latin typeface="Courier New"/>
              </a:rPr>
              <a:t>("profile");
}, []);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03320"/>
            <a:ext cx="5577840" cy="2910131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730962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6A34A"/>
                </a:solidFill>
              </a:rPr>
              <a:t>✓  Define an async </a:t>
            </a:r>
            <a:r>
              <a:rPr sz="2000" b="1" i="0" dirty="0" err="1">
                <a:solidFill>
                  <a:srgbClr val="16A34A"/>
                </a:solidFill>
              </a:rPr>
              <a:t>fn</a:t>
            </a:r>
            <a:r>
              <a:rPr sz="2000" b="1" i="0" dirty="0">
                <a:solidFill>
                  <a:srgbClr val="16A34A"/>
                </a:solidFill>
              </a:rPr>
              <a:t> inside, then call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39"/>
            <a:ext cx="5212080" cy="2332783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 err="1">
                <a:solidFill>
                  <a:srgbClr val="FFFFFF"/>
                </a:solidFill>
                <a:latin typeface="Courier New"/>
              </a:rPr>
              <a:t>useEffect</a:t>
            </a:r>
            <a:r>
              <a:rPr dirty="0">
                <a:solidFill>
                  <a:srgbClr val="FFFFFF"/>
                </a:solidFill>
                <a:latin typeface="Courier New"/>
              </a:rPr>
              <a:t>(() =&gt; {
  async function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loadProfile</a:t>
            </a:r>
            <a:r>
              <a:rPr dirty="0">
                <a:solidFill>
                  <a:srgbClr val="FFFFFF"/>
                </a:solidFill>
                <a:latin typeface="Courier New"/>
              </a:rPr>
              <a:t>() {
    const data = await
     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storage.get</a:t>
            </a:r>
            <a:r>
              <a:rPr dirty="0">
                <a:solidFill>
                  <a:srgbClr val="FFFFFF"/>
                </a:solidFill>
                <a:latin typeface="Courier New"/>
              </a:rPr>
              <a:t>("profile");
    if (data) reset(data);
  }
 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loadProfile</a:t>
            </a:r>
            <a:r>
              <a:rPr dirty="0">
                <a:solidFill>
                  <a:srgbClr val="FFFFFF"/>
                </a:solidFill>
                <a:latin typeface="Courier New"/>
              </a:rPr>
              <a:t>();
}, []);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170945"/>
            <a:ext cx="566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Why this pattern?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588962"/>
            <a:ext cx="56692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b="0" i="0" dirty="0" err="1"/>
              <a:t>useEffect</a:t>
            </a:r>
            <a:r>
              <a:rPr sz="2000" b="0" i="0" dirty="0"/>
              <a:t> must return either nothing or a cleanup function. </a:t>
            </a:r>
            <a:endParaRPr lang="en-US" sz="2000" b="0" i="0" dirty="0"/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b="0" i="0" dirty="0"/>
              <a:t>An async function always returns a Promise — which React can't use for cleanup. </a:t>
            </a:r>
            <a:endParaRPr lang="en-US" sz="2000" b="0" i="0" dirty="0"/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b="0" i="0" dirty="0"/>
              <a:t>So the fix is to put the async logic in a nested function and call it immediately.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018048"/>
            <a:ext cx="5669280" cy="233172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6309360" y="4059511"/>
            <a:ext cx="5303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924000"/>
                </a:solidFill>
              </a:rPr>
              <a:t>⚡  Remember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66688"/>
            <a:ext cx="54864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b="0" i="0" dirty="0"/>
              <a:t>Storage always returns a Promise — get() and set() must be awaited. </a:t>
            </a:r>
            <a:endParaRPr lang="en-US" sz="2000" b="0" i="0" dirty="0"/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000" b="0" i="0" dirty="0"/>
              <a:t>Anywhere you await, the containing function must be async. That's why load handlers and the submit handler all become async in Week 9.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7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Loading State — Preventing </a:t>
            </a:r>
            <a:r>
              <a:rPr lang="en-US" sz="3200" b="1" i="0" dirty="0">
                <a:solidFill>
                  <a:srgbClr val="111827"/>
                </a:solidFill>
              </a:rPr>
              <a:t>Empty Form</a:t>
            </a:r>
            <a:r>
              <a:rPr sz="3200" b="1" i="0" dirty="0">
                <a:solidFill>
                  <a:srgbClr val="111827"/>
                </a:solidFill>
              </a:rPr>
              <a:t> Flash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0790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86245"/>
            <a:ext cx="566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DC2626"/>
                </a:solidFill>
              </a:rPr>
              <a:t>Without a loading state (looks buggy)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6692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>
                <a:solidFill>
                  <a:srgbClr val="FFFFFF"/>
                </a:solidFill>
                <a:latin typeface="Courier New"/>
              </a:rPr>
              <a:t>1. Render -&gt; empty form (fields blank)
2.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useEffect</a:t>
            </a:r>
            <a:r>
              <a:rPr dirty="0">
                <a:solidFill>
                  <a:srgbClr val="FFFFFF"/>
                </a:solidFill>
                <a:latin typeface="Courier New"/>
              </a:rPr>
              <a:t> fires -&gt; starts loading
3. Data arrives -&gt; fields fill in
   ^ user sees a FLASH of empty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32611"/>
            <a:ext cx="566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With a loading state (smooth)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383280"/>
            <a:ext cx="566928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>
                <a:solidFill>
                  <a:srgbClr val="FFFFFF"/>
                </a:solidFill>
                <a:latin typeface="Courier New"/>
              </a:rPr>
              <a:t>1. Render -&gt; isLoading true -&gt; spinner
2. useEffect -&gt; load -&gt; set fields
   -&gt; setIsLoading(false)
3. Re-render -&gt; filled form, no flash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074921"/>
            <a:ext cx="5669280" cy="126661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>
                <a:solidFill>
                  <a:srgbClr val="FFFFFF"/>
                </a:solidFill>
                <a:latin typeface="Courier New"/>
              </a:rPr>
              <a:t>if (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isLoading</a:t>
            </a:r>
            <a:r>
              <a:rPr dirty="0">
                <a:solidFill>
                  <a:srgbClr val="FFFFFF"/>
                </a:solidFill>
                <a:latin typeface="Courier New"/>
              </a:rPr>
              <a:t>) {
  return &lt;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ActivityIndicator</a:t>
            </a:r>
            <a:r>
              <a:rPr dirty="0">
                <a:solidFill>
                  <a:srgbClr val="FFFFFF"/>
                </a:solidFill>
                <a:latin typeface="Courier New"/>
              </a:rPr>
              <a:t>
           size="large" /&gt;;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2646" y="868678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The pattern, step by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2646" y="1561131"/>
            <a:ext cx="475488" cy="62559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472646" y="1672047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7006" y="1482633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/>
              <a:t>isLoading starts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7006" y="1802673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The screen shows a spinner immediately, before any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2646" y="2710537"/>
            <a:ext cx="475488" cy="59959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472646" y="2769329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7006" y="2632167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/>
              <a:t>useEffect loads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7006" y="2952207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Reads from storage, populates fields or state.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2646" y="3690253"/>
            <a:ext cx="475488" cy="5865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472646" y="3735981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7006" y="3572693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/>
              <a:t>setIsLoading(false)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7006" y="3892733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Runs after the data is set — never before.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2646" y="4656905"/>
            <a:ext cx="475488" cy="58652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6472646" y="4741822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7006" y="4487093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/>
              <a:t>Early return spinner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7006" y="4807133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if (</a:t>
            </a:r>
            <a:r>
              <a:rPr sz="2000" b="0" i="0" dirty="0" err="1"/>
              <a:t>isLoading</a:t>
            </a:r>
            <a:r>
              <a:rPr sz="2000" b="0" i="0" dirty="0"/>
              <a:t>) return &lt;</a:t>
            </a:r>
            <a:r>
              <a:rPr sz="2000" b="0" i="0" dirty="0" err="1"/>
              <a:t>ActivityIndicator</a:t>
            </a:r>
            <a:r>
              <a:rPr sz="2000" b="0" i="0" dirty="0"/>
              <a:t>/&gt; guards the UI.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2646" y="5728061"/>
            <a:ext cx="475488" cy="58652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6472646" y="5773789"/>
            <a:ext cx="475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7006" y="5610501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/>
              <a:t>Real UI renders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7005" y="5930541"/>
            <a:ext cx="51218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Only once the true values are in place. No flash.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2286000"/>
            <a:ext cx="121888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Putting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" y="3474720"/>
            <a:ext cx="12188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00"/>
                </a:solidFill>
              </a:rPr>
              <a:t>Persisting the toggle &amp; the profile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5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Persisting the Notifications Toggle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1564" y="594942"/>
            <a:ext cx="57659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0000"/>
                </a:solidFill>
              </a:rPr>
              <a:t>settings/</a:t>
            </a:r>
            <a:r>
              <a:rPr sz="2400" b="1" dirty="0" err="1">
                <a:solidFill>
                  <a:srgbClr val="FF0000"/>
                </a:solidFill>
              </a:rPr>
              <a:t>index.tsx</a:t>
            </a:r>
            <a:r>
              <a:rPr sz="2400" b="1" dirty="0">
                <a:solidFill>
                  <a:srgbClr val="FF0000"/>
                </a:solidFill>
              </a:rPr>
              <a:t> — load on mount, save on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07900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5402" y="741969"/>
            <a:ext cx="6144768" cy="601152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dirty="0">
                <a:solidFill>
                  <a:srgbClr val="FFFFFF"/>
                </a:solidFill>
                <a:latin typeface="Courier New"/>
              </a:rPr>
              <a:t>const [notifications,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setNotifications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]
        =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(true);
const [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isLoading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,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setIsLoading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]
        =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(true);
// LOAD saved value on mount
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useEffect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(() =&gt; {
  const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loadNotifications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 = async () =&gt; {
    const saved = await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storage.get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&lt;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boolean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&gt;(
      STORAGE_KEYS.NOTIFICATIONS);
    if (saved !== null) {
     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setNotifications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(saved);
    }
   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setIsLoading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(false);
  };
 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loadNotifications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();
}, []);
// SAVE value whenever it's toggled
const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handleToggle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 = async (value: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boolean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) =&gt; {
 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setNotifications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(value);
  await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storage.set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(
    STORAGE_KEYS.NOTIFICATIONS, value);
};
&lt;Switch value={notifications}
        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onValueChange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={</a:t>
            </a:r>
            <a:r>
              <a:rPr sz="1400" dirty="0" err="1">
                <a:solidFill>
                  <a:srgbClr val="FFFFFF"/>
                </a:solidFill>
                <a:latin typeface="Courier New"/>
              </a:rPr>
              <a:t>handleToggle</a:t>
            </a:r>
            <a:r>
              <a:rPr sz="1400" dirty="0">
                <a:solidFill>
                  <a:srgbClr val="FFFFFF"/>
                </a:solidFill>
                <a:latin typeface="Courier New"/>
              </a:rPr>
              <a:t>} /&gt;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67095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Four changes to the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912402"/>
            <a:ext cx="5212080" cy="7863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0" y="1912402"/>
            <a:ext cx="54864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771321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/>
              <a:t>Load on 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045641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 err="1"/>
              <a:t>useEffect</a:t>
            </a:r>
            <a:r>
              <a:rPr sz="2000" b="0" i="0" dirty="0"/>
              <a:t> reads the saved </a:t>
            </a:r>
            <a:r>
              <a:rPr sz="2000" b="0" i="0" dirty="0" err="1"/>
              <a:t>boolean</a:t>
            </a:r>
            <a:r>
              <a:rPr sz="2000" b="0" i="0" dirty="0"/>
              <a:t> and updates the toggle.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905180"/>
            <a:ext cx="5212080" cy="7863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2905180"/>
            <a:ext cx="54864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2803288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/>
              <a:t>Guard the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077608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if (saved !== null) — first launch has nothing stored, so keep the default true.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897958"/>
            <a:ext cx="5212080" cy="7863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3897958"/>
            <a:ext cx="54864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3796066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/>
              <a:t>Save on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070386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handleToggle updates state AND writes to storage in one step.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812358"/>
            <a:ext cx="5212080" cy="7863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0" y="4812358"/>
            <a:ext cx="54864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4762718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/>
              <a:t>Swap the handler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037038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/>
              <a:t>onValueChange</a:t>
            </a:r>
            <a:r>
              <a:rPr b="0" i="0" dirty="0"/>
              <a:t>={</a:t>
            </a:r>
            <a:r>
              <a:rPr b="0" i="0" dirty="0" err="1"/>
              <a:t>handleToggle</a:t>
            </a:r>
            <a:r>
              <a:rPr b="0" i="0" dirty="0"/>
              <a:t>} replaces the bare </a:t>
            </a:r>
            <a:r>
              <a:rPr b="0" i="0" dirty="0" err="1"/>
              <a:t>setNotifications</a:t>
            </a:r>
            <a:r>
              <a:rPr b="0" i="0" dirty="0"/>
              <a:t> from Week 8.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5726758"/>
            <a:ext cx="5212080" cy="7863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0" y="5726758"/>
            <a:ext cx="54864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0" y="5637929"/>
            <a:ext cx="4937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/>
              <a:t>Spinner first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912249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if (</a:t>
            </a:r>
            <a:r>
              <a:rPr sz="2000" b="0" i="0" dirty="0" err="1"/>
              <a:t>isLoading</a:t>
            </a:r>
            <a:r>
              <a:rPr sz="2000" b="0" i="0" dirty="0"/>
              <a:t>) returns an </a:t>
            </a:r>
            <a:r>
              <a:rPr sz="2000" b="0" i="0" dirty="0" err="1"/>
              <a:t>ActivityIndicator</a:t>
            </a:r>
            <a:r>
              <a:rPr sz="2000" b="0" i="0" dirty="0"/>
              <a:t> before the real UI.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7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Profile — Load, Hydrate, View /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0483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 err="1"/>
              <a:t>profile.tsx</a:t>
            </a:r>
            <a:r>
              <a:rPr sz="2800" b="0" dirty="0"/>
              <a:t> builds on the Week 8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0790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71151"/>
            <a:ext cx="6035040" cy="5677121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dirty="0">
                <a:solidFill>
                  <a:srgbClr val="FFFFFF"/>
                </a:solidFill>
                <a:latin typeface="Courier New"/>
              </a:rPr>
              <a:t>// NEW state on top of Week 8's form
const [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isLoading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setIsLoading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]   =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(true);
const [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isEditing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setIsEditing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]   =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(false);
const [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hasSavedData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,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setHasSavedData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]
                                  =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useState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(false);
// reset() pre-fills all fields at once
const { control,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handleSubmit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, reset, watch,
       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formState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: { errors } } =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useForm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(...);
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useEffect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(() =&gt; {
  const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loadProfile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 = async () =&gt; {
    const saved = await storage
      .get&lt;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ProfileForm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&gt;(STORAGE_KEYS.PROFILE);
    if (saved !== null) {
      reset(saved);         // HYDRATE the form
     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setHasSavedData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(true);
    } else {
     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setIsEditing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(true);   // first visit -&gt; form
    }
   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setIsLoading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(false);
  };
 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loadProfile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();
}, []);
const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onSubmit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 = async (data: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ProfileForm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) =&gt; {
  await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storage.set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(STORAGE_KEYS.PROFILE, data);
 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setHasSavedData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(true);
  </a:t>
            </a:r>
            <a:r>
              <a:rPr sz="1200" dirty="0" err="1">
                <a:solidFill>
                  <a:srgbClr val="FFFFFF"/>
                </a:solidFill>
                <a:latin typeface="Courier New"/>
              </a:rPr>
              <a:t>setIsEditing</a:t>
            </a:r>
            <a:r>
              <a:rPr sz="1200" dirty="0">
                <a:solidFill>
                  <a:srgbClr val="FFFFFF"/>
                </a:solidFill>
                <a:latin typeface="Courier New"/>
              </a:rPr>
              <a:t>(false);      // view IS the confirmation
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10342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Three new ideas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64207"/>
            <a:ext cx="5212080" cy="11625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Rectangle 8"/>
          <p:cNvSpPr/>
          <p:nvPr/>
        </p:nvSpPr>
        <p:spPr>
          <a:xfrm>
            <a:off x="6583680" y="1664208"/>
            <a:ext cx="64008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766560" y="1585829"/>
            <a:ext cx="3698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7C3AED"/>
                </a:solidFill>
              </a:rPr>
              <a:t>Hydration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82941"/>
            <a:ext cx="4937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reset(saved) replaces all five field values in one call — the form is 'hydrated' with saved data instead of blanks.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094594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Rectangle 12"/>
          <p:cNvSpPr/>
          <p:nvPr/>
        </p:nvSpPr>
        <p:spPr>
          <a:xfrm>
            <a:off x="6583680" y="3094594"/>
            <a:ext cx="64008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6766560" y="3081530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View / Edit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478642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/>
              <a:t>isEditing</a:t>
            </a:r>
            <a:r>
              <a:rPr b="0" i="0" dirty="0"/>
              <a:t> picks the screen: a read-only card when data exists, the form when editing or on first visit.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355161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Rectangle 16"/>
          <p:cNvSpPr/>
          <p:nvPr/>
        </p:nvSpPr>
        <p:spPr>
          <a:xfrm>
            <a:off x="6583680" y="4355161"/>
            <a:ext cx="64008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6766560" y="4329034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View is the 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739209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/>
              <a:t>onSubmit</a:t>
            </a:r>
            <a:r>
              <a:rPr b="0" i="0" dirty="0"/>
              <a:t> saves then switches to view mode — no alert, no navigation. Seeing your data IS the receipt.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5524287"/>
            <a:ext cx="52120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Rectangle 20"/>
          <p:cNvSpPr/>
          <p:nvPr/>
        </p:nvSpPr>
        <p:spPr>
          <a:xfrm>
            <a:off x="6583680" y="5524287"/>
            <a:ext cx="64008" cy="10058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6766560" y="5472034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6B7280"/>
                </a:solidFill>
              </a:rPr>
              <a:t>Cancel restores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908335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/>
              <a:t>handleCancel</a:t>
            </a:r>
            <a:r>
              <a:rPr b="0" i="0" dirty="0"/>
              <a:t> re-reads storage and reset()s, discarding in-progress edits.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5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11827"/>
                </a:solidFill>
              </a:rPr>
              <a:t>The Complete Screen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354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2800" b="0" dirty="0"/>
              <a:t>How mode is decided on every visit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15300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75656"/>
            <a:ext cx="5623560" cy="22893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75656"/>
            <a:ext cx="56235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58536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First visit — no saved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15736"/>
            <a:ext cx="51663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 dirty="0">
                <a:solidFill>
                  <a:srgbClr val="FFFFFF"/>
                </a:solidFill>
                <a:latin typeface="Courier New"/>
              </a:rPr>
              <a:t>Loading</a:t>
            </a:r>
            <a:r>
              <a:rPr sz="2000" dirty="0">
                <a:solidFill>
                  <a:srgbClr val="FFFFFF"/>
                </a:solidFill>
                <a:latin typeface="Courier New"/>
              </a:rPr>
              <a:t>
  -&gt; Edit Mode (blank form,
     Zod validates on submit)
  -&gt; Save -&gt; View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75656"/>
            <a:ext cx="5623560" cy="22893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175656"/>
            <a:ext cx="56235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358536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6A34A"/>
                </a:solidFill>
              </a:rPr>
              <a:t>Return visit — data exists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15736"/>
            <a:ext cx="557784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 dirty="0">
                <a:solidFill>
                  <a:srgbClr val="FFFFFF"/>
                </a:solidFill>
                <a:latin typeface="Courier New"/>
              </a:rPr>
              <a:t>Loading</a:t>
            </a:r>
            <a:r>
              <a:rPr sz="2000" dirty="0">
                <a:solidFill>
                  <a:srgbClr val="FFFFFF"/>
                </a:solidFill>
                <a:latin typeface="Courier New"/>
              </a:rPr>
              <a:t>
  -&gt; View Mode (card)
  -&gt; Edit -&gt; Edit Mode
     (pre-filled via reset())
  -&gt; Save -&gt; View / Cancel -&gt;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42" y="3545393"/>
            <a:ext cx="64034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5226F2"/>
                </a:solidFill>
              </a:rPr>
              <a:t>watch() + </a:t>
            </a:r>
            <a:r>
              <a:rPr sz="2400" b="1" i="0" dirty="0" err="1">
                <a:solidFill>
                  <a:srgbClr val="5226F2"/>
                </a:solidFill>
              </a:rPr>
              <a:t>isFormFilled</a:t>
            </a:r>
            <a:r>
              <a:rPr sz="2400" b="1" i="0" dirty="0">
                <a:solidFill>
                  <a:srgbClr val="5226F2"/>
                </a:solidFill>
              </a:rPr>
              <a:t> — the Save button 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7834" y="4031898"/>
            <a:ext cx="9108731" cy="130773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dirty="0">
                <a:solidFill>
                  <a:srgbClr val="FFFFFF"/>
                </a:solidFill>
                <a:latin typeface="Courier New"/>
              </a:rPr>
              <a:t>const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watchedValues</a:t>
            </a:r>
            <a:r>
              <a:rPr dirty="0">
                <a:solidFill>
                  <a:srgbClr val="FFFFFF"/>
                </a:solidFill>
                <a:latin typeface="Courier New"/>
              </a:rPr>
              <a:t> = watch(); </a:t>
            </a:r>
            <a:r>
              <a:rPr lang="en-US" dirty="0">
                <a:solidFill>
                  <a:srgbClr val="FFFFFF"/>
                </a:solidFill>
                <a:latin typeface="Courier New"/>
              </a:rPr>
              <a:t> // live snapshot of every field</a:t>
            </a:r>
            <a:r>
              <a:rPr dirty="0">
                <a:solidFill>
                  <a:srgbClr val="FFFFFF"/>
                </a:solidFill>
                <a:latin typeface="Courier New"/>
              </a:rPr>
              <a:t>
const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isFormFilled</a:t>
            </a:r>
            <a:r>
              <a:rPr dirty="0">
                <a:solidFill>
                  <a:srgbClr val="FFFFFF"/>
                </a:solidFill>
                <a:latin typeface="Courier New"/>
              </a:rPr>
              <a:t> =
 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Object.values</a:t>
            </a:r>
            <a:r>
              <a:rPr dirty="0">
                <a:solidFill>
                  <a:srgbClr val="FFFFFF"/>
                </a:solidFill>
                <a:latin typeface="Courier New"/>
              </a:rPr>
              <a:t>(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watchedValues</a:t>
            </a:r>
            <a:r>
              <a:rPr dirty="0">
                <a:solidFill>
                  <a:srgbClr val="FFFFFF"/>
                </a:solidFill>
                <a:latin typeface="Courier New"/>
              </a:rPr>
              <a:t>).every((v) =&gt; </a:t>
            </a:r>
            <a:r>
              <a:rPr dirty="0" err="1">
                <a:solidFill>
                  <a:srgbClr val="FFFFFF"/>
                </a:solidFill>
                <a:latin typeface="Courier New"/>
              </a:rPr>
              <a:t>v.length</a:t>
            </a:r>
            <a:r>
              <a:rPr dirty="0">
                <a:solidFill>
                  <a:srgbClr val="FFFFFF"/>
                </a:solidFill>
                <a:latin typeface="Courier New"/>
              </a:rPr>
              <a:t> &gt; 0);
// dims + disables Save until every field has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5463651"/>
            <a:ext cx="1190287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 err="1"/>
              <a:t>isFormFilled</a:t>
            </a:r>
            <a:r>
              <a:rPr sz="2400" b="0" i="0" dirty="0"/>
              <a:t> is only a UI gate — it stops taps on an obviously incomplete form. </a:t>
            </a:r>
            <a:endParaRPr lang="en-US" sz="2400" b="0" i="0" dirty="0"/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2400" b="0" i="0" dirty="0"/>
              <a:t>The REAL validation (email format, 9-char ID, 10-digit phone) still runs through Zod inside </a:t>
            </a:r>
            <a:r>
              <a:rPr sz="2400" b="0" i="0" dirty="0" err="1"/>
              <a:t>handleSubmit</a:t>
            </a:r>
            <a:r>
              <a:rPr sz="2400" b="0" i="0" dirty="0"/>
              <a:t> when the button is pressed.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2286000"/>
            <a:ext cx="121888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Secure vs Regular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" y="3474720"/>
            <a:ext cx="12188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00"/>
                </a:solidFill>
              </a:rPr>
              <a:t>Preferences vs passwords — pick the right box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4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 err="1">
                <a:solidFill>
                  <a:srgbClr val="111827"/>
                </a:solidFill>
              </a:rPr>
              <a:t>AsyncStorage</a:t>
            </a:r>
            <a:r>
              <a:rPr sz="3200" b="1" i="0" dirty="0">
                <a:solidFill>
                  <a:srgbClr val="111827"/>
                </a:solidFill>
              </a:rPr>
              <a:t> vs </a:t>
            </a:r>
            <a:r>
              <a:rPr sz="3200" b="1" i="0" dirty="0" err="1">
                <a:solidFill>
                  <a:srgbClr val="111827"/>
                </a:solidFill>
              </a:rPr>
              <a:t>SecureStore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607901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0" y="1012369"/>
            <a:ext cx="40690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3657600" y="1037188"/>
            <a:ext cx="4069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</a:rPr>
              <a:t>AsyncStorage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18120" y="1012369"/>
            <a:ext cx="3977639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7818120" y="1024125"/>
            <a:ext cx="3977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</a:rPr>
              <a:t>SecureStore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652448"/>
            <a:ext cx="1143000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0848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111827"/>
                </a:solidFill>
              </a:rPr>
              <a:t>What it stores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853617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 dirty="0"/>
              <a:t>Preferences, cached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53617"/>
            <a:ext cx="3703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Passwords, tokens, secrets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12568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86860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813737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Plain text on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813737"/>
            <a:ext cx="3703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Encrypted (device keychain)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72689"/>
            <a:ext cx="11430000" cy="868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82872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773857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Fast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773857"/>
            <a:ext cx="3703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Slightly slower (encryption)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32809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78884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When to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733977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Prefs, form data,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33977"/>
            <a:ext cx="3703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/>
              <a:t>Login tokens, API keys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57521"/>
            <a:ext cx="11430000" cy="834719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643151"/>
            <a:ext cx="11064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1" i="0" dirty="0">
                <a:solidFill>
                  <a:srgbClr val="2563EB"/>
                </a:solidFill>
              </a:rPr>
              <a:t>This week we use </a:t>
            </a:r>
            <a:r>
              <a:rPr sz="2400" b="1" i="0" dirty="0" err="1">
                <a:solidFill>
                  <a:srgbClr val="2563EB"/>
                </a:solidFill>
              </a:rPr>
              <a:t>AsyncStorage</a:t>
            </a:r>
            <a:r>
              <a:rPr sz="2400" b="1" i="0" dirty="0">
                <a:solidFill>
                  <a:srgbClr val="2563EB"/>
                </a:solidFill>
              </a:rPr>
              <a:t> — profile data and preferences aren't sensitive. In Week 12 (Auth) we'll reach for </a:t>
            </a:r>
            <a:r>
              <a:rPr sz="2400" b="1" i="0" dirty="0" err="1">
                <a:solidFill>
                  <a:srgbClr val="2563EB"/>
                </a:solidFill>
              </a:rPr>
              <a:t>SecureStore</a:t>
            </a:r>
            <a:r>
              <a:rPr sz="2400" b="1" i="0" dirty="0">
                <a:solidFill>
                  <a:srgbClr val="2563EB"/>
                </a:solidFill>
              </a:rPr>
              <a:t> to hold login tokens.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6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827"/>
                </a:solidFill>
              </a:rPr>
              <a:t>Common Mistakes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73174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39340"/>
            <a:ext cx="1143000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39340"/>
            <a:ext cx="64008" cy="1170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866309"/>
            <a:ext cx="544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Forgetting the empty deps array 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94543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94543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DC2626"/>
                </a:solidFill>
              </a:rPr>
              <a:t>useEffect</a:t>
            </a:r>
            <a:r>
              <a:rPr b="1" i="0" dirty="0">
                <a:solidFill>
                  <a:srgbClr val="DC2626"/>
                </a:solidFill>
              </a:rPr>
              <a:t>(() =&gt; { load(); 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29" y="1277668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989" y="1277668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useEffect(() =&gt; { load(); }, [])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514583"/>
            <a:ext cx="5669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Without [], the effect runs on every render. If it sets state -&gt; infinite loop -&gt; the app freezes.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39668"/>
            <a:ext cx="1143000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439668"/>
            <a:ext cx="64008" cy="1170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390386"/>
            <a:ext cx="544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Making </a:t>
            </a:r>
            <a:r>
              <a:rPr sz="2000" b="1" i="0" dirty="0" err="1">
                <a:solidFill>
                  <a:srgbClr val="111827"/>
                </a:solidFill>
              </a:rPr>
              <a:t>useEffect</a:t>
            </a:r>
            <a:r>
              <a:rPr sz="2000" b="1" i="0" dirty="0">
                <a:solidFill>
                  <a:srgbClr val="111827"/>
                </a:solidFill>
              </a:rPr>
              <a:t> itself async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06746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0000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06746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FF0000"/>
                </a:solidFill>
              </a:rPr>
              <a:t>useEffect</a:t>
            </a:r>
            <a:r>
              <a:rPr b="0" i="0" dirty="0">
                <a:solidFill>
                  <a:srgbClr val="FF0000"/>
                </a:solidFill>
              </a:rPr>
              <a:t>(async () =&gt; { ... }, [])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4229" y="277799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989" y="2777996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useEffect(() =&gt; { const f=async()=&gt;{}; f() }, [])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991160"/>
            <a:ext cx="5669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An async effect returns a Promise, which React can't use for cleanup. Nest the async function instead.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51865"/>
            <a:ext cx="1143000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951865"/>
            <a:ext cx="64008" cy="1170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914459"/>
            <a:ext cx="544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11827"/>
                </a:solidFill>
              </a:rPr>
              <a:t>Not null-checking loaded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30819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0000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18944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C2626"/>
                </a:solidFill>
              </a:rPr>
              <a:t>reset(saved)   // saved may be null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4229" y="4290194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989" y="4290194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if (saved !== null) reset(saved)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527108"/>
            <a:ext cx="5669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First launch has nothing stored — get() returns null. Passing null to reset() crashes.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428448"/>
            <a:ext cx="1143000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5428448"/>
            <a:ext cx="64008" cy="1170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5391041"/>
            <a:ext cx="544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827"/>
                </a:solidFill>
              </a:rPr>
              <a:t>Skipping stringify / parse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695526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95526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DC2626"/>
                </a:solidFill>
              </a:rPr>
              <a:t>AsyncStorage.setItem</a:t>
            </a:r>
            <a:r>
              <a:rPr b="1" i="0" dirty="0">
                <a:solidFill>
                  <a:srgbClr val="DC2626"/>
                </a:solidFill>
              </a:rPr>
              <a:t>("profile", obj)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4229" y="5766776"/>
            <a:ext cx="365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989" y="5766776"/>
            <a:ext cx="5394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</a:rPr>
              <a:t>storage.set(STORAGE_KEYS.PROFILE, obj)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003690"/>
            <a:ext cx="5669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Raw </a:t>
            </a:r>
            <a:r>
              <a:rPr b="0" i="0" dirty="0" err="1"/>
              <a:t>setItem</a:t>
            </a:r>
            <a:r>
              <a:rPr b="0" i="0" dirty="0"/>
              <a:t> stores "[object Object]". Use the utility — it stringifies and parses for you.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92597" y="2286000"/>
            <a:ext cx="122814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" y="3474720"/>
            <a:ext cx="121888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00"/>
                </a:solidFill>
              </a:rPr>
              <a:t>Two labs apply the same pattern to new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4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111827"/>
                </a:solidFill>
              </a:rPr>
              <a:t>Activity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633546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/>
              <a:t>Same storage pattern · new data shapes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1602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44248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577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3840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627017" y="1487859"/>
            <a:ext cx="3749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FFFFFF"/>
                </a:solidFill>
              </a:rPr>
              <a:t>Activity 1</a:t>
            </a:r>
            <a:r>
              <a:rPr sz="2400" b="1" i="0" dirty="0">
                <a:solidFill>
                  <a:srgbClr val="FFFFFF"/>
                </a:solidFill>
              </a:rPr>
              <a:t> — Dark Mode Toggle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24742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 dirty="0">
                <a:solidFill>
                  <a:srgbClr val="111827"/>
                </a:solidFill>
              </a:rPr>
              <a:t>A guided warm-up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1206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/>
              <a:t>Add a Dark Mode switch below Notifications that persists.
Add a THEME key to STORAGE_KEYS
Save on toggle, load on mount (same as notifications)
Bonus: show a 'Stored: true/false' indicator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577840" cy="44248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5778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Rectangle 13"/>
          <p:cNvSpPr/>
          <p:nvPr/>
        </p:nvSpPr>
        <p:spPr>
          <a:xfrm>
            <a:off x="6446519" y="1508760"/>
            <a:ext cx="4506687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6374673" y="1500922"/>
            <a:ext cx="45066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Activity 2</a:t>
            </a:r>
            <a:r>
              <a:rPr sz="2400" b="1" i="0" dirty="0">
                <a:solidFill>
                  <a:srgbClr val="FFFFFF"/>
                </a:solidFill>
              </a:rPr>
              <a:t> — Favorites (100 marks)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24742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1" dirty="0">
                <a:solidFill>
                  <a:srgbClr val="111827"/>
                </a:solidFill>
              </a:rPr>
              <a:t>Adding More</a:t>
            </a:r>
            <a:endParaRPr sz="2400" b="1" i="1" dirty="0">
              <a:solidFill>
                <a:srgbClr val="111827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46520" y="2606040"/>
            <a:ext cx="51206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i="0" dirty="0"/>
              <a:t>Bookmark courses and show them on Home.
Store an ARRAY of course IDs (new data shape)
Heart toggle: optimistic update + immutable arrays
</a:t>
            </a:r>
            <a:r>
              <a:rPr sz="2400" b="0" i="0" dirty="0" err="1"/>
              <a:t>useFocusEffect</a:t>
            </a:r>
            <a:r>
              <a:rPr sz="2400" b="0" i="0" dirty="0"/>
              <a:t> so Home refreshes on tab switch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854773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2563EB"/>
                </a:solidFill>
              </a:rPr>
              <a:t>New concepts introduced by the labs: arrays in storage, optimistic updates, and </a:t>
            </a:r>
            <a:r>
              <a:rPr sz="2400" b="1" i="0" dirty="0" err="1">
                <a:solidFill>
                  <a:srgbClr val="2563EB"/>
                </a:solidFill>
              </a:rPr>
              <a:t>useFocusEffect</a:t>
            </a:r>
            <a:r>
              <a:rPr sz="2400" b="1" i="0" dirty="0">
                <a:solidFill>
                  <a:srgbClr val="2563E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-2612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>
                <a:solidFill>
                  <a:srgbClr val="FFFFFF"/>
                </a:solidFill>
              </a:rPr>
              <a:t>Summary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6206" y="718454"/>
            <a:ext cx="10868300" cy="86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3366" y="82818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3445" y="739354"/>
            <a:ext cx="3533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2563EB"/>
                </a:solidFill>
              </a:rPr>
              <a:t>AsyncStorage</a:t>
            </a:r>
            <a:r>
              <a:rPr sz="2000" b="1" i="0" dirty="0">
                <a:solidFill>
                  <a:srgbClr val="2563EB"/>
                </a:solidFill>
              </a:rPr>
              <a:t> persists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3445" y="1129934"/>
            <a:ext cx="980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A key-value store on the device that survives restarts. Strings only — JSON bridges objects and arrays.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206" y="1724294"/>
            <a:ext cx="10868300" cy="86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3366" y="183402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3445" y="1745194"/>
            <a:ext cx="3533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One storage utility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3446" y="213577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lib/</a:t>
            </a:r>
            <a:r>
              <a:rPr b="0" i="0" dirty="0" err="1"/>
              <a:t>storage.ts</a:t>
            </a:r>
            <a:r>
              <a:rPr b="0" i="0" dirty="0"/>
              <a:t> wraps stringify/parse once. Components just call get, set, and remove with typed keys.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206" y="2730134"/>
            <a:ext cx="10868300" cy="86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3366" y="283986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3445" y="2751034"/>
            <a:ext cx="3533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useEffect on 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446" y="314161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/>
              <a:t>Load saved data once with an empty [] deps array. Nest the async function — </a:t>
            </a:r>
            <a:r>
              <a:rPr b="0" i="0" dirty="0" err="1"/>
              <a:t>useEffect</a:t>
            </a:r>
            <a:r>
              <a:rPr b="0" i="0" dirty="0"/>
              <a:t> can't be async.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6206" y="3735974"/>
            <a:ext cx="10868300" cy="86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3366" y="384570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3445" y="3756874"/>
            <a:ext cx="3533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Loading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3446" y="414745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/>
              <a:t>isLoading</a:t>
            </a:r>
            <a:r>
              <a:rPr b="0" i="0" dirty="0"/>
              <a:t> + </a:t>
            </a:r>
            <a:r>
              <a:rPr b="0" i="0" dirty="0" err="1"/>
              <a:t>ActivityIndicator</a:t>
            </a:r>
            <a:r>
              <a:rPr b="0" i="0" dirty="0"/>
              <a:t> prevent the flash of empty content before saved data arrives.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206" y="4741814"/>
            <a:ext cx="10868300" cy="86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366" y="485154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3445" y="4762714"/>
            <a:ext cx="35335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Right box for the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3446" y="515329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/>
              <a:t>AsyncStorage</a:t>
            </a:r>
            <a:r>
              <a:rPr b="0" i="0" dirty="0"/>
              <a:t> for preferences, </a:t>
            </a:r>
            <a:r>
              <a:rPr b="0" i="0" dirty="0" err="1"/>
              <a:t>SecureStore</a:t>
            </a:r>
            <a:r>
              <a:rPr b="0" i="0" dirty="0"/>
              <a:t> for secrets. Passwords never go in plain-text storage.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9794" y="5795640"/>
            <a:ext cx="8739051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2400" b="0" i="0" dirty="0"/>
              <a:t>Docs: </a:t>
            </a:r>
            <a:r>
              <a:rPr sz="2400" b="0" i="0" dirty="0" err="1"/>
              <a:t>reactnative.dev</a:t>
            </a:r>
            <a:r>
              <a:rPr sz="2400" b="0" i="0" dirty="0"/>
              <a:t>  ·  react-native-async-storage.github.io  ·  </a:t>
            </a:r>
            <a:r>
              <a:rPr sz="2400" b="0" i="0" dirty="0" err="1"/>
              <a:t>docs.expo.dev</a:t>
            </a:r>
            <a:r>
              <a:rPr sz="2400" b="0" i="0" dirty="0"/>
              <a:t>/versions/latest/</a:t>
            </a:r>
            <a:r>
              <a:rPr sz="2400" b="0" i="0" dirty="0" err="1"/>
              <a:t>sdk</a:t>
            </a:r>
            <a:r>
              <a:rPr sz="2400" b="0" i="0" dirty="0"/>
              <a:t>/</a:t>
            </a:r>
            <a:r>
              <a:rPr sz="2400" b="0" i="0" dirty="0" err="1"/>
              <a:t>securestore</a:t>
            </a:r>
            <a:endParaRPr sz="2400" b="0" i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2894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111827"/>
                </a:solidFill>
              </a:rPr>
              <a:t>Glossary — Words You Now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96325"/>
            <a:ext cx="11430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27565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ectangle 5"/>
          <p:cNvSpPr/>
          <p:nvPr/>
        </p:nvSpPr>
        <p:spPr>
          <a:xfrm>
            <a:off x="365760" y="1127565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566928" y="113041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3515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Data that survives after the app closes — written to the device, not just held in memory.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27565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Rectangle 9"/>
          <p:cNvSpPr/>
          <p:nvPr/>
        </p:nvSpPr>
        <p:spPr>
          <a:xfrm>
            <a:off x="6217920" y="1127565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6419088" y="1130418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2563EB"/>
                </a:solidFill>
              </a:rPr>
              <a:t>AsyncStorage</a:t>
            </a:r>
            <a:endParaRPr sz="2400" b="1" i="0" dirty="0">
              <a:solidFill>
                <a:srgbClr val="2563E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513515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React Native's built-in, unencrypted key-value store for small amounts of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4573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Rectangle 13"/>
          <p:cNvSpPr/>
          <p:nvPr/>
        </p:nvSpPr>
        <p:spPr>
          <a:xfrm>
            <a:off x="365760" y="2334573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5" name="TextBox 14"/>
          <p:cNvSpPr txBox="1"/>
          <p:nvPr/>
        </p:nvSpPr>
        <p:spPr>
          <a:xfrm>
            <a:off x="566928" y="2337426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Key-value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08648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Data saved as named keys mapped to values — like a persistent object.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34573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Rectangle 17"/>
          <p:cNvSpPr/>
          <p:nvPr/>
        </p:nvSpPr>
        <p:spPr>
          <a:xfrm>
            <a:off x="6217920" y="2334573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6419088" y="2337426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</a:rPr>
              <a:t>Serialize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708648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Convert a JS value to a string (JSON.stringify) so it can be stored.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41581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Rectangle 21"/>
          <p:cNvSpPr/>
          <p:nvPr/>
        </p:nvSpPr>
        <p:spPr>
          <a:xfrm>
            <a:off x="365760" y="3541581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TextBox 22"/>
          <p:cNvSpPr txBox="1"/>
          <p:nvPr/>
        </p:nvSpPr>
        <p:spPr>
          <a:xfrm>
            <a:off x="566928" y="3544434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Hydration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915656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Loading saved data back into component state — re-filling the UI from storage.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41581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Rectangle 25"/>
          <p:cNvSpPr/>
          <p:nvPr/>
        </p:nvSpPr>
        <p:spPr>
          <a:xfrm>
            <a:off x="6217920" y="3541581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6419088" y="3544434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</a:rPr>
              <a:t>useEffect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915656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A hook that runs code after render; with [] it runs once, on mount.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48589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0" name="Rectangle 29"/>
          <p:cNvSpPr/>
          <p:nvPr/>
        </p:nvSpPr>
        <p:spPr>
          <a:xfrm>
            <a:off x="365760" y="4748589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566928" y="4751442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563EB"/>
                </a:solidFill>
              </a:rPr>
              <a:t>Loading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110789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/>
              <a:t>A </a:t>
            </a:r>
            <a:r>
              <a:rPr sz="2000" b="0" i="0" dirty="0" err="1"/>
              <a:t>boolean</a:t>
            </a:r>
            <a:r>
              <a:rPr sz="2000" b="0" i="0" dirty="0"/>
              <a:t> (</a:t>
            </a:r>
            <a:r>
              <a:rPr sz="2000" b="0" i="0" dirty="0" err="1"/>
              <a:t>isLoading</a:t>
            </a:r>
            <a:r>
              <a:rPr sz="2000" b="0" i="0" dirty="0"/>
              <a:t>) that shows a spinner until async data is ready.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748589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Rectangle 33"/>
          <p:cNvSpPr/>
          <p:nvPr/>
        </p:nvSpPr>
        <p:spPr>
          <a:xfrm>
            <a:off x="6217920" y="4748589"/>
            <a:ext cx="54864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5" name="TextBox 34"/>
          <p:cNvSpPr txBox="1"/>
          <p:nvPr/>
        </p:nvSpPr>
        <p:spPr>
          <a:xfrm>
            <a:off x="6419088" y="4751442"/>
            <a:ext cx="521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</a:rPr>
              <a:t>Optimistic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5110789"/>
            <a:ext cx="521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/>
              <a:t>Updating the UI immediately, before the async save finishes.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5526</Words>
  <Application>Microsoft Office PowerPoint</Application>
  <PresentationFormat>Custom</PresentationFormat>
  <Paragraphs>587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Hamdy Ibrahim</cp:lastModifiedBy>
  <cp:revision>17</cp:revision>
  <dcterms:created xsi:type="dcterms:W3CDTF">2013-01-27T09:14:16Z</dcterms:created>
  <dcterms:modified xsi:type="dcterms:W3CDTF">2026-08-31T13:08:28Z</dcterms:modified>
  <cp:category/>
</cp:coreProperties>
</file>