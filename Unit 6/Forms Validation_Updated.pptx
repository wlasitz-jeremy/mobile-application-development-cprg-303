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21"/>
  </p:notesMasterIdLst>
  <p:sldIdLst>
    <p:sldId id="278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9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070" autoAdjust="0"/>
  </p:normalViewPr>
  <p:slideViewPr>
    <p:cSldViewPr snapToGrid="0" snapToObjects="1">
      <p:cViewPr varScale="1">
        <p:scale>
          <a:sx n="70" d="100"/>
          <a:sy n="70" d="100"/>
        </p:scale>
        <p:origin x="2034" y="66"/>
      </p:cViewPr>
      <p:guideLst>
        <p:guide orient="horz" pos="2160"/>
        <p:guide pos="2880"/>
      </p:guideLst>
    </p:cSldViewPr>
  </p:slideViewPr>
  <p:notesTextViewPr>
    <p:cViewPr>
      <p:scale>
        <a:sx n="200" d="100"/>
        <a:sy n="2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762ECA-FDD3-46E3-9A83-408F3CF85A2A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C984BC-AAAB-4F97-A8E3-58C64FABC3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6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A07999-E436-41F4-A0D0-76551AF568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5631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13910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8520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635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462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8931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56350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394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9250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7418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2826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628650" lvl="1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9296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4142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012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90672-7A68-7E56-BA3E-B98070D33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471D9-69EF-AF8F-B314-D7070223E1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5A882-EE35-2A59-9013-6C9DC65D9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F49A9-E407-E8DB-4536-002CA2A91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C984BC-AAAB-4F97-A8E3-58C64FABC38C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1942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368CD6-059C-BDEA-4975-C6762FAA6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A0BFC4D-5330-BA02-A4B9-2EC822E2A18B}"/>
              </a:ext>
            </a:extLst>
          </p:cNvPr>
          <p:cNvSpPr/>
          <p:nvPr/>
        </p:nvSpPr>
        <p:spPr>
          <a:xfrm>
            <a:off x="1587" y="893"/>
            <a:ext cx="12185778" cy="54849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EAE3AF-A4B8-D87E-6F15-348280BB2285}"/>
              </a:ext>
            </a:extLst>
          </p:cNvPr>
          <p:cNvSpPr/>
          <p:nvPr/>
        </p:nvSpPr>
        <p:spPr>
          <a:xfrm>
            <a:off x="1587" y="6308610"/>
            <a:ext cx="12185778" cy="54849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9A74F-EDDD-43EA-66DA-3A431EC8BA5B}"/>
              </a:ext>
            </a:extLst>
          </p:cNvPr>
          <p:cNvSpPr txBox="1"/>
          <p:nvPr/>
        </p:nvSpPr>
        <p:spPr>
          <a:xfrm>
            <a:off x="1587" y="1783509"/>
            <a:ext cx="12185778" cy="923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399" b="1" dirty="0">
                <a:solidFill>
                  <a:srgbClr val="FFFFFF"/>
                </a:solidFill>
              </a:rPr>
              <a:t>Forms and Validation</a:t>
            </a:r>
            <a:endParaRPr sz="5399" b="1" dirty="0">
              <a:solidFill>
                <a:srgbClr val="FFFFFF"/>
              </a:solidFill>
            </a:endParaRP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5C8C59F1-D53D-553A-3A4D-D405D2515E69}"/>
              </a:ext>
            </a:extLst>
          </p:cNvPr>
          <p:cNvSpPr txBox="1">
            <a:spLocks/>
          </p:cNvSpPr>
          <p:nvPr/>
        </p:nvSpPr>
        <p:spPr>
          <a:xfrm>
            <a:off x="1587" y="3689631"/>
            <a:ext cx="12185650" cy="1655331"/>
          </a:xfrm>
          <a:prstGeom prst="rect">
            <a:avLst/>
          </a:prstGeom>
        </p:spPr>
        <p:txBody>
          <a:bodyPr vert="horz" lIns="91416" tIns="45708" rIns="91416" bIns="45708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bg1"/>
                </a:solidFill>
                <a:latin typeface="Titillium" panose="00000500000000000000" pitchFamily="50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pPr algn="ctr" defTabSz="457086">
              <a:lnSpc>
                <a:spcPct val="120000"/>
              </a:lnSpc>
              <a:spcAft>
                <a:spcPts val="600"/>
              </a:spcAft>
            </a:pPr>
            <a:r>
              <a:rPr lang="en-US" sz="4799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Edited By:</a:t>
            </a:r>
          </a:p>
          <a:p>
            <a:pPr algn="ctr" defTabSz="457086">
              <a:lnSpc>
                <a:spcPct val="120000"/>
              </a:lnSpc>
              <a:spcAft>
                <a:spcPts val="600"/>
              </a:spcAft>
            </a:pPr>
            <a:r>
              <a:rPr lang="en-US" sz="4799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Dr. Hamdy Ibrahim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9DD5F5D-D9F7-EAEF-7160-ECAC2D736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9" y="4052871"/>
            <a:ext cx="1631427" cy="2222434"/>
          </a:xfrm>
          <a:prstGeom prst="rect">
            <a:avLst/>
          </a:prstGeom>
        </p:spPr>
      </p:pic>
      <p:sp>
        <p:nvSpPr>
          <p:cNvPr id="16" name="Subtitle 3">
            <a:extLst>
              <a:ext uri="{FF2B5EF4-FFF2-40B4-BE49-F238E27FC236}">
                <a16:creationId xmlns:a16="http://schemas.microsoft.com/office/drawing/2014/main" id="{4A819F09-A09E-C95D-E4A0-452C78500D97}"/>
              </a:ext>
            </a:extLst>
          </p:cNvPr>
          <p:cNvSpPr txBox="1">
            <a:spLocks/>
          </p:cNvSpPr>
          <p:nvPr/>
        </p:nvSpPr>
        <p:spPr>
          <a:xfrm>
            <a:off x="270091" y="582696"/>
            <a:ext cx="7902697" cy="820120"/>
          </a:xfrm>
          <a:prstGeom prst="rect">
            <a:avLst/>
          </a:prstGeom>
        </p:spPr>
        <p:txBody>
          <a:bodyPr anchor="ctr"/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799" dirty="0">
                <a:solidFill>
                  <a:schemeClr val="bg1"/>
                </a:solidFill>
              </a:rPr>
              <a:t>CPRG303 – Mobile Application Development</a:t>
            </a:r>
          </a:p>
        </p:txBody>
      </p:sp>
      <p:sp>
        <p:nvSpPr>
          <p:cNvPr id="25" name="Text 4">
            <a:extLst>
              <a:ext uri="{FF2B5EF4-FFF2-40B4-BE49-F238E27FC236}">
                <a16:creationId xmlns:a16="http://schemas.microsoft.com/office/drawing/2014/main" id="{C50D2861-CE99-D5FE-52C7-0ED2A300BCCD}"/>
              </a:ext>
            </a:extLst>
          </p:cNvPr>
          <p:cNvSpPr/>
          <p:nvPr/>
        </p:nvSpPr>
        <p:spPr>
          <a:xfrm>
            <a:off x="1589" y="6327994"/>
            <a:ext cx="12185776" cy="529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SADT  ·  School For Advanced Digital Technology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1B0297-11EE-671F-AC55-18D0E761D9C1}"/>
              </a:ext>
            </a:extLst>
          </p:cNvPr>
          <p:cNvSpPr txBox="1"/>
          <p:nvPr/>
        </p:nvSpPr>
        <p:spPr>
          <a:xfrm>
            <a:off x="1589" y="2788986"/>
            <a:ext cx="12185648" cy="8822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800" dirty="0">
                <a:solidFill>
                  <a:srgbClr val="BFDBFF"/>
                </a:solidFill>
              </a:rPr>
              <a:t>React Hook Form  ·  Zod  ·  React Native</a:t>
            </a:r>
          </a:p>
          <a:p>
            <a:pPr algn="ctr"/>
            <a:endParaRPr sz="2800" dirty="0">
              <a:solidFill>
                <a:srgbClr val="94A3B8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59201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What We're Covering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452651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7" name="TextBox 6"/>
          <p:cNvSpPr txBox="1"/>
          <p:nvPr/>
        </p:nvSpPr>
        <p:spPr>
          <a:xfrm>
            <a:off x="365760" y="1514997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96786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Why a form library?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67119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The problem with plain </a:t>
            </a:r>
            <a:r>
              <a:rPr sz="2400" b="0" i="0" dirty="0" err="1"/>
              <a:t>useState</a:t>
            </a:r>
            <a:endParaRPr sz="2400" b="0" i="0" dirty="0"/>
          </a:p>
        </p:txBody>
      </p:sp>
      <p:sp>
        <p:nvSpPr>
          <p:cNvPr id="10" name="Rectangle 9"/>
          <p:cNvSpPr/>
          <p:nvPr/>
        </p:nvSpPr>
        <p:spPr>
          <a:xfrm>
            <a:off x="365760" y="2433140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1" name="TextBox 10"/>
          <p:cNvSpPr txBox="1"/>
          <p:nvPr/>
        </p:nvSpPr>
        <p:spPr>
          <a:xfrm>
            <a:off x="365760" y="2485095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339621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The library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733416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React Hook Form + Zod + resolvers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86366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5" name="TextBox 14"/>
          <p:cNvSpPr txBox="1"/>
          <p:nvPr/>
        </p:nvSpPr>
        <p:spPr>
          <a:xfrm>
            <a:off x="365760" y="3538321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372065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Zod schemas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42398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Define rules once, validate anywhere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539592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19" name="TextBox 18"/>
          <p:cNvSpPr txBox="1"/>
          <p:nvPr/>
        </p:nvSpPr>
        <p:spPr>
          <a:xfrm>
            <a:off x="365760" y="4601938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397472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 err="1"/>
              <a:t>useForm</a:t>
            </a:r>
            <a:r>
              <a:rPr sz="2800" b="1" i="0" dirty="0"/>
              <a:t> hook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825120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control · </a:t>
            </a:r>
            <a:r>
              <a:rPr sz="2400" b="0" i="0" dirty="0" err="1"/>
              <a:t>handleSubmit</a:t>
            </a:r>
            <a:r>
              <a:rPr sz="2400" b="0" i="0" dirty="0"/>
              <a:t> · errors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82097" y="1438162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3" name="TextBox 22"/>
          <p:cNvSpPr txBox="1"/>
          <p:nvPr/>
        </p:nvSpPr>
        <p:spPr>
          <a:xfrm>
            <a:off x="6382097" y="1500508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22177" y="1292688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Controller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22177" y="1652630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Connecting RHF to React Native inputs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82097" y="2335522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27" name="TextBox 26"/>
          <p:cNvSpPr txBox="1"/>
          <p:nvPr/>
        </p:nvSpPr>
        <p:spPr>
          <a:xfrm>
            <a:off x="6382097" y="2387477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2177" y="2231612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Error display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2177" y="2635799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Conditional styles + inline messages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82097" y="3482268"/>
            <a:ext cx="5029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800"/>
          </a:p>
        </p:txBody>
      </p:sp>
      <p:sp>
        <p:nvSpPr>
          <p:cNvPr id="31" name="TextBox 30"/>
          <p:cNvSpPr txBox="1"/>
          <p:nvPr/>
        </p:nvSpPr>
        <p:spPr>
          <a:xfrm>
            <a:off x="6382097" y="3534223"/>
            <a:ext cx="5029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i="0" dirty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22177" y="3336794"/>
            <a:ext cx="6400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/>
              <a:t>Navigation update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22177" y="3738300"/>
            <a:ext cx="6400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/>
              <a:t>settings/ folder with nested Stack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Why not just use </a:t>
            </a:r>
            <a:r>
              <a:rPr sz="3200" b="0" i="0" dirty="0" err="1">
                <a:solidFill>
                  <a:srgbClr val="FFFF00"/>
                </a:solidFill>
              </a:rPr>
              <a:t>useState</a:t>
            </a:r>
            <a:r>
              <a:rPr sz="3200" b="0" i="0" dirty="0">
                <a:solidFill>
                  <a:srgbClr val="FFFF00"/>
                </a:solidFill>
              </a:rPr>
              <a:t>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>
              <a:defRPr/>
            </a:pPr>
            <a:r>
              <a:rPr lang="en-US" sz="3200" b="1" dirty="0"/>
              <a:t>Limitations of Managing Forms with </a:t>
            </a:r>
            <a:r>
              <a:rPr lang="en-US" sz="3200" b="1" dirty="0" err="1"/>
              <a:t>useState</a:t>
            </a:r>
            <a:endParaRPr lang="en-US" sz="3200" b="1" dirty="0"/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46888" y="1203155"/>
            <a:ext cx="6062472" cy="502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dirty="0">
                <a:solidFill>
                  <a:srgbClr val="FFFFFF"/>
                </a:solidFill>
                <a:latin typeface="Courier New"/>
              </a:rPr>
              <a:t>// A separate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for EVERY field
const [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,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("")
const [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lastName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,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setLastName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("")
const [email,   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setEmail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   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("")
const [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studentId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,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setStudentId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("")
const [phone,   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setPhone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   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("")
// A separate errors object
const [errors,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setErrors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] =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useState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({})
// A hand-written validate() function
function validate() {
  const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newErrors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= {}
  if (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firstName.trim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().length &lt; 2) {
  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newErrors.firstName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= "Min 2 chars"
  }
  // ... repeated for every field
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setErrors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newErrors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)
  return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Object.keys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newErrors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).length === 0
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09728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C2626"/>
                </a:solidFill>
              </a:rPr>
              <a:t>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2988" y="1311444"/>
            <a:ext cx="51398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sz="2400" b="1" i="0" dirty="0">
                <a:solidFill>
                  <a:srgbClr val="FF0000"/>
                </a:solidFill>
              </a:rPr>
              <a:t>Problems with this 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2989" y="1905804"/>
            <a:ext cx="5468948" cy="594360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9" name="TextBox 8"/>
          <p:cNvSpPr txBox="1"/>
          <p:nvPr/>
        </p:nvSpPr>
        <p:spPr>
          <a:xfrm>
            <a:off x="6655868" y="1997244"/>
            <a:ext cx="5286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C2626"/>
                </a:solidFill>
              </a:rPr>
              <a:t>✗  5 fields = 5 useState hooks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72989" y="2655612"/>
            <a:ext cx="5420189" cy="807368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1" name="TextBox 10"/>
          <p:cNvSpPr txBox="1"/>
          <p:nvPr/>
        </p:nvSpPr>
        <p:spPr>
          <a:xfrm>
            <a:off x="6655868" y="2679677"/>
            <a:ext cx="54201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 dirty="0">
                <a:solidFill>
                  <a:srgbClr val="DC2626"/>
                </a:solidFill>
              </a:rPr>
              <a:t>✗  Validation logic lives inside the component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2989" y="3559423"/>
            <a:ext cx="5468948" cy="825994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TextBox 12"/>
          <p:cNvSpPr txBox="1"/>
          <p:nvPr/>
        </p:nvSpPr>
        <p:spPr>
          <a:xfrm>
            <a:off x="6655868" y="3650863"/>
            <a:ext cx="542018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C2626"/>
                </a:solidFill>
              </a:rPr>
              <a:t>✗  Error type defined separately from the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72989" y="4559491"/>
            <a:ext cx="5468948" cy="594360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5" name="TextBox 14"/>
          <p:cNvSpPr txBox="1"/>
          <p:nvPr/>
        </p:nvSpPr>
        <p:spPr>
          <a:xfrm>
            <a:off x="6655868" y="4650930"/>
            <a:ext cx="52860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C2626"/>
                </a:solidFill>
              </a:rPr>
              <a:t>✗  Every new field = more boilerplate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2989" y="5309299"/>
            <a:ext cx="5468948" cy="594360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7" name="TextBox 16"/>
          <p:cNvSpPr txBox="1"/>
          <p:nvPr/>
        </p:nvSpPr>
        <p:spPr>
          <a:xfrm>
            <a:off x="6655868" y="5400739"/>
            <a:ext cx="54201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C2626"/>
                </a:solidFill>
              </a:rPr>
              <a:t>✗  No TypeScript safety on form values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</a:rPr>
              <a:t>The Library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Three tools, one job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Three Libraries, Three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3749039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3832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8" name="TextBox 7"/>
          <p:cNvSpPr txBox="1"/>
          <p:nvPr/>
        </p:nvSpPr>
        <p:spPr>
          <a:xfrm>
            <a:off x="548640" y="1231073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react-hook-form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32550"/>
            <a:ext cx="3749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Manages form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286000"/>
            <a:ext cx="338328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b="0" i="0" dirty="0"/>
              <a:t>Tracks field values, dirty/touched status</a:t>
            </a:r>
            <a:r>
              <a:rPr lang="en-US" sz="2400" b="0" i="0" dirty="0"/>
              <a:t>, </a:t>
            </a:r>
            <a:r>
              <a:rPr sz="2400" b="0" i="0" dirty="0"/>
              <a:t>when to show errors, and submission flow.
One hook replaces all your </a:t>
            </a:r>
            <a:r>
              <a:rPr sz="2400" b="0" i="0" dirty="0" err="1"/>
              <a:t>useState</a:t>
            </a:r>
            <a:r>
              <a:rPr sz="2400" b="0" i="0" dirty="0"/>
              <a:t> calls.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5778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2563EB"/>
                </a:solidFill>
              </a:rPr>
              <a:t>🔗 react-hook-form.com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79" y="109728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3" name="Rectangle 12"/>
          <p:cNvSpPr/>
          <p:nvPr/>
        </p:nvSpPr>
        <p:spPr>
          <a:xfrm>
            <a:off x="4297679" y="1097280"/>
            <a:ext cx="3749039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4" name="Rectangle 13"/>
          <p:cNvSpPr/>
          <p:nvPr/>
        </p:nvSpPr>
        <p:spPr>
          <a:xfrm>
            <a:off x="4480559" y="1280160"/>
            <a:ext cx="3383280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5" name="TextBox 14"/>
          <p:cNvSpPr txBox="1"/>
          <p:nvPr/>
        </p:nvSpPr>
        <p:spPr>
          <a:xfrm>
            <a:off x="4526279" y="1240698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</a:rPr>
              <a:t>zod</a:t>
            </a:r>
            <a:endParaRPr sz="2400" b="1" i="0" dirty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326556" y="1732550"/>
            <a:ext cx="3749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Defines validation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2286000"/>
            <a:ext cx="33832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2400" b="0" i="0" dirty="0"/>
              <a:t>Schema-based validation built for TypeScript.
Write rules once — get type inference for free.
Used beyond forms: APIs, env vars, config files.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5577840"/>
            <a:ext cx="33832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7C3AED"/>
                </a:solidFill>
              </a:rPr>
              <a:t>🔗 </a:t>
            </a:r>
            <a:r>
              <a:rPr sz="2400" b="0" dirty="0" err="1">
                <a:solidFill>
                  <a:srgbClr val="7C3AED"/>
                </a:solidFill>
              </a:rPr>
              <a:t>zod.dev</a:t>
            </a:r>
            <a:endParaRPr sz="2400" b="0" dirty="0">
              <a:solidFill>
                <a:srgbClr val="7C3AED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275319" y="1097280"/>
            <a:ext cx="3749039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0" name="Rectangle 19"/>
          <p:cNvSpPr/>
          <p:nvPr/>
        </p:nvSpPr>
        <p:spPr>
          <a:xfrm>
            <a:off x="8275319" y="1097280"/>
            <a:ext cx="3749039" cy="7315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21" name="Rectangle 20"/>
          <p:cNvSpPr/>
          <p:nvPr/>
        </p:nvSpPr>
        <p:spPr>
          <a:xfrm>
            <a:off x="8458199" y="1280160"/>
            <a:ext cx="3383280" cy="38404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22" name="TextBox 21"/>
          <p:cNvSpPr txBox="1"/>
          <p:nvPr/>
        </p:nvSpPr>
        <p:spPr>
          <a:xfrm>
            <a:off x="8503919" y="1240698"/>
            <a:ext cx="32918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@hookform/resolvers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199" y="1732550"/>
            <a:ext cx="37490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11827"/>
                </a:solidFill>
              </a:rPr>
              <a:t>Connects the two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199" y="2286000"/>
            <a:ext cx="338328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sz="2400" b="0" i="0" dirty="0"/>
              <a:t>Thin adapter that makes RHF and Zo</a:t>
            </a:r>
            <a:r>
              <a:rPr lang="en-US" sz="2400" b="0" i="0" dirty="0"/>
              <a:t>d</a:t>
            </a:r>
            <a:r>
              <a:rPr lang="en-US" sz="2400" dirty="0"/>
              <a:t> </a:t>
            </a:r>
            <a:r>
              <a:rPr sz="2400" b="0" i="0" dirty="0"/>
              <a:t>speak the same language.
One import, one line of config.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199" y="5250580"/>
            <a:ext cx="3383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dirty="0">
                <a:solidFill>
                  <a:srgbClr val="16A34A"/>
                </a:solidFill>
              </a:rPr>
              <a:t>🔗 github.com/react-hook-form/resolvers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</a:rPr>
              <a:t>Zod Schemas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Define rules once · Infer types automatically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111827"/>
                </a:solidFill>
              </a:rPr>
              <a:t>Creating Validation Schema</a:t>
            </a:r>
            <a:r>
              <a:rPr sz="3200" b="1" i="0" dirty="0">
                <a:solidFill>
                  <a:srgbClr val="111827"/>
                </a:solidFill>
              </a:rPr>
              <a:t> </a:t>
            </a:r>
            <a:r>
              <a:rPr lang="en-US" sz="3200" b="1" i="0" dirty="0">
                <a:solidFill>
                  <a:srgbClr val="111827"/>
                </a:solidFill>
              </a:rPr>
              <a:t>with </a:t>
            </a:r>
            <a:r>
              <a:rPr sz="3200" b="1" i="0" dirty="0">
                <a:solidFill>
                  <a:srgbClr val="111827"/>
                </a:solidFill>
              </a:rPr>
              <a:t>Zod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01168" y="1058779"/>
            <a:ext cx="6183750" cy="5601903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dirty="0">
                <a:solidFill>
                  <a:srgbClr val="FFFFFF"/>
                </a:solidFill>
                <a:latin typeface="Courier New"/>
              </a:rPr>
              <a:t>import { z } from "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zod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"
const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profileSchema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 =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z.object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({
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: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z.string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().trim()
               .min(2, "Min 2 characters."),
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lastName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: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z.string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().trim()
               .min(2, "Min 2 characters."),
  email:   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z.string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().trim()
               .email("Enter a valid email."),
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studentId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: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z.string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().trim()
               .length(9, "Must be 9 characters."),
  phone:   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z.string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().refine(
    (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val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) =&gt;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val.replace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(/\D/g, "").length &gt;= 10,
    "Must have at least 10 digits."
  ),
})
// TypeScript type — generated automatically
type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ProfileForm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 =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z.infer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&lt;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typeof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profileSchema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&gt;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46244" y="904777"/>
            <a:ext cx="5486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 dirty="0">
                <a:solidFill>
                  <a:srgbClr val="FF0000"/>
                </a:solidFill>
              </a:rPr>
              <a:t>Rule Reference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646244" y="1600200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83404" y="1645920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563EB"/>
                </a:solidFill>
              </a:rPr>
              <a:t>.trim()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54728" y="1645920"/>
            <a:ext cx="35950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Strips spaces before checking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46244" y="2404872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83404" y="2537216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563EB"/>
                </a:solidFill>
              </a:rPr>
              <a:t>.min(2)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4728" y="2537216"/>
            <a:ext cx="35950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At least 2 characters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46244" y="3209544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83404" y="3322638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563EB"/>
                </a:solidFill>
              </a:rPr>
              <a:t>.email()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4728" y="3178263"/>
            <a:ext cx="35950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Built-in email format check
(no regex needed)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6244" y="4014216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83404" y="4108061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2563EB"/>
                </a:solidFill>
              </a:rPr>
              <a:t>.length(9)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4728" y="4127311"/>
            <a:ext cx="35950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Exactly 9 characters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46244" y="4818888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83404" y="4931982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.refine(</a:t>
            </a:r>
            <a:r>
              <a:rPr sz="2000" b="1" i="0" dirty="0" err="1">
                <a:solidFill>
                  <a:srgbClr val="2563EB"/>
                </a:solidFill>
              </a:rPr>
              <a:t>fn</a:t>
            </a:r>
            <a:r>
              <a:rPr sz="2000" b="1" i="0" dirty="0">
                <a:solidFill>
                  <a:srgbClr val="2563EB"/>
                </a:solidFill>
              </a:rPr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4728" y="4797232"/>
            <a:ext cx="35950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Custom rule — strips non-digits
then checks count ≥ 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6244" y="5623560"/>
            <a:ext cx="5303520" cy="6858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83404" y="5727030"/>
            <a:ext cx="1828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563EB"/>
                </a:solidFill>
              </a:rPr>
              <a:t>z.infer</a:t>
            </a:r>
            <a:r>
              <a:rPr sz="2000" b="1" i="0" dirty="0">
                <a:solidFill>
                  <a:srgbClr val="2563EB"/>
                </a:solidFill>
              </a:rPr>
              <a:t>&lt;&gt;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4728" y="5592280"/>
            <a:ext cx="359503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Generates the TS type
automatically from the schema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 err="1">
                <a:solidFill>
                  <a:srgbClr val="FFFFFF"/>
                </a:solidFill>
              </a:rPr>
              <a:t>useForm</a:t>
            </a:r>
            <a:r>
              <a:rPr sz="5400" b="1" i="0" dirty="0">
                <a:solidFill>
                  <a:srgbClr val="FFFFFF"/>
                </a:solidFill>
              </a:rPr>
              <a:t>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The core of React Hook Form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111827"/>
                </a:solidFill>
              </a:rPr>
              <a:t>Understanding </a:t>
            </a:r>
            <a:r>
              <a:rPr sz="3200" b="1" i="0" dirty="0" err="1">
                <a:solidFill>
                  <a:srgbClr val="111827"/>
                </a:solidFill>
              </a:rPr>
              <a:t>useForm</a:t>
            </a:r>
            <a:r>
              <a:rPr lang="en-US" sz="3200" b="1" i="0" dirty="0">
                <a:solidFill>
                  <a:srgbClr val="111827"/>
                </a:solidFill>
              </a:rPr>
              <a:t>() Hook </a:t>
            </a:r>
            <a:endParaRPr sz="32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4660" y="1527048"/>
            <a:ext cx="5998944" cy="376924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dirty="0">
                <a:solidFill>
                  <a:srgbClr val="FFFFFF"/>
                </a:solidFill>
                <a:latin typeface="Courier New"/>
              </a:rPr>
              <a:t>const {
  control,
 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handleSubmit</a:t>
            </a:r>
            <a:r>
              <a:rPr dirty="0">
                <a:solidFill>
                  <a:srgbClr val="FFFFFF"/>
                </a:solidFill>
                <a:latin typeface="Courier New"/>
              </a:rPr>
              <a:t>,
 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formState</a:t>
            </a:r>
            <a:r>
              <a:rPr dirty="0">
                <a:solidFill>
                  <a:srgbClr val="FFFFFF"/>
                </a:solidFill>
                <a:latin typeface="Courier New"/>
              </a:rPr>
              <a:t>: { errors },
} =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useForm</a:t>
            </a:r>
            <a:r>
              <a:rPr dirty="0">
                <a:solidFill>
                  <a:srgbClr val="FFFFFF"/>
                </a:solidFill>
                <a:latin typeface="Courier New"/>
              </a:rPr>
              <a:t>&lt;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ProfileForm</a:t>
            </a:r>
            <a:r>
              <a:rPr dirty="0">
                <a:solidFill>
                  <a:srgbClr val="FFFFFF"/>
                </a:solidFill>
                <a:latin typeface="Courier New"/>
              </a:rPr>
              <a:t>&gt;({
  resolver: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zodResolver</a:t>
            </a:r>
            <a:r>
              <a:rPr dirty="0">
                <a:solidFill>
                  <a:srgbClr val="FFFFFF"/>
                </a:solidFill>
                <a:latin typeface="Courier New"/>
              </a:rPr>
              <a:t>(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profileSchema</a:t>
            </a:r>
            <a:r>
              <a:rPr dirty="0">
                <a:solidFill>
                  <a:srgbClr val="FFFFFF"/>
                </a:solidFill>
                <a:latin typeface="Courier New"/>
              </a:rPr>
              <a:t>),
 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defaultValues</a:t>
            </a:r>
            <a:r>
              <a:rPr dirty="0">
                <a:solidFill>
                  <a:srgbClr val="FFFFFF"/>
                </a:solidFill>
                <a:latin typeface="Courier New"/>
              </a:rPr>
              <a:t>: {
   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dirty="0">
                <a:solidFill>
                  <a:srgbClr val="FFFFFF"/>
                </a:solidFill>
                <a:latin typeface="Courier New"/>
              </a:rPr>
              <a:t>: "",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lastName</a:t>
            </a:r>
            <a:r>
              <a:rPr dirty="0">
                <a:solidFill>
                  <a:srgbClr val="FFFFFF"/>
                </a:solidFill>
                <a:latin typeface="Courier New"/>
              </a:rPr>
              <a:t>: "",
    email: "", 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studentId</a:t>
            </a:r>
            <a:r>
              <a:rPr dirty="0">
                <a:solidFill>
                  <a:srgbClr val="FFFFFF"/>
                </a:solidFill>
                <a:latin typeface="Courier New"/>
              </a:rPr>
              <a:t>: "", phone: "",
  },
  mode: "</a:t>
            </a:r>
            <a:r>
              <a:rPr dirty="0" err="1">
                <a:solidFill>
                  <a:srgbClr val="FFFFFF"/>
                </a:solidFill>
                <a:latin typeface="Courier New"/>
              </a:rPr>
              <a:t>onSubmit</a:t>
            </a:r>
            <a:r>
              <a:rPr dirty="0">
                <a:solidFill>
                  <a:srgbClr val="FFFFFF"/>
                </a:solidFill>
                <a:latin typeface="Courier New"/>
              </a:rPr>
              <a:t>",
})</a:t>
            </a:r>
          </a:p>
        </p:txBody>
      </p:sp>
      <p:sp>
        <p:nvSpPr>
          <p:cNvPr id="6" name="Rectangle 5"/>
          <p:cNvSpPr/>
          <p:nvPr/>
        </p:nvSpPr>
        <p:spPr>
          <a:xfrm>
            <a:off x="6793966" y="979373"/>
            <a:ext cx="4965191" cy="895147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03110" y="1013101"/>
            <a:ext cx="45719" cy="8614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976846" y="911998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/>
              <a:t>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76846" y="1271500"/>
            <a:ext cx="5577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Passed to every &lt;Controller&gt;.
Lets RHF track each field's value internally.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93966" y="2117557"/>
            <a:ext cx="4965191" cy="881332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793966" y="2117557"/>
            <a:ext cx="45719" cy="8813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976846" y="2057402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/>
              <a:t>handleSubmit</a:t>
            </a:r>
            <a:endParaRPr sz="2400" b="1" i="0" dirty="0"/>
          </a:p>
        </p:txBody>
      </p:sp>
      <p:sp>
        <p:nvSpPr>
          <p:cNvPr id="13" name="TextBox 12"/>
          <p:cNvSpPr txBox="1"/>
          <p:nvPr/>
        </p:nvSpPr>
        <p:spPr>
          <a:xfrm>
            <a:off x="6976846" y="2397654"/>
            <a:ext cx="5577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Wraps your </a:t>
            </a:r>
            <a:r>
              <a:rPr b="0" i="0" dirty="0" err="1"/>
              <a:t>onSubmit</a:t>
            </a:r>
            <a:r>
              <a:rPr b="0" i="0" dirty="0"/>
              <a:t> function.
Runs Zod first — only calls </a:t>
            </a:r>
            <a:r>
              <a:rPr b="0" i="0" dirty="0" err="1"/>
              <a:t>onSubmit</a:t>
            </a:r>
            <a:r>
              <a:rPr b="0" i="0" dirty="0"/>
              <a:t> if valid.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93966" y="3224462"/>
            <a:ext cx="4965191" cy="93639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793966" y="3224461"/>
            <a:ext cx="45719" cy="93639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76845" y="3145056"/>
            <a:ext cx="26902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/>
              <a:t>formState.errors</a:t>
            </a:r>
            <a:endParaRPr sz="2400" b="1" i="0" dirty="0"/>
          </a:p>
        </p:txBody>
      </p:sp>
      <p:sp>
        <p:nvSpPr>
          <p:cNvPr id="17" name="TextBox 16"/>
          <p:cNvSpPr txBox="1"/>
          <p:nvPr/>
        </p:nvSpPr>
        <p:spPr>
          <a:xfrm>
            <a:off x="6976846" y="3504557"/>
            <a:ext cx="5577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Object of error messages keyed by field name.
Only populated after a failed submit.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3966" y="4320860"/>
            <a:ext cx="4965191" cy="922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803110" y="4320860"/>
            <a:ext cx="45719" cy="922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76846" y="4271214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/>
              <a:t>resolver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76846" y="4649963"/>
            <a:ext cx="55778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/>
              <a:t>zodResolver</a:t>
            </a:r>
            <a:r>
              <a:rPr b="0" i="0" dirty="0"/>
              <a:t>(schema) — plugs Zod in.
Replaces your entire manual validate() function.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1073" y="5509228"/>
            <a:ext cx="4180252" cy="1028693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80217" y="5509228"/>
            <a:ext cx="45719" cy="1020275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53953" y="5456294"/>
            <a:ext cx="2011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/>
              <a:t>defaultValues</a:t>
            </a:r>
            <a:endParaRPr sz="2400" b="1" i="0" dirty="0"/>
          </a:p>
        </p:txBody>
      </p:sp>
      <p:sp>
        <p:nvSpPr>
          <p:cNvPr id="25" name="TextBox 24"/>
          <p:cNvSpPr txBox="1"/>
          <p:nvPr/>
        </p:nvSpPr>
        <p:spPr>
          <a:xfrm>
            <a:off x="1053953" y="5883172"/>
            <a:ext cx="38934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Starting value for every field.
Required so RHF knows the initial state.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93965" y="5456294"/>
            <a:ext cx="4965192" cy="10792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793965" y="5456294"/>
            <a:ext cx="45719" cy="1081627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76845" y="5416831"/>
            <a:ext cx="260363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/>
              <a:t>mode: '</a:t>
            </a:r>
            <a:r>
              <a:rPr sz="2400" b="1" i="0" dirty="0" err="1"/>
              <a:t>onSubmit</a:t>
            </a:r>
            <a:r>
              <a:rPr sz="2400" b="1" i="0" dirty="0"/>
              <a:t>'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76845" y="5843710"/>
            <a:ext cx="4965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Validate only when user presses Submit.
Other options: </a:t>
            </a:r>
            <a:r>
              <a:rPr b="0" i="0" dirty="0" err="1"/>
              <a:t>onBlur</a:t>
            </a:r>
            <a:r>
              <a:rPr b="0" i="0" dirty="0"/>
              <a:t>, </a:t>
            </a:r>
            <a:r>
              <a:rPr b="0" i="0" dirty="0" err="1"/>
              <a:t>onChange</a:t>
            </a:r>
            <a:r>
              <a:rPr b="0" i="0" dirty="0"/>
              <a:t>, </a:t>
            </a:r>
            <a:r>
              <a:rPr b="0" i="0" dirty="0" err="1"/>
              <a:t>onTouched</a:t>
            </a:r>
            <a:r>
              <a:rPr b="0" i="0" dirty="0"/>
              <a:t>, all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Validation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86868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sz="2800" b="0" dirty="0"/>
              <a:t>When does RHF run the Zod schema?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4360" y="1530417"/>
            <a:ext cx="10764287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94360" y="1530417"/>
            <a:ext cx="83902" cy="94384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Rectangle 7"/>
          <p:cNvSpPr/>
          <p:nvPr/>
        </p:nvSpPr>
        <p:spPr>
          <a:xfrm>
            <a:off x="822960" y="1759477"/>
            <a:ext cx="1872112" cy="43088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9" name="TextBox 8"/>
          <p:cNvSpPr txBox="1"/>
          <p:nvPr/>
        </p:nvSpPr>
        <p:spPr>
          <a:xfrm>
            <a:off x="879106" y="1749873"/>
            <a:ext cx="17285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"</a:t>
            </a:r>
            <a:r>
              <a:rPr sz="2400" b="1" i="0" dirty="0" err="1">
                <a:solidFill>
                  <a:srgbClr val="FFFFFF"/>
                </a:solidFill>
              </a:rPr>
              <a:t>onSubmi</a:t>
            </a:r>
            <a:r>
              <a:rPr lang="en-US" sz="2400" b="1" i="0" dirty="0" err="1">
                <a:solidFill>
                  <a:srgbClr val="FFFFFF"/>
                </a:solidFill>
              </a:rPr>
              <a:t>t</a:t>
            </a:r>
            <a:r>
              <a:rPr sz="2400" b="1" i="0" dirty="0">
                <a:solidFill>
                  <a:srgbClr val="FFFFFF"/>
                </a:solidFill>
              </a:rPr>
              <a:t>"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52614" y="1731585"/>
            <a:ext cx="2296626" cy="384048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/>
          </a:p>
        </p:txBody>
      </p:sp>
      <p:sp>
        <p:nvSpPr>
          <p:cNvPr id="11" name="TextBox 10"/>
          <p:cNvSpPr txBox="1"/>
          <p:nvPr/>
        </p:nvSpPr>
        <p:spPr>
          <a:xfrm>
            <a:off x="2993456" y="1692123"/>
            <a:ext cx="23445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 dirty="0">
                <a:solidFill>
                  <a:srgbClr val="924000"/>
                </a:solidFill>
              </a:rPr>
              <a:t>★ Recommended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47624" y="1535232"/>
            <a:ext cx="59709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 dirty="0">
                <a:solidFill>
                  <a:srgbClr val="111827"/>
                </a:solidFill>
              </a:rPr>
              <a:t>Only when the user presses Submit.
Best for beginners — least intrusive.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17969"/>
            <a:ext cx="10764287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2517969"/>
            <a:ext cx="83902" cy="94384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822960" y="2719137"/>
            <a:ext cx="1915784" cy="43088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16" name="TextBox 15"/>
          <p:cNvSpPr txBox="1"/>
          <p:nvPr/>
        </p:nvSpPr>
        <p:spPr>
          <a:xfrm>
            <a:off x="955304" y="2718175"/>
            <a:ext cx="16314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"</a:t>
            </a:r>
            <a:r>
              <a:rPr sz="2400" b="1" i="0" dirty="0" err="1">
                <a:solidFill>
                  <a:srgbClr val="FFFFFF"/>
                </a:solidFill>
              </a:rPr>
              <a:t>onBlur</a:t>
            </a:r>
            <a:r>
              <a:rPr sz="2400" b="1" i="0" dirty="0">
                <a:solidFill>
                  <a:srgbClr val="FFFFFF"/>
                </a:solidFill>
              </a:rPr>
              <a:t>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47624" y="2522784"/>
            <a:ext cx="59709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</a:rPr>
              <a:t>When the user leaves a field.
Most common in production apps.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505521"/>
            <a:ext cx="10764287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4360" y="3505521"/>
            <a:ext cx="83902" cy="94384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ectangle 19"/>
          <p:cNvSpPr/>
          <p:nvPr/>
        </p:nvSpPr>
        <p:spPr>
          <a:xfrm>
            <a:off x="822960" y="3706689"/>
            <a:ext cx="1915784" cy="43088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21" name="TextBox 20"/>
          <p:cNvSpPr txBox="1"/>
          <p:nvPr/>
        </p:nvSpPr>
        <p:spPr>
          <a:xfrm>
            <a:off x="792677" y="3676850"/>
            <a:ext cx="17941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"</a:t>
            </a:r>
            <a:r>
              <a:rPr sz="2400" b="1" i="0" dirty="0" err="1">
                <a:solidFill>
                  <a:srgbClr val="FFFFFF"/>
                </a:solidFill>
              </a:rPr>
              <a:t>onChang</a:t>
            </a:r>
            <a:r>
              <a:rPr lang="en-US" sz="2400" b="1" i="0" dirty="0" err="1">
                <a:solidFill>
                  <a:srgbClr val="FFFFFF"/>
                </a:solidFill>
              </a:rPr>
              <a:t>e</a:t>
            </a:r>
            <a:r>
              <a:rPr sz="2400" b="1" i="0" dirty="0">
                <a:solidFill>
                  <a:srgbClr val="FFFFFF"/>
                </a:solidFill>
              </a:rPr>
              <a:t>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7624" y="3510336"/>
            <a:ext cx="59709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</a:rPr>
              <a:t>On every single keystroke.
Aggressive — useful for password meters.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4493073"/>
            <a:ext cx="10764287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4493073"/>
            <a:ext cx="83902" cy="94384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Rectangle 24"/>
          <p:cNvSpPr/>
          <p:nvPr/>
        </p:nvSpPr>
        <p:spPr>
          <a:xfrm>
            <a:off x="822960" y="4694241"/>
            <a:ext cx="1915784" cy="43088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26" name="TextBox 25"/>
          <p:cNvSpPr txBox="1"/>
          <p:nvPr/>
        </p:nvSpPr>
        <p:spPr>
          <a:xfrm>
            <a:off x="868679" y="4664403"/>
            <a:ext cx="18700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chemeClr val="bg1"/>
                </a:solidFill>
              </a:rPr>
              <a:t>"</a:t>
            </a:r>
            <a:r>
              <a:rPr sz="2400" b="1" i="0" dirty="0" err="1">
                <a:solidFill>
                  <a:schemeClr val="bg1"/>
                </a:solidFill>
              </a:rPr>
              <a:t>onTouched</a:t>
            </a:r>
            <a:r>
              <a:rPr sz="2400" b="1" i="0" dirty="0">
                <a:solidFill>
                  <a:schemeClr val="bg1"/>
                </a:solidFill>
              </a:rPr>
              <a:t>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7624" y="4497888"/>
            <a:ext cx="59709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</a:rPr>
              <a:t>First time on blur, then onChange after.
A middle ground between onBlur and onChange.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5480625"/>
            <a:ext cx="10764287" cy="8412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94360" y="5480625"/>
            <a:ext cx="83902" cy="94384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0" name="Rectangle 29"/>
          <p:cNvSpPr/>
          <p:nvPr/>
        </p:nvSpPr>
        <p:spPr>
          <a:xfrm>
            <a:off x="822960" y="5681793"/>
            <a:ext cx="1915784" cy="430886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000"/>
          </a:p>
        </p:txBody>
      </p:sp>
      <p:sp>
        <p:nvSpPr>
          <p:cNvPr id="31" name="TextBox 30"/>
          <p:cNvSpPr txBox="1"/>
          <p:nvPr/>
        </p:nvSpPr>
        <p:spPr>
          <a:xfrm>
            <a:off x="984184" y="5680829"/>
            <a:ext cx="15731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</a:rPr>
              <a:t>"all"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47624" y="5485440"/>
            <a:ext cx="597090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</a:rPr>
              <a:t>onBlur + onChange combined.
Most aggressive option.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Connecting RHF to React Native inputs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Why Controller? — Web vs React Native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03520" cy="1371600"/>
          </a:xfrm>
          <a:prstGeom prst="rect">
            <a:avLst/>
          </a:prstGeom>
          <a:solidFill>
            <a:srgbClr val="FFF1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13284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DC2626"/>
                </a:solidFill>
              </a:rPr>
              <a:t>Web HTML — use register()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554480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dirty="0">
                <a:solidFill>
                  <a:srgbClr val="FFFFFF"/>
                </a:solidFill>
                <a:latin typeface="Courier New"/>
              </a:rPr>
              <a:t>// HTML input uses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onChange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&lt;input {...register("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")} /&gt;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743200"/>
            <a:ext cx="5303520" cy="1371600"/>
          </a:xfrm>
          <a:prstGeom prst="rect">
            <a:avLst/>
          </a:prstGeom>
          <a:solidFill>
            <a:srgbClr val="F0FF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687320"/>
            <a:ext cx="5029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6A34A"/>
                </a:solidFill>
              </a:rPr>
              <a:t>React Native — use Controller()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108960"/>
            <a:ext cx="5303520" cy="9144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400">
                <a:solidFill>
                  <a:srgbClr val="FFFFFF"/>
                </a:solidFill>
                <a:latin typeface="Courier New"/>
              </a:rPr>
              <a:t>// TextInput uses onChangeText (different!)
&lt;TextInput onChangeText={onChange} /&gt;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231640"/>
            <a:ext cx="5669280" cy="258978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500" dirty="0">
                <a:solidFill>
                  <a:srgbClr val="FFFFFF"/>
                </a:solidFill>
                <a:latin typeface="Courier New"/>
              </a:rPr>
              <a:t>&lt;Controller
  control={control}
  name="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"
  render={({ field: {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onChange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, value } }) =&gt; (
    &lt;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TextInput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
      value={value}
      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onChangeText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={</a:t>
            </a:r>
            <a:r>
              <a:rPr sz="1500" dirty="0" err="1">
                <a:solidFill>
                  <a:srgbClr val="FFFFFF"/>
                </a:solidFill>
                <a:latin typeface="Courier New"/>
              </a:rPr>
              <a:t>onChange</a:t>
            </a:r>
            <a:r>
              <a:rPr sz="1500" dirty="0">
                <a:solidFill>
                  <a:srgbClr val="FFFFFF"/>
                </a:solidFill>
                <a:latin typeface="Courier New"/>
              </a:rPr>
              <a:t>}
      placeholder="e.g. Jane"
    /&gt;
  )}
/&gt;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188720"/>
            <a:ext cx="5852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FF0000"/>
                </a:solidFill>
              </a:rPr>
              <a:t>How Controller works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691640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5120" y="1783080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→  control — registers this field with RHF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2487168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675120" y="2578608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→  name — must match a key in your schema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282696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75120" y="3374136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→  render — gives you value and onChange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4078224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75120" y="4169663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→  value → what the input displays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873752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675120" y="4965192"/>
            <a:ext cx="5577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/>
              <a:t>→  onChange → called when user types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669279"/>
            <a:ext cx="5303520" cy="658368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3600">
              <a:solidFill>
                <a:schemeClr val="tx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675120" y="5646419"/>
            <a:ext cx="512064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→  RHF stores the value internally
</a:t>
            </a:r>
            <a:r>
              <a:rPr lang="en-US" sz="2000" b="0" i="0" dirty="0"/>
              <a:t>      </a:t>
            </a:r>
            <a:r>
              <a:rPr sz="2000" b="0" i="0" dirty="0"/>
              <a:t>(no </a:t>
            </a:r>
            <a:r>
              <a:rPr sz="2000" b="0" i="0" dirty="0" err="1"/>
              <a:t>useState</a:t>
            </a:r>
            <a:r>
              <a:rPr sz="2000" b="0" i="0" dirty="0"/>
              <a:t> needed)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</a:rPr>
              <a:t>Error Display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Wiring </a:t>
            </a:r>
            <a:r>
              <a:rPr sz="3200" b="0" i="0" dirty="0" err="1">
                <a:solidFill>
                  <a:srgbClr val="FFFF00"/>
                </a:solidFill>
              </a:rPr>
              <a:t>formState.errors</a:t>
            </a:r>
            <a:r>
              <a:rPr sz="3200" b="0" i="0" dirty="0">
                <a:solidFill>
                  <a:srgbClr val="FFFF00"/>
                </a:solidFill>
              </a:rPr>
              <a:t> to the UI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-127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Displaying Validation Errors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141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9700" y="995680"/>
            <a:ext cx="5943600" cy="5650992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dirty="0">
                <a:solidFill>
                  <a:srgbClr val="FFFFFF"/>
                </a:solidFill>
                <a:latin typeface="Courier New"/>
              </a:rPr>
              <a:t>&lt;Text style={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styles.label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}&gt;First Name&lt;/Text&gt;
</a:t>
            </a:r>
            <a:r>
              <a:rPr sz="1200" dirty="0">
                <a:solidFill>
                  <a:srgbClr val="FFFFFF"/>
                </a:solidFill>
                <a:latin typeface="Courier New"/>
              </a:rPr>
              <a:t>
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&lt;Controller
  control={control}
  name="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"
  render={({ field: {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onChange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, value } }) =&gt; (
    &lt;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TextInput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      style={[
      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styles.input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,
        </a:t>
            </a:r>
            <a:r>
              <a:rPr sz="1600" b="1" dirty="0" err="1">
                <a:solidFill>
                  <a:srgbClr val="FFFF00"/>
                </a:solidFill>
                <a:latin typeface="Courier New"/>
              </a:rPr>
              <a:t>errors.firstName</a:t>
            </a:r>
            <a:r>
              <a:rPr sz="1600" b="1" dirty="0">
                <a:solidFill>
                  <a:srgbClr val="FFFF00"/>
                </a:solidFill>
                <a:latin typeface="Courier New"/>
              </a:rPr>
              <a:t> &amp;&amp; </a:t>
            </a:r>
            <a:r>
              <a:rPr sz="1600" b="1" dirty="0" err="1">
                <a:solidFill>
                  <a:srgbClr val="FFFF00"/>
                </a:solidFill>
                <a:latin typeface="Courier New"/>
              </a:rPr>
              <a:t>styles.inputError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      ]}
      value={value}
     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onChangeText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={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onChange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}
      placeholder="e.g. Jane"
    /&gt;
  )}
/&gt;
</a:t>
            </a:r>
            <a:r>
              <a:rPr sz="1100" dirty="0">
                <a:solidFill>
                  <a:srgbClr val="FFFFFF"/>
                </a:solidFill>
                <a:latin typeface="Courier New"/>
              </a:rPr>
              <a:t>
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errors.firstName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&amp;&amp; (
  &lt;Text style={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styles.error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}&gt;
    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errors.firstName.message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}
  &lt;/Text&gt;
)}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87440" y="767080"/>
            <a:ext cx="5852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Two layers of error feedback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320" y="1249172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11827"/>
                </a:solidFill>
              </a:rPr>
              <a:t>Red border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19519" y="1661668"/>
            <a:ext cx="5818505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200" dirty="0">
                <a:solidFill>
                  <a:srgbClr val="FFFFFF"/>
                </a:solidFill>
                <a:latin typeface="Courier New"/>
              </a:rPr>
              <a:t>style={[</a:t>
            </a:r>
            <a:r>
              <a:rPr sz="1200" dirty="0" err="1">
                <a:solidFill>
                  <a:srgbClr val="FFFFFF"/>
                </a:solidFill>
                <a:latin typeface="Courier New"/>
              </a:rPr>
              <a:t>styles.input</a:t>
            </a:r>
            <a:r>
              <a:rPr sz="1200" dirty="0">
                <a:solidFill>
                  <a:srgbClr val="FFFFFF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FFFFFF"/>
                </a:solidFill>
                <a:latin typeface="Courier New"/>
              </a:rPr>
              <a:t>errors.firstName</a:t>
            </a:r>
            <a:r>
              <a:rPr sz="1200" dirty="0">
                <a:solidFill>
                  <a:srgbClr val="FFFFFF"/>
                </a:solidFill>
                <a:latin typeface="Courier New"/>
              </a:rPr>
              <a:t> &amp;&amp; </a:t>
            </a:r>
            <a:r>
              <a:rPr sz="1200" dirty="0" err="1">
                <a:solidFill>
                  <a:srgbClr val="FFFFFF"/>
                </a:solidFill>
                <a:latin typeface="Courier New"/>
              </a:rPr>
              <a:t>styles.inputError</a:t>
            </a:r>
            <a:r>
              <a:rPr sz="1200" dirty="0">
                <a:solidFill>
                  <a:srgbClr val="FFFFFF"/>
                </a:solidFill>
                <a:latin typeface="Courier New"/>
              </a:rPr>
              <a:t>]}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320" y="2097532"/>
            <a:ext cx="55778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i="0" dirty="0"/>
              <a:t>Array of styles — </a:t>
            </a:r>
            <a:r>
              <a:rPr sz="2000" i="0" dirty="0" err="1"/>
              <a:t>inputError</a:t>
            </a:r>
            <a:r>
              <a:rPr sz="2000" i="0" dirty="0"/>
              <a:t> only applies
when </a:t>
            </a:r>
            <a:r>
              <a:rPr sz="2000" i="0" dirty="0" err="1"/>
              <a:t>errors.firstName</a:t>
            </a:r>
            <a:r>
              <a:rPr sz="2000" i="0" dirty="0"/>
              <a:t> exists.
Overrides just the </a:t>
            </a:r>
            <a:r>
              <a:rPr sz="2000" i="0" dirty="0" err="1"/>
              <a:t>borderColor</a:t>
            </a:r>
            <a:r>
              <a:rPr sz="2000" i="0" dirty="0"/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7440" y="3291840"/>
            <a:ext cx="45719" cy="151722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70320" y="3187192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11827"/>
                </a:solidFill>
              </a:rPr>
              <a:t>Error message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0320" y="3574288"/>
            <a:ext cx="5577840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dirty="0">
                <a:solidFill>
                  <a:srgbClr val="FFFFFF"/>
                </a:solidFill>
                <a:latin typeface="Courier New"/>
              </a:rPr>
              <a:t>{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errors.firstName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&amp;&amp; &lt;Text&gt;...&lt;/Text&gt;}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0320" y="3946652"/>
            <a:ext cx="55778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Short-circuit rendering.
If </a:t>
            </a:r>
            <a:r>
              <a:rPr sz="2000" b="0" i="0" dirty="0" err="1"/>
              <a:t>errors.firstName</a:t>
            </a:r>
            <a:r>
              <a:rPr sz="2000" b="0" i="0" dirty="0"/>
              <a:t> is undefined → nothing renders.
If it has a value → message appears below input.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2426" y="5115559"/>
            <a:ext cx="45719" cy="1616285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70320" y="4960112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11827"/>
                </a:solidFill>
              </a:rPr>
              <a:t>Message source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0320" y="5347208"/>
            <a:ext cx="5577840" cy="4114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dirty="0" err="1">
                <a:solidFill>
                  <a:srgbClr val="FFFFFF"/>
                </a:solidFill>
                <a:latin typeface="Courier New"/>
              </a:rPr>
              <a:t>errors.firstName.message</a:t>
            </a:r>
            <a:endParaRPr dirty="0">
              <a:solidFill>
                <a:srgbClr val="FFFFFF"/>
              </a:solidFill>
              <a:latin typeface="Courier New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370320" y="5833872"/>
            <a:ext cx="55778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Comes directly from the Zod schema.
You wrote it once — it surfaces here automatically.
No duplication.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419B49-B308-6E99-4357-7862D36F42D0}"/>
              </a:ext>
            </a:extLst>
          </p:cNvPr>
          <p:cNvSpPr/>
          <p:nvPr/>
        </p:nvSpPr>
        <p:spPr>
          <a:xfrm>
            <a:off x="6202426" y="1333392"/>
            <a:ext cx="45719" cy="1651107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0584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Navigation Update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 dirty="0">
                <a:solidFill>
                  <a:srgbClr val="FFFF00"/>
                </a:solidFill>
              </a:rPr>
              <a:t>Settings gets its own Stack — same pattern as Courses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Pattern </a:t>
            </a:r>
            <a:r>
              <a:rPr lang="en-US" sz="3200" b="1" i="0" dirty="0">
                <a:solidFill>
                  <a:srgbClr val="111827"/>
                </a:solidFill>
              </a:rPr>
              <a:t>For Creating Nested Navigations in Settings Tab</a:t>
            </a:r>
            <a:endParaRPr sz="32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3464" y="1754340"/>
            <a:ext cx="5568696" cy="436041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dirty="0">
                <a:solidFill>
                  <a:srgbClr val="FFFFFF"/>
                </a:solidFill>
                <a:latin typeface="Courier New"/>
              </a:rPr>
              <a:t>courses/              settings/
├── _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layout.tsx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 →    ├── _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layout.tsx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├──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index.tsx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   →    ├──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index.tsx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└── [id].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         └──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profile.tsx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
// Stack navigator — identical structure
export default function 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SettingsLayout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() {
  return (
    &lt;Stack&gt;
      &lt;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Stack.Screen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name="index"
        options={{ title: "Settings" }} /&gt;
      &lt;</a:t>
            </a:r>
            <a:r>
              <a:rPr sz="1600" dirty="0" err="1">
                <a:solidFill>
                  <a:srgbClr val="FFFFFF"/>
                </a:solidFill>
                <a:latin typeface="Courier New"/>
              </a:rPr>
              <a:t>Stack.Screen</a:t>
            </a:r>
            <a:r>
              <a:rPr sz="1600" dirty="0">
                <a:solidFill>
                  <a:srgbClr val="FFFFFF"/>
                </a:solidFill>
                <a:latin typeface="Courier New"/>
              </a:rPr>
              <a:t> name="profile"
        options={{ title: "Edit Profile" }} /&gt;
    &lt;/Stack&gt;
  )
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52160" y="1005843"/>
            <a:ext cx="5943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Steps to convert the tab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544" y="1691640"/>
            <a:ext cx="475488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6150544" y="1836018"/>
            <a:ext cx="475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4904" y="1737360"/>
            <a:ext cx="521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Create settings/ folder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44904" y="2057400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Move </a:t>
            </a:r>
            <a:r>
              <a:rPr sz="2000" b="0" i="0" dirty="0" err="1"/>
              <a:t>settings.tsx</a:t>
            </a:r>
            <a:r>
              <a:rPr sz="2000" b="0" i="0" dirty="0"/>
              <a:t> content into settings/</a:t>
            </a:r>
            <a:r>
              <a:rPr sz="2000" b="0" i="0" dirty="0" err="1"/>
              <a:t>index.tsx</a:t>
            </a:r>
            <a:endParaRPr sz="2000" b="0" i="0" dirty="0"/>
          </a:p>
        </p:txBody>
      </p:sp>
      <p:sp>
        <p:nvSpPr>
          <p:cNvPr id="11" name="Rectangle 10"/>
          <p:cNvSpPr/>
          <p:nvPr/>
        </p:nvSpPr>
        <p:spPr>
          <a:xfrm>
            <a:off x="6150544" y="2624328"/>
            <a:ext cx="475488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6150544" y="2787958"/>
            <a:ext cx="475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4904" y="2670048"/>
            <a:ext cx="521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Add _</a:t>
            </a:r>
            <a:r>
              <a:rPr sz="2400" b="1" i="0" dirty="0" err="1">
                <a:solidFill>
                  <a:srgbClr val="111827"/>
                </a:solidFill>
              </a:rPr>
              <a:t>layout.tsx</a:t>
            </a:r>
            <a:endParaRPr sz="2400" b="1" i="0" dirty="0">
              <a:solidFill>
                <a:srgbClr val="111827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744904" y="2990088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Stack navigator — same as courses/_</a:t>
            </a:r>
            <a:r>
              <a:rPr sz="2000" b="0" i="0" dirty="0" err="1"/>
              <a:t>layout.tsx</a:t>
            </a:r>
            <a:endParaRPr sz="2000" b="0" i="0" dirty="0"/>
          </a:p>
        </p:txBody>
      </p:sp>
      <p:sp>
        <p:nvSpPr>
          <p:cNvPr id="15" name="Rectangle 14"/>
          <p:cNvSpPr/>
          <p:nvPr/>
        </p:nvSpPr>
        <p:spPr>
          <a:xfrm>
            <a:off x="6150544" y="3557016"/>
            <a:ext cx="475488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6150544" y="3730269"/>
            <a:ext cx="475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4904" y="3602736"/>
            <a:ext cx="521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Create </a:t>
            </a:r>
            <a:r>
              <a:rPr sz="2400" b="1" i="0" dirty="0" err="1">
                <a:solidFill>
                  <a:srgbClr val="111827"/>
                </a:solidFill>
              </a:rPr>
              <a:t>profile.tsx</a:t>
            </a:r>
            <a:endParaRPr sz="2400" b="1" i="0" dirty="0">
              <a:solidFill>
                <a:srgbClr val="111827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44904" y="3922776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The Edit Profile form screen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0544" y="4489704"/>
            <a:ext cx="475488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150544" y="4672585"/>
            <a:ext cx="475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4904" y="4535424"/>
            <a:ext cx="521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Delete </a:t>
            </a:r>
            <a:r>
              <a:rPr sz="2400" b="1" i="0" dirty="0" err="1">
                <a:solidFill>
                  <a:srgbClr val="111827"/>
                </a:solidFill>
              </a:rPr>
              <a:t>settings.tsx</a:t>
            </a:r>
            <a:endParaRPr sz="2400" b="1" i="0" dirty="0">
              <a:solidFill>
                <a:srgbClr val="111827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744904" y="4855464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Avoids duplicate route conflict with </a:t>
            </a:r>
            <a:r>
              <a:rPr sz="2000" b="0" i="0" dirty="0" err="1"/>
              <a:t>index.tsx</a:t>
            </a:r>
            <a:endParaRPr sz="2000" b="0" i="0" dirty="0"/>
          </a:p>
        </p:txBody>
      </p:sp>
      <p:sp>
        <p:nvSpPr>
          <p:cNvPr id="23" name="Rectangle 22"/>
          <p:cNvSpPr/>
          <p:nvPr/>
        </p:nvSpPr>
        <p:spPr>
          <a:xfrm>
            <a:off x="6150544" y="5422392"/>
            <a:ext cx="475488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4" name="TextBox 23"/>
          <p:cNvSpPr txBox="1"/>
          <p:nvPr/>
        </p:nvSpPr>
        <p:spPr>
          <a:xfrm>
            <a:off x="6150544" y="5586017"/>
            <a:ext cx="4754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4904" y="5468112"/>
            <a:ext cx="52120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>
                <a:solidFill>
                  <a:srgbClr val="111827"/>
                </a:solidFill>
              </a:rPr>
              <a:t>Wrap Account card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4904" y="5788152"/>
            <a:ext cx="52120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/>
              <a:t>Pressable + </a:t>
            </a:r>
            <a:r>
              <a:rPr sz="2000" b="0" i="0" dirty="0" err="1"/>
              <a:t>router.push</a:t>
            </a:r>
            <a:r>
              <a:rPr sz="2000" b="0" i="0" dirty="0"/>
              <a:t>('/(tab)/settings/profile')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 dirty="0">
                <a:solidFill>
                  <a:srgbClr val="111827"/>
                </a:solidFill>
              </a:rPr>
              <a:t>Common Mistakes to Avoid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622532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64008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2014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11827"/>
                </a:solidFill>
              </a:rPr>
              <a:t>onChange</a:t>
            </a:r>
            <a:r>
              <a:rPr sz="2000" b="1" i="0" dirty="0">
                <a:solidFill>
                  <a:srgbClr val="111827"/>
                </a:solidFill>
              </a:rPr>
              <a:t> vs </a:t>
            </a:r>
            <a:r>
              <a:rPr sz="2000" b="1" i="0" dirty="0" err="1">
                <a:solidFill>
                  <a:srgbClr val="111827"/>
                </a:solidFill>
              </a:rPr>
              <a:t>onChangeText</a:t>
            </a:r>
            <a:endParaRPr sz="2000" b="1" i="0" dirty="0">
              <a:solidFill>
                <a:srgbClr val="111827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4360" y="1434592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434592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DC2626"/>
                </a:solidFill>
              </a:rPr>
              <a:t>&lt;</a:t>
            </a:r>
            <a:r>
              <a:rPr sz="2000" b="1" i="0" dirty="0" err="1">
                <a:solidFill>
                  <a:srgbClr val="DC2626"/>
                </a:solidFill>
              </a:rPr>
              <a:t>TextInput</a:t>
            </a:r>
            <a:r>
              <a:rPr sz="2000" b="1" i="0" dirty="0">
                <a:solidFill>
                  <a:srgbClr val="DC2626"/>
                </a:solidFill>
              </a:rPr>
              <a:t> </a:t>
            </a:r>
            <a:r>
              <a:rPr sz="2000" b="1" i="0" dirty="0" err="1">
                <a:solidFill>
                  <a:srgbClr val="DC2626"/>
                </a:solidFill>
              </a:rPr>
              <a:t>onChange</a:t>
            </a:r>
            <a:r>
              <a:rPr sz="2000" b="1" i="0" dirty="0">
                <a:solidFill>
                  <a:srgbClr val="DC2626"/>
                </a:solidFill>
              </a:rPr>
              <a:t>={</a:t>
            </a:r>
            <a:r>
              <a:rPr sz="2000" b="1" i="0" dirty="0" err="1">
                <a:solidFill>
                  <a:srgbClr val="DC2626"/>
                </a:solidFill>
              </a:rPr>
              <a:t>onChange</a:t>
            </a:r>
            <a:r>
              <a:rPr sz="2000" b="1" i="0" dirty="0">
                <a:solidFill>
                  <a:srgbClr val="DC2626"/>
                </a:solidFill>
              </a:rPr>
              <a:t>} /&gt;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78599" y="1536192"/>
            <a:ext cx="5133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4360" y="1536192"/>
            <a:ext cx="59552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6A34A"/>
                </a:solidFill>
              </a:rPr>
              <a:t>&lt;</a:t>
            </a:r>
            <a:r>
              <a:rPr sz="2000" b="1" i="0" dirty="0" err="1">
                <a:solidFill>
                  <a:srgbClr val="16A34A"/>
                </a:solidFill>
              </a:rPr>
              <a:t>TextInput</a:t>
            </a:r>
            <a:r>
              <a:rPr sz="2000" b="1" i="0" dirty="0">
                <a:solidFill>
                  <a:srgbClr val="16A34A"/>
                </a:solidFill>
              </a:rPr>
              <a:t> </a:t>
            </a:r>
            <a:r>
              <a:rPr sz="2000" b="1" i="0" dirty="0" err="1">
                <a:solidFill>
                  <a:srgbClr val="16A34A"/>
                </a:solidFill>
              </a:rPr>
              <a:t>onChangeText</a:t>
            </a:r>
            <a:r>
              <a:rPr sz="2000" b="1" i="0" dirty="0">
                <a:solidFill>
                  <a:srgbClr val="16A34A"/>
                </a:solidFill>
              </a:rPr>
              <a:t>={</a:t>
            </a:r>
            <a:r>
              <a:rPr sz="2000" b="1" i="0" dirty="0" err="1">
                <a:solidFill>
                  <a:srgbClr val="16A34A"/>
                </a:solidFill>
              </a:rPr>
              <a:t>onChange</a:t>
            </a:r>
            <a:r>
              <a:rPr sz="2000" b="1" i="0" dirty="0">
                <a:solidFill>
                  <a:srgbClr val="16A34A"/>
                </a:solidFill>
              </a:rPr>
              <a:t>} /&gt;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23719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 err="1"/>
              <a:t>onChange</a:t>
            </a:r>
            <a:r>
              <a:rPr b="0" i="0" dirty="0"/>
              <a:t> is the HTML handler. React Native uses </a:t>
            </a:r>
            <a:r>
              <a:rPr b="0" i="0" dirty="0" err="1"/>
              <a:t>onChangeText</a:t>
            </a:r>
            <a:r>
              <a:rPr b="0" i="0" dirty="0"/>
              <a:t>.
The field will appear frozen if you use the wrong one.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60320"/>
            <a:ext cx="11622532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64008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491739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11827"/>
                </a:solidFill>
              </a:rPr>
              <a:t>Skipping </a:t>
            </a:r>
            <a:r>
              <a:rPr sz="2000" b="1" i="0" dirty="0" err="1">
                <a:solidFill>
                  <a:srgbClr val="111827"/>
                </a:solidFill>
              </a:rPr>
              <a:t>handleSubmit</a:t>
            </a:r>
            <a:endParaRPr sz="2000" b="1" i="0" dirty="0">
              <a:solidFill>
                <a:srgbClr val="111827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94360" y="2818891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2793491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DC2626"/>
                </a:solidFill>
              </a:rPr>
              <a:t>onPress</a:t>
            </a:r>
            <a:r>
              <a:rPr sz="2000" b="1" i="0" dirty="0">
                <a:solidFill>
                  <a:srgbClr val="DC2626"/>
                </a:solidFill>
              </a:rPr>
              <a:t>={</a:t>
            </a:r>
            <a:r>
              <a:rPr sz="2000" b="1" i="0" dirty="0" err="1">
                <a:solidFill>
                  <a:srgbClr val="DC2626"/>
                </a:solidFill>
              </a:rPr>
              <a:t>onSubmit</a:t>
            </a:r>
            <a:r>
              <a:rPr sz="2000" b="1" i="0" dirty="0">
                <a:solidFill>
                  <a:srgbClr val="DC2626"/>
                </a:solidFill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8599" y="2907791"/>
            <a:ext cx="5133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4360" y="2907791"/>
            <a:ext cx="59552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A34A"/>
                </a:solidFill>
              </a:rPr>
              <a:t>onPress={handleSubmit(onSubmit)}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16992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Calling </a:t>
            </a:r>
            <a:r>
              <a:rPr b="0" i="0" dirty="0" err="1"/>
              <a:t>onSubmit</a:t>
            </a:r>
            <a:r>
              <a:rPr b="0" i="0" dirty="0"/>
              <a:t> directly skips validation entirely.
Always wrap it with </a:t>
            </a:r>
            <a:r>
              <a:rPr b="0" i="0" dirty="0" err="1"/>
              <a:t>handleSubmit</a:t>
            </a:r>
            <a:r>
              <a:rPr b="0" i="0" dirty="0"/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931920"/>
            <a:ext cx="11622532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931920"/>
            <a:ext cx="64008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3863339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11827"/>
                </a:solidFill>
              </a:rPr>
              <a:t>Missing resolver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177792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77792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DC2626"/>
                </a:solidFill>
              </a:rPr>
              <a:t>useForm</a:t>
            </a:r>
            <a:r>
              <a:rPr sz="2000" b="1" i="0" dirty="0">
                <a:solidFill>
                  <a:srgbClr val="DC2626"/>
                </a:solidFill>
              </a:rPr>
              <a:t>({ </a:t>
            </a:r>
            <a:r>
              <a:rPr sz="2000" b="1" i="0" dirty="0" err="1">
                <a:solidFill>
                  <a:srgbClr val="DC2626"/>
                </a:solidFill>
              </a:rPr>
              <a:t>defaultValues</a:t>
            </a:r>
            <a:r>
              <a:rPr sz="2000" b="1" i="0" dirty="0">
                <a:solidFill>
                  <a:srgbClr val="DC2626"/>
                </a:solidFill>
              </a:rPr>
              <a:t>: {...} })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8599" y="4279392"/>
            <a:ext cx="5133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4360" y="4279392"/>
            <a:ext cx="59552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 err="1">
                <a:solidFill>
                  <a:srgbClr val="16A34A"/>
                </a:solidFill>
              </a:rPr>
              <a:t>useForm</a:t>
            </a:r>
            <a:r>
              <a:rPr sz="2000" b="1" i="0" dirty="0">
                <a:solidFill>
                  <a:srgbClr val="16A34A"/>
                </a:solidFill>
              </a:rPr>
              <a:t>({ resolver: </a:t>
            </a:r>
            <a:r>
              <a:rPr sz="2000" b="1" i="0" dirty="0" err="1">
                <a:solidFill>
                  <a:srgbClr val="16A34A"/>
                </a:solidFill>
              </a:rPr>
              <a:t>zodResolver</a:t>
            </a:r>
            <a:r>
              <a:rPr sz="2000" b="1" i="0" dirty="0">
                <a:solidFill>
                  <a:srgbClr val="16A34A"/>
                </a:solidFill>
              </a:rPr>
              <a:t>(schema), ... })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55422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Without the resolver, the Zod schema is completely ignored.
The form will accept any data.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5303520"/>
            <a:ext cx="11622532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5303520"/>
            <a:ext cx="64008" cy="123444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523494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11827"/>
                </a:solidFill>
              </a:rPr>
              <a:t>Not deleting settings.tsx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523992"/>
            <a:ext cx="914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23992"/>
            <a:ext cx="4754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</a:rPr>
              <a:t>settings.tsx + settings/index.tsx both exist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8599" y="5650992"/>
            <a:ext cx="5133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6A34A"/>
                </a:solidFill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4360" y="5650992"/>
            <a:ext cx="595528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6A34A"/>
                </a:solidFill>
              </a:rPr>
              <a:t>Delete settings.tsx after creating the folder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5900420"/>
            <a:ext cx="10972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dirty="0"/>
              <a:t>Expo Router will throw a duplicate route error.
Always delete the single file when converting to a folder.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F6DD0B-ABBD-77D6-566E-3858EDFE4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EF601D8-2D53-9CF3-418E-F4B695E9E1E7}"/>
              </a:ext>
            </a:extLst>
          </p:cNvPr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0937EA-B08A-16EA-2CB3-E08B4C08C47C}"/>
              </a:ext>
            </a:extLst>
          </p:cNvPr>
          <p:cNvSpPr txBox="1"/>
          <p:nvPr/>
        </p:nvSpPr>
        <p:spPr>
          <a:xfrm>
            <a:off x="365760" y="228600"/>
            <a:ext cx="11430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 i="0" dirty="0">
                <a:solidFill>
                  <a:srgbClr val="111827"/>
                </a:solidFill>
              </a:rPr>
              <a:t>Summary</a:t>
            </a:r>
            <a:endParaRPr sz="3200" b="1" i="0" dirty="0">
              <a:solidFill>
                <a:srgbClr val="111827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01F970-9DCE-14A6-0367-54CBC1847DB5}"/>
              </a:ext>
            </a:extLst>
          </p:cNvPr>
          <p:cNvSpPr/>
          <p:nvPr/>
        </p:nvSpPr>
        <p:spPr>
          <a:xfrm>
            <a:off x="365760" y="804672"/>
            <a:ext cx="1143000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2E05E2-26AD-0F2F-6A94-795CB1BF9166}"/>
              </a:ext>
            </a:extLst>
          </p:cNvPr>
          <p:cNvSpPr txBox="1"/>
          <p:nvPr/>
        </p:nvSpPr>
        <p:spPr>
          <a:xfrm>
            <a:off x="365760" y="866876"/>
            <a:ext cx="11630622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7663" indent="-347663" algn="l">
              <a:buFont typeface="Arial" panose="020B0604020202020204" pitchFamily="34" charset="0"/>
              <a:buChar char="•"/>
            </a:pPr>
            <a:r>
              <a:rPr sz="2400" b="1" i="0" dirty="0">
                <a:solidFill>
                  <a:srgbClr val="2563EB"/>
                </a:solidFill>
              </a:rPr>
              <a:t>Schema first</a:t>
            </a:r>
            <a:endParaRPr lang="en-US" sz="2400" b="1" i="0" dirty="0">
              <a:solidFill>
                <a:srgbClr val="2563EB"/>
              </a:solidFill>
            </a:endParaRPr>
          </a:p>
          <a:p>
            <a:pPr marL="573088" lvl="1" indent="-231775"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519113" algn="l"/>
              </a:tabLst>
            </a:pPr>
            <a:r>
              <a:rPr lang="en-US" sz="2200" dirty="0"/>
              <a:t>Write Zod rules once. Types, validation, and error messages all come from the same place.</a:t>
            </a:r>
          </a:p>
          <a:p>
            <a:pPr marL="347663" lvl="1" indent="-347663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563EB"/>
                </a:solidFill>
              </a:rPr>
              <a:t>One hook</a:t>
            </a:r>
          </a:p>
          <a:p>
            <a:pPr marL="573088" lvl="1" indent="-231775"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519113" algn="l"/>
              </a:tabLst>
            </a:pPr>
            <a:r>
              <a:rPr lang="en-US" sz="2200" dirty="0" err="1"/>
              <a:t>useForm</a:t>
            </a:r>
            <a:r>
              <a:rPr lang="en-US" sz="2200" dirty="0"/>
              <a:t> replaces all your </a:t>
            </a:r>
            <a:r>
              <a:rPr lang="en-US" sz="2200" dirty="0" err="1"/>
              <a:t>useState</a:t>
            </a:r>
            <a:r>
              <a:rPr lang="en-US" sz="2200" dirty="0"/>
              <a:t> calls. control, </a:t>
            </a:r>
            <a:r>
              <a:rPr lang="en-US" sz="2200" dirty="0" err="1"/>
              <a:t>handleSubmit</a:t>
            </a:r>
            <a:r>
              <a:rPr lang="en-US" sz="2200" dirty="0"/>
              <a:t>, and errors are all you need.</a:t>
            </a:r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563EB"/>
                </a:solidFill>
              </a:rPr>
              <a:t>Controller</a:t>
            </a:r>
          </a:p>
          <a:p>
            <a:pPr marL="573088" lvl="1" indent="-231775"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519113" algn="l"/>
              </a:tabLst>
            </a:pPr>
            <a:r>
              <a:rPr lang="en-US" sz="2200" dirty="0"/>
              <a:t>The React Native-friendly wrapper. Gives your </a:t>
            </a:r>
            <a:r>
              <a:rPr lang="en-US" sz="2200" dirty="0" err="1"/>
              <a:t>TextInput</a:t>
            </a:r>
            <a:r>
              <a:rPr lang="en-US" sz="2200" dirty="0"/>
              <a:t> value and </a:t>
            </a:r>
            <a:r>
              <a:rPr lang="en-US" sz="2200" dirty="0" err="1"/>
              <a:t>onChangeText</a:t>
            </a:r>
            <a:r>
              <a:rPr lang="en-US" sz="2200" dirty="0"/>
              <a:t> from RHF.</a:t>
            </a:r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400" b="1" dirty="0" err="1">
                <a:solidFill>
                  <a:srgbClr val="2563EB"/>
                </a:solidFill>
              </a:rPr>
              <a:t>handleSubmit</a:t>
            </a:r>
            <a:endParaRPr lang="en-US" sz="2800" b="1" dirty="0">
              <a:solidFill>
                <a:srgbClr val="2563EB"/>
              </a:solidFill>
            </a:endParaRPr>
          </a:p>
          <a:p>
            <a:pPr marL="573088" lvl="1" indent="-231775"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519113" algn="l"/>
              </a:tabLst>
            </a:pPr>
            <a:r>
              <a:rPr lang="en-US" sz="2200" dirty="0"/>
              <a:t>Always wrap your submit function. It runs Zod, blocks invalid submissions, and types your data.</a:t>
            </a:r>
          </a:p>
          <a:p>
            <a:pPr marL="347663" indent="-347663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2563EB"/>
                </a:solidFill>
              </a:rPr>
              <a:t>Same nav pattern</a:t>
            </a:r>
          </a:p>
          <a:p>
            <a:pPr marL="573088" lvl="1" indent="-231775"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519113" algn="l"/>
              </a:tabLst>
            </a:pPr>
            <a:r>
              <a:rPr lang="en-US" sz="2200" dirty="0"/>
              <a:t>Settings folder mirrors Courses. The nested Stack pattern is now used in two tabs — learn it once, use it everywhere.</a:t>
            </a:r>
          </a:p>
          <a:p>
            <a:endParaRPr lang="en-US" sz="20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3A5C82F-7F00-7B05-7470-B28915FBDA12}"/>
              </a:ext>
            </a:extLst>
          </p:cNvPr>
          <p:cNvSpPr txBox="1"/>
          <p:nvPr/>
        </p:nvSpPr>
        <p:spPr>
          <a:xfrm>
            <a:off x="1020853" y="5822495"/>
            <a:ext cx="10515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 dirty="0"/>
              <a:t>Docs: react-hook-form.com  ·  </a:t>
            </a:r>
            <a:r>
              <a:rPr sz="2400" b="0" i="0" dirty="0" err="1"/>
              <a:t>zod.dev</a:t>
            </a:r>
            <a:r>
              <a:rPr sz="2400" b="0" i="0" dirty="0"/>
              <a:t>  ·  github.com/react-hook-form/resolvers</a:t>
            </a:r>
          </a:p>
        </p:txBody>
      </p:sp>
    </p:spTree>
    <p:extLst>
      <p:ext uri="{BB962C8B-B14F-4D97-AF65-F5344CB8AC3E}">
        <p14:creationId xmlns:p14="http://schemas.microsoft.com/office/powerpoint/2010/main" val="294619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1898</Words>
  <Application>Microsoft Office PowerPoint</Application>
  <PresentationFormat>Custom</PresentationFormat>
  <Paragraphs>201</Paragraphs>
  <Slides>19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2026-08-31T12:58:20Z</dcterms:created>
  <dcterms:modified xsi:type="dcterms:W3CDTF">2026-08-31T12:58:36Z</dcterms:modified>
  <cp:category/>
</cp:coreProperties>
</file>