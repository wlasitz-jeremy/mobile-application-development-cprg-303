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9"/>
  </p:notesMasterIdLst>
  <p:sldIdLst>
    <p:sldId id="278" r:id="rId2"/>
    <p:sldId id="257" r:id="rId3"/>
    <p:sldId id="259" r:id="rId4"/>
    <p:sldId id="261" r:id="rId5"/>
    <p:sldId id="310" r:id="rId6"/>
    <p:sldId id="263" r:id="rId7"/>
    <p:sldId id="311" r:id="rId8"/>
    <p:sldId id="265" r:id="rId9"/>
    <p:sldId id="266" r:id="rId10"/>
    <p:sldId id="312" r:id="rId11"/>
    <p:sldId id="268" r:id="rId12"/>
    <p:sldId id="313" r:id="rId13"/>
    <p:sldId id="270" r:id="rId14"/>
    <p:sldId id="314" r:id="rId15"/>
    <p:sldId id="272" r:id="rId16"/>
    <p:sldId id="273" r:id="rId17"/>
    <p:sldId id="279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792" autoAdjust="0"/>
  </p:normalViewPr>
  <p:slideViewPr>
    <p:cSldViewPr snapToGrid="0" snapToObjects="1">
      <p:cViewPr varScale="1">
        <p:scale>
          <a:sx n="43" d="100"/>
          <a:sy n="43" d="100"/>
        </p:scale>
        <p:origin x="1484" y="4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62ECA-FDD3-46E3-9A83-408F3CF85A2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984BC-AAAB-4F97-A8E3-58C64FAB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6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91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63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6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D0E4-B1E4-076D-683C-1C8F13092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C5145-97D1-9086-3A49-9D7B1F437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101C8-E0DE-6984-5939-6E0B71010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1D330-B165-4D51-3220-1DE939D4D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32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35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3595B-0F38-0B4E-9577-0709956D8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374B4-2018-29A0-048D-49D1DC8C3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60F1E-D488-0DFA-F95A-A88C87172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59F52-8687-DF99-4E14-22FD4CCC3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19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39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25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25D8-090F-E256-14BD-0CFA7214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D6689-90D8-938A-BEE3-2CFC617D7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116BB-2D23-74F2-E9CD-7809227A0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3DDB2-C905-EFD2-931B-99D083C7F3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29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82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04F94-4A26-3FA5-DF78-848C1219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3602A-A36A-4233-DF41-54AD7F8EB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D3534-3409-8138-45F3-27B42D6C9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1B384-8656-1709-C9C0-8D213722C5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98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29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8D20-4241-60AA-17C9-11903F17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3CE42-0AEA-F382-F8E4-0A2D5B044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30480-28DD-6BD3-004D-8B2411AD6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E56B4-6922-846D-DFD7-80A77233F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80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14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01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90672-7A68-7E56-BA3E-B98070D33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471D9-69EF-AF8F-B314-D7070223E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5A882-EE35-2A59-9013-6C9DC65D9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F49A9-E407-E8DB-4536-002CA2A91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984BC-AAAB-4F97-A8E3-58C64FABC3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94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IT-Purple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87770-D3D9-4C5C-92CD-924C0A0FC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749" y="2448100"/>
            <a:ext cx="7056187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99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748" y="3589715"/>
            <a:ext cx="7056187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99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325240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68CD6-059C-BDEA-4975-C6762FAA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BFC4D-5330-BA02-A4B9-2EC822E2A18B}"/>
              </a:ext>
            </a:extLst>
          </p:cNvPr>
          <p:cNvSpPr/>
          <p:nvPr/>
        </p:nvSpPr>
        <p:spPr>
          <a:xfrm>
            <a:off x="1587" y="893"/>
            <a:ext cx="12185778" cy="54849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AE3AF-A4B8-D87E-6F15-348280BB2285}"/>
              </a:ext>
            </a:extLst>
          </p:cNvPr>
          <p:cNvSpPr/>
          <p:nvPr/>
        </p:nvSpPr>
        <p:spPr>
          <a:xfrm>
            <a:off x="1587" y="6308610"/>
            <a:ext cx="12185778" cy="54849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9A74F-EDDD-43EA-66DA-3A431EC8BA5B}"/>
              </a:ext>
            </a:extLst>
          </p:cNvPr>
          <p:cNvSpPr txBox="1"/>
          <p:nvPr/>
        </p:nvSpPr>
        <p:spPr>
          <a:xfrm>
            <a:off x="1587" y="1783509"/>
            <a:ext cx="12185778" cy="92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399" b="1" dirty="0">
                <a:solidFill>
                  <a:srgbClr val="FFFFFF"/>
                </a:solidFill>
              </a:rPr>
              <a:t>Forms and Validation</a:t>
            </a:r>
            <a:endParaRPr sz="5399" b="1" dirty="0">
              <a:solidFill>
                <a:srgbClr val="FFFFFF"/>
              </a:solidFill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5C8C59F1-D53D-553A-3A4D-D405D2515E69}"/>
              </a:ext>
            </a:extLst>
          </p:cNvPr>
          <p:cNvSpPr txBox="1">
            <a:spLocks/>
          </p:cNvSpPr>
          <p:nvPr/>
        </p:nvSpPr>
        <p:spPr>
          <a:xfrm>
            <a:off x="1587" y="3689631"/>
            <a:ext cx="12185650" cy="1655331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086">
              <a:lnSpc>
                <a:spcPct val="120000"/>
              </a:lnSpc>
              <a:spcAft>
                <a:spcPts val="600"/>
              </a:spcAft>
            </a:pPr>
            <a:r>
              <a:rPr lang="en-US" sz="4799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086">
              <a:lnSpc>
                <a:spcPct val="120000"/>
              </a:lnSpc>
              <a:spcAft>
                <a:spcPts val="600"/>
              </a:spcAft>
            </a:pPr>
            <a:r>
              <a:rPr lang="en-US" sz="4799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DD5F5D-D9F7-EAEF-7160-ECAC2D736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" y="4052871"/>
            <a:ext cx="1631427" cy="2222434"/>
          </a:xfrm>
          <a:prstGeom prst="rect">
            <a:avLst/>
          </a:prstGeom>
        </p:spPr>
      </p:pic>
      <p:sp>
        <p:nvSpPr>
          <p:cNvPr id="16" name="Subtitle 3">
            <a:extLst>
              <a:ext uri="{FF2B5EF4-FFF2-40B4-BE49-F238E27FC236}">
                <a16:creationId xmlns:a16="http://schemas.microsoft.com/office/drawing/2014/main" id="{4A819F09-A09E-C95D-E4A0-452C78500D97}"/>
              </a:ext>
            </a:extLst>
          </p:cNvPr>
          <p:cNvSpPr txBox="1">
            <a:spLocks/>
          </p:cNvSpPr>
          <p:nvPr/>
        </p:nvSpPr>
        <p:spPr>
          <a:xfrm>
            <a:off x="270091" y="582696"/>
            <a:ext cx="7902697" cy="82012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99" dirty="0">
                <a:solidFill>
                  <a:schemeClr val="bg1"/>
                </a:solidFill>
              </a:rPr>
              <a:t>CPRG303 – Mobile Application Development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C50D2861-CE99-D5FE-52C7-0ED2A300BCCD}"/>
              </a:ext>
            </a:extLst>
          </p:cNvPr>
          <p:cNvSpPr/>
          <p:nvPr/>
        </p:nvSpPr>
        <p:spPr>
          <a:xfrm>
            <a:off x="1589" y="6327994"/>
            <a:ext cx="12185776" cy="52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B0297-11EE-671F-AC55-18D0E761D9C1}"/>
              </a:ext>
            </a:extLst>
          </p:cNvPr>
          <p:cNvSpPr txBox="1"/>
          <p:nvPr/>
        </p:nvSpPr>
        <p:spPr>
          <a:xfrm>
            <a:off x="1589" y="2788986"/>
            <a:ext cx="12185648" cy="882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 dirty="0">
                <a:solidFill>
                  <a:srgbClr val="BFDBFF"/>
                </a:solidFill>
              </a:rPr>
              <a:t>React Hook Form  ·  Zod  ·  React Native</a:t>
            </a:r>
          </a:p>
          <a:p>
            <a:pPr algn="ctr"/>
            <a:endParaRPr sz="2800" dirty="0">
              <a:solidFill>
                <a:srgbClr val="94A3B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2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What We're Covering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52651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365760" y="1514997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96786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Why a form library?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67119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The problem with plain </a:t>
            </a:r>
            <a:r>
              <a:rPr sz="2400" b="0" i="0" dirty="0" err="1"/>
              <a:t>useState</a:t>
            </a:r>
            <a:endParaRPr sz="2400" b="0" i="0" dirty="0"/>
          </a:p>
        </p:txBody>
      </p:sp>
      <p:sp>
        <p:nvSpPr>
          <p:cNvPr id="10" name="Rectangle 9"/>
          <p:cNvSpPr/>
          <p:nvPr/>
        </p:nvSpPr>
        <p:spPr>
          <a:xfrm>
            <a:off x="365760" y="2433140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65760" y="24850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9621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The library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33416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React Hook Form + Zod + resolvers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86366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365760" y="353832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72065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Zod schemas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42398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Define rules once, validate anywhere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39592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365760" y="460193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97472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/>
              <a:t>useForm</a:t>
            </a:r>
            <a:r>
              <a:rPr sz="2800" b="1" i="0" dirty="0"/>
              <a:t> hook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25120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control · </a:t>
            </a:r>
            <a:r>
              <a:rPr sz="2400" b="0" i="0" dirty="0" err="1"/>
              <a:t>handleSubmit</a:t>
            </a:r>
            <a:r>
              <a:rPr sz="2400" b="0" i="0" dirty="0"/>
              <a:t> ·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097" y="1438162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6382097" y="150050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177" y="1292688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177" y="1652630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Connecting RHF to React Native inputs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097" y="2335522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6382097" y="2387477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177" y="2231612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Error 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177" y="2635799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Conditional styles + inline messages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097" y="348226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6382097" y="3534223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177" y="3336794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Navigation 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177" y="3738300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settings folder with nested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3200" b="1" dirty="0"/>
              <a:t>Limitations of Managing Forms with </a:t>
            </a:r>
            <a:r>
              <a:rPr lang="en-US" sz="3200" b="1" dirty="0" err="1"/>
              <a:t>useState</a:t>
            </a:r>
            <a:endParaRPr lang="en-US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46888" y="1203155"/>
            <a:ext cx="6062472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dirty="0">
                <a:solidFill>
                  <a:srgbClr val="FFFFFF"/>
                </a:solidFill>
                <a:latin typeface="Courier New"/>
              </a:rPr>
              <a:t>// A separate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for EVERY field
const [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firstName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,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setFirstName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] =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("")
const [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lastName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, 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setLastName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]  =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("")
const [email,    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setEmail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]     =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("")
const [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studentId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,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setStudentId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] =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("")
const [phone,    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setPhone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]     =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("")
// A separate errors object
const [errors,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setErrors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] =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({})
// A hand-written validate() function
function validate() {
  const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newErrors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= {}
  if (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firstName.trim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().length &lt; 2) {
   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newErrors.firstName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= "Min 2 chars"
  }
  // ... repeated for every field
 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setErrors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newErrors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)
  return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Object.keys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newErrors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).length === 0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C2626"/>
                </a:solidFill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2988" y="1311444"/>
            <a:ext cx="5139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1" i="0" dirty="0">
                <a:solidFill>
                  <a:srgbClr val="FF0000"/>
                </a:solidFill>
              </a:rPr>
              <a:t>Problems with this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2989" y="1905804"/>
            <a:ext cx="5468948" cy="59436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6655868" y="1997244"/>
            <a:ext cx="5286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C2626"/>
                </a:solidFill>
              </a:rPr>
              <a:t>✗  5 fields = 5 useState hooks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2989" y="2655612"/>
            <a:ext cx="5420189" cy="807368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6655868" y="2679677"/>
            <a:ext cx="54201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DC2626"/>
                </a:solidFill>
              </a:rPr>
              <a:t>✗  Validation logic lives inside the 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2989" y="3559423"/>
            <a:ext cx="5468948" cy="825994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6655868" y="3650863"/>
            <a:ext cx="54201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C2626"/>
                </a:solidFill>
              </a:rPr>
              <a:t>✗  Error type defined separately from the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2989" y="4559491"/>
            <a:ext cx="5468948" cy="59436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6655868" y="4650930"/>
            <a:ext cx="5286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C2626"/>
                </a:solidFill>
              </a:rPr>
              <a:t>✗  Every new field = more boilerplate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2989" y="5309299"/>
            <a:ext cx="5468948" cy="59436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6655868" y="5400739"/>
            <a:ext cx="5420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C2626"/>
                </a:solidFill>
              </a:rPr>
              <a:t>✗  No TypeScript safety on form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Three Libraries, Three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74903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8" name="TextBox 7"/>
          <p:cNvSpPr txBox="1"/>
          <p:nvPr/>
        </p:nvSpPr>
        <p:spPr>
          <a:xfrm>
            <a:off x="548640" y="1231073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react-hook-form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2550"/>
            <a:ext cx="3749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Manages form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338328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/>
              <a:t>Tracks field values, dirty/touched status</a:t>
            </a:r>
            <a:r>
              <a:rPr lang="en-US" sz="2400" b="0" i="0" dirty="0"/>
              <a:t>, </a:t>
            </a:r>
            <a:r>
              <a:rPr sz="2400" b="0" i="0" dirty="0"/>
              <a:t>when to show errors, and submission flow.
One hook replaces all your </a:t>
            </a:r>
            <a:r>
              <a:rPr sz="2400" b="0" i="0" dirty="0" err="1"/>
              <a:t>useState</a:t>
            </a:r>
            <a:r>
              <a:rPr sz="2400" b="0" i="0" dirty="0"/>
              <a:t> calls.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7784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2563EB"/>
                </a:solidFill>
              </a:rPr>
              <a:t>🔗 react-hook-form.com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Rectangle 12"/>
          <p:cNvSpPr/>
          <p:nvPr/>
        </p:nvSpPr>
        <p:spPr>
          <a:xfrm>
            <a:off x="4297679" y="1097280"/>
            <a:ext cx="374903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4480559" y="1280160"/>
            <a:ext cx="33832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5" name="TextBox 14"/>
          <p:cNvSpPr txBox="1"/>
          <p:nvPr/>
        </p:nvSpPr>
        <p:spPr>
          <a:xfrm>
            <a:off x="4526279" y="1240698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</a:rPr>
              <a:t>zod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6556" y="1732550"/>
            <a:ext cx="3749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Defines validation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286000"/>
            <a:ext cx="338328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b="0" i="0" dirty="0"/>
              <a:t>Schema-based validation built for TypeScript.
Write rules once — get type inference for free.
Used beyond forms: APIs, env vars, config files.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557784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7C3AED"/>
                </a:solidFill>
              </a:rPr>
              <a:t>🔗 </a:t>
            </a:r>
            <a:r>
              <a:rPr sz="2400" b="0" dirty="0" err="1">
                <a:solidFill>
                  <a:srgbClr val="7C3AED"/>
                </a:solidFill>
              </a:rPr>
              <a:t>zod.dev</a:t>
            </a:r>
            <a:endParaRPr sz="2400" b="0" dirty="0">
              <a:solidFill>
                <a:srgbClr val="7C3AED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5319" y="109728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Rectangle 19"/>
          <p:cNvSpPr/>
          <p:nvPr/>
        </p:nvSpPr>
        <p:spPr>
          <a:xfrm>
            <a:off x="8275319" y="1097280"/>
            <a:ext cx="3749039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Rectangle 20"/>
          <p:cNvSpPr/>
          <p:nvPr/>
        </p:nvSpPr>
        <p:spPr>
          <a:xfrm>
            <a:off x="8458199" y="1280160"/>
            <a:ext cx="33832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2" name="TextBox 21"/>
          <p:cNvSpPr txBox="1"/>
          <p:nvPr/>
        </p:nvSpPr>
        <p:spPr>
          <a:xfrm>
            <a:off x="8503919" y="1240698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@hookform/resolvers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1732550"/>
            <a:ext cx="3749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Connects the two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199" y="2286000"/>
            <a:ext cx="338328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/>
              <a:t>Thin adapter that makes RHF and Zo</a:t>
            </a:r>
            <a:r>
              <a:rPr lang="en-US" sz="2400" b="0" i="0" dirty="0"/>
              <a:t>d</a:t>
            </a:r>
            <a:r>
              <a:rPr lang="en-US" sz="2400" dirty="0"/>
              <a:t> </a:t>
            </a:r>
            <a:r>
              <a:rPr sz="2400" b="0" i="0" dirty="0"/>
              <a:t>speak the same language.
One import, one line of config.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199" y="5250580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>
                <a:solidFill>
                  <a:srgbClr val="16A34A"/>
                </a:solidFill>
              </a:rPr>
              <a:t>🔗 github.com/react-hook-form/resolvers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08FCB-93C0-EB8C-90C8-522DFECF1B85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B825D-FF6D-9B70-BFE3-B3A2E2BD8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Zod Schemas</a:t>
            </a:r>
          </a:p>
          <a:p>
            <a:pPr algn="ctr"/>
            <a:endParaRPr lang="en-US" sz="4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BE7DD-FD07-4424-B79D-A112BD5C4427}"/>
              </a:ext>
            </a:extLst>
          </p:cNvPr>
          <p:cNvSpPr txBox="1"/>
          <p:nvPr/>
        </p:nvSpPr>
        <p:spPr>
          <a:xfrm>
            <a:off x="833748" y="3410831"/>
            <a:ext cx="6072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Define rules once · Infer types automatically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E31FD-3C17-AC35-350D-219E94F08F68}"/>
              </a:ext>
            </a:extLst>
          </p:cNvPr>
          <p:cNvSpPr txBox="1"/>
          <p:nvPr/>
        </p:nvSpPr>
        <p:spPr>
          <a:xfrm>
            <a:off x="2370567" y="4621611"/>
            <a:ext cx="2998381" cy="52322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R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800" b="1" dirty="0" err="1">
                <a:solidFill>
                  <a:schemeClr val="bg1"/>
                </a:solidFill>
              </a:rPr>
              <a:t>npm</a:t>
            </a:r>
            <a:r>
              <a:rPr lang="en-US" sz="2800" b="1" dirty="0">
                <a:solidFill>
                  <a:schemeClr val="bg1"/>
                </a:solidFill>
              </a:rPr>
              <a:t> install </a:t>
            </a:r>
            <a:r>
              <a:rPr lang="en-US" sz="2800" b="1" dirty="0" err="1">
                <a:solidFill>
                  <a:schemeClr val="bg1"/>
                </a:solidFill>
              </a:rPr>
              <a:t>zod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111827"/>
                </a:solidFill>
              </a:rPr>
              <a:t>Creating Validation Schema</a:t>
            </a:r>
            <a:r>
              <a:rPr sz="3200" b="1" i="0" dirty="0">
                <a:solidFill>
                  <a:srgbClr val="111827"/>
                </a:solidFill>
              </a:rPr>
              <a:t> </a:t>
            </a:r>
            <a:r>
              <a:rPr lang="en-US" sz="3200" b="1" i="0" dirty="0">
                <a:solidFill>
                  <a:srgbClr val="111827"/>
                </a:solidFill>
              </a:rPr>
              <a:t>with </a:t>
            </a:r>
            <a:r>
              <a:rPr sz="3200" b="1" i="0" dirty="0">
                <a:solidFill>
                  <a:srgbClr val="111827"/>
                </a:solidFill>
              </a:rPr>
              <a:t>Zod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" y="1058779"/>
            <a:ext cx="6183750" cy="560190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dirty="0">
                <a:solidFill>
                  <a:srgbClr val="FFFFFF"/>
                </a:solidFill>
                <a:latin typeface="Courier New"/>
              </a:rPr>
              <a:t>import { z } from "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zod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"
const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profileSchema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 =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z.object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({
 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firstName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: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z.string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().trim()
               .min(2, "Min 2 characters."),
 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lastName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: 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z.string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().trim()
               .min(2, "Min 2 characters."),
  email:    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z.string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().trim()
               .email("Enter a valid email."),
 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studentId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: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z.string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().trim()
               .length(9, "Must be 9 characters."),
  phone:    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z.string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().refine(
    (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val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) =&gt;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val.replace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(/\D/g, "").length &gt;= 10,
    "Must have at least 10 digits."
  ),
})
// TypeScript type — generated automatically
type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ProfileForm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 =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z.infer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&lt;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typeof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profileSchema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6244" y="904777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0000"/>
                </a:solidFill>
              </a:rPr>
              <a:t>Rule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46244" y="1600200"/>
            <a:ext cx="5303520" cy="685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3404" y="1645920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563EB"/>
                </a:solidFill>
              </a:rPr>
              <a:t>.trim()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4728" y="1645920"/>
            <a:ext cx="3595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Strips spaces before checking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46244" y="2404872"/>
            <a:ext cx="5303520" cy="685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83404" y="2537216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563EB"/>
                </a:solidFill>
              </a:rPr>
              <a:t>.min(2)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4728" y="2537216"/>
            <a:ext cx="3595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At least 2 characters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6244" y="3209544"/>
            <a:ext cx="5303520" cy="685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3404" y="3322638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563EB"/>
                </a:solidFill>
              </a:rPr>
              <a:t>.email()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728" y="3178263"/>
            <a:ext cx="35950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Built-in email format check
(no regex needed)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6244" y="4014216"/>
            <a:ext cx="5303520" cy="685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3404" y="4108061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563EB"/>
                </a:solidFill>
              </a:rPr>
              <a:t>.length(9)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4728" y="4127311"/>
            <a:ext cx="3595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Exactly 9 characters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6244" y="4818888"/>
            <a:ext cx="5303520" cy="685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3404" y="4931982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.refine(</a:t>
            </a:r>
            <a:r>
              <a:rPr sz="2000" b="1" i="0" dirty="0" err="1">
                <a:solidFill>
                  <a:srgbClr val="2563EB"/>
                </a:solidFill>
              </a:rPr>
              <a:t>fn</a:t>
            </a:r>
            <a:r>
              <a:rPr sz="2000" b="1" i="0" dirty="0">
                <a:solidFill>
                  <a:srgbClr val="2563EB"/>
                </a:solidFill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4728" y="4797232"/>
            <a:ext cx="35950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Custom rule — strips non-digits
then checks count ≥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46244" y="5623560"/>
            <a:ext cx="5303520" cy="685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83404" y="5727030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z.infer</a:t>
            </a:r>
            <a:r>
              <a:rPr sz="2000" b="1" i="0" dirty="0">
                <a:solidFill>
                  <a:srgbClr val="2563EB"/>
                </a:solidFill>
              </a:rPr>
              <a:t>&lt;&gt;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4728" y="5592280"/>
            <a:ext cx="35950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Generates the TS type
automatically from the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2ADB-10B7-529F-A00C-3DBE8A652DC3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38B3E-0609-9A74-CDB2-2F479697A1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/>
              <a:t>useForm</a:t>
            </a:r>
            <a:r>
              <a:rPr lang="en-US" sz="4800" b="1" dirty="0"/>
              <a:t> Hook</a:t>
            </a:r>
          </a:p>
          <a:p>
            <a:pPr algn="ctr"/>
            <a:endParaRPr lang="en-US" sz="4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7D598-888E-ECE9-3840-BA3AE0E729DF}"/>
              </a:ext>
            </a:extLst>
          </p:cNvPr>
          <p:cNvSpPr txBox="1"/>
          <p:nvPr/>
        </p:nvSpPr>
        <p:spPr>
          <a:xfrm>
            <a:off x="833748" y="3410831"/>
            <a:ext cx="60720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The core of React Hook Form</a:t>
            </a:r>
          </a:p>
          <a:p>
            <a:pPr algn="ctr"/>
            <a:endParaRPr lang="en-US" sz="2800" b="1" dirty="0">
              <a:solidFill>
                <a:srgbClr val="1527D7"/>
              </a:solidFill>
            </a:endParaRPr>
          </a:p>
          <a:p>
            <a:pPr algn="ctr"/>
            <a:endParaRPr lang="en-US" sz="2800" b="1" dirty="0">
              <a:solidFill>
                <a:srgbClr val="1527D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BB05D-430C-FC8C-A57F-581426035993}"/>
              </a:ext>
            </a:extLst>
          </p:cNvPr>
          <p:cNvSpPr txBox="1"/>
          <p:nvPr/>
        </p:nvSpPr>
        <p:spPr>
          <a:xfrm>
            <a:off x="833746" y="4246860"/>
            <a:ext cx="6072020" cy="52322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800" b="1" dirty="0" err="1">
                <a:solidFill>
                  <a:schemeClr val="bg1"/>
                </a:solidFill>
              </a:rPr>
              <a:t>npx</a:t>
            </a:r>
            <a:r>
              <a:rPr lang="en-US" sz="2800" b="1" dirty="0">
                <a:solidFill>
                  <a:schemeClr val="bg1"/>
                </a:solidFill>
              </a:rPr>
              <a:t> expo install react-hook-form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3D7EA-444F-4987-4569-AD00577DCDC0}"/>
              </a:ext>
            </a:extLst>
          </p:cNvPr>
          <p:cNvSpPr txBox="1"/>
          <p:nvPr/>
        </p:nvSpPr>
        <p:spPr>
          <a:xfrm>
            <a:off x="833746" y="4938741"/>
            <a:ext cx="6072020" cy="105670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800" b="1" dirty="0" err="1">
                <a:solidFill>
                  <a:schemeClr val="bg1"/>
                </a:solidFill>
              </a:rPr>
              <a:t>npm</a:t>
            </a:r>
            <a:r>
              <a:rPr lang="en-US" sz="2800" b="1" dirty="0">
                <a:solidFill>
                  <a:schemeClr val="bg1"/>
                </a:solidFill>
              </a:rPr>
              <a:t> install @hookform/resolvers    </a:t>
            </a:r>
          </a:p>
          <a:p>
            <a:pPr algn="ctr">
              <a:spcAft>
                <a:spcPts val="800"/>
              </a:spcAft>
            </a:pPr>
            <a:r>
              <a:rPr lang="en-US" sz="2800" b="1" dirty="0">
                <a:solidFill>
                  <a:schemeClr val="bg1"/>
                </a:solidFill>
              </a:rPr>
              <a:t>If got error add --legacy-peer-deps</a:t>
            </a:r>
          </a:p>
        </p:txBody>
      </p:sp>
    </p:spTree>
    <p:extLst>
      <p:ext uri="{BB962C8B-B14F-4D97-AF65-F5344CB8AC3E}">
        <p14:creationId xmlns:p14="http://schemas.microsoft.com/office/powerpoint/2010/main" val="459373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111827"/>
                </a:solidFill>
              </a:rPr>
              <a:t>Understanding </a:t>
            </a:r>
            <a:r>
              <a:rPr sz="3200" b="1" i="0" dirty="0" err="1">
                <a:solidFill>
                  <a:srgbClr val="111827"/>
                </a:solidFill>
              </a:rPr>
              <a:t>useForm</a:t>
            </a:r>
            <a:r>
              <a:rPr lang="en-US" sz="3200" b="1" i="0" dirty="0">
                <a:solidFill>
                  <a:srgbClr val="111827"/>
                </a:solidFill>
              </a:rPr>
              <a:t>() Hook 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4660" y="1527048"/>
            <a:ext cx="5998944" cy="376924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>
                <a:solidFill>
                  <a:srgbClr val="FFFFFF"/>
                </a:solidFill>
                <a:latin typeface="Courier New"/>
              </a:rPr>
              <a:t>const {
  control,
 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handleSubmit</a:t>
            </a:r>
            <a:r>
              <a:rPr dirty="0">
                <a:solidFill>
                  <a:srgbClr val="FFFFFF"/>
                </a:solidFill>
                <a:latin typeface="Courier New"/>
              </a:rPr>
              <a:t>,
 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formState</a:t>
            </a:r>
            <a:r>
              <a:rPr dirty="0">
                <a:solidFill>
                  <a:srgbClr val="FFFFFF"/>
                </a:solidFill>
                <a:latin typeface="Courier New"/>
              </a:rPr>
              <a:t>: { errors },
} =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useForm</a:t>
            </a:r>
            <a:r>
              <a:rPr dirty="0">
                <a:solidFill>
                  <a:srgbClr val="FFFFFF"/>
                </a:solidFill>
                <a:latin typeface="Courier New"/>
              </a:rPr>
              <a:t>&lt;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ProfileForm</a:t>
            </a:r>
            <a:r>
              <a:rPr dirty="0">
                <a:solidFill>
                  <a:srgbClr val="FFFFFF"/>
                </a:solidFill>
                <a:latin typeface="Courier New"/>
              </a:rPr>
              <a:t>&gt;({
  resolver: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zodResolver</a:t>
            </a:r>
            <a:r>
              <a:rPr dirty="0">
                <a:solidFill>
                  <a:srgbClr val="FFFFFF"/>
                </a:solidFill>
                <a:latin typeface="Courier New"/>
              </a:rPr>
              <a:t>(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profileSchema</a:t>
            </a:r>
            <a:r>
              <a:rPr dirty="0">
                <a:solidFill>
                  <a:srgbClr val="FFFFFF"/>
                </a:solidFill>
                <a:latin typeface="Courier New"/>
              </a:rPr>
              <a:t>),
 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defaultValues</a:t>
            </a:r>
            <a:r>
              <a:rPr dirty="0">
                <a:solidFill>
                  <a:srgbClr val="FFFFFF"/>
                </a:solidFill>
                <a:latin typeface="Courier New"/>
              </a:rPr>
              <a:t>: {
   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firstName</a:t>
            </a:r>
            <a:r>
              <a:rPr dirty="0">
                <a:solidFill>
                  <a:srgbClr val="FFFFFF"/>
                </a:solidFill>
                <a:latin typeface="Courier New"/>
              </a:rPr>
              <a:t>: "",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lastName</a:t>
            </a:r>
            <a:r>
              <a:rPr dirty="0">
                <a:solidFill>
                  <a:srgbClr val="FFFFFF"/>
                </a:solidFill>
                <a:latin typeface="Courier New"/>
              </a:rPr>
              <a:t>: "",
    email: "",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studentId</a:t>
            </a:r>
            <a:r>
              <a:rPr dirty="0">
                <a:solidFill>
                  <a:srgbClr val="FFFFFF"/>
                </a:solidFill>
                <a:latin typeface="Courier New"/>
              </a:rPr>
              <a:t>: "", phone: "",
  },
  mode: "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onSubmit</a:t>
            </a:r>
            <a:r>
              <a:rPr dirty="0">
                <a:solidFill>
                  <a:srgbClr val="FFFFFF"/>
                </a:solidFill>
                <a:latin typeface="Courier New"/>
              </a:rPr>
              <a:t>",
})</a:t>
            </a:r>
          </a:p>
        </p:txBody>
      </p:sp>
      <p:sp>
        <p:nvSpPr>
          <p:cNvPr id="6" name="Rectangle 5"/>
          <p:cNvSpPr/>
          <p:nvPr/>
        </p:nvSpPr>
        <p:spPr>
          <a:xfrm>
            <a:off x="6793966" y="979373"/>
            <a:ext cx="4965191" cy="89514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03110" y="1013101"/>
            <a:ext cx="45719" cy="8614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6846" y="911998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/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46" y="1271500"/>
            <a:ext cx="5577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Passed to every &lt;Controller&gt;.
Lets RHF track each field's value internally.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93966" y="2117557"/>
            <a:ext cx="4965191" cy="8813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93966" y="2117557"/>
            <a:ext cx="45719" cy="8813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76846" y="2057402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/>
              <a:t>handleSubmit</a:t>
            </a:r>
            <a:endParaRPr sz="2400" b="1" i="0" dirty="0"/>
          </a:p>
        </p:txBody>
      </p:sp>
      <p:sp>
        <p:nvSpPr>
          <p:cNvPr id="13" name="TextBox 12"/>
          <p:cNvSpPr txBox="1"/>
          <p:nvPr/>
        </p:nvSpPr>
        <p:spPr>
          <a:xfrm>
            <a:off x="6976846" y="2397654"/>
            <a:ext cx="5577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Wraps your </a:t>
            </a:r>
            <a:r>
              <a:rPr b="0" i="0" dirty="0" err="1"/>
              <a:t>onSubmit</a:t>
            </a:r>
            <a:r>
              <a:rPr b="0" i="0" dirty="0"/>
              <a:t> function.
Runs Zod first — only calls </a:t>
            </a:r>
            <a:r>
              <a:rPr b="0" i="0" dirty="0" err="1"/>
              <a:t>onSubmit</a:t>
            </a:r>
            <a:r>
              <a:rPr b="0" i="0" dirty="0"/>
              <a:t> if valid.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93966" y="3224462"/>
            <a:ext cx="4965191" cy="93639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93966" y="3224461"/>
            <a:ext cx="45719" cy="93639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76845" y="3145056"/>
            <a:ext cx="2690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/>
              <a:t>formState.errors</a:t>
            </a:r>
            <a:endParaRPr sz="2400" b="1" i="0" dirty="0"/>
          </a:p>
        </p:txBody>
      </p:sp>
      <p:sp>
        <p:nvSpPr>
          <p:cNvPr id="17" name="TextBox 16"/>
          <p:cNvSpPr txBox="1"/>
          <p:nvPr/>
        </p:nvSpPr>
        <p:spPr>
          <a:xfrm>
            <a:off x="6976846" y="3504557"/>
            <a:ext cx="5577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Object of error messages keyed by field name.
Only populated after a failed submit.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93966" y="4320860"/>
            <a:ext cx="4965191" cy="922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03110" y="4320860"/>
            <a:ext cx="45719" cy="922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76846" y="4271214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/>
              <a:t>resolver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46" y="4649963"/>
            <a:ext cx="5577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/>
              <a:t>zodResolver</a:t>
            </a:r>
            <a:r>
              <a:rPr b="0" i="0" dirty="0"/>
              <a:t>(schema) — plugs Zod in.
Replaces your entire manual validate() function.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1073" y="5509228"/>
            <a:ext cx="4180252" cy="1028693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80217" y="5509228"/>
            <a:ext cx="45719" cy="1020275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3953" y="5456294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/>
              <a:t>defaultValues</a:t>
            </a:r>
            <a:endParaRPr sz="2400" b="1" i="0" dirty="0"/>
          </a:p>
        </p:txBody>
      </p:sp>
      <p:sp>
        <p:nvSpPr>
          <p:cNvPr id="25" name="TextBox 24"/>
          <p:cNvSpPr txBox="1"/>
          <p:nvPr/>
        </p:nvSpPr>
        <p:spPr>
          <a:xfrm>
            <a:off x="1053953" y="5883172"/>
            <a:ext cx="3893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Starting value for every field.
Required so RHF knows the initial state.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93965" y="5456294"/>
            <a:ext cx="4965192" cy="10792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793965" y="5456294"/>
            <a:ext cx="45719" cy="1081627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6845" y="5416831"/>
            <a:ext cx="2603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/>
              <a:t>mode: '</a:t>
            </a:r>
            <a:r>
              <a:rPr sz="2400" b="1" i="0" dirty="0" err="1"/>
              <a:t>onSubmit</a:t>
            </a:r>
            <a:r>
              <a:rPr sz="2400" b="1" i="0" dirty="0"/>
              <a:t>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45" y="5843710"/>
            <a:ext cx="4965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Validate only when user presses Submit.
Other options: </a:t>
            </a:r>
            <a:r>
              <a:rPr b="0" i="0" dirty="0" err="1"/>
              <a:t>onBlur</a:t>
            </a:r>
            <a:r>
              <a:rPr b="0" i="0" dirty="0"/>
              <a:t>, </a:t>
            </a:r>
            <a:r>
              <a:rPr b="0" i="0" dirty="0" err="1"/>
              <a:t>onChange</a:t>
            </a:r>
            <a:r>
              <a:rPr b="0" i="0" dirty="0"/>
              <a:t>, </a:t>
            </a:r>
            <a:r>
              <a:rPr b="0" i="0" dirty="0" err="1"/>
              <a:t>onTouched</a:t>
            </a:r>
            <a:r>
              <a:rPr b="0" i="0" dirty="0"/>
              <a:t>, 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Validation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When does RHF run the Zod schema?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30417"/>
            <a:ext cx="10764287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30417"/>
            <a:ext cx="83902" cy="94384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1759477"/>
            <a:ext cx="1872112" cy="43088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" name="TextBox 8"/>
          <p:cNvSpPr txBox="1"/>
          <p:nvPr/>
        </p:nvSpPr>
        <p:spPr>
          <a:xfrm>
            <a:off x="879106" y="1749873"/>
            <a:ext cx="17285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"</a:t>
            </a:r>
            <a:r>
              <a:rPr sz="2400" b="1" i="0" dirty="0" err="1">
                <a:solidFill>
                  <a:srgbClr val="FFFFFF"/>
                </a:solidFill>
              </a:rPr>
              <a:t>onSubmi</a:t>
            </a:r>
            <a:r>
              <a:rPr lang="en-US" sz="2400" b="1" i="0" dirty="0" err="1">
                <a:solidFill>
                  <a:srgbClr val="FFFFFF"/>
                </a:solidFill>
              </a:rPr>
              <a:t>t</a:t>
            </a:r>
            <a:r>
              <a:rPr sz="2400" b="1" i="0" dirty="0">
                <a:solidFill>
                  <a:srgbClr val="FFFFFF"/>
                </a:solidFill>
              </a:rPr>
              <a:t>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2614" y="1731585"/>
            <a:ext cx="2296626" cy="38404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2993456" y="1692123"/>
            <a:ext cx="23445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924000"/>
                </a:solidFill>
              </a:rPr>
              <a:t>★ Recommended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7624" y="1535232"/>
            <a:ext cx="59709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Only when the user presses Submit.
Best for beginners — least intrusive.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17969"/>
            <a:ext cx="10764287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517969"/>
            <a:ext cx="83902" cy="94384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822960" y="2719137"/>
            <a:ext cx="1915784" cy="43088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6" name="TextBox 15"/>
          <p:cNvSpPr txBox="1"/>
          <p:nvPr/>
        </p:nvSpPr>
        <p:spPr>
          <a:xfrm>
            <a:off x="955304" y="2718175"/>
            <a:ext cx="1631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"</a:t>
            </a:r>
            <a:r>
              <a:rPr sz="2400" b="1" i="0" dirty="0" err="1">
                <a:solidFill>
                  <a:srgbClr val="FFFFFF"/>
                </a:solidFill>
              </a:rPr>
              <a:t>onBlur</a:t>
            </a:r>
            <a:r>
              <a:rPr sz="2400" b="1" i="0" dirty="0">
                <a:solidFill>
                  <a:srgbClr val="FFFFFF"/>
                </a:solidFill>
              </a:rPr>
              <a:t>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7624" y="2522784"/>
            <a:ext cx="59709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When the user leaves a field.
Most common in production apps.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05521"/>
            <a:ext cx="10764287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505521"/>
            <a:ext cx="83902" cy="94384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ectangle 19"/>
          <p:cNvSpPr/>
          <p:nvPr/>
        </p:nvSpPr>
        <p:spPr>
          <a:xfrm>
            <a:off x="822960" y="3706689"/>
            <a:ext cx="1915784" cy="43088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792677" y="3676850"/>
            <a:ext cx="17941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"</a:t>
            </a:r>
            <a:r>
              <a:rPr sz="2400" b="1" i="0" dirty="0" err="1">
                <a:solidFill>
                  <a:srgbClr val="FFFFFF"/>
                </a:solidFill>
              </a:rPr>
              <a:t>onChang</a:t>
            </a:r>
            <a:r>
              <a:rPr lang="en-US" sz="2400" b="1" i="0" dirty="0" err="1">
                <a:solidFill>
                  <a:srgbClr val="FFFFFF"/>
                </a:solidFill>
              </a:rPr>
              <a:t>e</a:t>
            </a:r>
            <a:r>
              <a:rPr sz="2400" b="1" i="0" dirty="0">
                <a:solidFill>
                  <a:srgbClr val="FFFFFF"/>
                </a:solidFill>
              </a:rPr>
              <a:t>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7624" y="3510336"/>
            <a:ext cx="59709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On every single keystroke.
Aggressive — useful for password meters.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493073"/>
            <a:ext cx="10764287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493073"/>
            <a:ext cx="83902" cy="94384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ectangle 24"/>
          <p:cNvSpPr/>
          <p:nvPr/>
        </p:nvSpPr>
        <p:spPr>
          <a:xfrm>
            <a:off x="822960" y="4694241"/>
            <a:ext cx="1915784" cy="43088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6" name="TextBox 25"/>
          <p:cNvSpPr txBox="1"/>
          <p:nvPr/>
        </p:nvSpPr>
        <p:spPr>
          <a:xfrm>
            <a:off x="868679" y="4664403"/>
            <a:ext cx="18700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chemeClr val="bg1"/>
                </a:solidFill>
              </a:rPr>
              <a:t>"</a:t>
            </a:r>
            <a:r>
              <a:rPr sz="2400" b="1" i="0" dirty="0" err="1">
                <a:solidFill>
                  <a:schemeClr val="bg1"/>
                </a:solidFill>
              </a:rPr>
              <a:t>onTouched</a:t>
            </a:r>
            <a:r>
              <a:rPr sz="2400" b="1" i="0" dirty="0">
                <a:solidFill>
                  <a:schemeClr val="bg1"/>
                </a:solidFill>
              </a:rPr>
              <a:t>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7624" y="4497888"/>
            <a:ext cx="59709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First time on blur, then onChange after.
A middle ground between onBlur and onChange.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480625"/>
            <a:ext cx="10764287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5480625"/>
            <a:ext cx="83902" cy="94384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822960" y="5681793"/>
            <a:ext cx="1915784" cy="43088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1" name="TextBox 30"/>
          <p:cNvSpPr txBox="1"/>
          <p:nvPr/>
        </p:nvSpPr>
        <p:spPr>
          <a:xfrm>
            <a:off x="984184" y="5680829"/>
            <a:ext cx="1573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"all"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47624" y="5485440"/>
            <a:ext cx="59709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onBlur + onChange combined.
Most aggressive option.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6C6A-64F7-D1F0-36B9-15329B68E030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2214B-C335-DABC-D38A-38A2DEB5F4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Controller</a:t>
            </a:r>
          </a:p>
          <a:p>
            <a:pPr algn="ctr"/>
            <a:endParaRPr lang="en-US" sz="4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031D7-B5ED-F48D-574B-34BED4E84C76}"/>
              </a:ext>
            </a:extLst>
          </p:cNvPr>
          <p:cNvSpPr txBox="1"/>
          <p:nvPr/>
        </p:nvSpPr>
        <p:spPr>
          <a:xfrm>
            <a:off x="833748" y="3410831"/>
            <a:ext cx="6072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Connecting RHF to React Native inputs</a:t>
            </a:r>
          </a:p>
          <a:p>
            <a:pPr algn="ctr"/>
            <a:endParaRPr lang="en-US" sz="2800" b="1" dirty="0">
              <a:solidFill>
                <a:srgbClr val="1527D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00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Why Controller? — Web vs React Native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137160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3284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</a:rPr>
              <a:t>Web HTML — use register()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dirty="0">
                <a:solidFill>
                  <a:srgbClr val="FFFFFF"/>
                </a:solidFill>
                <a:latin typeface="Courier New"/>
              </a:rPr>
              <a:t>// HTML input uses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onChange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
&lt;input {...register("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firstName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")} /&gt;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5303520" cy="13716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68732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6A34A"/>
                </a:solidFill>
              </a:rPr>
              <a:t>React Native — use Controller()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dirty="0">
                <a:solidFill>
                  <a:srgbClr val="FFFFFF"/>
                </a:solidFill>
                <a:latin typeface="Courier New"/>
              </a:rPr>
              <a:t>//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TextInput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 uses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onChangeText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 (different!)
&lt;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TextInput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onChangeText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={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onChange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} /&gt;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31640"/>
            <a:ext cx="5669280" cy="25897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dirty="0">
                <a:solidFill>
                  <a:srgbClr val="FFFFFF"/>
                </a:solidFill>
                <a:latin typeface="Courier New"/>
              </a:rPr>
              <a:t>&lt;Controller
  control={control}
  name="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firstName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"
  render={({ field: {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onChange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, value } }) =&gt; (
    &lt;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TextInput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
      value={value}
      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onChangeText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={</a:t>
            </a:r>
            <a:r>
              <a:rPr sz="1500" dirty="0" err="1">
                <a:solidFill>
                  <a:srgbClr val="FFFFFF"/>
                </a:solidFill>
                <a:latin typeface="Courier New"/>
              </a:rPr>
              <a:t>onChange</a:t>
            </a:r>
            <a:r>
              <a:rPr sz="1500" dirty="0">
                <a:solidFill>
                  <a:srgbClr val="FFFFFF"/>
                </a:solidFill>
                <a:latin typeface="Courier New"/>
              </a:rPr>
              <a:t>}
      placeholder="e.g. Jane"
    /&gt;
  )}
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5852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How Controller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691640"/>
            <a:ext cx="530352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1783080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→  control — registers this field with RHF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487168"/>
            <a:ext cx="530352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5120" y="2578608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→  name — must match a key in your 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282696"/>
            <a:ext cx="530352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0" y="3374136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→  render — gives you value and onChange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078224"/>
            <a:ext cx="530352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4169663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→  value → what the input displays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873752"/>
            <a:ext cx="530352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75120" y="4965192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→  onChange → called when user types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669279"/>
            <a:ext cx="530352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0" y="5646419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→  RHF stores the value internally
</a:t>
            </a:r>
            <a:r>
              <a:rPr lang="en-US" sz="2000" b="0" i="0" dirty="0"/>
              <a:t>      </a:t>
            </a:r>
            <a:r>
              <a:rPr sz="2000" b="0" i="0" dirty="0"/>
              <a:t>(no </a:t>
            </a:r>
            <a:r>
              <a:rPr sz="2000" b="0" i="0" dirty="0" err="1"/>
              <a:t>useState</a:t>
            </a:r>
            <a:r>
              <a:rPr sz="2000" b="0" i="0" dirty="0"/>
              <a:t> needed)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4AA8-040A-3355-B2A5-583FDA082793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3AEBD-D00F-E633-A083-9DC8B1FBE5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Error Display</a:t>
            </a:r>
          </a:p>
          <a:p>
            <a:pPr algn="ctr"/>
            <a:endParaRPr lang="en-US" sz="4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7BBA2-1EB0-531E-01AF-9EC71161FDA6}"/>
              </a:ext>
            </a:extLst>
          </p:cNvPr>
          <p:cNvSpPr txBox="1"/>
          <p:nvPr/>
        </p:nvSpPr>
        <p:spPr>
          <a:xfrm>
            <a:off x="833748" y="3410831"/>
            <a:ext cx="6072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Wiring </a:t>
            </a:r>
            <a:r>
              <a:rPr lang="en-US" sz="2800" b="1" dirty="0" err="1">
                <a:solidFill>
                  <a:srgbClr val="1527D7"/>
                </a:solidFill>
              </a:rPr>
              <a:t>formState.errors</a:t>
            </a:r>
            <a:r>
              <a:rPr lang="en-US" sz="2800" b="1" dirty="0">
                <a:solidFill>
                  <a:srgbClr val="1527D7"/>
                </a:solidFill>
              </a:rPr>
              <a:t> to the UI</a:t>
            </a:r>
          </a:p>
          <a:p>
            <a:pPr algn="ctr"/>
            <a:endParaRPr lang="en-US" sz="2800" b="1" dirty="0">
              <a:solidFill>
                <a:srgbClr val="1527D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12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27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Displaying Validation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141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9700" y="995680"/>
            <a:ext cx="5943600" cy="56509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dirty="0">
                <a:solidFill>
                  <a:srgbClr val="FFFFFF"/>
                </a:solidFill>
                <a:latin typeface="Courier New"/>
              </a:rPr>
              <a:t>&lt;Text style={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styles.label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}&gt;First Name&lt;/Text&gt;
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
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&lt;Controller
  control={control}
  name="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firstName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"
  render={({ field: {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onChange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, value } }) =&gt; (
    &lt;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TextInput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
      style={[
       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styles.input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,
        </a:t>
            </a:r>
            <a:r>
              <a:rPr sz="1600" b="1" dirty="0" err="1">
                <a:solidFill>
                  <a:srgbClr val="FFFF00"/>
                </a:solidFill>
                <a:latin typeface="Courier New"/>
              </a:rPr>
              <a:t>errors.firstName</a:t>
            </a:r>
            <a:r>
              <a:rPr sz="1600" b="1" dirty="0">
                <a:solidFill>
                  <a:srgbClr val="FFFF00"/>
                </a:solidFill>
                <a:latin typeface="Courier New"/>
              </a:rPr>
              <a:t> &amp;&amp; </a:t>
            </a:r>
            <a:r>
              <a:rPr sz="1600" b="1" dirty="0" err="1">
                <a:solidFill>
                  <a:srgbClr val="FFFF00"/>
                </a:solidFill>
                <a:latin typeface="Courier New"/>
              </a:rPr>
              <a:t>styles.inputError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
      ]}
      value={value}
     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onChangeText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={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onChange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}
      placeholder="e.g. Jane"
    /&gt;
  )}
/&gt;
</a:t>
            </a:r>
            <a:r>
              <a:rPr sz="1100" dirty="0">
                <a:solidFill>
                  <a:srgbClr val="FFFFFF"/>
                </a:solidFill>
                <a:latin typeface="Courier New"/>
              </a:rPr>
              <a:t>
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{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errors.firstName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&amp;&amp; (
  &lt;Text style={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styles.error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}&gt;
    {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errors.firstName.message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}
  &lt;/Text&gt;
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7440" y="767080"/>
            <a:ext cx="5852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Two layers of error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320" y="124917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Red border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9519" y="1661668"/>
            <a:ext cx="5818505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dirty="0">
                <a:solidFill>
                  <a:srgbClr val="FFFFFF"/>
                </a:solidFill>
                <a:latin typeface="Courier New"/>
              </a:rPr>
              <a:t>style={[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styles.input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errors.firstName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 &amp;&amp;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styles.inputError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]}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320" y="2097532"/>
            <a:ext cx="5577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i="0" dirty="0"/>
              <a:t>Array of styles — </a:t>
            </a:r>
            <a:r>
              <a:rPr sz="2000" i="0" dirty="0" err="1"/>
              <a:t>inputError</a:t>
            </a:r>
            <a:r>
              <a:rPr sz="2000" i="0" dirty="0"/>
              <a:t> only applies
when </a:t>
            </a:r>
            <a:r>
              <a:rPr sz="2000" i="0" dirty="0" err="1"/>
              <a:t>errors.firstName</a:t>
            </a:r>
            <a:r>
              <a:rPr sz="2000" i="0" dirty="0"/>
              <a:t> exists.
Overrides just the </a:t>
            </a:r>
            <a:r>
              <a:rPr sz="2000" i="0" dirty="0" err="1"/>
              <a:t>borderColor</a:t>
            </a:r>
            <a:r>
              <a:rPr sz="2000" i="0"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40" y="3291840"/>
            <a:ext cx="45719" cy="15172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0320" y="318719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Error message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0320" y="3574288"/>
            <a:ext cx="557784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dirty="0">
                <a:solidFill>
                  <a:srgbClr val="FFFFFF"/>
                </a:solidFill>
                <a:latin typeface="Courier New"/>
              </a:rPr>
              <a:t>{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errors.firstName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&amp;&amp; &lt;Text&gt;...&lt;/Text&gt;}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320" y="3946652"/>
            <a:ext cx="5577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Short-circuit rendering.
If </a:t>
            </a:r>
            <a:r>
              <a:rPr sz="2000" b="0" i="0" dirty="0" err="1"/>
              <a:t>errors.firstName</a:t>
            </a:r>
            <a:r>
              <a:rPr sz="2000" b="0" i="0" dirty="0"/>
              <a:t> is undefined → nothing renders.
If it has a value → message appears below input.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2426" y="5115559"/>
            <a:ext cx="45719" cy="161628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0320" y="496011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Message 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320" y="5347208"/>
            <a:ext cx="557784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 err="1">
                <a:solidFill>
                  <a:srgbClr val="FFFFFF"/>
                </a:solidFill>
                <a:latin typeface="Courier New"/>
              </a:rPr>
              <a:t>errors.firstName.message</a:t>
            </a:r>
            <a:endParaRPr dirty="0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70320" y="5833872"/>
            <a:ext cx="5577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Comes directly from the Zod schema.
You wrote it once — it surfaces here automatically.
No duplication.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419B49-B308-6E99-4357-7862D36F42D0}"/>
              </a:ext>
            </a:extLst>
          </p:cNvPr>
          <p:cNvSpPr/>
          <p:nvPr/>
        </p:nvSpPr>
        <p:spPr>
          <a:xfrm>
            <a:off x="6202426" y="1333392"/>
            <a:ext cx="45719" cy="1651107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68D8-0B12-5AD5-9D01-BBA51A3AC1BF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2EC97-2CD5-F80E-9782-988A6918BB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Navigation Update</a:t>
            </a:r>
          </a:p>
          <a:p>
            <a:pPr algn="ctr"/>
            <a:endParaRPr lang="en-US" sz="4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B77BD-28ED-4EA6-5233-073F6E505F07}"/>
              </a:ext>
            </a:extLst>
          </p:cNvPr>
          <p:cNvSpPr txBox="1"/>
          <p:nvPr/>
        </p:nvSpPr>
        <p:spPr>
          <a:xfrm>
            <a:off x="833748" y="3410831"/>
            <a:ext cx="60720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Settings gets its own Stack — same pattern as Courses</a:t>
            </a:r>
          </a:p>
          <a:p>
            <a:pPr algn="ctr"/>
            <a:endParaRPr lang="en-US" sz="2800" b="1" dirty="0">
              <a:solidFill>
                <a:srgbClr val="1527D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808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Pattern </a:t>
            </a:r>
            <a:r>
              <a:rPr lang="en-US" sz="3200" b="1" i="0" dirty="0">
                <a:solidFill>
                  <a:srgbClr val="111827"/>
                </a:solidFill>
              </a:rPr>
              <a:t>For Creating Nested Navigations in Settings Tab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3464" y="1754340"/>
            <a:ext cx="5568696" cy="436041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dirty="0">
                <a:solidFill>
                  <a:srgbClr val="FFFFFF"/>
                </a:solidFill>
                <a:latin typeface="Courier New"/>
              </a:rPr>
              <a:t>courses/              settings/
├── _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layout.tsx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 →    ├── _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layout.tsx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
├──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index.tsx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   →    ├──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index.tsx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
└── [id].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tsx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         └──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profile.tsx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
// Stack navigator — identical structure
export default function 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SettingsLayout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() {
  return (
    &lt;Stack&gt;
      &lt;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Stack.Screen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name="index"
        options={{ title: "Settings" }} /&gt;
      &lt;</a:t>
            </a:r>
            <a:r>
              <a:rPr sz="1600" dirty="0" err="1">
                <a:solidFill>
                  <a:srgbClr val="FFFFFF"/>
                </a:solidFill>
                <a:latin typeface="Courier New"/>
              </a:rPr>
              <a:t>Stack.Screen</a:t>
            </a:r>
            <a:r>
              <a:rPr sz="1600" dirty="0">
                <a:solidFill>
                  <a:srgbClr val="FFFFFF"/>
                </a:solidFill>
                <a:latin typeface="Courier New"/>
              </a:rPr>
              <a:t> name="profile"
        options={{ title: "Edit Profile" }} /&gt;
    &lt;/Stack&gt;
  )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005843"/>
            <a:ext cx="594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Steps to convert the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0544" y="1691640"/>
            <a:ext cx="47548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150544" y="1836018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4904" y="173736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Create settings/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4904" y="205740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Move </a:t>
            </a:r>
            <a:r>
              <a:rPr sz="2000" b="0" i="0" dirty="0" err="1"/>
              <a:t>settings.tsx</a:t>
            </a:r>
            <a:r>
              <a:rPr sz="2000" b="0" i="0" dirty="0"/>
              <a:t> content into settings/</a:t>
            </a:r>
            <a:r>
              <a:rPr sz="2000" b="0" i="0" dirty="0" err="1"/>
              <a:t>index.tsx</a:t>
            </a:r>
            <a:endParaRPr sz="2000" b="0" i="0" dirty="0"/>
          </a:p>
        </p:txBody>
      </p:sp>
      <p:sp>
        <p:nvSpPr>
          <p:cNvPr id="11" name="Rectangle 10"/>
          <p:cNvSpPr/>
          <p:nvPr/>
        </p:nvSpPr>
        <p:spPr>
          <a:xfrm>
            <a:off x="6150544" y="2624328"/>
            <a:ext cx="47548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150544" y="2787958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4904" y="267004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Add _</a:t>
            </a:r>
            <a:r>
              <a:rPr sz="2400" b="1" i="0" dirty="0" err="1">
                <a:solidFill>
                  <a:srgbClr val="111827"/>
                </a:solidFill>
              </a:rPr>
              <a:t>layout.tsx</a:t>
            </a:r>
            <a:endParaRPr sz="2400" b="1" i="0" dirty="0">
              <a:solidFill>
                <a:srgbClr val="111827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44904" y="299008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Stack navigator — same as courses/_</a:t>
            </a:r>
            <a:r>
              <a:rPr sz="2000" b="0" i="0" dirty="0" err="1"/>
              <a:t>layout.tsx</a:t>
            </a:r>
            <a:endParaRPr sz="2000" b="0" i="0" dirty="0"/>
          </a:p>
        </p:txBody>
      </p:sp>
      <p:sp>
        <p:nvSpPr>
          <p:cNvPr id="15" name="Rectangle 14"/>
          <p:cNvSpPr/>
          <p:nvPr/>
        </p:nvSpPr>
        <p:spPr>
          <a:xfrm>
            <a:off x="6150544" y="3557016"/>
            <a:ext cx="47548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150544" y="3730269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4904" y="3602736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Create </a:t>
            </a:r>
            <a:r>
              <a:rPr sz="2400" b="1" i="0" dirty="0" err="1">
                <a:solidFill>
                  <a:srgbClr val="111827"/>
                </a:solidFill>
              </a:rPr>
              <a:t>profile.tsx</a:t>
            </a:r>
            <a:endParaRPr sz="2400" b="1" i="0" dirty="0">
              <a:solidFill>
                <a:srgbClr val="111827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44904" y="392277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The Edit Profile form screen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0544" y="4489704"/>
            <a:ext cx="47548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150544" y="4672585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4904" y="4535424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Delete </a:t>
            </a:r>
            <a:r>
              <a:rPr sz="2400" b="1" i="0" dirty="0" err="1">
                <a:solidFill>
                  <a:srgbClr val="111827"/>
                </a:solidFill>
              </a:rPr>
              <a:t>settings.tsx</a:t>
            </a:r>
            <a:endParaRPr sz="2400" b="1" i="0" dirty="0">
              <a:solidFill>
                <a:srgbClr val="111827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44904" y="485546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Avoids duplicate route conflict with </a:t>
            </a:r>
            <a:r>
              <a:rPr sz="2000" b="0" i="0" dirty="0" err="1"/>
              <a:t>index.tsx</a:t>
            </a:r>
            <a:endParaRPr sz="2000" b="0" i="0" dirty="0"/>
          </a:p>
        </p:txBody>
      </p:sp>
      <p:sp>
        <p:nvSpPr>
          <p:cNvPr id="23" name="Rectangle 22"/>
          <p:cNvSpPr/>
          <p:nvPr/>
        </p:nvSpPr>
        <p:spPr>
          <a:xfrm>
            <a:off x="6150544" y="5422392"/>
            <a:ext cx="47548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6150544" y="5586017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4904" y="5468112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Wrap Account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4904" y="578815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Pressable + </a:t>
            </a:r>
            <a:r>
              <a:rPr sz="2000" b="0" i="0" dirty="0" err="1"/>
              <a:t>router.push</a:t>
            </a:r>
            <a:r>
              <a:rPr sz="2000" b="0" i="0" dirty="0"/>
              <a:t>('/(tab)/settings/profile')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Common Mistakes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62253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64008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201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11827"/>
                </a:solidFill>
              </a:rPr>
              <a:t>onChange</a:t>
            </a:r>
            <a:r>
              <a:rPr sz="2000" b="1" i="0" dirty="0">
                <a:solidFill>
                  <a:srgbClr val="111827"/>
                </a:solidFill>
              </a:rPr>
              <a:t> vs </a:t>
            </a:r>
            <a:r>
              <a:rPr sz="2000" b="1" i="0" dirty="0" err="1">
                <a:solidFill>
                  <a:srgbClr val="111827"/>
                </a:solidFill>
              </a:rPr>
              <a:t>onChangeText</a:t>
            </a:r>
            <a:endParaRPr sz="2000" b="1" i="0" dirty="0">
              <a:solidFill>
                <a:srgbClr val="111827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43459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34592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</a:rPr>
              <a:t>&lt;</a:t>
            </a:r>
            <a:r>
              <a:rPr sz="2000" b="1" i="0" dirty="0" err="1">
                <a:solidFill>
                  <a:srgbClr val="DC2626"/>
                </a:solidFill>
              </a:rPr>
              <a:t>TextInput</a:t>
            </a:r>
            <a:r>
              <a:rPr sz="2000" b="1" i="0" dirty="0">
                <a:solidFill>
                  <a:srgbClr val="DC2626"/>
                </a:solidFill>
              </a:rPr>
              <a:t> </a:t>
            </a:r>
            <a:r>
              <a:rPr sz="2000" b="1" i="0" dirty="0" err="1">
                <a:solidFill>
                  <a:srgbClr val="DC2626"/>
                </a:solidFill>
              </a:rPr>
              <a:t>onChange</a:t>
            </a:r>
            <a:r>
              <a:rPr sz="2000" b="1" i="0" dirty="0">
                <a:solidFill>
                  <a:srgbClr val="DC2626"/>
                </a:solidFill>
              </a:rPr>
              <a:t>={</a:t>
            </a:r>
            <a:r>
              <a:rPr sz="2000" b="1" i="0" dirty="0" err="1">
                <a:solidFill>
                  <a:srgbClr val="DC2626"/>
                </a:solidFill>
              </a:rPr>
              <a:t>onChange</a:t>
            </a:r>
            <a:r>
              <a:rPr sz="2000" b="1" i="0" dirty="0">
                <a:solidFill>
                  <a:srgbClr val="DC2626"/>
                </a:solidFill>
              </a:rPr>
              <a:t>} 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8599" y="1536192"/>
            <a:ext cx="513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4360" y="1536192"/>
            <a:ext cx="59552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6A34A"/>
                </a:solidFill>
              </a:rPr>
              <a:t>&lt;</a:t>
            </a:r>
            <a:r>
              <a:rPr sz="2000" b="1" i="0" dirty="0" err="1">
                <a:solidFill>
                  <a:srgbClr val="16A34A"/>
                </a:solidFill>
              </a:rPr>
              <a:t>TextInput</a:t>
            </a:r>
            <a:r>
              <a:rPr sz="2000" b="1" i="0" dirty="0">
                <a:solidFill>
                  <a:srgbClr val="16A34A"/>
                </a:solidFill>
              </a:rPr>
              <a:t> </a:t>
            </a:r>
            <a:r>
              <a:rPr sz="2000" b="1" i="0" dirty="0" err="1">
                <a:solidFill>
                  <a:srgbClr val="16A34A"/>
                </a:solidFill>
              </a:rPr>
              <a:t>onChangeText</a:t>
            </a:r>
            <a:r>
              <a:rPr sz="2000" b="1" i="0" dirty="0">
                <a:solidFill>
                  <a:srgbClr val="16A34A"/>
                </a:solidFill>
              </a:rPr>
              <a:t>={</a:t>
            </a:r>
            <a:r>
              <a:rPr sz="2000" b="1" i="0" dirty="0" err="1">
                <a:solidFill>
                  <a:srgbClr val="16A34A"/>
                </a:solidFill>
              </a:rPr>
              <a:t>onChange</a:t>
            </a:r>
            <a:r>
              <a:rPr sz="2000" b="1" i="0" dirty="0">
                <a:solidFill>
                  <a:srgbClr val="16A34A"/>
                </a:solidFill>
              </a:rPr>
              <a:t>} 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371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/>
              <a:t>onChange</a:t>
            </a:r>
            <a:r>
              <a:rPr b="0" i="0" dirty="0"/>
              <a:t> is the HTML handler. React Native uses </a:t>
            </a:r>
            <a:r>
              <a:rPr b="0" i="0" dirty="0" err="1"/>
              <a:t>onChangeText</a:t>
            </a:r>
            <a:r>
              <a:rPr b="0" i="0" dirty="0"/>
              <a:t>.
The field will appear frozen if you use the wrong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1162253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64008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91739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Skipping </a:t>
            </a:r>
            <a:r>
              <a:rPr sz="2000" b="1" i="0" dirty="0" err="1">
                <a:solidFill>
                  <a:srgbClr val="111827"/>
                </a:solidFill>
              </a:rPr>
              <a:t>handleSubmit</a:t>
            </a:r>
            <a:endParaRPr sz="2000" b="1" i="0" dirty="0">
              <a:solidFill>
                <a:srgbClr val="111827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2818891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93491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DC2626"/>
                </a:solidFill>
              </a:rPr>
              <a:t>onPress</a:t>
            </a:r>
            <a:r>
              <a:rPr sz="2000" b="1" i="0" dirty="0">
                <a:solidFill>
                  <a:srgbClr val="DC2626"/>
                </a:solidFill>
              </a:rPr>
              <a:t>={</a:t>
            </a:r>
            <a:r>
              <a:rPr sz="2000" b="1" i="0" dirty="0" err="1">
                <a:solidFill>
                  <a:srgbClr val="DC2626"/>
                </a:solidFill>
              </a:rPr>
              <a:t>onSubmit</a:t>
            </a:r>
            <a:r>
              <a:rPr sz="2000" b="1" i="0" dirty="0">
                <a:solidFill>
                  <a:srgbClr val="DC2626"/>
                </a:solidFill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8599" y="2907791"/>
            <a:ext cx="513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4360" y="2907791"/>
            <a:ext cx="59552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onPress={handleSubmit(onSubmit)}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69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Calling </a:t>
            </a:r>
            <a:r>
              <a:rPr b="0" i="0" dirty="0" err="1"/>
              <a:t>onSubmit</a:t>
            </a:r>
            <a:r>
              <a:rPr b="0" i="0" dirty="0"/>
              <a:t> directly skips validation entirely.
Always wrap it with </a:t>
            </a:r>
            <a:r>
              <a:rPr b="0" i="0" dirty="0" err="1"/>
              <a:t>handleSubmit</a:t>
            </a:r>
            <a:r>
              <a:rPr b="0" i="0" dirty="0"/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1162253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64008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863339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Missing resolver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7779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77792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DC2626"/>
                </a:solidFill>
              </a:rPr>
              <a:t>useForm</a:t>
            </a:r>
            <a:r>
              <a:rPr sz="2000" b="1" i="0" dirty="0">
                <a:solidFill>
                  <a:srgbClr val="DC2626"/>
                </a:solidFill>
              </a:rPr>
              <a:t>({ </a:t>
            </a:r>
            <a:r>
              <a:rPr sz="2000" b="1" i="0" dirty="0" err="1">
                <a:solidFill>
                  <a:srgbClr val="DC2626"/>
                </a:solidFill>
              </a:rPr>
              <a:t>defaultValues</a:t>
            </a:r>
            <a:r>
              <a:rPr sz="2000" b="1" i="0" dirty="0">
                <a:solidFill>
                  <a:srgbClr val="DC2626"/>
                </a:solidFill>
              </a:rPr>
              <a:t>: {...} })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8599" y="4279392"/>
            <a:ext cx="513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4360" y="4279392"/>
            <a:ext cx="59552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6A34A"/>
                </a:solidFill>
              </a:rPr>
              <a:t>useForm</a:t>
            </a:r>
            <a:r>
              <a:rPr sz="2000" b="1" i="0" dirty="0">
                <a:solidFill>
                  <a:srgbClr val="16A34A"/>
                </a:solidFill>
              </a:rPr>
              <a:t>({ resolver: </a:t>
            </a:r>
            <a:r>
              <a:rPr sz="2000" b="1" i="0" dirty="0" err="1">
                <a:solidFill>
                  <a:srgbClr val="16A34A"/>
                </a:solidFill>
              </a:rPr>
              <a:t>zodResolver</a:t>
            </a:r>
            <a:r>
              <a:rPr sz="2000" b="1" i="0" dirty="0">
                <a:solidFill>
                  <a:srgbClr val="16A34A"/>
                </a:solidFill>
              </a:rPr>
              <a:t>(schema), ... })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5542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Without the resolver, the Zod schema is completely ignored.
The form will accept any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62253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5303520"/>
            <a:ext cx="64008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2349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Not deleting settings.tsx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52399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23992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settings.tsx + settings/index.tsx both exist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8599" y="5650992"/>
            <a:ext cx="513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4360" y="5650992"/>
            <a:ext cx="59552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Delete settings.tsx after creating the folder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9004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Expo Router will throw a duplicate route error.
Always delete the single file when converting to a folder.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6DD0B-ABBD-77D6-566E-3858EDFE4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F601D8-2D53-9CF3-418E-F4B695E9E1E7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937EA-B08A-16EA-2CB3-E08B4C08C47C}"/>
              </a:ext>
            </a:extLst>
          </p:cNvPr>
          <p:cNvSpPr txBox="1"/>
          <p:nvPr/>
        </p:nvSpPr>
        <p:spPr>
          <a:xfrm>
            <a:off x="365760" y="2286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111827"/>
                </a:solidFill>
              </a:rPr>
              <a:t>Summary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01F970-9DCE-14A6-0367-54CBC1847DB5}"/>
              </a:ext>
            </a:extLst>
          </p:cNvPr>
          <p:cNvSpPr/>
          <p:nvPr/>
        </p:nvSpPr>
        <p:spPr>
          <a:xfrm>
            <a:off x="365760" y="80467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2E05E2-26AD-0F2F-6A94-795CB1BF9166}"/>
              </a:ext>
            </a:extLst>
          </p:cNvPr>
          <p:cNvSpPr txBox="1"/>
          <p:nvPr/>
        </p:nvSpPr>
        <p:spPr>
          <a:xfrm>
            <a:off x="365760" y="866876"/>
            <a:ext cx="1163062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663" indent="-347663" algn="l">
              <a:buFont typeface="Arial" panose="020B0604020202020204" pitchFamily="34" charset="0"/>
              <a:buChar char="•"/>
            </a:pPr>
            <a:r>
              <a:rPr sz="2400" b="1" i="0" dirty="0">
                <a:solidFill>
                  <a:srgbClr val="2563EB"/>
                </a:solidFill>
              </a:rPr>
              <a:t>Schema first</a:t>
            </a:r>
            <a:endParaRPr lang="en-US" sz="2400" b="1" i="0" dirty="0">
              <a:solidFill>
                <a:srgbClr val="2563EB"/>
              </a:solidFill>
            </a:endParaRPr>
          </a:p>
          <a:p>
            <a:pPr marL="573088" lvl="1" indent="-231775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519113" algn="l"/>
              </a:tabLst>
            </a:pPr>
            <a:r>
              <a:rPr lang="en-US" sz="2200" dirty="0"/>
              <a:t>Write Zod rules once. Types, validation, and error messages all come from the same place.</a:t>
            </a:r>
          </a:p>
          <a:p>
            <a:pPr marL="347663" lvl="1" indent="-347663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563EB"/>
                </a:solidFill>
              </a:rPr>
              <a:t>One hook</a:t>
            </a:r>
          </a:p>
          <a:p>
            <a:pPr marL="573088" lvl="1" indent="-231775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519113" algn="l"/>
              </a:tabLst>
            </a:pPr>
            <a:r>
              <a:rPr lang="en-US" sz="2200" dirty="0" err="1"/>
              <a:t>useForm</a:t>
            </a:r>
            <a:r>
              <a:rPr lang="en-US" sz="2200" dirty="0"/>
              <a:t> replaces all your </a:t>
            </a:r>
            <a:r>
              <a:rPr lang="en-US" sz="2200" dirty="0" err="1"/>
              <a:t>useState</a:t>
            </a:r>
            <a:r>
              <a:rPr lang="en-US" sz="2200" dirty="0"/>
              <a:t> calls. control, </a:t>
            </a:r>
            <a:r>
              <a:rPr lang="en-US" sz="2200" dirty="0" err="1"/>
              <a:t>handleSubmit</a:t>
            </a:r>
            <a:r>
              <a:rPr lang="en-US" sz="2200" dirty="0"/>
              <a:t>, and errors are all you need.</a:t>
            </a:r>
          </a:p>
          <a:p>
            <a:pPr marL="347663" indent="-347663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563EB"/>
                </a:solidFill>
              </a:rPr>
              <a:t>Controller</a:t>
            </a:r>
          </a:p>
          <a:p>
            <a:pPr marL="573088" lvl="1" indent="-231775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519113" algn="l"/>
              </a:tabLst>
            </a:pPr>
            <a:r>
              <a:rPr lang="en-US" sz="2200" dirty="0"/>
              <a:t>The React Native-friendly wrapper. Gives your </a:t>
            </a:r>
            <a:r>
              <a:rPr lang="en-US" sz="2200" dirty="0" err="1"/>
              <a:t>TextInput</a:t>
            </a:r>
            <a:r>
              <a:rPr lang="en-US" sz="2200" dirty="0"/>
              <a:t> value and </a:t>
            </a:r>
            <a:r>
              <a:rPr lang="en-US" sz="2200" dirty="0" err="1"/>
              <a:t>onChangeText</a:t>
            </a:r>
            <a:r>
              <a:rPr lang="en-US" sz="2200" dirty="0"/>
              <a:t> from RHF.</a:t>
            </a:r>
          </a:p>
          <a:p>
            <a:pPr marL="347663" indent="-347663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2563EB"/>
                </a:solidFill>
              </a:rPr>
              <a:t>handleSubmit</a:t>
            </a:r>
            <a:endParaRPr lang="en-US" sz="2800" b="1" dirty="0">
              <a:solidFill>
                <a:srgbClr val="2563EB"/>
              </a:solidFill>
            </a:endParaRPr>
          </a:p>
          <a:p>
            <a:pPr marL="573088" lvl="1" indent="-231775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519113" algn="l"/>
              </a:tabLst>
            </a:pPr>
            <a:r>
              <a:rPr lang="en-US" sz="2200" dirty="0"/>
              <a:t>Always wrap your submit function. It runs Zod, blocks invalid submissions, and types your data.</a:t>
            </a:r>
          </a:p>
          <a:p>
            <a:pPr marL="347663" indent="-347663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563EB"/>
                </a:solidFill>
              </a:rPr>
              <a:t>Same nav pattern</a:t>
            </a:r>
          </a:p>
          <a:p>
            <a:pPr marL="573088" lvl="1" indent="-231775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519113" algn="l"/>
              </a:tabLst>
            </a:pPr>
            <a:r>
              <a:rPr lang="en-US" sz="2200" dirty="0"/>
              <a:t>Settings folder mirrors Courses. The nested Stack pattern is now used in two tabs — learn it once, use it everywhere.</a:t>
            </a:r>
          </a:p>
          <a:p>
            <a:endParaRPr lang="en-US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3A5C82F-7F00-7B05-7470-B28915FBDA12}"/>
              </a:ext>
            </a:extLst>
          </p:cNvPr>
          <p:cNvSpPr txBox="1"/>
          <p:nvPr/>
        </p:nvSpPr>
        <p:spPr>
          <a:xfrm>
            <a:off x="1020853" y="5822495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/>
              <a:t>Docs: react-hook-form.com  ·  </a:t>
            </a:r>
            <a:r>
              <a:rPr sz="2400" b="0" i="0" dirty="0" err="1"/>
              <a:t>zod.dev</a:t>
            </a:r>
            <a:r>
              <a:rPr sz="2400" b="0" i="0" dirty="0"/>
              <a:t>  ·  github.com/react-hook-form/resolvers</a:t>
            </a:r>
          </a:p>
        </p:txBody>
      </p:sp>
    </p:spTree>
    <p:extLst>
      <p:ext uri="{BB962C8B-B14F-4D97-AF65-F5344CB8AC3E}">
        <p14:creationId xmlns:p14="http://schemas.microsoft.com/office/powerpoint/2010/main" val="294619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1902</Words>
  <Application>Microsoft Office PowerPoint</Application>
  <PresentationFormat>Custom</PresentationFormat>
  <Paragraphs>203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Courier New</vt:lpstr>
      <vt:lpstr>Titillium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2026-10-27T01:16:43Z</dcterms:created>
  <dcterms:modified xsi:type="dcterms:W3CDTF">2026-10-27T01:17:57Z</dcterms:modified>
  <cp:category/>
</cp:coreProperties>
</file>