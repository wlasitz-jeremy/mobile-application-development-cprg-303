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31"/>
  </p:notesMasterIdLst>
  <p:sldIdLst>
    <p:sldId id="280" r:id="rId2"/>
    <p:sldId id="281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83" r:id="rId11"/>
    <p:sldId id="264" r:id="rId12"/>
    <p:sldId id="284" r:id="rId13"/>
    <p:sldId id="265" r:id="rId14"/>
    <p:sldId id="28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86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1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245" autoAdjust="0"/>
  </p:normalViewPr>
  <p:slideViewPr>
    <p:cSldViewPr snapToGrid="0" snapToObjects="1">
      <p:cViewPr varScale="1">
        <p:scale>
          <a:sx n="77" d="100"/>
          <a:sy n="77" d="100"/>
        </p:scale>
        <p:origin x="1830" y="9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FF40C-0FE4-4092-97CE-165FD44E79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83E6D-1BFD-4C98-8A4F-32157FD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88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15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 algn="l" defTabSz="914400" rtl="0" eaLnBrk="1" fontAlgn="t" latinLnBrk="0" hangingPunct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04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14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39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55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79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52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30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53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77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40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EA988-65AA-C6F0-F6D3-757ACCB86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498EE-0125-B552-B0A5-9E74F07FA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DBBAC-3C13-D02E-8500-C30132D3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0341-3673-C3F4-1265-5153EB12A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20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30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5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93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278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06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58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13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01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51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31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947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83E6D-1BFD-4C98-8A4F-32157FD82DA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69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7" y="893"/>
            <a:ext cx="12185778" cy="54849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7" y="6308610"/>
            <a:ext cx="12185778" cy="54849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87" y="1744228"/>
            <a:ext cx="12185778" cy="861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999" b="1" dirty="0">
                <a:solidFill>
                  <a:srgbClr val="FFFFFF"/>
                </a:solidFill>
              </a:rPr>
              <a:t>Camera and Maps</a:t>
            </a:r>
            <a:endParaRPr sz="4999" b="1" dirty="0">
              <a:solidFill>
                <a:srgbClr val="FFFFFF"/>
              </a:solidFill>
            </a:endParaRP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13F6F202-F5E2-FAA5-5C18-6BB820DB8BA2}"/>
              </a:ext>
            </a:extLst>
          </p:cNvPr>
          <p:cNvSpPr txBox="1">
            <a:spLocks/>
          </p:cNvSpPr>
          <p:nvPr/>
        </p:nvSpPr>
        <p:spPr>
          <a:xfrm>
            <a:off x="270091" y="582696"/>
            <a:ext cx="7902697" cy="82012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99" dirty="0">
                <a:solidFill>
                  <a:schemeClr val="bg1"/>
                </a:solidFill>
              </a:rPr>
              <a:t>CPRG303 – Mobile Application Development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F02DABF-5EE0-6A33-D4A8-1CD72CBFF878}"/>
              </a:ext>
            </a:extLst>
          </p:cNvPr>
          <p:cNvSpPr txBox="1">
            <a:spLocks/>
          </p:cNvSpPr>
          <p:nvPr/>
        </p:nvSpPr>
        <p:spPr>
          <a:xfrm>
            <a:off x="1587" y="4174249"/>
            <a:ext cx="12185650" cy="1655331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086">
              <a:lnSpc>
                <a:spcPct val="120000"/>
              </a:lnSpc>
              <a:spcAft>
                <a:spcPts val="600"/>
              </a:spcAft>
            </a:pPr>
            <a:r>
              <a:rPr lang="en-US" sz="4799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086">
              <a:lnSpc>
                <a:spcPct val="120000"/>
              </a:lnSpc>
              <a:spcAft>
                <a:spcPts val="600"/>
              </a:spcAft>
            </a:pPr>
            <a:r>
              <a:rPr lang="en-US" sz="4799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5EE739-42FC-EE6C-DE45-FC584BC65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" y="4052871"/>
            <a:ext cx="1631427" cy="2222434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D98DE45-D28E-5390-7E59-9AC0A7695EA7}"/>
              </a:ext>
            </a:extLst>
          </p:cNvPr>
          <p:cNvSpPr/>
          <p:nvPr/>
        </p:nvSpPr>
        <p:spPr>
          <a:xfrm>
            <a:off x="1589" y="6327994"/>
            <a:ext cx="12185776" cy="52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88434-950C-C7DA-86CF-B1BF43238053}"/>
              </a:ext>
            </a:extLst>
          </p:cNvPr>
          <p:cNvSpPr txBox="1"/>
          <p:nvPr/>
        </p:nvSpPr>
        <p:spPr>
          <a:xfrm>
            <a:off x="270090" y="2957199"/>
            <a:ext cx="121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DBEAFE"/>
                </a:solidFill>
              </a:rPr>
              <a:t>Accessing Device Hardware — Image Picker and Interactive Maps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155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627" y="1097280"/>
            <a:ext cx="5394960" cy="4957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9627" y="1097280"/>
            <a:ext cx="5394960" cy="50292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332507" y="107799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Day 1  —  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507" y="1783080"/>
            <a:ext cx="5029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The Device Permissions Model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Install expo-image-picker + add </a:t>
            </a:r>
            <a:r>
              <a:rPr lang="en-US" sz="2200" dirty="0" err="1">
                <a:latin typeface="Calibri"/>
              </a:rPr>
              <a:t>app.json</a:t>
            </a:r>
            <a:r>
              <a:rPr lang="en-US" sz="2200" dirty="0">
                <a:latin typeface="Calibri"/>
              </a:rPr>
              <a:t> plugins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Add PROFILE_PHOTO key to </a:t>
            </a:r>
            <a:r>
              <a:rPr lang="en-US" sz="2200" dirty="0" err="1">
                <a:latin typeface="Calibri"/>
              </a:rPr>
              <a:t>storage.ts</a:t>
            </a:r>
            <a:endParaRPr lang="en-US" sz="2200" dirty="0">
              <a:latin typeface="Calibri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Build the profile photo feature (camera + library)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URI vs Base64 — what to store in </a:t>
            </a:r>
            <a:r>
              <a:rPr lang="en-US" sz="2200" dirty="0" err="1">
                <a:latin typeface="Calibri"/>
              </a:rPr>
              <a:t>AsyncStorage</a:t>
            </a:r>
            <a:endParaRPr lang="en-US" sz="2200" dirty="0"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2255" y="1097280"/>
            <a:ext cx="5652377" cy="4957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26230" y="1097280"/>
            <a:ext cx="5688402" cy="50292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409110" y="1077990"/>
            <a:ext cx="5322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Day 2  —  2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7545" y="1783080"/>
            <a:ext cx="568840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react-native-maps: </a:t>
            </a:r>
            <a:r>
              <a:rPr lang="en-US" sz="2200" dirty="0" err="1">
                <a:latin typeface="Calibri"/>
              </a:rPr>
              <a:t>MapView</a:t>
            </a:r>
            <a:r>
              <a:rPr lang="en-US" sz="2200" dirty="0">
                <a:latin typeface="Calibri"/>
              </a:rPr>
              <a:t>, Marker, </a:t>
            </a:r>
            <a:r>
              <a:rPr lang="en-US" sz="2200" dirty="0" err="1">
                <a:latin typeface="Calibri"/>
              </a:rPr>
              <a:t>initialRegion</a:t>
            </a:r>
            <a:endParaRPr lang="en-US" sz="2200" dirty="0">
              <a:latin typeface="Calibri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expo-location: foreground permission, blue dot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/>
              </a:rPr>
              <a:t>useRef</a:t>
            </a:r>
            <a:r>
              <a:rPr lang="en-US" sz="2200" dirty="0">
                <a:latin typeface="Calibri"/>
              </a:rPr>
              <a:t> — a new hook for imperative actions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Build the Campus Map screen (6 SAIT buildings)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 </a:t>
            </a:r>
            <a:r>
              <a:rPr lang="en-US" sz="2200" dirty="0" err="1">
                <a:latin typeface="Calibri"/>
              </a:rPr>
              <a:t>handleBuildingPress</a:t>
            </a:r>
            <a:r>
              <a:rPr lang="en-US" sz="2200" dirty="0">
                <a:latin typeface="Calibri"/>
              </a:rPr>
              <a:t>: animate + </a:t>
            </a:r>
            <a:r>
              <a:rPr lang="en-US" sz="2200" dirty="0" err="1">
                <a:latin typeface="Calibri"/>
              </a:rPr>
              <a:t>showCallout</a:t>
            </a:r>
            <a:endParaRPr lang="en-US" sz="2200" dirty="0">
              <a:latin typeface="Calibri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</a:rPr>
              <a:t> Emulator location problem + custom recenter button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150" y="3474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9E07B8-DB65-7E29-9108-FCF0DB8BC483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5653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52795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Week 10 had 3 tabs and no photo — Week 11 adds camera + a 4th Map tab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1190" y="1397929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070" y="1374652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BEFORE  (end of Week 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190" y="1874518"/>
            <a:ext cx="5394833" cy="403187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Profile screen has a grey circle — no photo possible</a:t>
            </a:r>
          </a:p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No way to access the camera or photo library</a:t>
            </a:r>
          </a:p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App has only 3 tabs: Home, Courses, Settings</a:t>
            </a:r>
          </a:p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No campus map — students can’t find buildings</a:t>
            </a:r>
          </a:p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Never touched device hardware at 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474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563EB"/>
                </a:solidFill>
                <a:latin typeface="Calibri"/>
              </a:rPr>
              <a:t>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105156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104213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AFTER  (end of Week 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1" y="1523514"/>
            <a:ext cx="5394833" cy="52937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Circular photo avatar — tap to take or pick a photo</a:t>
            </a:r>
          </a:p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Camera + photo library with proper permission checks</a:t>
            </a:r>
          </a:p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Photo persists across app restarts (</a:t>
            </a:r>
            <a:r>
              <a:rPr sz="2300" dirty="0" err="1">
                <a:solidFill>
                  <a:srgbClr val="111827"/>
                </a:solidFill>
                <a:latin typeface="Calibri"/>
              </a:rPr>
              <a:t>AsyncStorage</a:t>
            </a:r>
            <a:r>
              <a:rPr sz="2300" dirty="0">
                <a:solidFill>
                  <a:srgbClr val="111827"/>
                </a:solidFill>
                <a:latin typeface="Calibri"/>
              </a:rPr>
              <a:t> URI)</a:t>
            </a:r>
          </a:p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NEW 4th tab: Campus Map with 6 SAIT building markers</a:t>
            </a:r>
          </a:p>
          <a:p>
            <a:pPr algn="l">
              <a:spcAft>
                <a:spcPts val="1200"/>
              </a:spcAft>
            </a:pPr>
            <a:r>
              <a:rPr sz="23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Location permission — blue dot shows user position</a:t>
            </a:r>
          </a:p>
          <a:p>
            <a:pPr algn="l"/>
            <a:r>
              <a:rPr sz="23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300" dirty="0">
                <a:solidFill>
                  <a:srgbClr val="111827"/>
                </a:solidFill>
                <a:latin typeface="Calibri"/>
              </a:rPr>
              <a:t>Tap building card → map flies there + callout opens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71187-1ADA-248B-962E-2129AAB60D51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14967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The Device Permissions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5200"/>
            <a:ext cx="11567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600" b="0" dirty="0">
                <a:latin typeface="Calibri"/>
              </a:rPr>
              <a:t>Mobile hardware requires explicit user consent — every time, for every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36" y="1207008"/>
            <a:ext cx="537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563EB"/>
                </a:solidFill>
                <a:latin typeface="Calibri"/>
              </a:rPr>
              <a:t>Permission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836" y="1645920"/>
            <a:ext cx="5375564" cy="429768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625" y="2074027"/>
            <a:ext cx="50201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App calls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requestCameraPermissionsAsync</a:t>
            </a:r>
            <a:r>
              <a:rPr dirty="0">
                <a:solidFill>
                  <a:srgbClr val="E2E8F0"/>
                </a:solidFill>
                <a:latin typeface="Courier New"/>
              </a:rPr>
              <a:t>()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       ↓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OS shows system alert: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"Campus Hub wants to use your camera"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[Allow]        [Don't Allow]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  ↓                ↓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"granted"        "denied"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  ↓                ↓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Launch the   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Alert.alert</a:t>
            </a:r>
            <a:r>
              <a:rPr dirty="0">
                <a:solidFill>
                  <a:srgbClr val="E2E8F0"/>
                </a:solidFill>
                <a:latin typeface="Courier New"/>
              </a:rPr>
              <a:t>()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picker         "Go to Settings"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12" y="1188720"/>
            <a:ext cx="5983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0000"/>
                </a:solidFill>
                <a:latin typeface="Calibri"/>
              </a:rPr>
              <a:t>Four Key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39" y="1737360"/>
            <a:ext cx="6042949" cy="10515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727382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563EB"/>
                </a:solidFill>
                <a:latin typeface="Calibri"/>
              </a:rPr>
              <a:t>Ask right before you use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93698"/>
            <a:ext cx="5860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latin typeface="Calibri"/>
              </a:rPr>
              <a:t>Not on app startup — contextual requests feel trustworthy. Ask for camera when the user taps "Take Photo".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907792"/>
            <a:ext cx="6042948" cy="10515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897814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Permissions are sticky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64130"/>
            <a:ext cx="5669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latin typeface="Calibri"/>
              </a:rPr>
              <a:t>Once granted or denied, the OS remembers. Calling request again returns instantly — no alert shown again.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078224"/>
            <a:ext cx="6042948" cy="10515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4068246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denied ≠ retry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434562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latin typeface="Calibri"/>
              </a:rPr>
              <a:t>You can't force the user to change it. Direct them to Settings → Campus Hub to re-enable.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5248656"/>
            <a:ext cx="6042948" cy="10515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5238678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Check !== "granted"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604994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latin typeface="Calibri"/>
              </a:rPr>
              <a:t>Not === "denied". Status can also be "undetermined". !=="granted" covers all non-granted states.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29C094-6372-5DC9-3F3D-D6A4230F5A76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70384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expo-image-picker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39" y="726338"/>
            <a:ext cx="11265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Two launch modes: camera and photo library — same result shape, different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10705"/>
            <a:ext cx="5130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563EB"/>
                </a:solidFill>
                <a:latin typeface="Calibri"/>
              </a:rPr>
              <a:t>Two Launch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02482"/>
            <a:ext cx="5130066" cy="3957937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1" y="1839642"/>
            <a:ext cx="49654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// Mode 1: Open the device camera</a:t>
            </a:r>
          </a:p>
          <a:p>
            <a:pPr algn="l"/>
            <a:r>
              <a:rPr sz="1600" dirty="0" err="1">
                <a:solidFill>
                  <a:srgbClr val="E2E8F0"/>
                </a:solidFill>
                <a:latin typeface="Courier New"/>
              </a:rPr>
              <a:t>ImagePicker.launchCameraAsync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({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mediaTypes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 "images",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allowsEditing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 true,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aspect: [1, 1],   // square crop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quality: 0.8,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})</a:t>
            </a:r>
          </a:p>
          <a:p>
            <a:pPr algn="l"/>
            <a:endParaRPr sz="16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// Mode 2: Open the photo library</a:t>
            </a:r>
          </a:p>
          <a:p>
            <a:pPr algn="l"/>
            <a:r>
              <a:rPr sz="1600" dirty="0" err="1">
                <a:solidFill>
                  <a:srgbClr val="E2E8F0"/>
                </a:solidFill>
                <a:latin typeface="Courier New"/>
              </a:rPr>
              <a:t>ImagePicker.launchImageLibraryAsync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({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mediaTypes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 "images",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allowsEditing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 true,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aspect: [1, 1],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quality: 0.8,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01844"/>
            <a:ext cx="52303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563EB"/>
                </a:solidFill>
                <a:latin typeface="Calibri"/>
              </a:rPr>
              <a:t>The Result Shape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56761"/>
            <a:ext cx="5230368" cy="2614196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727933"/>
            <a:ext cx="52303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// result is one of two shapes: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{ canceled: true }</a:t>
            </a:r>
          </a:p>
          <a:p>
            <a:pPr algn="l"/>
            <a:endParaRPr sz="16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{ canceled: false,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assets: [{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 "file:///path/to/photo.jpg",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width: 1080,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height: 1080,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}]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3647" y="4599283"/>
            <a:ext cx="57828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0000"/>
                </a:solidFill>
                <a:latin typeface="Calibri"/>
              </a:rPr>
              <a:t>Key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7699" y="5046237"/>
            <a:ext cx="5782873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2563EB"/>
                </a:solidFill>
                <a:latin typeface="Calibri"/>
              </a:rPr>
              <a:t>Always check canceled first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If canceled is true, assets is null. Reading assets[0].</a:t>
            </a:r>
            <a:r>
              <a:rPr sz="2000" dirty="0" err="1">
                <a:solidFill>
                  <a:srgbClr val="111827"/>
                </a:solidFill>
                <a:latin typeface="Calibri"/>
              </a:rPr>
              <a:t>uri</a:t>
            </a:r>
            <a:r>
              <a:rPr sz="2000" dirty="0">
                <a:solidFill>
                  <a:srgbClr val="111827"/>
                </a:solidFill>
                <a:latin typeface="Calibri"/>
              </a:rPr>
              <a:t> will crash.</a:t>
            </a:r>
            <a:endParaRPr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7699" y="5953088"/>
            <a:ext cx="5782873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2563EB"/>
                </a:solidFill>
                <a:latin typeface="Calibri"/>
              </a:rPr>
              <a:t>aspect: [1, 1] forces a square crop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Perfect for circular profile avatars. The OS shows the crop UI.</a:t>
            </a:r>
            <a:endParaRPr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263" y="5953088"/>
            <a:ext cx="5810305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2563EB"/>
                </a:solidFill>
                <a:latin typeface="Calibri"/>
              </a:rPr>
              <a:t>Both functions are async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They await the user’s action — the function resolves when they confirm or cancel.</a:t>
            </a:r>
            <a:endParaRPr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2D48B8-0A13-8972-687F-E0E3177B12C1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70387"/>
            <a:ext cx="9641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Saving Images: URI vs Base64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59" y="612679"/>
            <a:ext cx="11292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>
                <a:latin typeface="Calibri"/>
              </a:rPr>
              <a:t>What to store in </a:t>
            </a:r>
            <a:r>
              <a:rPr sz="2800" b="0" dirty="0" err="1">
                <a:latin typeface="Calibri"/>
              </a:rPr>
              <a:t>AsyncStorage</a:t>
            </a:r>
            <a:endParaRPr sz="2800" b="0" dirty="0"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7992" y="1249550"/>
            <a:ext cx="11292839" cy="118872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647921" y="1219070"/>
            <a:ext cx="5263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DC2626"/>
                </a:solidFill>
                <a:latin typeface="Calibri"/>
              </a:rPr>
              <a:t>✗  Base64 (DON'T do this)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920" y="1582798"/>
            <a:ext cx="106284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11827"/>
                </a:solidFill>
                <a:latin typeface="Calibri"/>
              </a:rPr>
              <a:t>A 3 MB photo encoded as base64 is ~4 MB of text. </a:t>
            </a:r>
            <a:r>
              <a:rPr sz="2400" b="0" dirty="0" err="1">
                <a:solidFill>
                  <a:srgbClr val="111827"/>
                </a:solidFill>
                <a:latin typeface="Calibri"/>
              </a:rPr>
              <a:t>AsyncStorage</a:t>
            </a:r>
            <a:r>
              <a:rPr sz="2400" b="0" dirty="0">
                <a:solidFill>
                  <a:srgbClr val="111827"/>
                </a:solidFill>
                <a:latin typeface="Calibri"/>
              </a:rPr>
              <a:t> gets very slow with large values. Never store binary data as base64 in </a:t>
            </a:r>
            <a:r>
              <a:rPr sz="2400" b="0" dirty="0" err="1">
                <a:solidFill>
                  <a:srgbClr val="111827"/>
                </a:solidFill>
                <a:latin typeface="Calibri"/>
              </a:rPr>
              <a:t>AsyncStorage</a:t>
            </a:r>
            <a:r>
              <a:rPr sz="2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992" y="2651372"/>
            <a:ext cx="11292838" cy="118872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47920" y="2620892"/>
            <a:ext cx="4929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6A34A"/>
                </a:solidFill>
                <a:latin typeface="Calibri"/>
              </a:rPr>
              <a:t>✓  URI string (DO this)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21" y="2971920"/>
            <a:ext cx="106284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11827"/>
                </a:solidFill>
                <a:latin typeface="Calibri"/>
              </a:rPr>
              <a:t>The photo lives in the device’s file system. Store only the file path string — a few hundred characters. Fast to save, fast to load, tiny storage footprint.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18553" y="4055623"/>
            <a:ext cx="8042865" cy="2583151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87278" y="4187480"/>
            <a:ext cx="75546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// After picking a photo: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 =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result.assets</a:t>
            </a:r>
            <a:r>
              <a:rPr dirty="0">
                <a:solidFill>
                  <a:srgbClr val="E2E8F0"/>
                </a:solidFill>
                <a:latin typeface="Courier New"/>
              </a:rPr>
              <a:t>[0].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//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 = "file:///var/mobile/...photo.jpg"</a:t>
            </a:r>
          </a:p>
          <a:p>
            <a:pPr algn="l"/>
            <a:endParaRPr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// Store just the path string: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await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storage.set</a:t>
            </a:r>
            <a:r>
              <a:rPr dirty="0">
                <a:solidFill>
                  <a:srgbClr val="E2E8F0"/>
                </a:solidFill>
                <a:latin typeface="Courier New"/>
              </a:rPr>
              <a:t>(STORAGE_KEYS.PROFILE_PHOTO,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);</a:t>
            </a:r>
          </a:p>
          <a:p>
            <a:pPr algn="l"/>
            <a:endParaRPr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// Load it back — pass to &lt;Image source={{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 }} /&gt;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8BF2EF-BFCD-D4DE-0374-50DC9DBA4D94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FEF3C-CD0F-0A04-89B7-BFD9AA49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A7C814-864D-FB19-1EED-A55576ACD864}"/>
              </a:ext>
            </a:extLst>
          </p:cNvPr>
          <p:cNvSpPr txBox="1"/>
          <p:nvPr/>
        </p:nvSpPr>
        <p:spPr>
          <a:xfrm>
            <a:off x="320040" y="-70387"/>
            <a:ext cx="9641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Alert as Action 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AEA13-41DD-E495-0356-DA7533F68956}"/>
              </a:ext>
            </a:extLst>
          </p:cNvPr>
          <p:cNvSpPr txBox="1"/>
          <p:nvPr/>
        </p:nvSpPr>
        <p:spPr>
          <a:xfrm>
            <a:off x="320040" y="594360"/>
            <a:ext cx="11292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0" dirty="0">
                <a:latin typeface="Calibri"/>
              </a:rPr>
              <a:t>H</a:t>
            </a:r>
            <a:r>
              <a:rPr sz="2400" b="0" dirty="0">
                <a:latin typeface="Calibri"/>
              </a:rPr>
              <a:t>ow to present choices to the user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A78018-317E-E8B9-74AA-367A7D28D877}"/>
              </a:ext>
            </a:extLst>
          </p:cNvPr>
          <p:cNvSpPr txBox="1"/>
          <p:nvPr/>
        </p:nvSpPr>
        <p:spPr>
          <a:xfrm>
            <a:off x="254972" y="1371084"/>
            <a:ext cx="1167888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11827"/>
                </a:solidFill>
                <a:latin typeface="Calibri"/>
              </a:rPr>
              <a:t>Instead of building custom UI, </a:t>
            </a:r>
            <a:r>
              <a:rPr sz="2400" b="0" dirty="0" err="1">
                <a:solidFill>
                  <a:srgbClr val="111827"/>
                </a:solidFill>
                <a:latin typeface="Calibri"/>
              </a:rPr>
              <a:t>Alert.alert</a:t>
            </a:r>
            <a:r>
              <a:rPr sz="2400" b="0" dirty="0">
                <a:solidFill>
                  <a:srgbClr val="111827"/>
                </a:solidFill>
                <a:latin typeface="Calibri"/>
              </a:rPr>
              <a:t>() renders as a native action sheet on iOS — familiar UX that users already know.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3E233FB-142D-6797-A043-5AC753362C34}"/>
              </a:ext>
            </a:extLst>
          </p:cNvPr>
          <p:cNvSpPr/>
          <p:nvPr/>
        </p:nvSpPr>
        <p:spPr>
          <a:xfrm>
            <a:off x="122591" y="2522078"/>
            <a:ext cx="6820822" cy="3381469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77BBF5-A309-C44D-D01E-FDF7D9B60749}"/>
              </a:ext>
            </a:extLst>
          </p:cNvPr>
          <p:cNvSpPr txBox="1"/>
          <p:nvPr/>
        </p:nvSpPr>
        <p:spPr>
          <a:xfrm>
            <a:off x="305471" y="2532239"/>
            <a:ext cx="672662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handlePhotoPress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= () =&gt; {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Alert.alert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("Profile Photo", "Choose a source", [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{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text: "Take Photo",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 () =&gt;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openPicker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("camera")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},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{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text: "Choose from Library",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 () =&gt;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openPicker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("library")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},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{ text: "Cancel", style: "cancel" },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]);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7A5991E-92E6-E509-A870-855453A13ABE}"/>
              </a:ext>
            </a:extLst>
          </p:cNvPr>
          <p:cNvSpPr/>
          <p:nvPr/>
        </p:nvSpPr>
        <p:spPr>
          <a:xfrm>
            <a:off x="7094133" y="3190956"/>
            <a:ext cx="4930151" cy="2285911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98917D-E2D0-A3AA-3EA3-2CA0C1FEDEC1}"/>
              </a:ext>
            </a:extLst>
          </p:cNvPr>
          <p:cNvSpPr txBox="1"/>
          <p:nvPr/>
        </p:nvSpPr>
        <p:spPr>
          <a:xfrm>
            <a:off x="7256917" y="3228945"/>
            <a:ext cx="4426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563EB"/>
                </a:solidFill>
                <a:latin typeface="Calibri"/>
              </a:rPr>
              <a:t>&gt;&gt;  style: "cancel"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14810E-BA21-A026-2D09-0FD222E3F80A}"/>
              </a:ext>
            </a:extLst>
          </p:cNvPr>
          <p:cNvSpPr txBox="1"/>
          <p:nvPr/>
        </p:nvSpPr>
        <p:spPr>
          <a:xfrm>
            <a:off x="7256917" y="3639917"/>
            <a:ext cx="481936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111827"/>
                </a:solidFill>
                <a:latin typeface="Calibri"/>
              </a:rPr>
              <a:t>The cancel button with style: "cancel" is automatically placed at the bottom of the action sheet on iOS, and styled in red on some Android versions. It’s a native convention — use it.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650369-CF1B-03CF-F4D2-2229CBFCD90C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2257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" y="1920240"/>
            <a:ext cx="121888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dirty="0">
                <a:solidFill>
                  <a:srgbClr val="FFFFFF"/>
                </a:solidFill>
                <a:latin typeface="Calibri"/>
              </a:rPr>
              <a:t>Profile Photo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" y="3749039"/>
            <a:ext cx="121888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dirty="0">
                <a:solidFill>
                  <a:srgbClr val="DBEAFE"/>
                </a:solidFill>
                <a:latin typeface="Calibri"/>
              </a:rPr>
              <a:t>Camera, library, permissions, circular avatar, and persistence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56530"/>
            <a:ext cx="8893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Profile Photo: </a:t>
            </a:r>
            <a:r>
              <a:rPr sz="3200" b="1" dirty="0" err="1">
                <a:latin typeface="Calibri"/>
              </a:rPr>
              <a:t>openPicker</a:t>
            </a:r>
            <a:r>
              <a:rPr sz="3200" b="1" dirty="0">
                <a:latin typeface="Calibri"/>
              </a:rPr>
              <a:t>()</a:t>
            </a:r>
            <a:r>
              <a:rPr lang="en-US" sz="3200" b="1" dirty="0">
                <a:latin typeface="Calibri"/>
              </a:rPr>
              <a:t> 1/2</a:t>
            </a:r>
            <a:endParaRPr sz="3200" b="1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2686207"/>
            <a:ext cx="26486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Calibri"/>
              </a:rPr>
              <a:t>Step 1: </a:t>
            </a:r>
            <a:r>
              <a:rPr sz="2800" b="1" dirty="0">
                <a:latin typeface="Calibri"/>
              </a:rPr>
              <a:t>Request permission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3CE0BF-81B7-EA6C-682E-C5903068D08D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AC625EAC-A3A5-430A-F88E-764E228926E1}"/>
              </a:ext>
            </a:extLst>
          </p:cNvPr>
          <p:cNvSpPr/>
          <p:nvPr/>
        </p:nvSpPr>
        <p:spPr>
          <a:xfrm>
            <a:off x="3068874" y="865569"/>
            <a:ext cx="8893480" cy="5809555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275BD0-7D27-EAE0-1977-E84649109C5D}"/>
              </a:ext>
            </a:extLst>
          </p:cNvPr>
          <p:cNvSpPr txBox="1"/>
          <p:nvPr/>
        </p:nvSpPr>
        <p:spPr>
          <a:xfrm>
            <a:off x="3256764" y="1194950"/>
            <a:ext cx="870558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openPicker</a:t>
            </a:r>
            <a:r>
              <a:rPr dirty="0">
                <a:solidFill>
                  <a:srgbClr val="E2E8F0"/>
                </a:solidFill>
                <a:latin typeface="Courier New"/>
              </a:rPr>
              <a:t> = async (source: "camera" | "library") =&gt; {</a:t>
            </a:r>
          </a:p>
          <a:p>
            <a:pPr algn="l"/>
            <a:endParaRPr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// 1. Request permission for the chosen source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if (source === "camera") 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const { status } = await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ImagePicker</a:t>
            </a:r>
            <a:endParaRPr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.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requestCameraPermissionsAsync</a:t>
            </a:r>
            <a:r>
              <a:rPr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if (status !== "granted") 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Alert.alert</a:t>
            </a:r>
            <a:r>
              <a:rPr dirty="0">
                <a:solidFill>
                  <a:srgbClr val="E2E8F0"/>
                </a:solidFill>
                <a:latin typeface="Courier New"/>
              </a:rPr>
              <a:t>("Permission Denied",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  "Camera access required. Enable in Settings.");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return;  // &lt;-- MUST return here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}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} else 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const { status } = await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ImagePicker</a:t>
            </a:r>
            <a:endParaRPr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.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requestMediaLibraryPermissionsAsync</a:t>
            </a:r>
            <a:r>
              <a:rPr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if (status !== "granted") 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Alert.alert</a:t>
            </a:r>
            <a:r>
              <a:rPr dirty="0">
                <a:solidFill>
                  <a:srgbClr val="E2E8F0"/>
                </a:solidFill>
                <a:latin typeface="Courier New"/>
              </a:rPr>
              <a:t>("Permission Denied", "...");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return;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}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FF6BD-5428-50FD-8509-D3EC6A11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E7DAE7-1050-02DB-EAA3-C09A60BF4FC9}"/>
              </a:ext>
            </a:extLst>
          </p:cNvPr>
          <p:cNvSpPr txBox="1"/>
          <p:nvPr/>
        </p:nvSpPr>
        <p:spPr>
          <a:xfrm>
            <a:off x="320040" y="-5653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Profile Photo: </a:t>
            </a:r>
            <a:r>
              <a:rPr sz="3200" b="1" dirty="0" err="1">
                <a:latin typeface="Calibri"/>
              </a:rPr>
              <a:t>openPicker</a:t>
            </a:r>
            <a:r>
              <a:rPr sz="3200" b="1" dirty="0">
                <a:latin typeface="Calibri"/>
              </a:rPr>
              <a:t>()</a:t>
            </a:r>
            <a:r>
              <a:rPr lang="en-US" sz="3200" b="1" dirty="0">
                <a:latin typeface="Calibri"/>
              </a:rPr>
              <a:t> 2/2</a:t>
            </a:r>
            <a:endParaRPr sz="3200" b="1" dirty="0">
              <a:latin typeface="Calibri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32FC41-12E0-C0E4-912C-1AF0350BDB03}"/>
              </a:ext>
            </a:extLst>
          </p:cNvPr>
          <p:cNvSpPr/>
          <p:nvPr/>
        </p:nvSpPr>
        <p:spPr>
          <a:xfrm>
            <a:off x="3469708" y="1051560"/>
            <a:ext cx="8379913" cy="5302010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4A8D6-190F-BE44-7206-59BF1E643613}"/>
              </a:ext>
            </a:extLst>
          </p:cNvPr>
          <p:cNvSpPr txBox="1"/>
          <p:nvPr/>
        </p:nvSpPr>
        <p:spPr>
          <a:xfrm>
            <a:off x="3908621" y="1188720"/>
            <a:ext cx="811072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// 2. Launch the picker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const result = source === "camera"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? await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ImagePicker.launchCameraAsync</a:t>
            </a:r>
            <a:r>
              <a:rPr dirty="0">
                <a:solidFill>
                  <a:srgbClr val="E2E8F0"/>
                </a:solidFill>
                <a:latin typeface="Courier New"/>
              </a:rPr>
              <a:t>({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mediaTypes</a:t>
            </a:r>
            <a:r>
              <a:rPr dirty="0">
                <a:solidFill>
                  <a:srgbClr val="E2E8F0"/>
                </a:solidFill>
                <a:latin typeface="Courier New"/>
              </a:rPr>
              <a:t>: "images",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allowsEditing</a:t>
            </a:r>
            <a:r>
              <a:rPr dirty="0">
                <a:solidFill>
                  <a:srgbClr val="E2E8F0"/>
                </a:solidFill>
                <a:latin typeface="Courier New"/>
              </a:rPr>
              <a:t>: true,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  aspect: [1, 1], quality: 0.8,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})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: await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ImagePicker.launchImageLibraryAsync</a:t>
            </a:r>
            <a:r>
              <a:rPr dirty="0">
                <a:solidFill>
                  <a:srgbClr val="E2E8F0"/>
                </a:solidFill>
                <a:latin typeface="Courier New"/>
              </a:rPr>
              <a:t>({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mediaTypes</a:t>
            </a:r>
            <a:r>
              <a:rPr dirty="0">
                <a:solidFill>
                  <a:srgbClr val="E2E8F0"/>
                </a:solidFill>
                <a:latin typeface="Courier New"/>
              </a:rPr>
              <a:t>: "images",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allowsEditing</a:t>
            </a:r>
            <a:r>
              <a:rPr dirty="0">
                <a:solidFill>
                  <a:srgbClr val="E2E8F0"/>
                </a:solidFill>
                <a:latin typeface="Courier New"/>
              </a:rPr>
              <a:t>: true,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  aspect: [1, 1], quality: 0.8,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  });</a:t>
            </a:r>
          </a:p>
          <a:p>
            <a:pPr algn="l"/>
            <a:endParaRPr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// 3. Save if not cancelled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if (!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result.canceled</a:t>
            </a:r>
            <a:r>
              <a:rPr dirty="0">
                <a:solidFill>
                  <a:srgbClr val="E2E8F0"/>
                </a:solidFill>
                <a:latin typeface="Courier New"/>
              </a:rPr>
              <a:t>) 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const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 =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result.assets</a:t>
            </a:r>
            <a:r>
              <a:rPr dirty="0">
                <a:solidFill>
                  <a:srgbClr val="E2E8F0"/>
                </a:solidFill>
                <a:latin typeface="Courier New"/>
              </a:rPr>
              <a:t>[0].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setPhotoUri</a:t>
            </a:r>
            <a:r>
              <a:rPr dirty="0">
                <a:solidFill>
                  <a:srgbClr val="E2E8F0"/>
                </a:solidFill>
                <a:latin typeface="Courier New"/>
              </a:rPr>
              <a:t>(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);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  await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storage.set</a:t>
            </a:r>
            <a:r>
              <a:rPr dirty="0">
                <a:solidFill>
                  <a:srgbClr val="E2E8F0"/>
                </a:solidFill>
                <a:latin typeface="Courier New"/>
              </a:rPr>
              <a:t>(STORAGE_KEYS.PROFILE_PHOTO,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dirty="0">
                <a:solidFill>
                  <a:srgbClr val="E2E8F0"/>
                </a:solidFill>
                <a:latin typeface="Courier New"/>
              </a:rPr>
              <a:t>);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F2B24B-A5CD-C8F9-C8AE-1BBD661C4BA4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952F5-F92F-6E85-14FF-3B109BB1F203}"/>
              </a:ext>
            </a:extLst>
          </p:cNvPr>
          <p:cNvSpPr txBox="1"/>
          <p:nvPr/>
        </p:nvSpPr>
        <p:spPr>
          <a:xfrm>
            <a:off x="365759" y="2373056"/>
            <a:ext cx="2648628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Calibri"/>
              </a:rPr>
              <a:t>Step 2: </a:t>
            </a:r>
            <a:r>
              <a:rPr sz="2800" b="1" dirty="0">
                <a:latin typeface="Calibri"/>
              </a:rPr>
              <a:t>launch  check </a:t>
            </a:r>
            <a:endParaRPr lang="en-US" sz="2800" b="1" dirty="0">
              <a:latin typeface="Calibri"/>
            </a:endParaRPr>
          </a:p>
          <a:p>
            <a:pPr marL="457200" indent="-4572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Calibri"/>
              </a:rPr>
              <a:t>Step 3: </a:t>
            </a:r>
            <a:r>
              <a:rPr sz="2800" b="1" dirty="0">
                <a:latin typeface="Calibri"/>
              </a:rPr>
              <a:t>canceled → save URI</a:t>
            </a:r>
          </a:p>
        </p:txBody>
      </p:sp>
    </p:spTree>
    <p:extLst>
      <p:ext uri="{BB962C8B-B14F-4D97-AF65-F5344CB8AC3E}">
        <p14:creationId xmlns:p14="http://schemas.microsoft.com/office/powerpoint/2010/main" val="398449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288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Profile Photo: </a:t>
            </a:r>
            <a:r>
              <a:rPr sz="3200" b="1" dirty="0" err="1">
                <a:latin typeface="Calibri"/>
              </a:rPr>
              <a:t>renderAvatar</a:t>
            </a:r>
            <a:r>
              <a:rPr sz="3200" b="1" dirty="0">
                <a:latin typeface="Calibri"/>
              </a:rPr>
              <a:t>() + State</a:t>
            </a:r>
            <a:r>
              <a:rPr lang="en-US" sz="3200" b="1" dirty="0">
                <a:latin typeface="Calibri"/>
              </a:rPr>
              <a:t> 1/2</a:t>
            </a:r>
            <a:endParaRPr sz="3200" b="1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694568"/>
            <a:ext cx="548126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600" b="0" dirty="0">
                <a:latin typeface="Calibri"/>
              </a:rPr>
              <a:t>New state, load on mount, conditional rendering with camera badge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775" y="2421403"/>
            <a:ext cx="5285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563EB"/>
                </a:solidFill>
                <a:latin typeface="Calibri"/>
              </a:rPr>
              <a:t>New state + load from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775" y="2932342"/>
            <a:ext cx="5303520" cy="2654266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367" y="3069502"/>
            <a:ext cx="51206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// New state in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profile.tsx</a:t>
            </a:r>
            <a:endParaRPr sz="16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const [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photoUri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setPhotoUri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] =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&lt;string | null&gt;(null);</a:t>
            </a:r>
          </a:p>
          <a:p>
            <a:pPr algn="l"/>
            <a:endParaRPr sz="16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// Inside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loadProfile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()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useEffect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const saved = await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storage.get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&lt;string&gt;(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STORAGE_KEYS.PROFILE_PHOTO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);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if (saved !== null)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setPhotoUri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(saved);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1303" y="519729"/>
            <a:ext cx="6455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2563EB"/>
                </a:solidFill>
                <a:latin typeface="Calibri"/>
              </a:rPr>
              <a:t>renderAvatar</a:t>
            </a:r>
            <a:r>
              <a:rPr sz="2400" b="1" dirty="0">
                <a:solidFill>
                  <a:srgbClr val="2563EB"/>
                </a:solidFill>
                <a:latin typeface="Calibri"/>
              </a:rPr>
              <a:t>() function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1303" y="981394"/>
            <a:ext cx="6254747" cy="5764277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74707" y="1136614"/>
            <a:ext cx="656964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renderAvatar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= () =&gt; (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&lt;View style={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styles.avatarSection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&lt;Pressable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handlePhotoPress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       style={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styles.avatarContainer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photoUri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? (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&lt;Image source={{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uri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: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photoUri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}}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       style={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styles.avatar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 /&gt;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) : (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&lt;View style={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styles.avatarPlaceholder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  &lt;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Ionicons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name="person-outline"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            size={44} /&gt;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&lt;/View&gt;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)}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&lt;View style={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styles.cameraBadge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&lt;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Ionicons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name="camera" size={14} /&gt;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&lt;/View&gt;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&lt;/Pressable&gt;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&lt;Text style={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styles.photoHint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photoUri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? "Tap to change" : "Tap to add"}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&lt;/Text&gt;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&lt;/View&gt;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);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4BEA78-C1C7-04BB-70B1-BFCA64B77BA3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A17EE-F2AC-CA9B-949A-0DDE157A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8B542F-2D34-11E2-BE1E-20A6376360B7}"/>
              </a:ext>
            </a:extLst>
          </p:cNvPr>
          <p:cNvSpPr txBox="1"/>
          <p:nvPr/>
        </p:nvSpPr>
        <p:spPr>
          <a:xfrm>
            <a:off x="320040" y="-16294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latin typeface="Calibri"/>
              </a:rPr>
              <a:t>Profile Photo: </a:t>
            </a:r>
            <a:r>
              <a:rPr sz="3200" b="1" dirty="0" err="1">
                <a:latin typeface="Calibri"/>
              </a:rPr>
              <a:t>renderAvatar</a:t>
            </a:r>
            <a:r>
              <a:rPr sz="3200" b="1" dirty="0">
                <a:latin typeface="Calibri"/>
              </a:rPr>
              <a:t>() + State</a:t>
            </a:r>
            <a:r>
              <a:rPr lang="en-US" sz="3200" b="1" dirty="0"/>
              <a:t> 2/2</a:t>
            </a:r>
            <a:endParaRPr sz="3200" b="1" dirty="0"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1830B7-D5AB-B5AF-FCB4-9CAABD136364}"/>
              </a:ext>
            </a:extLst>
          </p:cNvPr>
          <p:cNvSpPr txBox="1"/>
          <p:nvPr/>
        </p:nvSpPr>
        <p:spPr>
          <a:xfrm>
            <a:off x="320040" y="591125"/>
            <a:ext cx="9900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0000"/>
                </a:solidFill>
                <a:latin typeface="Calibri"/>
              </a:rPr>
              <a:t>Why </a:t>
            </a:r>
            <a:r>
              <a:rPr lang="en-US" sz="2800" b="1" dirty="0">
                <a:solidFill>
                  <a:srgbClr val="FF0000"/>
                </a:solidFill>
                <a:latin typeface="Calibri"/>
              </a:rPr>
              <a:t>use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 a </a:t>
            </a:r>
            <a:r>
              <a:rPr sz="2800" b="1" dirty="0" err="1">
                <a:solidFill>
                  <a:srgbClr val="FF0000"/>
                </a:solidFill>
                <a:latin typeface="Calibri"/>
              </a:rPr>
              <a:t>renderAvatar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()?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B8150C-8C5F-DF48-3178-9D5B0ECDE9D6}"/>
              </a:ext>
            </a:extLst>
          </p:cNvPr>
          <p:cNvSpPr txBox="1"/>
          <p:nvPr/>
        </p:nvSpPr>
        <p:spPr>
          <a:xfrm>
            <a:off x="356552" y="1103338"/>
            <a:ext cx="114757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600" b="0" dirty="0">
                <a:solidFill>
                  <a:srgbClr val="111827"/>
                </a:solidFill>
                <a:latin typeface="Calibri"/>
              </a:rPr>
              <a:t>The avatar appears in both view mode and edit mode. Without extraction, you’d duplicate the JSX in two places. One function, called twice.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1C307F-F167-107F-16F0-36847D7B91C9}"/>
              </a:ext>
            </a:extLst>
          </p:cNvPr>
          <p:cNvSpPr txBox="1"/>
          <p:nvPr/>
        </p:nvSpPr>
        <p:spPr>
          <a:xfrm>
            <a:off x="633323" y="2606890"/>
            <a:ext cx="30618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 err="1">
                <a:solidFill>
                  <a:srgbClr val="2414F4"/>
                </a:solidFill>
                <a:latin typeface="Calibri"/>
              </a:rPr>
              <a:t>borderRadius</a:t>
            </a:r>
            <a:r>
              <a:rPr sz="2800" b="1" dirty="0">
                <a:solidFill>
                  <a:srgbClr val="2414F4"/>
                </a:solidFill>
                <a:latin typeface="Calibri"/>
              </a:rPr>
              <a:t>: 50 the circle trick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A926CBE-0FE1-7BED-7B52-13101344453D}"/>
              </a:ext>
            </a:extLst>
          </p:cNvPr>
          <p:cNvSpPr/>
          <p:nvPr/>
        </p:nvSpPr>
        <p:spPr>
          <a:xfrm>
            <a:off x="3914660" y="2260676"/>
            <a:ext cx="7468019" cy="1526243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DFFB4F-0603-2F89-FE2F-78A2D8C832CD}"/>
              </a:ext>
            </a:extLst>
          </p:cNvPr>
          <p:cNvSpPr txBox="1"/>
          <p:nvPr/>
        </p:nvSpPr>
        <p:spPr>
          <a:xfrm>
            <a:off x="4079253" y="2285102"/>
            <a:ext cx="7215437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avatar: 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width: 100,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height: 100,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borderRadius</a:t>
            </a:r>
            <a:r>
              <a:rPr dirty="0">
                <a:solidFill>
                  <a:srgbClr val="E2E8F0"/>
                </a:solidFill>
                <a:latin typeface="Courier New"/>
              </a:rPr>
              <a:t>: 50, // half of 100 = perfect circle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},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A5BBB76-2FB4-856F-EFBA-4D5871832D03}"/>
              </a:ext>
            </a:extLst>
          </p:cNvPr>
          <p:cNvSpPr/>
          <p:nvPr/>
        </p:nvSpPr>
        <p:spPr>
          <a:xfrm>
            <a:off x="2780902" y="4132793"/>
            <a:ext cx="6627020" cy="233172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3A4BD4-AF3A-6FF6-A4AA-A093FAA743BD}"/>
              </a:ext>
            </a:extLst>
          </p:cNvPr>
          <p:cNvSpPr txBox="1"/>
          <p:nvPr/>
        </p:nvSpPr>
        <p:spPr>
          <a:xfrm>
            <a:off x="2931966" y="4224233"/>
            <a:ext cx="618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563EB"/>
                </a:solidFill>
                <a:latin typeface="Calibri"/>
              </a:rPr>
              <a:t>&gt;&gt;  The full flow on mount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76ED71-D295-74E6-FC23-F4249116A5DC}"/>
              </a:ext>
            </a:extLst>
          </p:cNvPr>
          <p:cNvSpPr txBox="1"/>
          <p:nvPr/>
        </p:nvSpPr>
        <p:spPr>
          <a:xfrm>
            <a:off x="2931966" y="4624189"/>
            <a:ext cx="64759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11827"/>
                </a:solidFill>
                <a:latin typeface="Calibri"/>
              </a:rPr>
              <a:t>1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Component mounts →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useEffect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fires
2.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loadProfile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() reads profile data from storage
3. Also reads PROFILE_PHOTO key
4. If found, sets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photoUri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state
5.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renderAvatar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() shows the saved photo immediately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6882C3-57F6-D1C2-25D0-9DA67578836D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75289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2882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react-native-maps</a:t>
            </a:r>
            <a:r>
              <a:rPr lang="en-US" sz="3200" b="1" dirty="0">
                <a:latin typeface="Calibri"/>
              </a:rPr>
              <a:t> 1/2</a:t>
            </a:r>
            <a:endParaRPr sz="3200" b="1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133" y="662300"/>
            <a:ext cx="591215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600" b="0" dirty="0" err="1">
                <a:latin typeface="Calibri"/>
              </a:rPr>
              <a:t>MapView</a:t>
            </a:r>
            <a:r>
              <a:rPr sz="2600" b="0" dirty="0">
                <a:latin typeface="Calibri"/>
              </a:rPr>
              <a:t>, Marker, and the coordinate system — Markers are React children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2406" y="594620"/>
            <a:ext cx="5710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2563EB"/>
                </a:solidFill>
                <a:latin typeface="Calibri"/>
              </a:rPr>
              <a:t>MapView</a:t>
            </a:r>
            <a:r>
              <a:rPr sz="2400" b="1" dirty="0">
                <a:solidFill>
                  <a:srgbClr val="2563EB"/>
                </a:solidFill>
                <a:latin typeface="Calibri"/>
              </a:rPr>
              <a:t> Component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2406" y="1086624"/>
            <a:ext cx="5710365" cy="5389331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0192" y="1214071"/>
            <a:ext cx="558510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00"/>
                </a:solidFill>
                <a:latin typeface="Courier New"/>
              </a:rPr>
              <a:t>&lt;</a:t>
            </a:r>
            <a:r>
              <a:rPr sz="1600" b="1" dirty="0" err="1">
                <a:solidFill>
                  <a:srgbClr val="FFFF00"/>
                </a:solidFill>
                <a:latin typeface="Courier New"/>
              </a:rPr>
              <a:t>MapView</a:t>
            </a:r>
            <a:endParaRPr sz="1600" b="1" dirty="0">
              <a:solidFill>
                <a:srgbClr val="FFFF00"/>
              </a:solidFill>
              <a:latin typeface="Courier New"/>
            </a:endParaRP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ref={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mapRef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style={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styles.map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b="1" dirty="0" err="1">
                <a:solidFill>
                  <a:srgbClr val="FFFF00"/>
                </a:solidFill>
                <a:latin typeface="Courier New"/>
              </a:rPr>
              <a:t>initialRegion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={CAMPUS_CENTER}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showsUserLocation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locationGranted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showsMyLocationButton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={false}</a:t>
            </a:r>
          </a:p>
          <a:p>
            <a:pPr algn="l"/>
            <a:r>
              <a:rPr sz="1600" b="1" dirty="0">
                <a:solidFill>
                  <a:srgbClr val="FFFF00"/>
                </a:solidFill>
                <a:latin typeface="Courier New"/>
              </a:rPr>
              <a:t>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CAMPUS_BUILDINGS.map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((b) =&gt; (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600" b="1" dirty="0">
                <a:solidFill>
                  <a:srgbClr val="FFFF00"/>
                </a:solidFill>
                <a:latin typeface="Courier New"/>
              </a:rPr>
              <a:t>&lt;Marker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key={b.id}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ref={(r) =&gt; {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markerRefs.current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[b.id] = r;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}}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coordinate={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b.coordinate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title={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b.title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description={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b.description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sz="1600" b="1" dirty="0" err="1">
                <a:solidFill>
                  <a:srgbClr val="FFFF00"/>
                </a:solidFill>
                <a:latin typeface="Courier New"/>
              </a:rPr>
              <a:t>onPress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={() =&gt;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handleBuildingPress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(b)}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  /&gt;</a:t>
            </a:r>
          </a:p>
          <a:p>
            <a:pPr algn="l"/>
            <a:r>
              <a:rPr sz="1600" dirty="0">
                <a:solidFill>
                  <a:srgbClr val="E2E8F0"/>
                </a:solidFill>
                <a:latin typeface="Courier New"/>
              </a:rPr>
              <a:t>  ))}</a:t>
            </a:r>
          </a:p>
          <a:p>
            <a:pPr algn="l"/>
            <a:r>
              <a:rPr sz="1600" b="1" dirty="0">
                <a:solidFill>
                  <a:srgbClr val="FFFF00"/>
                </a:solidFill>
                <a:latin typeface="Courier New"/>
              </a:rPr>
              <a:t>&lt;/</a:t>
            </a:r>
            <a:r>
              <a:rPr sz="1600" b="1" dirty="0" err="1">
                <a:solidFill>
                  <a:srgbClr val="FFFF00"/>
                </a:solidFill>
                <a:latin typeface="Courier New"/>
              </a:rPr>
              <a:t>MapView</a:t>
            </a:r>
            <a:r>
              <a:rPr sz="1600" b="1" dirty="0">
                <a:solidFill>
                  <a:srgbClr val="FFFF00"/>
                </a:solidFill>
                <a:latin typeface="Courier New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131" y="2055223"/>
            <a:ext cx="6071489" cy="3081937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8413105" y="5738825"/>
            <a:ext cx="3268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D97706"/>
                </a:solidFill>
                <a:latin typeface="Calibri"/>
              </a:rPr>
              <a:t>initialRegion</a:t>
            </a:r>
            <a:r>
              <a:rPr sz="2400" b="1" dirty="0">
                <a:solidFill>
                  <a:srgbClr val="D97706"/>
                </a:solidFill>
                <a:latin typeface="Calibri"/>
              </a:rPr>
              <a:t> vs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256" y="2090172"/>
            <a:ext cx="55778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600" b="0" dirty="0" err="1">
                <a:solidFill>
                  <a:srgbClr val="111827"/>
                </a:solidFill>
                <a:latin typeface="Calibri"/>
              </a:rPr>
              <a:t>initialRegion</a:t>
            </a:r>
            <a:r>
              <a:rPr sz="2600" b="0" dirty="0">
                <a:solidFill>
                  <a:srgbClr val="111827"/>
                </a:solidFill>
                <a:latin typeface="Calibri"/>
              </a:rPr>
              <a:t>: sets the starting view. After mount, the user can pan/zoom freely. State changes don’t force the map back.
region: the map ALWAYS shows this region. Every re-render snaps back. Very jarring — avoid 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C04C74-49C7-995C-38AD-BB0631FD661B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9D652-429D-319D-14C5-C9881297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8C7E4-9F31-9EA4-CA48-B8896F4A0E03}"/>
              </a:ext>
            </a:extLst>
          </p:cNvPr>
          <p:cNvSpPr txBox="1"/>
          <p:nvPr/>
        </p:nvSpPr>
        <p:spPr>
          <a:xfrm>
            <a:off x="320040" y="-2882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react-native-maps</a:t>
            </a:r>
            <a:r>
              <a:rPr lang="en-US" sz="3200" b="1" dirty="0">
                <a:latin typeface="Calibri"/>
              </a:rPr>
              <a:t> 2/2</a:t>
            </a:r>
            <a:endParaRPr sz="3200" b="1" dirty="0"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C0A0E-5785-D85E-5B1D-C32B4B7E7469}"/>
              </a:ext>
            </a:extLst>
          </p:cNvPr>
          <p:cNvSpPr txBox="1"/>
          <p:nvPr/>
        </p:nvSpPr>
        <p:spPr>
          <a:xfrm>
            <a:off x="2699082" y="4086847"/>
            <a:ext cx="73718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FF0000"/>
                </a:solidFill>
                <a:latin typeface="Calibri"/>
              </a:rPr>
              <a:t>latitudeDelta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 zoom scale: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01A0C73-CEED-EDDA-DA1F-900E1D7E6AE7}"/>
              </a:ext>
            </a:extLst>
          </p:cNvPr>
          <p:cNvSpPr/>
          <p:nvPr/>
        </p:nvSpPr>
        <p:spPr>
          <a:xfrm>
            <a:off x="2699082" y="4616091"/>
            <a:ext cx="7371843" cy="1723549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952F79-968A-679F-1715-4DC177B05F35}"/>
              </a:ext>
            </a:extLst>
          </p:cNvPr>
          <p:cNvSpPr txBox="1"/>
          <p:nvPr/>
        </p:nvSpPr>
        <p:spPr>
          <a:xfrm>
            <a:off x="2863674" y="4751248"/>
            <a:ext cx="69943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 err="1">
                <a:solidFill>
                  <a:srgbClr val="E2E8F0"/>
                </a:solidFill>
                <a:latin typeface="Courier New"/>
              </a:rPr>
              <a:t>latitudeDelta</a:t>
            </a:r>
            <a:r>
              <a:rPr dirty="0">
                <a:solidFill>
                  <a:srgbClr val="E2E8F0"/>
                </a:solidFill>
                <a:latin typeface="Courier New"/>
              </a:rPr>
              <a:t>: 0.001  →  ~110m   (a building)</a:t>
            </a:r>
          </a:p>
          <a:p>
            <a:pPr algn="l"/>
            <a:r>
              <a:rPr dirty="0" err="1">
                <a:solidFill>
                  <a:srgbClr val="E2E8F0"/>
                </a:solidFill>
                <a:latin typeface="Courier New"/>
              </a:rPr>
              <a:t>latitudeDelta</a:t>
            </a:r>
            <a:r>
              <a:rPr dirty="0">
                <a:solidFill>
                  <a:srgbClr val="E2E8F0"/>
                </a:solidFill>
                <a:latin typeface="Courier New"/>
              </a:rPr>
              <a:t>: 0.006  →  ~650m   ← campus level</a:t>
            </a:r>
          </a:p>
          <a:p>
            <a:pPr algn="l"/>
            <a:r>
              <a:rPr dirty="0" err="1">
                <a:solidFill>
                  <a:srgbClr val="E2E8F0"/>
                </a:solidFill>
                <a:latin typeface="Courier New"/>
              </a:rPr>
              <a:t>latitudeDelta</a:t>
            </a:r>
            <a:r>
              <a:rPr dirty="0">
                <a:solidFill>
                  <a:srgbClr val="E2E8F0"/>
                </a:solidFill>
                <a:latin typeface="Courier New"/>
              </a:rPr>
              <a:t>: 0.008  →  ~890m   (campus + area)</a:t>
            </a:r>
          </a:p>
          <a:p>
            <a:pPr algn="l"/>
            <a:r>
              <a:rPr dirty="0" err="1">
                <a:solidFill>
                  <a:srgbClr val="E2E8F0"/>
                </a:solidFill>
                <a:latin typeface="Courier New"/>
              </a:rPr>
              <a:t>latitudeDelta</a:t>
            </a:r>
            <a:r>
              <a:rPr dirty="0">
                <a:solidFill>
                  <a:srgbClr val="E2E8F0"/>
                </a:solidFill>
                <a:latin typeface="Courier New"/>
              </a:rPr>
              <a:t>: 0.05   →  ~5.5km  (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neighbourhood</a:t>
            </a:r>
            <a:r>
              <a:rPr dirty="0">
                <a:solidFill>
                  <a:srgbClr val="E2E8F0"/>
                </a:solidFill>
                <a:latin typeface="Courier New"/>
              </a:rPr>
              <a:t>)</a:t>
            </a:r>
          </a:p>
          <a:p>
            <a:pPr algn="l"/>
            <a:r>
              <a:rPr dirty="0" err="1">
                <a:solidFill>
                  <a:srgbClr val="E2E8F0"/>
                </a:solidFill>
                <a:latin typeface="Courier New"/>
              </a:rPr>
              <a:t>latitudeDelta</a:t>
            </a:r>
            <a:r>
              <a:rPr dirty="0">
                <a:solidFill>
                  <a:srgbClr val="E2E8F0"/>
                </a:solidFill>
                <a:latin typeface="Courier New"/>
              </a:rPr>
              <a:t>: 1.0    →  ~111km  (large city)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93E92F-94DA-A53F-649C-AE35C6E178B7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16">
            <a:extLst>
              <a:ext uri="{FF2B5EF4-FFF2-40B4-BE49-F238E27FC236}">
                <a16:creationId xmlns:a16="http://schemas.microsoft.com/office/drawing/2014/main" id="{453DF231-1093-FDE2-7A77-B31368140756}"/>
              </a:ext>
            </a:extLst>
          </p:cNvPr>
          <p:cNvSpPr/>
          <p:nvPr/>
        </p:nvSpPr>
        <p:spPr>
          <a:xfrm>
            <a:off x="5684728" y="1431988"/>
            <a:ext cx="6023098" cy="1899936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AF7CF-D03A-7E17-130E-B07969645E8F}"/>
              </a:ext>
            </a:extLst>
          </p:cNvPr>
          <p:cNvSpPr txBox="1"/>
          <p:nvPr/>
        </p:nvSpPr>
        <p:spPr>
          <a:xfrm>
            <a:off x="5787025" y="1483715"/>
            <a:ext cx="60230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const CAMPUS_CENTER = {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latitude: 51.0665,   // SAIT, Calgary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longitude: -114.0922,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latitudeDelta</a:t>
            </a:r>
            <a:r>
              <a:rPr dirty="0">
                <a:solidFill>
                  <a:srgbClr val="E2E8F0"/>
                </a:solidFill>
                <a:latin typeface="Courier New"/>
              </a:rPr>
              <a:t>: 0.006,  // zoom level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 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longitudeDelta</a:t>
            </a:r>
            <a:r>
              <a:rPr dirty="0">
                <a:solidFill>
                  <a:srgbClr val="E2E8F0"/>
                </a:solidFill>
                <a:latin typeface="Courier New"/>
              </a:rPr>
              <a:t>: 0.006,</a:t>
            </a:r>
          </a:p>
          <a:p>
            <a:pPr algn="l"/>
            <a:r>
              <a:rPr dirty="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3F58AE-E782-9E2C-AA4E-F0110A0359A5}"/>
              </a:ext>
            </a:extLst>
          </p:cNvPr>
          <p:cNvSpPr txBox="1"/>
          <p:nvPr/>
        </p:nvSpPr>
        <p:spPr>
          <a:xfrm>
            <a:off x="5684729" y="858917"/>
            <a:ext cx="597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563EB"/>
                </a:solidFill>
                <a:latin typeface="Calibri"/>
              </a:rPr>
              <a:t>GPS Coordinates + Zoom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B89083-70C1-1ED6-109D-387A75CE19D9}"/>
              </a:ext>
            </a:extLst>
          </p:cNvPr>
          <p:cNvSpPr txBox="1"/>
          <p:nvPr/>
        </p:nvSpPr>
        <p:spPr>
          <a:xfrm>
            <a:off x="180374" y="1607464"/>
            <a:ext cx="5307629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Latitude: north/south. Range: -90 to +90. Calgary ≈ 51°N
Longitude: east/west. Range: -180 to +180. Calgary ≈ -114° (west)</a:t>
            </a:r>
          </a:p>
        </p:txBody>
      </p:sp>
    </p:spTree>
    <p:extLst>
      <p:ext uri="{BB962C8B-B14F-4D97-AF65-F5344CB8AC3E}">
        <p14:creationId xmlns:p14="http://schemas.microsoft.com/office/powerpoint/2010/main" val="1964566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111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expo-location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39" y="594360"/>
            <a:ext cx="11868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>
                <a:latin typeface="Calibri"/>
              </a:rPr>
              <a:t>Foreground vs background, requesting permission, and the soft-error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" y="1165302"/>
            <a:ext cx="5478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 err="1">
                <a:solidFill>
                  <a:srgbClr val="2563EB"/>
                </a:solidFill>
                <a:latin typeface="Calibri"/>
              </a:rPr>
              <a:t>requestLocation</a:t>
            </a:r>
            <a:r>
              <a:rPr b="1" dirty="0">
                <a:solidFill>
                  <a:srgbClr val="2563EB"/>
                </a:solidFill>
                <a:latin typeface="Calibri"/>
              </a:rPr>
              <a:t>()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" y="1536866"/>
            <a:ext cx="5495544" cy="5209623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642" y="1691644"/>
            <a:ext cx="5478147" cy="487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350" dirty="0" err="1">
                <a:solidFill>
                  <a:srgbClr val="E2E8F0"/>
                </a:solidFill>
                <a:latin typeface="Courier New"/>
              </a:rPr>
              <a:t>requestLocation</a:t>
            </a:r>
            <a:r>
              <a:rPr sz="1350" dirty="0">
                <a:solidFill>
                  <a:srgbClr val="E2E8F0"/>
                </a:solidFill>
                <a:latin typeface="Courier New"/>
              </a:rPr>
              <a:t> = async () =&gt; {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350" dirty="0" err="1">
                <a:solidFill>
                  <a:srgbClr val="E2E8F0"/>
                </a:solidFill>
                <a:latin typeface="Courier New"/>
              </a:rPr>
              <a:t>setIsLoadingLocation</a:t>
            </a:r>
            <a:r>
              <a:rPr sz="1350"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350" dirty="0" err="1">
                <a:solidFill>
                  <a:srgbClr val="E2E8F0"/>
                </a:solidFill>
                <a:latin typeface="Courier New"/>
              </a:rPr>
              <a:t>setLocationError</a:t>
            </a:r>
            <a:r>
              <a:rPr sz="1350" dirty="0">
                <a:solidFill>
                  <a:srgbClr val="E2E8F0"/>
                </a:solidFill>
                <a:latin typeface="Courier New"/>
              </a:rPr>
              <a:t>(null);</a:t>
            </a:r>
          </a:p>
          <a:p>
            <a:pPr algn="l"/>
            <a:endParaRPr sz="135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const { status } = await Location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  .</a:t>
            </a:r>
            <a:r>
              <a:rPr sz="1350" dirty="0" err="1">
                <a:solidFill>
                  <a:srgbClr val="E2E8F0"/>
                </a:solidFill>
                <a:latin typeface="Courier New"/>
              </a:rPr>
              <a:t>requestForegroundPermissionsAsync</a:t>
            </a:r>
            <a:r>
              <a:rPr sz="135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 algn="l"/>
            <a:endParaRPr sz="135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if (status === "granted") {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350" dirty="0" err="1">
                <a:solidFill>
                  <a:srgbClr val="E2E8F0"/>
                </a:solidFill>
                <a:latin typeface="Courier New"/>
              </a:rPr>
              <a:t>setLocationGranted</a:t>
            </a:r>
            <a:r>
              <a:rPr sz="1350"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} else {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  // SOFT error: map still works without location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350" dirty="0" err="1">
                <a:solidFill>
                  <a:srgbClr val="E2E8F0"/>
                </a:solidFill>
                <a:latin typeface="Courier New"/>
              </a:rPr>
              <a:t>setLocationError</a:t>
            </a:r>
            <a:r>
              <a:rPr sz="1350" dirty="0">
                <a:solidFill>
                  <a:srgbClr val="E2E8F0"/>
                </a:solidFill>
                <a:latin typeface="Courier New"/>
              </a:rPr>
              <a:t>(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    "Location access denied. You can still " +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    "browse the campus map."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  );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 algn="l"/>
            <a:endParaRPr sz="135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// Note: </a:t>
            </a:r>
            <a:r>
              <a:rPr sz="1350" dirty="0" err="1">
                <a:solidFill>
                  <a:srgbClr val="E2E8F0"/>
                </a:solidFill>
                <a:latin typeface="Courier New"/>
              </a:rPr>
              <a:t>setIsLoadingLocation</a:t>
            </a:r>
            <a:r>
              <a:rPr sz="1350" dirty="0">
                <a:solidFill>
                  <a:srgbClr val="E2E8F0"/>
                </a:solidFill>
                <a:latin typeface="Courier New"/>
              </a:rPr>
              <a:t> AFTER the if/else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// If you put it inside each branch, a return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// statement could bypass it and leave the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// spinner running forever.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350" dirty="0" err="1">
                <a:solidFill>
                  <a:srgbClr val="E2E8F0"/>
                </a:solidFill>
                <a:latin typeface="Courier New"/>
              </a:rPr>
              <a:t>setIsLoadingLocation</a:t>
            </a:r>
            <a:r>
              <a:rPr sz="1350" dirty="0">
                <a:solidFill>
                  <a:srgbClr val="E2E8F0"/>
                </a:solidFill>
                <a:latin typeface="Courier New"/>
              </a:rPr>
              <a:t>(false);</a:t>
            </a:r>
          </a:p>
          <a:p>
            <a:pPr algn="l"/>
            <a:r>
              <a:rPr sz="1350" dirty="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736" y="1098396"/>
            <a:ext cx="59070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latin typeface="Calibri"/>
              </a:rPr>
              <a:t>Foreground vs Background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1339" y="1521027"/>
            <a:ext cx="5924421" cy="96012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094412" y="1484676"/>
            <a:ext cx="551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6A34A"/>
                </a:solidFill>
                <a:latin typeface="Calibri"/>
              </a:rPr>
              <a:t>Foreground (what we use)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8205" y="1860471"/>
            <a:ext cx="5624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latin typeface="Calibri"/>
              </a:rPr>
              <a:t>Location only while the app is visible. Simpler permission, less battery. Sufficient for showing a dot on a 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1339" y="2572587"/>
            <a:ext cx="5924421" cy="96012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094412" y="2536236"/>
            <a:ext cx="551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414F4"/>
                </a:solidFill>
                <a:latin typeface="Calibri"/>
              </a:rPr>
              <a:t>Background (not used here)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5766" y="2912031"/>
            <a:ext cx="59305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latin typeface="Calibri"/>
              </a:rPr>
              <a:t>Location even when app is closed. Requires extra justification for App Store review. Only for navigation/tracking apps.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3714471"/>
            <a:ext cx="59070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0000"/>
                </a:solidFill>
                <a:latin typeface="Calibri"/>
              </a:rPr>
              <a:t>Why we don’t call </a:t>
            </a:r>
            <a:r>
              <a:rPr sz="2200" b="1" dirty="0" err="1">
                <a:solidFill>
                  <a:srgbClr val="FF0000"/>
                </a:solidFill>
                <a:latin typeface="Calibri"/>
              </a:rPr>
              <a:t>getCurrentPositionAsync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8205" y="4141116"/>
            <a:ext cx="59070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111827"/>
                </a:solidFill>
                <a:latin typeface="Calibri"/>
              </a:rPr>
              <a:t>MapView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handles it automatically when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showsUserLocation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={true}. Calling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getCurrentPositionAsync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() separately would drain battery and require extra permission handling.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MapView’s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built-in location is more efficient.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88025" y="5352579"/>
            <a:ext cx="6007735" cy="1356205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5852063" y="5347675"/>
            <a:ext cx="5852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563EB"/>
                </a:solidFill>
                <a:latin typeface="Calibri"/>
              </a:rPr>
              <a:t>&gt;&gt;  </a:t>
            </a:r>
            <a:r>
              <a:rPr sz="2000" b="1" dirty="0" err="1">
                <a:solidFill>
                  <a:srgbClr val="2563EB"/>
                </a:solidFill>
                <a:latin typeface="Calibri"/>
              </a:rPr>
              <a:t>setIsLoadingLocation</a:t>
            </a:r>
            <a:r>
              <a:rPr sz="2000" b="1" dirty="0">
                <a:solidFill>
                  <a:srgbClr val="2563EB"/>
                </a:solidFill>
                <a:latin typeface="Calibri"/>
              </a:rPr>
              <a:t>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8205" y="5745772"/>
            <a:ext cx="57161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Always call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setIsLoadingLocation</a:t>
            </a:r>
            <a:r>
              <a:rPr b="0" dirty="0">
                <a:solidFill>
                  <a:srgbClr val="111827"/>
                </a:solidFill>
                <a:latin typeface="Calibri"/>
              </a:rPr>
              <a:t>(false) AFTER the if/else block, not inside each branch. An early return inside a branch will skip it otherwise.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0DB712-266F-F4E5-9B2D-9EF762C6D0D5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1920240"/>
            <a:ext cx="1218882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dirty="0" err="1">
                <a:solidFill>
                  <a:srgbClr val="FFFFFF"/>
                </a:solidFill>
                <a:latin typeface="Calibri"/>
              </a:rPr>
              <a:t>useRef</a:t>
            </a:r>
            <a:endParaRPr sz="4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" y="3749039"/>
            <a:ext cx="121888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dirty="0">
                <a:solidFill>
                  <a:srgbClr val="DBEAFE"/>
                </a:solidFill>
                <a:latin typeface="Calibri"/>
              </a:rPr>
              <a:t>A handle to a component that lets you tell it to DO something — without a re-render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2882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latin typeface="Calibri"/>
              </a:rPr>
              <a:t>useRef</a:t>
            </a:r>
            <a:r>
              <a:rPr sz="3200" b="1" dirty="0">
                <a:latin typeface="Calibri"/>
              </a:rPr>
              <a:t> — What It Is and Why It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12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A mutable container that persists across renders without causing re-renders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FF0000"/>
                </a:solidFill>
                <a:latin typeface="Calibri"/>
              </a:rPr>
              <a:t>useState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 vs </a:t>
            </a:r>
            <a:r>
              <a:rPr sz="2400" b="1" dirty="0" err="1">
                <a:solidFill>
                  <a:srgbClr val="FF0000"/>
                </a:solidFill>
                <a:latin typeface="Calibri"/>
              </a:rPr>
              <a:t>useRef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 — The Key Difference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72768"/>
            <a:ext cx="3657600" cy="3840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65760" y="1553914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572768"/>
            <a:ext cx="3566160" cy="3840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4114800" y="1553914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useState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0" y="1572768"/>
            <a:ext cx="3931920" cy="3840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7772400" y="1553914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useRef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36576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98198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1827"/>
                </a:solidFill>
                <a:latin typeface="Calibri"/>
              </a:rPr>
              <a:t>Triggers re-render?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011680"/>
            <a:ext cx="356616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981984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Yes — every setState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011680"/>
            <a:ext cx="393192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1981984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6A34A"/>
                </a:solidFill>
                <a:latin typeface="Calibri"/>
              </a:rPr>
              <a:t>No — never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95728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366032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1827"/>
                </a:solidFill>
                <a:latin typeface="Calibri"/>
              </a:rPr>
              <a:t>Access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395728"/>
            <a:ext cx="3566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60" y="236603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value directly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395728"/>
            <a:ext cx="3931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2366032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6A34A"/>
                </a:solidFill>
                <a:latin typeface="Calibri"/>
              </a:rPr>
              <a:t>.current property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79776"/>
            <a:ext cx="36576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75008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1827"/>
                </a:solidFill>
                <a:latin typeface="Calibri"/>
              </a:rPr>
              <a:t>Use when...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779776"/>
            <a:ext cx="356616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60" y="275008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UI must update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2779776"/>
            <a:ext cx="393192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09560" y="275008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6A34A"/>
                </a:solidFill>
                <a:latin typeface="Calibri"/>
              </a:rPr>
              <a:t>You need to </a:t>
            </a:r>
            <a:r>
              <a:rPr lang="en-US" b="0" dirty="0">
                <a:solidFill>
                  <a:srgbClr val="16A34A"/>
                </a:solidFill>
                <a:latin typeface="Calibri"/>
              </a:rPr>
              <a:t>DO something</a:t>
            </a:r>
            <a:endParaRPr b="0" dirty="0">
              <a:solidFill>
                <a:srgbClr val="16A34A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3163824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134128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1827"/>
                </a:solidFill>
                <a:latin typeface="Calibri"/>
              </a:rPr>
              <a:t>Example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163824"/>
            <a:ext cx="3566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51960" y="313412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setIsLoading(true)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3163824"/>
            <a:ext cx="3931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3134128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6A34A"/>
                </a:solidFill>
                <a:latin typeface="Calibri"/>
              </a:rPr>
              <a:t>mapRef.current?.animateToRegion()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883281"/>
            <a:ext cx="51932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0000"/>
                </a:solidFill>
                <a:latin typeface="Calibri"/>
              </a:rPr>
              <a:t>Mental 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285052"/>
            <a:ext cx="5212080" cy="9144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066" y="4386768"/>
            <a:ext cx="5074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111827"/>
                </a:solidFill>
                <a:latin typeface="Calibri"/>
              </a:rPr>
              <a:t>useState</a:t>
            </a:r>
            <a:r>
              <a:rPr sz="2000" b="0" dirty="0">
                <a:solidFill>
                  <a:srgbClr val="111827"/>
                </a:solidFill>
                <a:latin typeface="Calibri"/>
              </a:rPr>
              <a:t> → "</a:t>
            </a:r>
            <a:r>
              <a:rPr lang="en-US" sz="2000" b="0" dirty="0">
                <a:solidFill>
                  <a:srgbClr val="111827"/>
                </a:solidFill>
                <a:latin typeface="Calibri"/>
              </a:rPr>
              <a:t>Define the UI/component state</a:t>
            </a:r>
            <a:r>
              <a:rPr sz="2000" b="0" dirty="0">
                <a:solidFill>
                  <a:srgbClr val="111827"/>
                </a:solidFill>
                <a:latin typeface="Calibri"/>
              </a:rPr>
              <a:t>?" → React watches, re-renders on change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290892"/>
            <a:ext cx="5212080" cy="9144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4066" y="5392608"/>
            <a:ext cx="5074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2563EB"/>
                </a:solidFill>
                <a:latin typeface="Calibri"/>
              </a:rPr>
              <a:t>useRef</a:t>
            </a:r>
            <a:r>
              <a:rPr sz="2000" b="0" dirty="0">
                <a:solidFill>
                  <a:srgbClr val="2563EB"/>
                </a:solidFill>
                <a:latin typeface="Calibri"/>
              </a:rPr>
              <a:t> → "Tell this component to DO something now" → React ignores, no re-render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704168"/>
            <a:ext cx="566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0000"/>
                </a:solidFill>
                <a:latin typeface="Calibri"/>
              </a:rPr>
              <a:t>Declaring refs in </a:t>
            </a:r>
            <a:r>
              <a:rPr sz="2400" b="1" dirty="0" err="1">
                <a:solidFill>
                  <a:srgbClr val="FF0000"/>
                </a:solidFill>
                <a:latin typeface="Calibri"/>
              </a:rPr>
              <a:t>map.tsx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26480" y="4143647"/>
            <a:ext cx="5317660" cy="2594292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91072" y="4205391"/>
            <a:ext cx="541324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// A ref to the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MapView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instance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=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&lt;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MapView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&gt;(null);</a:t>
            </a:r>
          </a:p>
          <a:p>
            <a:pPr algn="l"/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// A ref to EACH Marker, keyed by building ID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markerRefs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=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&lt;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Record&lt;string, Marker | null&gt;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&gt;({});</a:t>
            </a:r>
          </a:p>
          <a:p>
            <a:pPr algn="l"/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// Attached to the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MapView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: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// &lt;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MapView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ref={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 ... /&gt;</a:t>
            </a:r>
          </a:p>
          <a:p>
            <a:pPr algn="l"/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// Attached to each Marker: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// ref={(r) =&gt; {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markerRefs.current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[b.id] = r; }}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5EF439-2A19-7FDB-239D-36E00F370E9A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42677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latin typeface="Calibri"/>
              </a:rPr>
              <a:t>useRef</a:t>
            </a:r>
            <a:r>
              <a:rPr sz="3200" b="1" dirty="0">
                <a:latin typeface="Calibri"/>
              </a:rPr>
              <a:t> in Action: </a:t>
            </a:r>
            <a:r>
              <a:rPr sz="3200" b="1" dirty="0" err="1">
                <a:latin typeface="Calibri"/>
              </a:rPr>
              <a:t>handleBuildingPress</a:t>
            </a:r>
            <a:r>
              <a:rPr sz="3200" b="1" dirty="0">
                <a:latin typeface="Calibri"/>
              </a:rPr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39" y="568960"/>
            <a:ext cx="11137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Three actions from one function: </a:t>
            </a:r>
            <a:r>
              <a:rPr sz="2400" b="0" dirty="0" err="1">
                <a:latin typeface="Calibri"/>
              </a:rPr>
              <a:t>setState</a:t>
            </a:r>
            <a:r>
              <a:rPr sz="2400" b="0" dirty="0">
                <a:latin typeface="Calibri"/>
              </a:rPr>
              <a:t> + </a:t>
            </a:r>
            <a:r>
              <a:rPr sz="2400" b="0" dirty="0" err="1">
                <a:latin typeface="Calibri"/>
              </a:rPr>
              <a:t>animateToRegion</a:t>
            </a:r>
            <a:r>
              <a:rPr sz="2400" b="0" dirty="0">
                <a:latin typeface="Calibri"/>
              </a:rPr>
              <a:t> + </a:t>
            </a:r>
            <a:r>
              <a:rPr sz="2400" b="0" dirty="0" err="1">
                <a:latin typeface="Calibri"/>
              </a:rPr>
              <a:t>showCallout</a:t>
            </a:r>
            <a:endParaRPr sz="2400" b="0" dirty="0"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565" y="1051560"/>
            <a:ext cx="6617336" cy="5693866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512" y="1074420"/>
            <a:ext cx="678484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handleBuildingPress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= (building: Building) =&gt; {</a:t>
            </a:r>
          </a:p>
          <a:p>
            <a:pPr algn="l"/>
            <a:endParaRPr sz="14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// Action 1: Update React state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// → triggers re-render, shows detail card below map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setSelectedBuilding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(building);</a:t>
            </a:r>
          </a:p>
          <a:p>
            <a:pPr algn="l"/>
            <a:endParaRPr sz="14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// Action 2: Tell the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MapView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to animate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// →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mapRef.current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is the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MapView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instance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// →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animateToRegion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() is NOT a prop — it's an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//    imperative method. You can't do this with state.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mapRef.current?.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animateToRegion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{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latitude: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building.coordinate.latitude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,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longitude: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building.coordinate.longitude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,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latitudeDelta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: 0.002,  // zoom in closer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longitudeDelta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: 0.002,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},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500  // animation duration in milliseconds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);</a:t>
            </a:r>
          </a:p>
          <a:p>
            <a:pPr algn="l"/>
            <a:endParaRPr sz="14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// Action 3: Tell the specific Marker to show its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// callout bubble (after animation settles)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setTimeout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(() =&gt; {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markerRefs.current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[building.id]?.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showCallout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}, 600);  // wait 600ms &gt; 500ms animation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},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8671" y="1079500"/>
            <a:ext cx="5293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0000"/>
                </a:solidFill>
                <a:latin typeface="Calibri"/>
              </a:rPr>
              <a:t>Why three separate mechanisms?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2901" y="1524000"/>
            <a:ext cx="5419723" cy="10058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6722541" y="1524508"/>
            <a:ext cx="4947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2563EB"/>
                </a:solidFill>
                <a:latin typeface="Calibri"/>
              </a:rPr>
              <a:t>setSelectedBuilding</a:t>
            </a:r>
            <a:r>
              <a:rPr sz="2000" b="1" dirty="0">
                <a:solidFill>
                  <a:srgbClr val="2563EB"/>
                </a:solidFill>
                <a:latin typeface="Calibri"/>
              </a:rPr>
              <a:t>(building)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270" y="1889760"/>
            <a:ext cx="5070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This is a state change — React needs to re-render to show the detail card.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useState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is the right tool.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2901" y="2621280"/>
            <a:ext cx="5419723" cy="10058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6818671" y="2621788"/>
            <a:ext cx="4885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2563EB"/>
                </a:solidFill>
                <a:latin typeface="Calibri"/>
              </a:rPr>
              <a:t>animateToRegion</a:t>
            </a:r>
            <a:r>
              <a:rPr sz="2000" b="1" dirty="0">
                <a:solidFill>
                  <a:srgbClr val="2563EB"/>
                </a:solidFill>
                <a:latin typeface="Calibri"/>
              </a:rPr>
              <a:t>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8670" y="2987040"/>
            <a:ext cx="5147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There is no "fly to region" prop on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MapView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 You can only trigger this imperatively. This is exactly what refs are for.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2901" y="3718560"/>
            <a:ext cx="5419723" cy="10058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6818671" y="3782568"/>
            <a:ext cx="4851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2563EB"/>
                </a:solidFill>
                <a:latin typeface="Calibri"/>
              </a:rPr>
              <a:t>markerRefs.current</a:t>
            </a:r>
            <a:r>
              <a:rPr sz="2000" b="1" dirty="0">
                <a:solidFill>
                  <a:srgbClr val="2563EB"/>
                </a:solidFill>
                <a:latin typeface="Calibri"/>
              </a:rPr>
              <a:t>[id]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5969" y="4084320"/>
            <a:ext cx="5306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A different ref for each marker. When each Marker mounts, it registers itself in the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markerRefs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object under its building 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2901" y="4815840"/>
            <a:ext cx="5419723" cy="10058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6818671" y="4879848"/>
            <a:ext cx="4851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2563EB"/>
                </a:solidFill>
                <a:latin typeface="Calibri"/>
              </a:rPr>
              <a:t>setTimeout</a:t>
            </a:r>
            <a:r>
              <a:rPr sz="2000" b="1" dirty="0">
                <a:solidFill>
                  <a:srgbClr val="2563EB"/>
                </a:solidFill>
                <a:latin typeface="Calibri"/>
              </a:rPr>
              <a:t> 600 &gt; 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8670" y="5181600"/>
            <a:ext cx="5070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The map animation takes 500ms. We wait 600ms before showing the callout so it appears after the map has settled.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2540" y="5943600"/>
            <a:ext cx="5390083" cy="801826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8671" y="5927852"/>
            <a:ext cx="50708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563EB"/>
                </a:solidFill>
                <a:latin typeface="Calibri"/>
              </a:rPr>
              <a:t>This function is called from BOTH the map markers (</a:t>
            </a:r>
            <a:r>
              <a:rPr sz="1600" b="0" dirty="0" err="1">
                <a:solidFill>
                  <a:srgbClr val="2563EB"/>
                </a:solidFill>
                <a:latin typeface="Calibri"/>
              </a:rPr>
              <a:t>onPress</a:t>
            </a:r>
            <a:r>
              <a:rPr sz="1600" b="0" dirty="0">
                <a:solidFill>
                  <a:srgbClr val="2563EB"/>
                </a:solidFill>
                <a:latin typeface="Calibri"/>
              </a:rPr>
              <a:t>) AND the building list cards (</a:t>
            </a:r>
            <a:r>
              <a:rPr sz="1600" b="0" dirty="0" err="1">
                <a:solidFill>
                  <a:srgbClr val="2563EB"/>
                </a:solidFill>
                <a:latin typeface="Calibri"/>
              </a:rPr>
              <a:t>onPress</a:t>
            </a:r>
            <a:r>
              <a:rPr sz="1600" b="0" dirty="0">
                <a:solidFill>
                  <a:srgbClr val="2563EB"/>
                </a:solidFill>
                <a:latin typeface="Calibri"/>
              </a:rPr>
              <a:t>) — same </a:t>
            </a:r>
            <a:r>
              <a:rPr sz="1600" b="0" dirty="0" err="1">
                <a:solidFill>
                  <a:srgbClr val="2563EB"/>
                </a:solidFill>
                <a:latin typeface="Calibri"/>
              </a:rPr>
              <a:t>behaviour</a:t>
            </a:r>
            <a:r>
              <a:rPr sz="1600" b="0" dirty="0">
                <a:solidFill>
                  <a:srgbClr val="2563EB"/>
                </a:solidFill>
                <a:latin typeface="Calibri"/>
              </a:rPr>
              <a:t> from both entry points.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1149B9-76A2-3D3C-9715-717A581C7A41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" y="1920240"/>
            <a:ext cx="121888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dirty="0">
                <a:solidFill>
                  <a:srgbClr val="FFFFFF"/>
                </a:solidFill>
                <a:latin typeface="Calibri"/>
              </a:rPr>
              <a:t>Building the Campus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" y="3749039"/>
            <a:ext cx="121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dirty="0">
                <a:solidFill>
                  <a:srgbClr val="DBEAFE"/>
                </a:solidFill>
                <a:latin typeface="Calibri"/>
              </a:rPr>
              <a:t>SAIT buildings, </a:t>
            </a:r>
            <a:r>
              <a:rPr sz="2800" b="0" dirty="0" err="1">
                <a:solidFill>
                  <a:srgbClr val="DBEAFE"/>
                </a:solidFill>
                <a:latin typeface="Calibri"/>
              </a:rPr>
              <a:t>MapView</a:t>
            </a:r>
            <a:r>
              <a:rPr sz="2800" b="0" dirty="0">
                <a:solidFill>
                  <a:srgbClr val="DBEAFE"/>
                </a:solidFill>
                <a:latin typeface="Calibri"/>
              </a:rPr>
              <a:t>, markers, location, and the building list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42677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Campus Map: Building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4200"/>
            <a:ext cx="11475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6 SAIT buildings with GPS coordinates — constant data outside the 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6246796" cy="5788982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7673" y="1032308"/>
            <a:ext cx="5709224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type Building = {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id: string;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title: string;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description: string;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coordinate: { latitude: number; longitude: number; };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};</a:t>
            </a:r>
          </a:p>
          <a:p>
            <a:pPr algn="l"/>
            <a:endParaRPr sz="105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const CAMPUS_BUILDINGS: Building[] = [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{ id: "heritage",  title: "Heritage Hall",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description: "Administration, Registrar, student services",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coordinate: { latitude: 51.06635, longitude: -114.09225 } },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{ id: "</a:t>
            </a:r>
            <a:r>
              <a:rPr sz="1050" dirty="0" err="1">
                <a:solidFill>
                  <a:srgbClr val="E2E8F0"/>
                </a:solidFill>
                <a:latin typeface="Courier New"/>
              </a:rPr>
              <a:t>johnware</a:t>
            </a:r>
            <a:r>
              <a:rPr sz="1050" dirty="0">
                <a:solidFill>
                  <a:srgbClr val="E2E8F0"/>
                </a:solidFill>
                <a:latin typeface="Courier New"/>
              </a:rPr>
              <a:t>",  title: "John Ware Building",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description: "Business and IT programs, classrooms and labs",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coordinate: { latitude: 51.06705, longitude: -114.09155 } },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{ id: "senator",   title: "Senator Burns Building",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description: "Trades and technology programs",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coordinate: { latitude: 51.06575, longitude: -114.09305 } },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{ id: "</a:t>
            </a:r>
            <a:r>
              <a:rPr sz="1050" dirty="0" err="1">
                <a:solidFill>
                  <a:srgbClr val="E2E8F0"/>
                </a:solidFill>
                <a:latin typeface="Courier New"/>
              </a:rPr>
              <a:t>stangrad</a:t>
            </a:r>
            <a:r>
              <a:rPr sz="1050" dirty="0">
                <a:solidFill>
                  <a:srgbClr val="E2E8F0"/>
                </a:solidFill>
                <a:latin typeface="Courier New"/>
              </a:rPr>
              <a:t>",  title: "Stan Grad Centre",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description: "Student association, food court, student lounge",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coordinate: { latitude: 51.06655, longitude: -114.09085 } },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{ id: "</a:t>
            </a:r>
            <a:r>
              <a:rPr sz="1050" dirty="0" err="1">
                <a:solidFill>
                  <a:srgbClr val="E2E8F0"/>
                </a:solidFill>
                <a:latin typeface="Courier New"/>
              </a:rPr>
              <a:t>aldred</a:t>
            </a:r>
            <a:r>
              <a:rPr sz="1050" dirty="0">
                <a:solidFill>
                  <a:srgbClr val="E2E8F0"/>
                </a:solidFill>
                <a:latin typeface="Courier New"/>
              </a:rPr>
              <a:t>",    title: "Aldred Centre",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description: "Health and public safety programs",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coordinate: { latitude: 51.06725, longitude: -114.09335 } },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{ id: "athletics", title: "Athletics &amp; Recreation",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description: "Fitness </a:t>
            </a:r>
            <a:r>
              <a:rPr sz="1050" dirty="0" err="1">
                <a:solidFill>
                  <a:srgbClr val="E2E8F0"/>
                </a:solidFill>
                <a:latin typeface="Courier New"/>
              </a:rPr>
              <a:t>centre</a:t>
            </a:r>
            <a:r>
              <a:rPr sz="1050" dirty="0">
                <a:solidFill>
                  <a:srgbClr val="E2E8F0"/>
                </a:solidFill>
                <a:latin typeface="Courier New"/>
              </a:rPr>
              <a:t>, gym, climbing wall, lockers",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  coordinate: { latitude: 51.06595, longitude: -114.09415 } },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];</a:t>
            </a:r>
          </a:p>
          <a:p>
            <a:pPr algn="l"/>
            <a:endParaRPr sz="105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// Centered on SAIT main campus (1301 16 Ave NW, Calgary)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const CAMPUS_CENTER: Region = {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latitude: 51.0665,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longitude: -114.0922,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050" dirty="0" err="1">
                <a:solidFill>
                  <a:srgbClr val="E2E8F0"/>
                </a:solidFill>
                <a:latin typeface="Courier New"/>
              </a:rPr>
              <a:t>latitudeDelta</a:t>
            </a:r>
            <a:r>
              <a:rPr sz="1050" dirty="0">
                <a:solidFill>
                  <a:srgbClr val="E2E8F0"/>
                </a:solidFill>
                <a:latin typeface="Courier New"/>
              </a:rPr>
              <a:t>: 0.006,  // ~650m visible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050" dirty="0" err="1">
                <a:solidFill>
                  <a:srgbClr val="E2E8F0"/>
                </a:solidFill>
                <a:latin typeface="Courier New"/>
              </a:rPr>
              <a:t>longitudeDelta</a:t>
            </a:r>
            <a:r>
              <a:rPr sz="1050" dirty="0">
                <a:solidFill>
                  <a:srgbClr val="E2E8F0"/>
                </a:solidFill>
                <a:latin typeface="Courier New"/>
              </a:rPr>
              <a:t>: 0.006,</a:t>
            </a:r>
          </a:p>
          <a:p>
            <a:pPr algn="l"/>
            <a:r>
              <a:rPr sz="1050" dirty="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3779" y="1143000"/>
            <a:ext cx="49305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0000"/>
                </a:solidFill>
                <a:latin typeface="Calibri"/>
              </a:rPr>
              <a:t>Design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73779" y="1600200"/>
            <a:ext cx="5021981" cy="111556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74469" y="1553032"/>
            <a:ext cx="4638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563EB"/>
                </a:solidFill>
                <a:latin typeface="Calibri"/>
              </a:rPr>
              <a:t>Constant outside the 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3779" y="1873072"/>
            <a:ext cx="4839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Building data never changes. Placing it outside avoids recreating the array on every render — same reason we put COURSES outside in Week 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73779" y="2834640"/>
            <a:ext cx="5021981" cy="111556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74469" y="2787472"/>
            <a:ext cx="4638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563EB"/>
                </a:solidFill>
                <a:latin typeface="Calibri"/>
              </a:rPr>
              <a:t>CAMPUS_CENTER as a 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3779" y="3107512"/>
            <a:ext cx="4839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Re-used in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initialRegion</a:t>
            </a:r>
            <a:r>
              <a:rPr b="0" dirty="0">
                <a:solidFill>
                  <a:srgbClr val="111827"/>
                </a:solidFill>
                <a:latin typeface="Calibri"/>
              </a:rPr>
              <a:t> and in the custom recenter button. Define it once as a named constant, reference it in two places.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3779" y="4069080"/>
            <a:ext cx="5021981" cy="111556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74469" y="4021912"/>
            <a:ext cx="4638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Decimal degree coordinates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3779" y="4341952"/>
            <a:ext cx="4839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Modern GPS standard. 51.0665, -114.0922 = 51°N, 114°W. Negative longitude = west of Greenwich. SAIT is northwest Calgary.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73779" y="5303520"/>
            <a:ext cx="5021981" cy="111556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74469" y="5256352"/>
            <a:ext cx="4638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latitudeDelta: 0.006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3779" y="5576392"/>
            <a:ext cx="4839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1° latitude ≈ 111 km. 0.006 × 111,000 = ~650m visible. Fits the SAIT campus comfortably with surrounding streets visible.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E43FE6-1E2F-2454-E856-37A3C437AFDD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39" y="-42676"/>
            <a:ext cx="91245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Campus Map: State, Refs, and the Map JSX</a:t>
            </a:r>
            <a:r>
              <a:rPr lang="en-US" sz="3200" b="1" dirty="0">
                <a:latin typeface="Calibri"/>
              </a:rPr>
              <a:t> (1/2)</a:t>
            </a:r>
            <a:endParaRPr sz="3200" b="1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436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600" b="0" dirty="0">
                <a:latin typeface="Calibri"/>
              </a:rPr>
              <a:t>Four state variables, two refs, and the </a:t>
            </a:r>
            <a:r>
              <a:rPr sz="2600" b="0" dirty="0" err="1">
                <a:latin typeface="Calibri"/>
              </a:rPr>
              <a:t>MapView</a:t>
            </a:r>
            <a:r>
              <a:rPr sz="2600" b="0" dirty="0">
                <a:latin typeface="Calibri"/>
              </a:rPr>
              <a:t> with custom recenter button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476" y="1051560"/>
            <a:ext cx="5486400" cy="5674093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221" y="1188720"/>
            <a:ext cx="5213651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CampusMap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= () =&gt; {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// Refs: imperative handles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const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=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&lt;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MapView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&gt;(null);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const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markerRefs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=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&lt;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Record&lt;string, Marker | null&gt;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&gt;({});</a:t>
            </a:r>
          </a:p>
          <a:p>
            <a:pPr algn="l"/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// State: what should the UI show?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const [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locationGranted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setLocationGranted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] =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(false);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const [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locationError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setLocationError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] =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&lt;string | null&gt;(null);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const [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selectedBuilding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setSelectedBuilding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] =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&lt;Building | null&gt;(null);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const [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isLoadingLocation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setIsLoadingLocation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] =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 algn="l"/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useEffect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(() =&gt; {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requestLocation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(); }, []);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...</a:t>
            </a:r>
          </a:p>
          <a:p>
            <a:pPr algn="l"/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&lt;View style={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styles.mapContainer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&lt;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MapView</a:t>
            </a:r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ref={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mapRef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style={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styles.map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initialRegion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={CAMPUS_CENTER}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showsUserLocation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locationGranted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showsMyLocationButton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={false}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070808"/>
            <a:ext cx="566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alibri"/>
              </a:rPr>
              <a:t>4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State Variables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91912"/>
            <a:ext cx="5669280" cy="100584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6263640" y="1504904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2563EB"/>
                </a:solidFill>
                <a:latin typeface="Calibri"/>
              </a:rPr>
              <a:t>locationGranted</a:t>
            </a:r>
            <a:endParaRPr sz="2000" b="1" dirty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0" y="1504904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Calibri"/>
              </a:rPr>
              <a:t>bool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58152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Passed to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showsUserLocation</a:t>
            </a:r>
            <a:r>
              <a:rPr b="0" dirty="0">
                <a:solidFill>
                  <a:srgbClr val="111827"/>
                </a:solidFill>
                <a:latin typeface="Calibri"/>
              </a:rPr>
              <a:t> on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MapView</a:t>
            </a:r>
            <a:r>
              <a:rPr b="0" dirty="0">
                <a:solidFill>
                  <a:srgbClr val="111827"/>
                </a:solidFill>
                <a:latin typeface="Calibri"/>
              </a:rPr>
              <a:t>. True = blue dot appears.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583416"/>
            <a:ext cx="5669280" cy="100584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6263640" y="2596408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locationError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59640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Calibri"/>
              </a:rPr>
              <a:t>string|null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49656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Non-null when permission was denied. Shows the soft banner. Map still renders.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674920"/>
            <a:ext cx="5669280" cy="100584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6263640" y="3687912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selectedBuilding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68791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Calibri"/>
              </a:rPr>
              <a:t>Building|null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41160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When non-null, shows the detail card below the map. Cleared when user taps ✕.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766424"/>
            <a:ext cx="5669280" cy="1005840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6263640" y="4779416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2563EB"/>
                </a:solidFill>
                <a:latin typeface="Calibri"/>
              </a:rPr>
              <a:t>isLoadingLocation</a:t>
            </a:r>
            <a:endParaRPr sz="2000" b="1" dirty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52560" y="4779416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Calibri"/>
              </a:rPr>
              <a:t>bool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32664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True during permission check. Shows a full-screen spinner. Avoids flash of map before permission resolves.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39624" y="5869411"/>
            <a:ext cx="6016579" cy="863931"/>
          </a:xfrm>
          <a:prstGeom prst="roundRect">
            <a:avLst>
              <a:gd name="adj" fmla="val 22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87752" y="5867004"/>
            <a:ext cx="58657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latin typeface="Calibri"/>
              </a:rPr>
              <a:t>showsMyLocationButton</a:t>
            </a:r>
            <a:r>
              <a:rPr b="0" dirty="0">
                <a:latin typeface="Calibri"/>
              </a:rPr>
              <a:t>={false} — the native button goes to Googleplex on Android emulator. We replace it with our custom recenter button.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DEFBBE-0D31-EEF2-74C0-224889B5B4DA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AA519-D7B2-AD30-360F-DE72014E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ED085-8241-42B4-DF6A-DA1F7B971CBF}"/>
              </a:ext>
            </a:extLst>
          </p:cNvPr>
          <p:cNvSpPr txBox="1"/>
          <p:nvPr/>
        </p:nvSpPr>
        <p:spPr>
          <a:xfrm>
            <a:off x="320039" y="-42676"/>
            <a:ext cx="91746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latin typeface="Calibri"/>
              </a:rPr>
              <a:t>Campus Map: State, Refs, and the Map JSX</a:t>
            </a:r>
            <a:r>
              <a:rPr lang="en-US" sz="3200" b="1" dirty="0"/>
              <a:t>  (2/2)</a:t>
            </a:r>
            <a:endParaRPr sz="3200" b="1" dirty="0">
              <a:latin typeface="Calibri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331517-F1BB-21AB-EA73-800DE95830F4}"/>
              </a:ext>
            </a:extLst>
          </p:cNvPr>
          <p:cNvSpPr/>
          <p:nvPr/>
        </p:nvSpPr>
        <p:spPr>
          <a:xfrm>
            <a:off x="2867210" y="738410"/>
            <a:ext cx="6214163" cy="5963016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A2CC1C-F5C7-BEA2-B027-328B300ACDFB}"/>
              </a:ext>
            </a:extLst>
          </p:cNvPr>
          <p:cNvSpPr txBox="1"/>
          <p:nvPr/>
        </p:nvSpPr>
        <p:spPr>
          <a:xfrm>
            <a:off x="2985956" y="839474"/>
            <a:ext cx="609541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{/* Markers as children */}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{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CAMPUS_BUILDINGS.map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((b) =&gt; (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&lt;Marker key={b.id}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  ref={(r) =&gt; {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  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markerRefs.current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[b.id] = r;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  }}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  coordinate={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b.coordinate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  title={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b.title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  description={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b.description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={() =&gt;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handleBuildingPress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(b)}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/&gt;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))}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&lt;/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MapView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&gt;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{/* Custom recenter button */}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&lt;Pressable style={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styles.recenterBtn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={() =&gt;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mapRef.current?.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animateToRegion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  CAMPUS_CENTER, 600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  )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}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&gt;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  &lt;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Ionicons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name="locate" size={22} /&gt;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  &lt;/Pressable&gt;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  &lt;/View&gt;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  );</a:t>
            </a:r>
          </a:p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};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DA543D-8845-5834-1A46-37DAFC92BC30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08803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288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The Emulator Location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122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Why </a:t>
            </a:r>
            <a:r>
              <a:rPr sz="2400" b="0" dirty="0" err="1">
                <a:latin typeface="Calibri"/>
              </a:rPr>
              <a:t>showsMyLocationButton</a:t>
            </a:r>
            <a:r>
              <a:rPr sz="2400" b="0" dirty="0">
                <a:latin typeface="Calibri"/>
              </a:rPr>
              <a:t>={false} and how we replaced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452" y="1055318"/>
            <a:ext cx="5457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DC2626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891" y="1329012"/>
            <a:ext cx="59588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11827"/>
                </a:solidFill>
                <a:latin typeface="Calibri"/>
              </a:rPr>
              <a:t>The native "My Location" button on Android calls the device GPS. On the Android Emulator, the GPS defaults to 37.4219983, -122.084 — the Googleplex in Mountain View, California.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181" y="2459160"/>
            <a:ext cx="5819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DC2626"/>
                </a:solidFill>
                <a:latin typeface="Calibri"/>
              </a:rPr>
              <a:t>Result: tapping the button flies the map to California instead of SAIT.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452" y="3150296"/>
            <a:ext cx="5457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6A34A"/>
                </a:solidFill>
                <a:latin typeface="Calibri"/>
              </a:rPr>
              <a:t>The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229" y="3499146"/>
            <a:ext cx="5773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Disable the native button and replace it with a custom Pressable that always animates back to CAMPUS_CENTER: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075" y="4186950"/>
            <a:ext cx="5773675" cy="2276856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186" y="4198850"/>
            <a:ext cx="5617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&lt;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MapView</a:t>
            </a:r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showsMyLocationButton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={false}  // disable native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...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&gt;</a:t>
            </a:r>
          </a:p>
          <a:p>
            <a:pPr algn="l"/>
            <a:endParaRPr sz="12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&lt;Pressable style={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styles.recenterBtn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={() =&gt;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mapRef.current?.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animateToRegion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(CAMPUS_CENTER, 600)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&lt;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Ionicons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name="locate" size={22} /&gt;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&lt;/Pressable&gt;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017740"/>
            <a:ext cx="539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0000"/>
                </a:solidFill>
                <a:latin typeface="Calibri"/>
              </a:rPr>
              <a:t>Setting Mock Location in Android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79324"/>
            <a:ext cx="56905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11827"/>
                </a:solidFill>
                <a:latin typeface="Calibri"/>
              </a:rPr>
              <a:t>To make the emulator report SAIT’s location instead of the Googleplex: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12848"/>
            <a:ext cx="5782014" cy="5029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258568"/>
            <a:ext cx="5557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latin typeface="Calibri"/>
              </a:rPr>
              <a:t>1. </a:t>
            </a:r>
            <a:r>
              <a:rPr sz="2000" dirty="0">
                <a:latin typeface="Calibri"/>
              </a:rPr>
              <a:t>Open Android Studio with the emulator running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07208"/>
            <a:ext cx="5782014" cy="612648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777772"/>
            <a:ext cx="5557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2563EB"/>
                </a:solidFill>
                <a:latin typeface="Calibri"/>
              </a:rPr>
              <a:t>2.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Click the ⋮ menu on the emulator sidebar → Extended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14510"/>
            <a:ext cx="5782014" cy="5029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660230"/>
            <a:ext cx="5557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Calibri"/>
              </a:rPr>
              <a:t>3. </a:t>
            </a:r>
            <a:r>
              <a:rPr sz="2000">
                <a:solidFill>
                  <a:srgbClr val="111827"/>
                </a:solidFill>
                <a:latin typeface="Calibri"/>
              </a:rPr>
              <a:t>Click the Location tab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8870"/>
            <a:ext cx="5782014" cy="5029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254590"/>
            <a:ext cx="5557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Calibri"/>
              </a:rPr>
              <a:t>4. </a:t>
            </a:r>
            <a:r>
              <a:rPr sz="2000">
                <a:solidFill>
                  <a:srgbClr val="111827"/>
                </a:solidFill>
                <a:latin typeface="Calibri"/>
              </a:rPr>
              <a:t>Enter Latitude: 51.0665, Longitude: -114.0922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03230"/>
            <a:ext cx="5782014" cy="5029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848950"/>
            <a:ext cx="5557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2563EB"/>
                </a:solidFill>
                <a:latin typeface="Calibri"/>
              </a:rPr>
              <a:t>5.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Click Set Location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397590"/>
            <a:ext cx="5782014" cy="5029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5443310"/>
            <a:ext cx="5557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2563EB"/>
                </a:solidFill>
                <a:latin typeface="Calibri"/>
              </a:rPr>
              <a:t>6.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The blue dot will now appear over SAIT campus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6063348"/>
            <a:ext cx="5782014" cy="6663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6021762"/>
            <a:ext cx="5557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563EB"/>
                </a:solidFill>
                <a:latin typeface="Calibri"/>
              </a:rPr>
              <a:t>On a physical device at SAIT, the blue dot appears at your actual location automatically.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3E3A3C-6386-5ECD-973C-B07FFF39BBA4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5BFC97-914A-60F8-5419-4A567C67D75D}"/>
              </a:ext>
            </a:extLst>
          </p:cNvPr>
          <p:cNvSpPr txBox="1"/>
          <p:nvPr/>
        </p:nvSpPr>
        <p:spPr>
          <a:xfrm>
            <a:off x="-1302707" y="40208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70385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Soft Error vs Hard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Match your error treatment to the impact of the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4046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625" y="1133348"/>
            <a:ext cx="5367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Soft Error — Feature degraded, still useful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539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When: location permission denied on the Map screen
Result: map still renders, all building markers visible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77439"/>
            <a:ext cx="5303520" cy="1857177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48646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// Soft error: show a banner, keep going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if (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locationError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) {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&lt;View style={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styles.locationBanner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&lt;Text&gt;{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locationError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}&lt;/Text&gt;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&lt;/View&gt;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);  // NOT a return from the whole screen!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3191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The screen continues to render below the banner. The map is fully functional — just no blue dot.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185" y="4841240"/>
            <a:ext cx="5779135" cy="1645920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02920" y="4892548"/>
            <a:ext cx="4892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D97706"/>
                </a:solidFill>
                <a:latin typeface="Calibri"/>
              </a:rPr>
              <a:t>When to use soft errors: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245608"/>
            <a:ext cx="5715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0" dirty="0">
                <a:solidFill>
                  <a:srgbClr val="111827"/>
                </a:solidFill>
                <a:latin typeface="Calibri"/>
              </a:rPr>
              <a:t>The feature works (partially) without the missing</a:t>
            </a:r>
            <a:r>
              <a:rPr lang="en-US" sz="19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900" b="0" dirty="0">
                <a:solidFill>
                  <a:srgbClr val="111827"/>
                </a:solidFill>
                <a:latin typeface="Calibri"/>
              </a:rPr>
              <a:t>piece
The failure is a permission denial, not a data failure
Users can still accomplish their goal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40460"/>
            <a:ext cx="576072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2470" y="1133348"/>
            <a:ext cx="5758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Hard Error — Feature completely broken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642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When: API failure on the Home or Courses screen
Result: no data at all — the screen is empty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77439"/>
            <a:ext cx="4538980" cy="1857178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2336800"/>
            <a:ext cx="47807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// Hard error: full error screen + retry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if (error) {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&lt;View style={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styles.errorScreen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&lt;Text&gt;{error}&lt;/Text&gt;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&lt;Button title="Retry"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fetchData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} /&gt;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  &lt;/View&gt;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  );  // early return from whole screen</a:t>
            </a:r>
          </a:p>
          <a:p>
            <a:pPr algn="l"/>
            <a:r>
              <a:rPr sz="12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03191"/>
            <a:ext cx="539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The whole screen returns an error view. Nothing useful can be shown without the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41240"/>
            <a:ext cx="5760720" cy="1645920"/>
          </a:xfrm>
          <a:prstGeom prst="roundRect">
            <a:avLst>
              <a:gd name="adj" fmla="val 2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6355080" y="4892548"/>
            <a:ext cx="5257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DC2626"/>
                </a:solidFill>
                <a:latin typeface="Calibri"/>
              </a:rPr>
              <a:t>When to use hard errors: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309108"/>
            <a:ext cx="55321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0" dirty="0">
                <a:solidFill>
                  <a:srgbClr val="111827"/>
                </a:solidFill>
                <a:latin typeface="Calibri"/>
              </a:rPr>
              <a:t>The screen has nothing to show without the data
The failure is an API/network failure (Week 10)
A retry action is meaningful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5A1C7-2576-4B72-1936-7C3AC4446CA5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AF15F-9D33-AFBA-01D9-4A45562147B8}"/>
              </a:ext>
            </a:extLst>
          </p:cNvPr>
          <p:cNvSpPr txBox="1"/>
          <p:nvPr/>
        </p:nvSpPr>
        <p:spPr>
          <a:xfrm>
            <a:off x="-457200" y="3086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77597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New Packages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 err="1">
                <a:latin typeface="Calibri"/>
              </a:rPr>
              <a:t>npx</a:t>
            </a:r>
            <a:r>
              <a:rPr sz="2400" b="0" dirty="0">
                <a:latin typeface="Calibri"/>
              </a:rPr>
              <a:t> expo install vs </a:t>
            </a:r>
            <a:r>
              <a:rPr sz="2400" b="0" dirty="0" err="1">
                <a:latin typeface="Calibri"/>
              </a:rPr>
              <a:t>npm</a:t>
            </a:r>
            <a:r>
              <a:rPr sz="2400" b="0" dirty="0">
                <a:latin typeface="Calibri"/>
              </a:rPr>
              <a:t> install — always use expo install for Expo packages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48080"/>
            <a:ext cx="3749039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39" y="1128268"/>
            <a:ext cx="3703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expo-image-picker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52600"/>
            <a:ext cx="34747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563EB"/>
                </a:solidFill>
              </a:rPr>
              <a:t>Camera + photo library</a:t>
            </a:r>
          </a:p>
          <a:p>
            <a:pPr algn="l"/>
            <a:endParaRPr lang="en-US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Provides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launchCameraAsync</a:t>
            </a:r>
            <a:r>
              <a:rPr b="0" dirty="0">
                <a:solidFill>
                  <a:srgbClr val="111827"/>
                </a:solidFill>
                <a:latin typeface="Calibri"/>
              </a:rPr>
              <a:t>() and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launchImageLibraryAsync</a:t>
            </a:r>
            <a:r>
              <a:rPr b="0" dirty="0">
                <a:solidFill>
                  <a:srgbClr val="111827"/>
                </a:solidFill>
                <a:latin typeface="Calibri"/>
              </a:rPr>
              <a:t>(). Handles the native permission UI and the cropping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148080"/>
            <a:ext cx="3749039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8" y="1128268"/>
            <a:ext cx="3703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expo-location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8" y="1752600"/>
            <a:ext cx="374903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563EB"/>
                </a:solidFill>
              </a:rPr>
              <a:t>GPS coordinates</a:t>
            </a:r>
          </a:p>
          <a:p>
            <a:pPr algn="l"/>
            <a:endParaRPr lang="en-US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Provides</a:t>
            </a:r>
            <a:r>
              <a:rPr lang="en-US" b="0" dirty="0">
                <a:solidFill>
                  <a:srgbClr val="111827"/>
                </a:solidFill>
                <a:latin typeface="Calibri"/>
              </a:rPr>
              <a:t>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requestForegroundPermissionsAsync</a:t>
            </a:r>
            <a:r>
              <a:rPr b="0" dirty="0">
                <a:solidFill>
                  <a:srgbClr val="111827"/>
                </a:solidFill>
                <a:latin typeface="Calibri"/>
              </a:rPr>
              <a:t>().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MapView</a:t>
            </a:r>
            <a:r>
              <a:rPr b="0" dirty="0">
                <a:solidFill>
                  <a:srgbClr val="111827"/>
                </a:solidFill>
                <a:latin typeface="Calibri"/>
              </a:rPr>
              <a:t> uses it internally when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showsUserLocation</a:t>
            </a:r>
            <a:r>
              <a:rPr b="0" dirty="0">
                <a:solidFill>
                  <a:srgbClr val="111827"/>
                </a:solidFill>
                <a:latin typeface="Calibri"/>
              </a:rPr>
              <a:t>={true}.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48080"/>
            <a:ext cx="3749039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1128268"/>
            <a:ext cx="3703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react-native-maps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1752600"/>
            <a:ext cx="382349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563EB"/>
                </a:solidFill>
              </a:rPr>
              <a:t>Interactive maps</a:t>
            </a:r>
          </a:p>
          <a:p>
            <a:pPr algn="l"/>
            <a:endParaRPr lang="en-US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Provides 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MapView</a:t>
            </a:r>
            <a:r>
              <a:rPr b="0" dirty="0">
                <a:solidFill>
                  <a:srgbClr val="111827"/>
                </a:solidFill>
                <a:latin typeface="Calibri"/>
              </a:rPr>
              <a:t> and Marker components. Uses Apple Maps on iOS, Google Maps on Android. Requires a development build (not Expo Go).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1668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414F4"/>
                </a:solidFill>
                <a:latin typeface="Calibri"/>
              </a:rPr>
              <a:t>Always use </a:t>
            </a:r>
            <a:r>
              <a:rPr sz="2000" b="1" dirty="0" err="1">
                <a:solidFill>
                  <a:srgbClr val="2414F4"/>
                </a:solidFill>
                <a:latin typeface="Calibri"/>
              </a:rPr>
              <a:t>npx</a:t>
            </a:r>
            <a:r>
              <a:rPr sz="2000" b="1" dirty="0">
                <a:solidFill>
                  <a:srgbClr val="2414F4"/>
                </a:solidFill>
                <a:latin typeface="Calibri"/>
              </a:rPr>
              <a:t> expo install for Expo packages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53581"/>
            <a:ext cx="7772400" cy="520171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852" y="4475988"/>
            <a:ext cx="780213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dirty="0" err="1">
                <a:solidFill>
                  <a:srgbClr val="E2E8F0"/>
                </a:solidFill>
                <a:latin typeface="Courier New"/>
              </a:rPr>
              <a:t>npx</a:t>
            </a:r>
            <a:r>
              <a:rPr sz="1500" dirty="0">
                <a:solidFill>
                  <a:srgbClr val="E2E8F0"/>
                </a:solidFill>
                <a:latin typeface="Courier New"/>
              </a:rPr>
              <a:t> expo install expo-image-picker expo-location react-native-maps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8988" y="3901333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111827"/>
                </a:solidFill>
                <a:latin typeface="Calibri"/>
              </a:rPr>
              <a:t>npm</a:t>
            </a:r>
            <a:r>
              <a:rPr b="0" dirty="0">
                <a:solidFill>
                  <a:srgbClr val="111827"/>
                </a:solidFill>
                <a:latin typeface="Calibri"/>
              </a:rPr>
              <a:t> install picks the latest version, which may be incompatible. expo install reads your SDK version and picks the correct 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729" y="5052700"/>
            <a:ext cx="5452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2414F4"/>
                </a:solidFill>
                <a:latin typeface="Calibri"/>
              </a:rPr>
              <a:t>app.json</a:t>
            </a:r>
            <a:r>
              <a:rPr sz="2400" b="1" dirty="0">
                <a:solidFill>
                  <a:srgbClr val="2414F4"/>
                </a:solidFill>
                <a:latin typeface="Calibri"/>
              </a:rPr>
              <a:t> — permission strings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5729" y="5540542"/>
            <a:ext cx="11917366" cy="1076116"/>
          </a:xfrm>
          <a:prstGeom prst="roundRect">
            <a:avLst>
              <a:gd name="adj" fmla="val 127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424" y="5594575"/>
            <a:ext cx="118702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2E8F0"/>
                </a:solidFill>
                <a:latin typeface="Courier New"/>
              </a:rPr>
              <a:t>"plugins": [["expo-image-picker", { "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photosPermission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": "Campus Hub accesses your photos to let you choose a </a:t>
            </a:r>
            <a:r>
              <a:rPr lang="en-US" sz="1400" dirty="0">
                <a:solidFill>
                  <a:srgbClr val="E2E8F0"/>
                </a:solidFill>
                <a:latin typeface="Courier New"/>
              </a:rPr>
              <a:t>  </a:t>
            </a:r>
          </a:p>
          <a:p>
            <a:pPr algn="l"/>
            <a:r>
              <a:rPr lang="en-US" sz="1400" dirty="0">
                <a:solidFill>
                  <a:srgbClr val="E2E8F0"/>
                </a:solidFill>
                <a:latin typeface="Courier New"/>
              </a:rPr>
              <a:t>           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profile</a:t>
            </a:r>
            <a:r>
              <a:rPr lang="en-US" sz="1400" dirty="0">
                <a:solidFill>
                  <a:srgbClr val="E2E8F0"/>
                </a:solidFill>
                <a:latin typeface="Courier New"/>
              </a:rPr>
              <a:t> 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photo.", "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cameraPermission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": "Campus Hub uses your camera to let you take a profile </a:t>
            </a:r>
            <a:endParaRPr lang="en-US" sz="14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lang="en-US" sz="1400" dirty="0">
                <a:solidFill>
                  <a:srgbClr val="E2E8F0"/>
                </a:solidFill>
                <a:latin typeface="Courier New"/>
              </a:rPr>
              <a:t>           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photo.", "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microphonePermission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": false }],["expo-location", { "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locationWhenInUsePermission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": </a:t>
            </a:r>
            <a:endParaRPr lang="en-US" sz="1400" dirty="0">
              <a:solidFill>
                <a:srgbClr val="E2E8F0"/>
              </a:solidFill>
              <a:latin typeface="Courier New"/>
            </a:endParaRPr>
          </a:p>
          <a:p>
            <a:pPr algn="l"/>
            <a:r>
              <a:rPr lang="en-US" sz="1400" dirty="0">
                <a:solidFill>
                  <a:srgbClr val="E2E8F0"/>
                </a:solidFill>
                <a:latin typeface="Courier New"/>
              </a:rPr>
              <a:t>           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"Campus Hub uses your location to show where you are on the campus map." }]]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8EDB99-9179-6A02-3901-DB2404864C79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736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9204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The errors students run into most — and how to fix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051560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025506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✗  Not checking result.canceled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625" y="1440368"/>
            <a:ext cx="5596255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111827"/>
                </a:solidFill>
                <a:latin typeface="Calibri"/>
              </a:rPr>
              <a:t>result.assets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is null when canceled. Reading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result.assets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[0].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uri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crashes with 'Cannot read property of null'.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99362"/>
            <a:ext cx="5577840" cy="555339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69926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563EB"/>
                </a:solidFill>
                <a:latin typeface="Calibri"/>
              </a:rPr>
              <a:t>✓  Always: if (!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result.canceled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) { const 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uri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 = 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result.assets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[0].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uri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;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051560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025506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✗  Storing base64 instead of URI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40368"/>
            <a:ext cx="548640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A 3MB photo encoded to base64 is ~4MB of text.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AsyncStorage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becomes very slow. The app may appear to hang on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99362"/>
            <a:ext cx="5577840" cy="592917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107504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563EB"/>
                </a:solidFill>
                <a:latin typeface="Calibri"/>
              </a:rPr>
              <a:t>✓  Store only the URI string. Pass it as source={{ 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uri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 }} to &lt;Image&gt;.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855308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829254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✗  Using region instead of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initialRegion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3294220"/>
            <a:ext cx="548640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With region prop, every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setState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call re-renders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MapView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, snapping the view back to the set region. Tapping a card causes the map to jump.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91208"/>
            <a:ext cx="5577840" cy="606445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186824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✓  Use initialRegion to set the starting view. The user can then pan and zoom freely.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855308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829254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✗  setIsLoadingLocation inside each branch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94220"/>
            <a:ext cx="548640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If you put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setIsLoadingLocation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(false) only inside the granted and denied branches, an unexpected early return will leave the spinner running forever.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191208"/>
            <a:ext cx="5577840" cy="606445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186824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563EB"/>
                </a:solidFill>
                <a:latin typeface="Calibri"/>
              </a:rPr>
              <a:t>✓  Call 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setIsLoadingLocation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(false) AFTER the entire if/else block, as the last statement.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959680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4933626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✗  Missing return after permission denied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335962"/>
            <a:ext cx="571500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Without a return after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Alert.alert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("Permission Denied"), code continues to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launchCameraAsync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 On a simulator, this opens a black screen.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6095164"/>
            <a:ext cx="5577840" cy="6858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6140884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563EB"/>
                </a:solidFill>
                <a:latin typeface="Calibri"/>
              </a:rPr>
              <a:t>✓  Add return; immediately after the 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Alert.alert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() call for the denied case.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959680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933626"/>
            <a:ext cx="557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✗  Building list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onPress</a:t>
            </a:r>
            <a:r>
              <a:rPr b="1" dirty="0">
                <a:solidFill>
                  <a:srgbClr val="FFFFFF"/>
                </a:solidFill>
                <a:latin typeface="Calibri"/>
              </a:rPr>
              <a:t> calls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setSelectedBuilding</a:t>
            </a:r>
            <a:r>
              <a:rPr b="1" dirty="0">
                <a:solidFill>
                  <a:srgbClr val="FFFFFF"/>
                </a:solidFill>
                <a:latin typeface="Calibri"/>
              </a:rPr>
              <a:t> directly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335962"/>
            <a:ext cx="553212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11827"/>
                </a:solidFill>
                <a:latin typeface="Calibri"/>
              </a:rPr>
              <a:t>Only updates state — misses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animateToRegion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and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showCallout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 The map does not fly to the building.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6095164"/>
            <a:ext cx="5577840" cy="6858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6140884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563EB"/>
                </a:solidFill>
                <a:latin typeface="Calibri"/>
              </a:rPr>
              <a:t>✓  Always call 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handleBuildingPress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(building), not </a:t>
            </a:r>
            <a:r>
              <a:rPr sz="1600" b="1" dirty="0" err="1">
                <a:solidFill>
                  <a:srgbClr val="2563EB"/>
                </a:solidFill>
                <a:latin typeface="Calibri"/>
              </a:rPr>
              <a:t>setSelectedBuilding</a:t>
            </a:r>
            <a:r>
              <a:rPr sz="1600" b="1" dirty="0">
                <a:solidFill>
                  <a:srgbClr val="2563EB"/>
                </a:solidFill>
                <a:latin typeface="Calibri"/>
              </a:rPr>
              <a:t>(building).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FAAC0F-4A1C-D78A-A9AA-BA4D25D14C1A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6507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Updated 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59919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4 tabs, new </a:t>
            </a:r>
            <a:r>
              <a:rPr sz="2400" b="0" dirty="0" err="1">
                <a:latin typeface="Calibri"/>
              </a:rPr>
              <a:t>map.tsx</a:t>
            </a:r>
            <a:r>
              <a:rPr sz="2400" b="0" dirty="0">
                <a:latin typeface="Calibri"/>
              </a:rPr>
              <a:t>, modified </a:t>
            </a:r>
            <a:r>
              <a:rPr sz="2400" b="0" dirty="0" err="1">
                <a:latin typeface="Calibri"/>
              </a:rPr>
              <a:t>profile.tsx</a:t>
            </a:r>
            <a:r>
              <a:rPr sz="2400" b="0" dirty="0">
                <a:latin typeface="Calibri"/>
              </a:rPr>
              <a:t> and </a:t>
            </a:r>
            <a:r>
              <a:rPr sz="2400" b="0" dirty="0" err="1">
                <a:latin typeface="Calibri"/>
              </a:rPr>
              <a:t>storage.ts</a:t>
            </a:r>
            <a:endParaRPr sz="2400" b="0" dirty="0"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5956" y="781249"/>
            <a:ext cx="53198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0000"/>
                </a:solidFill>
                <a:latin typeface="Calibri"/>
              </a:rPr>
              <a:t>What Changed This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5956" y="1274523"/>
            <a:ext cx="5319804" cy="1396865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651140" y="1225798"/>
            <a:ext cx="4961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6A34A"/>
                </a:solidFill>
                <a:latin typeface="Calibri"/>
              </a:rPr>
              <a:t>NEW: app/(tab)/</a:t>
            </a:r>
            <a:r>
              <a:rPr sz="2000" b="1" dirty="0" err="1">
                <a:solidFill>
                  <a:srgbClr val="16A34A"/>
                </a:solidFill>
                <a:latin typeface="Calibri"/>
              </a:rPr>
              <a:t>map.tsx</a:t>
            </a:r>
            <a:endParaRPr sz="2000" b="1" dirty="0">
              <a:solidFill>
                <a:srgbClr val="16A34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5956" y="1545838"/>
            <a:ext cx="546134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11827"/>
                </a:solidFill>
                <a:latin typeface="Calibri"/>
              </a:rPr>
              <a:t>6 SAIT building markers, interactive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MapView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, expo-location permission, building list with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AppCard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, custom recenter button,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handleBuildingPress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with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animateToRegion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showCallout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5956" y="2739441"/>
            <a:ext cx="5319804" cy="1110899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651140" y="2678190"/>
            <a:ext cx="4961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D97706"/>
                </a:solidFill>
                <a:latin typeface="Calibri"/>
              </a:rPr>
              <a:t>MODIFIED: </a:t>
            </a:r>
            <a:r>
              <a:rPr sz="2000" b="1" dirty="0" err="1">
                <a:solidFill>
                  <a:srgbClr val="D97706"/>
                </a:solidFill>
                <a:latin typeface="Calibri"/>
              </a:rPr>
              <a:t>profile.tsx</a:t>
            </a:r>
            <a:endParaRPr sz="2000" b="1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5956" y="2973178"/>
            <a:ext cx="546134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11827"/>
                </a:solidFill>
                <a:latin typeface="Calibri"/>
              </a:rPr>
              <a:t>Added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photoUri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state, PROFILE_PHOTO load in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useEffect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handlePhotoPress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Alert,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openPicker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with permission check,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renderAvatar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() JSX with circular image + camera badge.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5956" y="3953840"/>
            <a:ext cx="5319804" cy="846731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651140" y="3917640"/>
            <a:ext cx="4961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MODIFIED: storage.ts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5956" y="4200102"/>
            <a:ext cx="5136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Added PROFILE_PHOTO: "</a:t>
            </a:r>
            <a:r>
              <a:rPr b="0" dirty="0" err="1">
                <a:solidFill>
                  <a:srgbClr val="111827"/>
                </a:solidFill>
                <a:latin typeface="Calibri"/>
              </a:rPr>
              <a:t>profile_photo</a:t>
            </a:r>
            <a:r>
              <a:rPr b="0" dirty="0">
                <a:solidFill>
                  <a:srgbClr val="111827"/>
                </a:solidFill>
                <a:latin typeface="Calibri"/>
              </a:rPr>
              <a:t>" to STORAGE_KEYS constant.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5956" y="4930245"/>
            <a:ext cx="5319804" cy="689432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6651140" y="4894044"/>
            <a:ext cx="4961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MODIFIED: _layout.tsx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5956" y="5226611"/>
            <a:ext cx="5136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Added Map tab entry between Courses and Settings.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5956" y="5731284"/>
            <a:ext cx="5319804" cy="96012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651140" y="5695084"/>
            <a:ext cx="4961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MODIFIED: app.json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5956" y="6027650"/>
            <a:ext cx="5136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Added expo-image-picker and expo-location plugin entries with permission description strings.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418975-F9DD-76F7-917C-001E0D52A32F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2864F8E-3E7B-3649-AE79-4DF2DCA75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7" y="1600200"/>
            <a:ext cx="6173899" cy="47533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4988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latin typeface="Calibri"/>
              </a:rPr>
              <a:t>Activity</a:t>
            </a:r>
            <a:endParaRPr sz="2800" b="1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143" y="594360"/>
            <a:ext cx="103396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latin typeface="Calibri"/>
              </a:rPr>
              <a:t>Consolidate everything from Week 11 with hands-on testing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88136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0000"/>
                </a:solidFill>
                <a:latin typeface="Calibri"/>
              </a:rPr>
              <a:t>Part 1 — Test Permission Denial (Profile Photo)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27048"/>
            <a:ext cx="11354844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Open the Map tab → grant location permission → confirm blue dot appears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Go to device Settings → Campus Hub → set Location to "Never"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Reopen app → Map tab shows the soft banner (no crash, map still works)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Re-enable location in Settings → reopen → blue dot returns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Repeat for camera: grant camera, take photo, deny camera, retry → should show Permission Denied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95304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0000"/>
                </a:solidFill>
                <a:latin typeface="Calibri"/>
              </a:rPr>
              <a:t>Part 2 — Test All Map Interactions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09164"/>
            <a:ext cx="11354844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Tap each of the 6 building markers → callout bubble appears with name + description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Tap each building in the list → map should animate + callout should appear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Pan/zoom the map away from SAIT → tap the recenter button → map flies back to campus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Tap a building card → verify detail card appears below map → tap ✕ → card dismisses</a:t>
            </a: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Confirm profile photo persists: pick a photo, kill the app, reopen → photo still there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96015"/>
            <a:ext cx="11247120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latin typeface="Calibri"/>
              </a:rPr>
              <a:t>Part 3 — Bonus: Add "Back to Campus" Header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7342632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In map.tsx, add a Pressable button in the header area labelled "Campus"</a:t>
            </a:r>
          </a:p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When tapped, call mapRef.current?.animateToRegion(CAMPUS_CENTER, 600)</a:t>
            </a:r>
          </a:p>
          <a:p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This is the same logic as the existing recenter button — just a different location on screen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1827E0-D6D0-9D64-6E68-0FE6353EB94C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88794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39" y="519204"/>
            <a:ext cx="109784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latin typeface="Calibri"/>
              </a:rPr>
              <a:t>The app now talks to hardware — camera, photo library, and GPS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047176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02112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The Permissions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86088"/>
            <a:ext cx="576072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11827"/>
                </a:solidFill>
                <a:latin typeface="Calibri"/>
              </a:rPr>
              <a:t>Ask right before use. Check !== "granted". Handle denial with Alert — direct to Settings. Permissions are sticky.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047176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02112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expo-image-picker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6088"/>
            <a:ext cx="576072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launchCameraAsync + launchImageLibraryAsync. Always check result.canceled. Store the URI, not base64.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230886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20483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Alert.alert() as Action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669798"/>
            <a:ext cx="576072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Native iOS action sheet for free. Use style: "cancel" for the cancel button. No custom UI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230886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20483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URI vs Base64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69798"/>
            <a:ext cx="576072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Photos are 2-5 MB. AsyncStorage is for small key-value data. Store the file path string, not the image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477226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345117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react-native-maps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916138"/>
            <a:ext cx="576072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Markers are children of MapView. Use initialRegion (not region). latitudeDelta controls zoom level.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77226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45117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expo-location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916138"/>
            <a:ext cx="576072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Foreground permission only. showsUserLocation={true} on MapView handles the blue dot. Denial is a soft error.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736092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471003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useRef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175004"/>
            <a:ext cx="576072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.current gives you an imperative handle. animateToRegion and showCallout cannot be done with props — use refs.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736092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71003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Soft vs Hard Errors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175004"/>
            <a:ext cx="576072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11827"/>
                </a:solidFill>
                <a:latin typeface="Calibri"/>
              </a:rPr>
              <a:t>Soft: feature degrades gracefully (location denied → banner). Hard: screen has nothing to show (API fails → full error).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" y="6084478"/>
            <a:ext cx="11247120" cy="70788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latin typeface="Calibri"/>
              </a:rPr>
              <a:t>Coming up  —  Week 12: </a:t>
            </a:r>
            <a:r>
              <a:rPr sz="2000" b="1" dirty="0" err="1">
                <a:latin typeface="Calibri"/>
              </a:rPr>
              <a:t>Supabase</a:t>
            </a:r>
            <a:r>
              <a:rPr sz="2000" b="1" dirty="0">
                <a:latin typeface="Calibri"/>
              </a:rPr>
              <a:t> Auth  ·  Login + sign-up  ·  Session persistence  ·  Protected routes  ·  Real backend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7E3F190-3266-B171-0478-5A20D48F823A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5387</Words>
  <Application>Microsoft Office PowerPoint</Application>
  <PresentationFormat>Custom</PresentationFormat>
  <Paragraphs>659</Paragraphs>
  <Slides>29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2026-08-31T13:33:20Z</dcterms:created>
  <dcterms:modified xsi:type="dcterms:W3CDTF">2026-08-31T13:33:29Z</dcterms:modified>
  <cp:category/>
</cp:coreProperties>
</file>