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302" r:id="rId5"/>
    <p:sldId id="260" r:id="rId6"/>
    <p:sldId id="261" r:id="rId7"/>
    <p:sldId id="262" r:id="rId8"/>
    <p:sldId id="303" r:id="rId9"/>
    <p:sldId id="265" r:id="rId10"/>
    <p:sldId id="266" r:id="rId11"/>
    <p:sldId id="267" r:id="rId12"/>
    <p:sldId id="268" r:id="rId13"/>
    <p:sldId id="304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305" r:id="rId23"/>
    <p:sldId id="279" r:id="rId24"/>
    <p:sldId id="280" r:id="rId25"/>
    <p:sldId id="281" r:id="rId26"/>
    <p:sldId id="306" r:id="rId27"/>
    <p:sldId id="283" r:id="rId28"/>
    <p:sldId id="284" r:id="rId29"/>
    <p:sldId id="285" r:id="rId30"/>
    <p:sldId id="286" r:id="rId31"/>
    <p:sldId id="287" r:id="rId32"/>
    <p:sldId id="307" r:id="rId33"/>
    <p:sldId id="289" r:id="rId34"/>
    <p:sldId id="290" r:id="rId35"/>
    <p:sldId id="291" r:id="rId36"/>
    <p:sldId id="292" r:id="rId37"/>
    <p:sldId id="308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57" autoAdjust="0"/>
  </p:normalViewPr>
  <p:slideViewPr>
    <p:cSldViewPr snapToGrid="0" snapToObjects="1">
      <p:cViewPr varScale="1">
        <p:scale>
          <a:sx n="60" d="100"/>
          <a:sy n="60" d="100"/>
        </p:scale>
        <p:origin x="140" y="36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A7DB6-BE64-4632-8A2A-9A5C0D85E6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39BF5-02A2-48D1-85F5-565CF7556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4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1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9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86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27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09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B6598-7C23-CAA8-CBE0-52318D8A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2352A-A112-7433-1884-C22FF36B5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8158B-6840-F889-A2B7-82DBC29DC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9A30B-BBC3-92BF-4C3B-23A025AF5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7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3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3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45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2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E45D-E729-E8C3-A182-0F053028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2F4BF-A23F-B625-485C-D5210C0AF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5022-7DB0-1543-06B8-D29DE7ABF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1D9E3-A3B6-B0F5-5B58-1A308F36E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89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05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1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31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64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73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98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55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79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9EAB7-9CE5-622D-F319-A0348CB1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B5007-22F2-3FBC-8306-608E7469D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A7324-171F-05CB-102B-9C78EF893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57B23-C412-0442-7E10-070A67B184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58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302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81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56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CCEB-41AF-BA4B-E1DD-83087554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2BC2E-3637-C874-5C9B-D2384FE3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38E7E-D106-141F-96E1-0AC319838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35C7-337B-1DCB-478F-033671155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23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141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360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527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55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86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C3F9-2A9E-30C5-1032-FCBA902E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3626D-5DCE-0B76-C2C7-DB4F951A1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8229F-5547-82A2-E090-5FD79D072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00A8-66CC-D651-4F99-A26B1EA0B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295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08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002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511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675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9BD7-F41C-95AC-2C93-9F3368CF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DEFF7-11D0-E081-9809-6A541B614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9E069-74D2-FD35-7389-F93DEBD54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CD138-D59D-6C97-C42E-7D40DFED3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984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859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533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85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46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345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576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B4D1B-8188-D2D6-8BCD-3FB76F361D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IT-Purpl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87770-D3D9-4C5C-92CD-924C0A0FC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749" y="2448100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748" y="3589715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280094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889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 dirty="0">
                <a:solidFill>
                  <a:srgbClr val="FFFFFF"/>
                </a:solidFill>
              </a:rPr>
              <a:t>Mobile </a:t>
            </a:r>
            <a:r>
              <a:rPr lang="en-US" sz="5000" b="1" i="0" dirty="0">
                <a:solidFill>
                  <a:srgbClr val="FFFFFF"/>
                </a:solidFill>
              </a:rPr>
              <a:t>App </a:t>
            </a:r>
            <a:r>
              <a:rPr sz="5000" b="1" i="0" dirty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From Building Screens to Designing Apps</a:t>
            </a:r>
            <a:endParaRPr lang="en-US" sz="3600" dirty="0"/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7072" y="1344307"/>
            <a:ext cx="5638744" cy="3840480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713095" y="1454035"/>
            <a:ext cx="5410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6A34A"/>
                </a:solidFill>
              </a:rPr>
              <a:t>Today you WILL 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667" y="1966099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+  What "architecture" </a:t>
            </a:r>
            <a:r>
              <a:rPr lang="en-US" sz="2400" b="0" i="0" dirty="0">
                <a:solidFill>
                  <a:srgbClr val="111827"/>
                </a:solidFill>
              </a:rPr>
              <a:t>means</a:t>
            </a:r>
            <a:endParaRPr sz="2400" b="0" i="0" dirty="0">
              <a:solidFill>
                <a:srgbClr val="111827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667" y="2395867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+  The layers every mobile app is built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667" y="2825635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+  How to draw an architecture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667" y="3255403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+  How to choose between options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667" y="3685171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111827"/>
                </a:solidFill>
              </a:rPr>
              <a:t>      </a:t>
            </a:r>
            <a:r>
              <a:rPr sz="2400" b="0" i="0" dirty="0">
                <a:solidFill>
                  <a:srgbClr val="111827"/>
                </a:solidFill>
              </a:rPr>
              <a:t>   defend the choice (trade-offs)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667" y="4114938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+  Where data lives: device vs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667" y="4544707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+  How API calls, login &amp; security fit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288" y="1344307"/>
            <a:ext cx="5526685" cy="3840480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6737903" y="1454035"/>
            <a:ext cx="5312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2626"/>
                </a:solidFill>
              </a:rPr>
              <a:t>Today 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3633" y="1966099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A coding-along session (no live typing)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3633" y="2450731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  Memorising one "correct"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3633" y="2935363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A list of rules to obey blindly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3633" y="3419995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Vendor-specific - the ideas outlive 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3633" y="3904627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library or framework you will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3633" y="4389259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Scary - every term is defined from 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988776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11480" y="1043640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0688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What architecture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17784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Definition, why it matters, the cost of skipping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70248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11480" y="1825112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8836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The layers of an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99256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Presentation . State . Data . Backend - and data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65368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11480" y="2620232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8348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Architecture diagrams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794376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Types, the boxes-and-arrows grammar, how to draw 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319544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11480" y="3374408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37656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Choices &amp; trade-offs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48552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There is no "best" - a framework for deciding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155608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11480" y="4210472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4642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Storage: device vs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57320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AsyncStorage vs a database - when to use which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05320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411480" y="5060184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8248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API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193384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Talking to a server: fetch, the request lifecycle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737065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411480" y="5791929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5031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Auth &amp;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961206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Who are you, and how do we keep the app safe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FE1B0-D895-AF1C-0A83-2EE58E4A82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What Is Architecture?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B8AD1-2854-BAB1-7B46-B5207E805D35}"/>
              </a:ext>
            </a:extLst>
          </p:cNvPr>
          <p:cNvSpPr txBox="1"/>
          <p:nvPr/>
        </p:nvSpPr>
        <p:spPr>
          <a:xfrm>
            <a:off x="833748" y="3410831"/>
            <a:ext cx="607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i="0" dirty="0">
                <a:solidFill>
                  <a:srgbClr val="1527D7"/>
                </a:solidFill>
              </a:rPr>
              <a:t>Part 1 . The big idea, before any code</a:t>
            </a:r>
          </a:p>
        </p:txBody>
      </p:sp>
    </p:spTree>
    <p:extLst>
      <p:ext uri="{BB962C8B-B14F-4D97-AF65-F5344CB8AC3E}">
        <p14:creationId xmlns:p14="http://schemas.microsoft.com/office/powerpoint/2010/main" val="390005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Architecture - A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11247120" cy="1095126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2745" y="911664"/>
            <a:ext cx="109912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527D7"/>
                </a:solidFill>
              </a:rPr>
              <a:t>Software architecture defines how an app is divided, what each part owns, and how the parts communicate.</a:t>
            </a:r>
            <a:endParaRPr lang="en-US" sz="3200" dirty="0">
              <a:solidFill>
                <a:srgbClr val="1527D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33671" y="2191825"/>
            <a:ext cx="3566161" cy="58477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chemeClr val="bg1"/>
                </a:solidFill>
              </a:rPr>
              <a:t>Three ideas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7081"/>
            <a:ext cx="3566160" cy="371546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457200" y="2887082"/>
            <a:ext cx="35661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685800" y="297906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Divid</a:t>
            </a:r>
            <a:r>
              <a:rPr lang="en-US" sz="2800" b="1" i="0" dirty="0">
                <a:solidFill>
                  <a:srgbClr val="2563EB"/>
                </a:solidFill>
              </a:rPr>
              <a:t>ed up</a:t>
            </a:r>
            <a:endParaRPr sz="2800" b="1" i="0" dirty="0">
              <a:solidFill>
                <a:srgbClr val="2563E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600313"/>
            <a:ext cx="32004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An app is not one giant file.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It is many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parts, each doing one job.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Architecture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is where you draw those dividing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2887081"/>
            <a:ext cx="3566160" cy="371546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ectangle 12"/>
          <p:cNvSpPr/>
          <p:nvPr/>
        </p:nvSpPr>
        <p:spPr>
          <a:xfrm>
            <a:off x="4233672" y="2887082"/>
            <a:ext cx="35661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4462272" y="297906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Responsible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600313"/>
            <a:ext cx="3200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Each part owns one concern: drawing the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screen, holding state, fetching data.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Mixing concerns is what creates bugs.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87081"/>
            <a:ext cx="3566160" cy="371546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Rectangle 16"/>
          <p:cNvSpPr/>
          <p:nvPr/>
        </p:nvSpPr>
        <p:spPr>
          <a:xfrm>
            <a:off x="8010144" y="2887082"/>
            <a:ext cx="356616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8238744" y="297906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</a:rPr>
              <a:t>Talk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600313"/>
            <a:ext cx="32004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Parts pass data to each other in agreed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ways.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The arrows between boxes matter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as much as the boxes themselves.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24173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111827"/>
                </a:solidFill>
              </a:rPr>
              <a:t>The House Analogy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0168"/>
            <a:ext cx="1133856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Nobody builds a house by stacking bricks and hoping.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An architect draws a plan first: where the load-bearing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walls go, where the plumbing runs, where the wiring lives.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Apps are the same - the plan is the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85948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640080" y="265054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Foundation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732836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931920" y="2632252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Tech stack &amp;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44671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Expo / React Native - chosen once, everything sits on 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27196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40080" y="3491788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Rooms &amp; walls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91840" y="3574084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3931920" y="3299001"/>
            <a:ext cx="3108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2563EB"/>
                </a:solidFill>
              </a:rPr>
              <a:t>Your components &amp;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87964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Home, Courses, Settings - separated by what they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8444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640080" y="4333036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Plumbing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91840" y="4415332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931920" y="4355692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Data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12921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How information travels from a server to a screen and 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09692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640080" y="5174284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Wiring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91840" y="5256580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3931920" y="5155996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State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984108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The hidden connections that make one change update many screens.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50940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640080" y="6015532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Locks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291840" y="6097828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3931920" y="5997244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Auth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82535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Who is allowed in, and what they are allowed to touch.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30846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3600" b="1" dirty="0"/>
              <a:t>Benefits of Good Architecture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09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Bad structure does not crash today - it taxes you every day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0" y="6387696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7 / 46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96FECF89-328B-3C61-5733-2EE7A5D1DC23}"/>
              </a:ext>
            </a:extLst>
          </p:cNvPr>
          <p:cNvSpPr/>
          <p:nvPr/>
        </p:nvSpPr>
        <p:spPr>
          <a:xfrm>
            <a:off x="640080" y="1619455"/>
            <a:ext cx="5303520" cy="4608576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1A22F644-2FD8-7D5C-0908-B90FB1BA7EBB}"/>
              </a:ext>
            </a:extLst>
          </p:cNvPr>
          <p:cNvSpPr/>
          <p:nvPr/>
        </p:nvSpPr>
        <p:spPr>
          <a:xfrm>
            <a:off x="640080" y="1619455"/>
            <a:ext cx="45719" cy="4608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D7B2768-2C2F-DEE4-3D1E-74A682BF61F8}"/>
              </a:ext>
            </a:extLst>
          </p:cNvPr>
          <p:cNvSpPr/>
          <p:nvPr/>
        </p:nvSpPr>
        <p:spPr>
          <a:xfrm>
            <a:off x="868680" y="1784047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C2626"/>
                </a:solidFill>
              </a:rPr>
              <a:t>WITHOUT ARCHITECTURE</a:t>
            </a:r>
            <a:endParaRPr lang="en-US" sz="28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FA47B7E2-2A99-6E82-5397-0BA5173C4E3E}"/>
              </a:ext>
            </a:extLst>
          </p:cNvPr>
          <p:cNvSpPr/>
          <p:nvPr/>
        </p:nvSpPr>
        <p:spPr>
          <a:xfrm>
            <a:off x="868680" y="2186383"/>
            <a:ext cx="48646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Changes spread across many files</a:t>
            </a:r>
            <a:endParaRPr lang="en-US" sz="2600" dirty="0"/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Data is duplicated or inconsistent</a:t>
            </a:r>
            <a:endParaRPr lang="en-US" sz="2600" dirty="0"/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New teammates cannot find responsibilities</a:t>
            </a:r>
            <a:endParaRPr lang="en-US" sz="2600" dirty="0"/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Secrets and rules leak into the client</a:t>
            </a:r>
            <a:endParaRPr lang="en-US" sz="26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F1CBBE98-C089-3302-84CE-BCF20E7B0AC8}"/>
              </a:ext>
            </a:extLst>
          </p:cNvPr>
          <p:cNvSpPr/>
          <p:nvPr/>
        </p:nvSpPr>
        <p:spPr>
          <a:xfrm>
            <a:off x="6263640" y="1619455"/>
            <a:ext cx="5303520" cy="4608576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10992A7E-414C-D007-F54D-18730D59431C}"/>
              </a:ext>
            </a:extLst>
          </p:cNvPr>
          <p:cNvSpPr/>
          <p:nvPr/>
        </p:nvSpPr>
        <p:spPr>
          <a:xfrm>
            <a:off x="6263640" y="1619455"/>
            <a:ext cx="45719" cy="4608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058D14D-ABA2-1FCD-C4E5-5CFC3EA4063E}"/>
              </a:ext>
            </a:extLst>
          </p:cNvPr>
          <p:cNvSpPr/>
          <p:nvPr/>
        </p:nvSpPr>
        <p:spPr>
          <a:xfrm>
            <a:off x="6492240" y="1784047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6A34A"/>
                </a:solidFill>
              </a:rPr>
              <a:t>WITH ARCHITECTURE</a:t>
            </a:r>
            <a:endParaRPr lang="en-US" sz="28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C85B1E5C-9DE4-32D2-7621-99154A1F8336}"/>
              </a:ext>
            </a:extLst>
          </p:cNvPr>
          <p:cNvSpPr/>
          <p:nvPr/>
        </p:nvSpPr>
        <p:spPr>
          <a:xfrm>
            <a:off x="6492240" y="2186383"/>
            <a:ext cx="48646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Changes stay local</a:t>
            </a:r>
            <a:endParaRPr lang="en-US" sz="2600" dirty="0"/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Data has one clear owner</a:t>
            </a:r>
            <a:endParaRPr lang="en-US" sz="2600" dirty="0"/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Folder structure communicates intent</a:t>
            </a:r>
            <a:endParaRPr lang="en-US" sz="2600" dirty="0"/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Security boundaries are deliberate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954F-71AB-BD44-032F-6D6635B6985C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679F6-231F-0020-C3F7-A5630B868B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 fontScale="92500"/>
          </a:bodyPr>
          <a:lstStyle/>
          <a:p>
            <a:pPr algn="ctr"/>
            <a:r>
              <a:rPr lang="en-US" sz="4800" b="1" dirty="0"/>
              <a:t>App Architecture Layers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27E41-2B2D-715F-C307-D0BE8E1D59BB}"/>
              </a:ext>
            </a:extLst>
          </p:cNvPr>
          <p:cNvSpPr txBox="1"/>
          <p:nvPr/>
        </p:nvSpPr>
        <p:spPr>
          <a:xfrm>
            <a:off x="833748" y="3410831"/>
            <a:ext cx="60720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Part 2 . Every mobile app is built from the same few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4915B-1202-DAED-F3C0-CE8FEE379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770" y="232012"/>
            <a:ext cx="3880135" cy="641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2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App Architecture Four Layers - Top to Bottom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dirty="0"/>
              <a:t>Each layer only talks to the one next to it - that is the whole trick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56904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56904"/>
            <a:ext cx="109728" cy="1170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21496"/>
            <a:ext cx="23774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777240" y="1648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 .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5741" y="1521184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What the user sees &amp; taps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5741" y="1905232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Screens, components, styles. React Native + Expo Router.</a:t>
            </a:r>
          </a:p>
          <a:p>
            <a:pPr algn="l"/>
            <a:r>
              <a:rPr sz="2200" b="0" i="0" dirty="0"/>
              <a:t>Example files: app/(tab)/</a:t>
            </a:r>
            <a:r>
              <a:rPr sz="2200" b="0" i="0" dirty="0" err="1"/>
              <a:t>home.tsx</a:t>
            </a:r>
            <a:r>
              <a:rPr sz="2200" b="0" i="0" dirty="0"/>
              <a:t>, components/</a:t>
            </a:r>
            <a:r>
              <a:rPr sz="2200" b="0" i="0" dirty="0" err="1"/>
              <a:t>AppCard.tsx</a:t>
            </a:r>
            <a:endParaRPr sz="2200" b="0" i="0" dirty="0"/>
          </a:p>
        </p:txBody>
      </p:sp>
      <p:sp>
        <p:nvSpPr>
          <p:cNvPr id="13" name="Rounded Rectangle 12"/>
          <p:cNvSpPr/>
          <p:nvPr/>
        </p:nvSpPr>
        <p:spPr>
          <a:xfrm>
            <a:off x="457200" y="2755352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55352"/>
            <a:ext cx="109728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731520" y="2919944"/>
            <a:ext cx="237744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777240" y="29473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 . State /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41" y="2819632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What the app remembers &amp; 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41" y="320368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useState, hooks, Context, form state. Holds values while the</a:t>
            </a:r>
          </a:p>
          <a:p>
            <a:pPr algn="l"/>
            <a:r>
              <a:rPr sz="2200" b="0" i="0"/>
              <a:t>app is open and decides what to show. Example: useForm().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53800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53800"/>
            <a:ext cx="109728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731520" y="4218391"/>
            <a:ext cx="237744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777240" y="42458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 . 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5741" y="411808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How the app reads &amp; writes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5741" y="4502128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AsyncStorage (device) and fetch() to an API. The ONLY layer</a:t>
            </a:r>
          </a:p>
          <a:p>
            <a:pPr algn="l"/>
            <a:r>
              <a:rPr sz="2200" b="0" i="0"/>
              <a:t>that knows where data physically comes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52248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352248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5516840"/>
            <a:ext cx="23774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77240" y="5544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 .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5741" y="5416528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Where the truth lives (off the device)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5741" y="5800576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Server, database, auth provider. Example: </a:t>
            </a:r>
            <a:r>
              <a:rPr sz="2200" b="0" i="0" dirty="0" err="1"/>
              <a:t>Supabase</a:t>
            </a:r>
            <a:r>
              <a:rPr sz="2200" b="0" i="0" dirty="0"/>
              <a:t>.</a:t>
            </a:r>
          </a:p>
          <a:p>
            <a:pPr algn="l"/>
            <a:r>
              <a:rPr sz="2200" b="0" i="0" dirty="0"/>
              <a:t>Shared by every user; the app is just one client of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63084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10 / 46</a:t>
            </a:r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CB67E06C-6AC0-3247-1465-D99F7ECEE8B3}"/>
              </a:ext>
            </a:extLst>
          </p:cNvPr>
          <p:cNvSpPr/>
          <p:nvPr/>
        </p:nvSpPr>
        <p:spPr>
          <a:xfrm flipH="1">
            <a:off x="11947382" y="1492999"/>
            <a:ext cx="9625" cy="4859675"/>
          </a:xfrm>
          <a:prstGeom prst="line">
            <a:avLst/>
          </a:prstGeom>
          <a:noFill/>
          <a:ln w="60325">
            <a:solidFill>
              <a:srgbClr val="FF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1674854" y="2078696"/>
            <a:ext cx="336826" cy="86868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Down Arrow 11">
            <a:extLst>
              <a:ext uri="{FF2B5EF4-FFF2-40B4-BE49-F238E27FC236}">
                <a16:creationId xmlns:a16="http://schemas.microsoft.com/office/drawing/2014/main" id="{E44224F6-9256-A709-7C4E-B5902E92C712}"/>
              </a:ext>
            </a:extLst>
          </p:cNvPr>
          <p:cNvSpPr/>
          <p:nvPr/>
        </p:nvSpPr>
        <p:spPr>
          <a:xfrm>
            <a:off x="1685155" y="3365786"/>
            <a:ext cx="336826" cy="86868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Down Arrow 11">
            <a:extLst>
              <a:ext uri="{FF2B5EF4-FFF2-40B4-BE49-F238E27FC236}">
                <a16:creationId xmlns:a16="http://schemas.microsoft.com/office/drawing/2014/main" id="{081F7A7B-EB52-20C1-9447-85B131AB63EE}"/>
              </a:ext>
            </a:extLst>
          </p:cNvPr>
          <p:cNvSpPr/>
          <p:nvPr/>
        </p:nvSpPr>
        <p:spPr>
          <a:xfrm>
            <a:off x="1666461" y="4674289"/>
            <a:ext cx="336826" cy="86868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374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Golden Rule: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63552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8364" y="851618"/>
            <a:ext cx="1167306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11827"/>
                </a:solidFill>
              </a:rPr>
              <a:t>It</a:t>
            </a:r>
            <a:r>
              <a:rPr sz="2400" b="0" i="0" dirty="0">
                <a:solidFill>
                  <a:srgbClr val="111827"/>
                </a:solidFill>
              </a:rPr>
              <a:t> means each layer does its own job and trusts the others to do theirs. A screen says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"give me the courses" - it does not care if they came from the device, a server, or a test file.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screen should not know HOW data is fetched - only ask for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02690"/>
            <a:ext cx="5486400" cy="4107837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94672" y="245332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Mixed concerns (fragile)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8763"/>
            <a:ext cx="51206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function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CoursesScreen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// screen ALSO does data + parsing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const [data,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setData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] =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([])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useEffect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(() =&gt;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  fetch("https://api...")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    .then(r =&gt;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r.json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    .then(j =&gt;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setData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j.results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))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}, [])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// ...and rendering, all in one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Reused nowhere. Untestable.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Change the API =&gt; edit the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02690"/>
            <a:ext cx="5486400" cy="4107837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501112" y="245332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Separated concerns (flexible)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978763"/>
            <a:ext cx="51206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data layer - one job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export async function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getCourses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const r = await fetch("https://api...")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return (await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r.json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()).results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endParaRPr sz="16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screen - one job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function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CoursesScreen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const courses = </a:t>
            </a:r>
            <a:r>
              <a:rPr lang="en-US" sz="1600" dirty="0" err="1">
                <a:solidFill>
                  <a:srgbClr val="FFFFFF"/>
                </a:solidFill>
                <a:latin typeface="Consolas"/>
              </a:rPr>
              <a:t>get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// just asks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return &lt;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CourseList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data={courses} /&gt;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Swap the source without touching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8272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11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374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Client vs Server </a:t>
            </a:r>
            <a:r>
              <a:rPr lang="en-US" sz="3600" b="1" i="0" dirty="0">
                <a:solidFill>
                  <a:srgbClr val="111827"/>
                </a:solidFill>
              </a:rPr>
              <a:t>Responsibilities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64990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2695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Your app (the "client") runs on the user's phone - which you do not control. The "server" runs on machines you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do control. Everything about storage, APIs, auth &amp; security comes back to which side of this line code lives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42759"/>
            <a:ext cx="5394960" cy="3977639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207992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CLIENT  (the phone)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8284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Runs your React Native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4904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Anyone can inspect the app 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06968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Can be offline at any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9031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Fast for the user - it's right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31096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NEVER trust it with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4316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Holds: UI, screen state, a session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42759"/>
            <a:ext cx="5394960" cy="3977639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6492240" y="207992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SERVER  (you control)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8284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Runs trusted code &amp; the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94904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Users can't see its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06968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Always on, shared by everyone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19031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The source of truth for real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31096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Where secrets &amp; rules belong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4316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Holds: data, passwords (hashed),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692" y="6021938"/>
            <a:ext cx="114300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0000"/>
                </a:solidFill>
              </a:rPr>
              <a:t>Rule of thumb: </a:t>
            </a:r>
            <a:r>
              <a:rPr sz="2400" b="1" dirty="0">
                <a:solidFill>
                  <a:srgbClr val="1527D7"/>
                </a:solidFill>
              </a:rPr>
              <a:t>if knowing it would let someone cheat or steal, it belongs on the server - not in the 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40454" y="6558656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12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3600" b="1" dirty="0"/>
              <a:t>A Request Through the 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545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Follow a single tap from finger to pixels and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1678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44558"/>
            <a:ext cx="5029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67512" y="1671990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71406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User taps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26270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"Show my courses" on the Courses screen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86384" y="2174910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457200" y="2302926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" y="2485806"/>
            <a:ext cx="50292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67512" y="2513238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12654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State 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7518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The screen calls the data layer: getCourses()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86384" y="3016158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457200" y="3144174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" y="3327054"/>
            <a:ext cx="50292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67512" y="3354486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53902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9488"/>
                </a:solidFill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08766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fetch() sends an HTTPS request to the server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86384" y="3857406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ounded Rectangle 23"/>
          <p:cNvSpPr/>
          <p:nvPr/>
        </p:nvSpPr>
        <p:spPr>
          <a:xfrm>
            <a:off x="457200" y="3985422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" y="4168302"/>
            <a:ext cx="50292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67512" y="4195734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95150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150014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Looks up courses in the database, returns JSON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86384" y="4698654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ounded Rectangle 29"/>
          <p:cNvSpPr/>
          <p:nvPr/>
        </p:nvSpPr>
        <p:spPr>
          <a:xfrm>
            <a:off x="457200" y="4826670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" y="5009550"/>
            <a:ext cx="50292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667512" y="5036982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936398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State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991262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Data layer hands JSON back; state stores it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786384" y="5539902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ounded Rectangle 35"/>
          <p:cNvSpPr/>
          <p:nvPr/>
        </p:nvSpPr>
        <p:spPr>
          <a:xfrm>
            <a:off x="457200" y="5667918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1792" y="5850798"/>
            <a:ext cx="5029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667512" y="5878230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77646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UI re-renders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832510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React draws the list - the user sees courses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C000"/>
                </a:solidFill>
              </a:rPr>
              <a:t>13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68CC-3BB5-6743-95FE-CC87F15D8F1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C02D0-D9A6-4AAA-1ECC-831DF45BF7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Architecture Diagrams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BE340-1F89-98F3-53F3-6F085B59C3FF}"/>
              </a:ext>
            </a:extLst>
          </p:cNvPr>
          <p:cNvSpPr txBox="1"/>
          <p:nvPr/>
        </p:nvSpPr>
        <p:spPr>
          <a:xfrm>
            <a:off x="833748" y="3410831"/>
            <a:ext cx="60720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Part 3 . How to draw what's in your head so others can see it</a:t>
            </a:r>
          </a:p>
        </p:txBody>
      </p:sp>
    </p:spTree>
    <p:extLst>
      <p:ext uri="{BB962C8B-B14F-4D97-AF65-F5344CB8AC3E}">
        <p14:creationId xmlns:p14="http://schemas.microsoft.com/office/powerpoint/2010/main" val="84548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Benefits of Architecture Diagrams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3678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 b="0" dirty="0"/>
              <a:t>A diagram is the cheapest place to find a mistake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44190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457200" y="1744190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731520" y="193662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Find gaps before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35445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/>
              <a:t>A missing arrow on paper costs seconds. A missing call in code costs hours of debugging.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44190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6355080" y="1744190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6629400" y="193662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Communicate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35445"/>
            <a:ext cx="549541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/>
              <a:t>One picture replaces three paragraphs. Your team, your instructor, future-you all read it instantly.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75909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075909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26834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Make decisions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80813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/>
              <a:t>Drawing forces you to decide where each responsibility lives. Vague ideas can't be drawn.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75909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55080" y="4075909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29400" y="426834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Spot </a:t>
            </a:r>
            <a:r>
              <a:rPr sz="2600" b="1" dirty="0">
                <a:solidFill>
                  <a:srgbClr val="1527D7"/>
                </a:solidFill>
              </a:rPr>
              <a:t>bad</a:t>
            </a:r>
            <a:r>
              <a:rPr sz="2600" b="1" i="0" dirty="0">
                <a:solidFill>
                  <a:srgbClr val="1527D7"/>
                </a:solidFill>
              </a:rPr>
              <a:t>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80813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If your diagram is a tangle of crossing arrows, your code will be too. The mess shows up early.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15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Common Architecture Diagrams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977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You will mostly use the first two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80041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457200" y="1680041"/>
            <a:ext cx="91440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31520" y="16991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Component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563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 dirty="0">
                <a:solidFill>
                  <a:srgbClr val="FF0000"/>
                </a:solidFill>
              </a:rPr>
              <a:t>"What are the parts?"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3545"/>
            <a:ext cx="534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Boxes for each piece (screens, data layer, server) and</a:t>
            </a:r>
            <a:r>
              <a:rPr lang="en-US" sz="2400" b="0" i="0" dirty="0"/>
              <a:t> </a:t>
            </a:r>
            <a:r>
              <a:rPr sz="2400" b="0" i="0" dirty="0"/>
              <a:t>lines for who-talks-to-who. Your go-to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80041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6355080" y="1680041"/>
            <a:ext cx="91440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629400" y="16991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Data-flow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563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>
                <a:solidFill>
                  <a:srgbClr val="FF0000"/>
                </a:solidFill>
              </a:rPr>
              <a:t>"Where does data move?"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2613545"/>
            <a:ext cx="5559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Arrows show data travelling: form -&gt; validation -&gt; storage.</a:t>
            </a:r>
          </a:p>
          <a:p>
            <a:pPr algn="l"/>
            <a:r>
              <a:rPr sz="2400" b="0" i="0" dirty="0"/>
              <a:t>Great for explaining a feature end-to-end.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80315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457200" y="4180315"/>
            <a:ext cx="91440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731520" y="41721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9488"/>
                </a:solidFill>
              </a:rPr>
              <a:t>Sequence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293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 dirty="0">
                <a:solidFill>
                  <a:srgbClr val="FF0000"/>
                </a:solidFill>
              </a:rPr>
              <a:t>"In what order, over time?"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86523"/>
            <a:ext cx="521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Vertical timelines per participant; arrows are messages</a:t>
            </a:r>
            <a:r>
              <a:rPr lang="en-US" sz="2400" b="0" i="0" dirty="0"/>
              <a:t> </a:t>
            </a:r>
            <a:r>
              <a:rPr sz="2400" b="0" i="0" dirty="0"/>
              <a:t>in order. Perfect for a login or an API request.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0315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6355080" y="4180315"/>
            <a:ext cx="9144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629400" y="41721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ER diagram (ERD)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6293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>
                <a:solidFill>
                  <a:srgbClr val="FF0000"/>
                </a:solidFill>
              </a:rPr>
              <a:t>"How is data shaped?"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086523"/>
            <a:ext cx="521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Tables and the relationships between them. You'll meet</a:t>
            </a:r>
            <a:r>
              <a:rPr lang="en-US" sz="2400" b="0" i="0" dirty="0"/>
              <a:t> </a:t>
            </a:r>
            <a:r>
              <a:rPr sz="2400" b="0" i="0" dirty="0"/>
              <a:t>this in W12 when Campus Hub gets a real database.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16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Diagrams Basics</a:t>
            </a:r>
            <a:r>
              <a:rPr sz="3600" b="1" i="0" dirty="0">
                <a:solidFill>
                  <a:srgbClr val="111827"/>
                </a:solidFill>
              </a:rPr>
              <a:t>: Boxes &amp; Arrows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77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Two symbols carry almost everything - use them consistently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3875"/>
            <a:ext cx="548640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85800" y="17810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A BOX = a responsibility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98" y="2283954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One box = one job, one part of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98" y="2786874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Label it with a NOUN ("Courses screen",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98" y="328979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215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"Auth service"), not a verb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798" y="379271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If a box does two things, split it in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798" y="429563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Group related boxes inside a bigger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98" y="479855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2150" indent="-342900" algn="l">
              <a:buFont typeface="Arial" panose="020B0604020202020204" pitchFamily="34" charset="0"/>
              <a:buChar char="•"/>
              <a:tabLst>
                <a:tab pos="627063" algn="l"/>
              </a:tabLst>
            </a:pPr>
            <a:r>
              <a:rPr sz="2200" b="0" i="0" dirty="0">
                <a:solidFill>
                  <a:srgbClr val="111827"/>
                </a:solidFill>
              </a:rPr>
              <a:t>to show a layer or a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327" y="5301475"/>
            <a:ext cx="5250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 dirty="0">
                <a:solidFill>
                  <a:srgbClr val="1527D7"/>
                </a:solidFill>
              </a:rPr>
              <a:t>Keep boxes the same size when they're the same kind of thing - it signals they're peers</a:t>
            </a:r>
            <a:r>
              <a:rPr sz="2200" b="0" i="1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43875"/>
            <a:ext cx="548640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492240" y="17810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An ARROW = a 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439" y="2283954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Arrow = "talks to" or "sends data to"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439" y="2786874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Point it in the direction data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439" y="328979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Label it with WHAT travels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439" y="379271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("course list", "JWT token")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439" y="429563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Two-way? Draw two arrows, not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439" y="479855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Crossing arrows everywhere =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999" y="5301475"/>
            <a:ext cx="524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 dirty="0">
                <a:solidFill>
                  <a:srgbClr val="1527D7"/>
                </a:solidFill>
              </a:rPr>
              <a:t>Fewer arrows is better. Each arrow is a connection you'll have to build and maintain.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17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Campus Hub</a:t>
            </a:r>
            <a:r>
              <a:rPr lang="en-US" sz="3600" b="1" i="0" dirty="0">
                <a:solidFill>
                  <a:srgbClr val="111827"/>
                </a:solidFill>
              </a:rPr>
              <a:t> Architecture Example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909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A component diagram of the app you're about to finish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100" y="1402175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100" y="1835903"/>
            <a:ext cx="23774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16820" y="1909191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9980" y="1835903"/>
            <a:ext cx="23774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285700" y="189554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08860" y="1835903"/>
            <a:ext cx="23774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754580" y="1909191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Settings /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7740" y="1835903"/>
            <a:ext cx="27432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3460" y="1895543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45820" y="2457694"/>
            <a:ext cx="411480" cy="694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771100" y="2705263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7C3AED"/>
                </a:solidFill>
              </a:rPr>
              <a:t>State &amp;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100" y="3152639"/>
            <a:ext cx="512064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16820" y="3225927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Hooks . Context . </a:t>
            </a:r>
            <a:r>
              <a:rPr sz="2400" b="1" i="0" dirty="0" err="1">
                <a:solidFill>
                  <a:srgbClr val="FFFFFF"/>
                </a:solidFill>
              </a:rPr>
              <a:t>useForm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74620" y="3152639"/>
            <a:ext cx="484632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120340" y="3225927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Auth session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245820" y="3774430"/>
            <a:ext cx="411480" cy="694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71100" y="4035646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D9488"/>
                </a:solidFill>
              </a:rPr>
              <a:t>Data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1100" y="4469375"/>
            <a:ext cx="3246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16820" y="4515367"/>
            <a:ext cx="3154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AsyncStorage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00100" y="4469375"/>
            <a:ext cx="3246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245820" y="4515367"/>
            <a:ext cx="3154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API client / fetch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9100" y="4469375"/>
            <a:ext cx="3998932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7674819" y="4515367"/>
            <a:ext cx="3742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Device: camera/GPS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245820" y="5091166"/>
            <a:ext cx="411480" cy="694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71100" y="5338735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Backend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1100" y="5786111"/>
            <a:ext cx="10149840" cy="5669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816820" y="5832102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Supabase</a:t>
            </a:r>
            <a:r>
              <a:rPr sz="2400" b="1" i="0" dirty="0">
                <a:solidFill>
                  <a:srgbClr val="FFFFFF"/>
                </a:solidFill>
              </a:rPr>
              <a:t> - Auth + Postgres database +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18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/>
              <a:t>Login Process: Step-by-Step Data Flow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58825" y="908831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A sequence diagram: who sends what, in what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552436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143000" y="15389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66056" y="2101076"/>
            <a:ext cx="27432" cy="41148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0640" y="1552436"/>
            <a:ext cx="18288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166359" y="15525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Auth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2101076"/>
            <a:ext cx="27432" cy="41148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0" y="1552436"/>
            <a:ext cx="18288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9006840" y="15662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DB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866376" y="2101076"/>
            <a:ext cx="27432" cy="41148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11680" y="2567420"/>
            <a:ext cx="4023359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870448" y="2466836"/>
            <a:ext cx="16459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15289" y="2106396"/>
            <a:ext cx="421975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1 . email + password (over HTTPS)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207500"/>
            <a:ext cx="384048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710928" y="3106915"/>
            <a:ext cx="164592" cy="20116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599" y="2828364"/>
            <a:ext cx="402335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2 . find user, check hashed password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847580"/>
            <a:ext cx="384048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Left Arrow 21"/>
          <p:cNvSpPr/>
          <p:nvPr/>
        </p:nvSpPr>
        <p:spPr>
          <a:xfrm>
            <a:off x="6035040" y="3746996"/>
            <a:ext cx="164592" cy="201168"/>
          </a:xfrm>
          <a:prstGeom prst="lef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79" y="3509388"/>
            <a:ext cx="3749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3 . user record (valid)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487660"/>
            <a:ext cx="4023359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eft Arrow 24"/>
          <p:cNvSpPr/>
          <p:nvPr/>
        </p:nvSpPr>
        <p:spPr>
          <a:xfrm>
            <a:off x="1875200" y="4387075"/>
            <a:ext cx="164592" cy="201168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4040284"/>
            <a:ext cx="3931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4 . signed token (JWT) + 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127740"/>
            <a:ext cx="4023359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5870448" y="5027156"/>
            <a:ext cx="16459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03120" y="4694012"/>
            <a:ext cx="3931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5 . later: request + token attached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5767820"/>
            <a:ext cx="4023359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eft Arrow 30"/>
          <p:cNvSpPr/>
          <p:nvPr/>
        </p:nvSpPr>
        <p:spPr>
          <a:xfrm>
            <a:off x="1875200" y="5667236"/>
            <a:ext cx="164592" cy="201168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5402332"/>
            <a:ext cx="3931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11827"/>
                </a:solidFill>
              </a:rPr>
              <a:t>6 . token valid -&gt; protected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991" y="6258182"/>
            <a:ext cx="1039850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0" dirty="0"/>
              <a:t>Read top to bottom = time passing. Each arrow is one message between two parts.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16388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19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Creating Architecture Diagram Process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7" y="841248"/>
            <a:ext cx="121248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0000"/>
                </a:solidFill>
              </a:rPr>
              <a:t>Five steps, then pick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93751"/>
            <a:ext cx="7304968" cy="10324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12623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66928" y="1649199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7759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List the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30599"/>
            <a:ext cx="39401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Write every noun: screens, data layer, server, database. Each becomes a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7366"/>
            <a:ext cx="7304968" cy="843007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776238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66928" y="2812815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21374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Group into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8296" y="2748807"/>
            <a:ext cx="42724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Stack them: presentation on top, backend at the bottom. Like the house.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198"/>
            <a:ext cx="7304968" cy="91477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3776071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66928" y="3812647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21207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Draw the arrows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294" y="3748639"/>
            <a:ext cx="39169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Connect only the boxes that actually talk. Label what travels.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2577"/>
            <a:ext cx="7304968" cy="8019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4871448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66928" y="4908024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16584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Walk one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8296" y="4803072"/>
            <a:ext cx="41079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Trace a real action (login, load courses); check every arrow exists.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52408"/>
            <a:ext cx="7304968" cy="80628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6928" y="5871280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566928" y="5907856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81641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Delete the clutter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789256"/>
            <a:ext cx="4196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Remove boxes/arrows that don't earn their place. Simpler is clearer.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2922" y="1493751"/>
            <a:ext cx="4069080" cy="457200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32" name="TextBox 31"/>
          <p:cNvSpPr txBox="1"/>
          <p:nvPr/>
        </p:nvSpPr>
        <p:spPr>
          <a:xfrm>
            <a:off x="8165802" y="163091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2563EB"/>
                </a:solidFill>
              </a:rPr>
              <a:t>Tools to draw with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802" y="213383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Pen &amp; 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682" y="248567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Fastest. Start here, always.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802" y="309395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Excalidraw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682" y="3404846"/>
            <a:ext cx="356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Free, hand-drawn feel. Great for class.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802" y="405407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Mermaid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682" y="4364967"/>
            <a:ext cx="356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Diagrams from text - lives in your README.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802" y="501419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draw.io / Figma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682" y="5325087"/>
            <a:ext cx="406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Polished diagrams for documents.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40454" y="651052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FFC000"/>
                </a:solidFill>
              </a:rPr>
              <a:t>20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Bonus: Text-Based </a:t>
            </a:r>
            <a:r>
              <a:rPr sz="3600" b="1" i="0" dirty="0">
                <a:solidFill>
                  <a:srgbClr val="111827"/>
                </a:solidFill>
              </a:rPr>
              <a:t>Diagrams </a:t>
            </a:r>
            <a:r>
              <a:rPr lang="en-US" sz="3600" b="1" i="0" dirty="0">
                <a:solidFill>
                  <a:srgbClr val="111827"/>
                </a:solidFill>
              </a:rPr>
              <a:t>with </a:t>
            </a:r>
            <a:r>
              <a:rPr sz="3600" b="1" i="0" dirty="0">
                <a:solidFill>
                  <a:srgbClr val="111827"/>
                </a:solidFill>
              </a:rPr>
              <a:t>Mermaid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36784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Because it lives in your repo, it never goes stale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720" y="1944128"/>
            <a:ext cx="3953473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graph TD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Home[Home screen]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Courses[Courses screen]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Form[</a:t>
            </a:r>
            <a:r>
              <a:rPr sz="2000" dirty="0" err="1">
                <a:solidFill>
                  <a:srgbClr val="FFFFFF"/>
                </a:solidFill>
                <a:latin typeface="Consolas"/>
              </a:rPr>
              <a:t>useForm</a:t>
            </a:r>
            <a:r>
              <a:rPr sz="2000" dirty="0">
                <a:solidFill>
                  <a:srgbClr val="FFFFFF"/>
                </a:solidFill>
                <a:latin typeface="Consolas"/>
              </a:rPr>
              <a:t> + Zod]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Store[</a:t>
            </a:r>
            <a:r>
              <a:rPr sz="2000" dirty="0" err="1">
                <a:solidFill>
                  <a:srgbClr val="FFFFFF"/>
                </a:solidFill>
                <a:latin typeface="Consolas"/>
              </a:rPr>
              <a:t>AsyncStorage</a:t>
            </a:r>
            <a:r>
              <a:rPr sz="2000" dirty="0">
                <a:solidFill>
                  <a:srgbClr val="FFFFFF"/>
                </a:solidFill>
                <a:latin typeface="Consolas"/>
              </a:rPr>
              <a:t>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API[API client / fetch]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DB[(</a:t>
            </a:r>
            <a:r>
              <a:rPr sz="2000" dirty="0" err="1">
                <a:solidFill>
                  <a:srgbClr val="FFFFFF"/>
                </a:solidFill>
                <a:latin typeface="Consolas"/>
              </a:rPr>
              <a:t>Supabase</a:t>
            </a:r>
            <a:r>
              <a:rPr sz="2000" dirty="0">
                <a:solidFill>
                  <a:srgbClr val="FFFFFF"/>
                </a:solidFill>
                <a:latin typeface="Consolas"/>
              </a:rPr>
              <a:t> DB)]</a:t>
            </a:r>
          </a:p>
          <a:p>
            <a:pPr algn="l"/>
            <a:endParaRPr sz="20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Home --&gt; Form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Courses --&gt; API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Form --&gt; Store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API --&gt; DB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Store -.cache.-&gt; Courses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1297"/>
            <a:ext cx="733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11827"/>
                </a:solidFill>
              </a:rPr>
              <a:t>Key Advantages</a:t>
            </a:r>
            <a:endParaRPr sz="2800" b="1" i="0" dirty="0">
              <a:solidFill>
                <a:srgbClr val="11182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0" y="241565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4847870" y="250709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It's just text - version-controlled with your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9289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847870" y="328433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GitHub &amp; VS Code render it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97013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4847870" y="406157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Change a line, the picture updates - no redraw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74737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4847870" y="483881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[(...)] = a database . -.-&gt; = an optional/cache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52461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4847870" y="561605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You don't need it for the exam - but it's a great habit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21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Common </a:t>
            </a:r>
            <a:r>
              <a:rPr lang="en-US" sz="3600" b="1" i="0" dirty="0">
                <a:solidFill>
                  <a:srgbClr val="111827"/>
                </a:solidFill>
              </a:rPr>
              <a:t>Architecture </a:t>
            </a:r>
            <a:r>
              <a:rPr sz="3600" b="1" i="0" dirty="0">
                <a:solidFill>
                  <a:srgbClr val="111827"/>
                </a:solidFill>
              </a:rPr>
              <a:t>Diagram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The four that make a diagram useless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4367" y="1534696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334367" y="1534696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562968" y="1662712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Boxes with no clear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968" y="2083336"/>
            <a:ext cx="115030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A box labelled "stuff" or "logic" hides the decision you were supposed to make. Name the responsibility.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67" y="2741704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334367" y="2741704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562968" y="2869720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Arrows with no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968" y="3290344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An </a:t>
            </a:r>
            <a:r>
              <a:rPr sz="2200" b="0" i="0" dirty="0" err="1"/>
              <a:t>unlabelled</a:t>
            </a:r>
            <a:r>
              <a:rPr sz="2200" b="0" i="0" dirty="0"/>
              <a:t> arrow says "these are connected" but not how. Always write what travels along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367" y="3948712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334367" y="3948712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562968" y="4076728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Drawing the whole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968" y="4497352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Twenty boxes nobody can read. Diagram ONE feature or ONE layer at the right zoom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367" y="5155720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9" name="Rectangle 18"/>
          <p:cNvSpPr/>
          <p:nvPr/>
        </p:nvSpPr>
        <p:spPr>
          <a:xfrm>
            <a:off x="334367" y="5155720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562968" y="5283736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Never updating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968" y="5704360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A diagram that lies is worse than none. Keep it in the repo (Mermaid) so it updates with the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</a:rPr>
              <a:t>22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6CEE-F111-E7B0-43A6-E6D80F30112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581CD-7FEC-3BB6-6E4C-889644B883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Choices &amp; Trade-offs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8C372-3EC5-AC8A-F6ED-FE9DD92599A4}"/>
              </a:ext>
            </a:extLst>
          </p:cNvPr>
          <p:cNvSpPr txBox="1"/>
          <p:nvPr/>
        </p:nvSpPr>
        <p:spPr>
          <a:xfrm>
            <a:off x="833748" y="3410831"/>
            <a:ext cx="60720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Part 4 . There is no "best" - only the right fit for your context</a:t>
            </a:r>
          </a:p>
        </p:txBody>
      </p:sp>
    </p:spTree>
    <p:extLst>
      <p:ext uri="{BB962C8B-B14F-4D97-AF65-F5344CB8AC3E}">
        <p14:creationId xmlns:p14="http://schemas.microsoft.com/office/powerpoint/2010/main" val="1309958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Understanding Architecture Trade-Offs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/>
              <a:t>Every architectural choice trades one good thing for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9" y="1427644"/>
            <a:ext cx="11550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Beginners want a rule: "always use X." Senior developers ask "what are we optimizing for?" The same choice can be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right for one app and wrong for another. Your job is not to </a:t>
            </a:r>
            <a:r>
              <a:rPr lang="en-US" sz="2400" b="0" i="0" dirty="0">
                <a:solidFill>
                  <a:srgbClr val="111827"/>
                </a:solidFill>
              </a:rPr>
              <a:t>memorize</a:t>
            </a:r>
            <a:r>
              <a:rPr sz="2400" b="0" i="0" dirty="0">
                <a:solidFill>
                  <a:srgbClr val="111827"/>
                </a:solidFill>
              </a:rPr>
              <a:t> answers - it's to weigh the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8698" y="3764110"/>
            <a:ext cx="4636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0000"/>
                </a:solidFill>
              </a:rPr>
              <a:t>You usually can't max all three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4433" y="2930918"/>
            <a:ext cx="164592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84433" y="3027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Simple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1392" y="4548171"/>
            <a:ext cx="164592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521392" y="464438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8913" y="4548171"/>
            <a:ext cx="16459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38913" y="46307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Powerful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9" y="5399363"/>
            <a:ext cx="713792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dirty="0"/>
              <a:t>Pick a </a:t>
            </a:r>
            <a:r>
              <a:rPr lang="en-US" sz="2400" b="0" dirty="0"/>
              <a:t>DB</a:t>
            </a:r>
            <a:r>
              <a:rPr sz="2400" b="0" dirty="0"/>
              <a:t> for power and you pay in setup time.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dirty="0"/>
              <a:t>Pick </a:t>
            </a:r>
            <a:r>
              <a:rPr sz="2400" b="0" dirty="0" err="1"/>
              <a:t>AsyncStorage</a:t>
            </a:r>
            <a:r>
              <a:rPr sz="2400" b="0" dirty="0"/>
              <a:t> for simple and you give up queries.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7813" y="2307160"/>
            <a:ext cx="4766484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7396413" y="244432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Common axes you trade along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6413" y="294724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Simplicity vs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9293" y="324899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Easy to learn vs does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6413" y="3660472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Speed to build vs Scales 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9293" y="396222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Ship now vs grow without a rewrite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6413" y="4373704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Offline vs Always 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9293" y="467545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Works on the bus vs always 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6413" y="5086936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Cost vs Convenience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9293" y="538868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Free &amp; manual vs paid &amp; managed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6413" y="580016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Control vs Less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9293" y="610192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DIY vs trust a 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9096" y="6574264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24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Architecture Selection Decision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/>
              <a:t>Five questions to ask before you pick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39160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594360" y="1622040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94360" y="1676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700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What problem am I actually solving?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8344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Write it in one sentence. Half of all over-engineering dies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6712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594360" y="2609592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94360" y="2664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820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How</a:t>
            </a:r>
            <a:r>
              <a:rPr sz="2400" b="1" i="0" dirty="0">
                <a:solidFill>
                  <a:srgbClr val="111827"/>
                </a:solidFill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much data, and how complex?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79544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Five settings vs ten thousand searchable records point to different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4264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594360" y="3597144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94360" y="36520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6940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Does it need to be shared, or stay on this phone?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6709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Shared = server. Just-this-device = local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1816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594360" y="4584696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94360" y="4639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2965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What happens offline / on failure?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54648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If the answer matters, it shapes your whole data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89368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594360" y="5572248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594360" y="56271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40356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What's the simplest thing that works?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828552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Default to the smallest option. You can always grow into a bigger 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25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700" b="1" i="0" dirty="0">
                <a:solidFill>
                  <a:srgbClr val="111827"/>
                </a:solidFill>
              </a:rPr>
              <a:t>Documenting Architecture Decisions</a:t>
            </a:r>
            <a:endParaRPr sz="27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363" y="841248"/>
            <a:ext cx="119704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111827"/>
                </a:solidFill>
              </a:rPr>
              <a:t>Architecture Decision Record (</a:t>
            </a:r>
            <a:r>
              <a:rPr sz="2500" b="0" dirty="0"/>
              <a:t>ADR</a:t>
            </a:r>
            <a:r>
              <a:rPr lang="en-US" sz="2500" b="0" dirty="0"/>
              <a:t>):</a:t>
            </a:r>
            <a:r>
              <a:rPr sz="2500" b="0" dirty="0"/>
              <a:t> a few lines that save future-you an argument</a:t>
            </a:r>
            <a:endParaRPr lang="en-US" sz="2500" b="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111827"/>
                </a:solidFill>
              </a:rPr>
              <a:t>ADR is a tiny note explaining what you chose and WHY. Months later nobody remembers the reasoning - the ADR does. Keep them in a /docs folder next to your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9188" y="2442949"/>
            <a:ext cx="4706832" cy="434189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# ADR 003: Use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AsyncStorage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for the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#          "recently viewed courses" list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Status:   Accepted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Date:     2026-03-02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Context: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We want the home screen to show the last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courses the user opened, even after they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close the app. It's a short list, only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this user cares, never shared.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Decision: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Store it in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AsyncStorage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as JSON.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Consequences: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+ No backend needed, works offline.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- Lost if the app is uninstalled (fine).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- Not searchable (we don't need that).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695" y="2251883"/>
            <a:ext cx="4586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0000"/>
                </a:solidFill>
              </a:rPr>
              <a:t>The four headings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2558" y="2754803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0" name="TextBox 9"/>
          <p:cNvSpPr txBox="1"/>
          <p:nvPr/>
        </p:nvSpPr>
        <p:spPr>
          <a:xfrm>
            <a:off x="6538449" y="2714403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449" y="3093539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What's the situation &amp; need?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2558" y="3669203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6538449" y="3628803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8449" y="3994291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What did we choose to 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2558" y="4583603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6538449" y="4570499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Consequences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8449" y="4908691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The good AND the bad we accept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2558" y="5525299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6538449" y="5484899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8449" y="5850387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Proposed / Accepted / Replaced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</a:rPr>
              <a:t>26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A72C-F873-8B67-8C79-2C7492D87BC1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D0631-A3A1-D2CC-5A51-8E44524FB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 fontScale="92500"/>
          </a:bodyPr>
          <a:lstStyle/>
          <a:p>
            <a:pPr algn="ctr"/>
            <a:r>
              <a:rPr lang="en-US" sz="4800" b="1" dirty="0"/>
              <a:t>Where Does Data Live?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6CBD8-0341-50CC-12BF-E9910B13FACD}"/>
              </a:ext>
            </a:extLst>
          </p:cNvPr>
          <p:cNvSpPr txBox="1"/>
          <p:nvPr/>
        </p:nvSpPr>
        <p:spPr>
          <a:xfrm>
            <a:off x="833748" y="3410831"/>
            <a:ext cx="60720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Part 5 . </a:t>
            </a:r>
            <a:r>
              <a:rPr lang="en-US" sz="2800" b="1" dirty="0" err="1">
                <a:solidFill>
                  <a:srgbClr val="1527D7"/>
                </a:solidFill>
              </a:rPr>
              <a:t>AsyncStorage</a:t>
            </a:r>
            <a:r>
              <a:rPr lang="en-US" sz="2800" b="1" dirty="0">
                <a:solidFill>
                  <a:srgbClr val="1527D7"/>
                </a:solidFill>
              </a:rPr>
              <a:t> vs a database - the classic trade-off</a:t>
            </a:r>
          </a:p>
        </p:txBody>
      </p:sp>
    </p:spTree>
    <p:extLst>
      <p:ext uri="{BB962C8B-B14F-4D97-AF65-F5344CB8AC3E}">
        <p14:creationId xmlns:p14="http://schemas.microsoft.com/office/powerpoint/2010/main" val="2378594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Data</a:t>
            </a:r>
            <a:r>
              <a:rPr sz="3600" b="1" i="0" dirty="0">
                <a:solidFill>
                  <a:srgbClr val="111827"/>
                </a:solidFill>
              </a:rPr>
              <a:t> Storage </a:t>
            </a:r>
            <a:r>
              <a:rPr lang="en-US" sz="3600" b="1" dirty="0">
                <a:solidFill>
                  <a:srgbClr val="111827"/>
                </a:solidFill>
              </a:rPr>
              <a:t>Options in Mobile App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923136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/>
              <a:t>From "forgotten instantly" to "shared with the world"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0231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527D7"/>
                </a:solidFill>
              </a:rPr>
              <a:t>Less permanent / simpler  </a:t>
            </a:r>
            <a:r>
              <a:rPr sz="2400" b="1" dirty="0">
                <a:solidFill>
                  <a:srgbClr val="FF0000"/>
                </a:solidFill>
              </a:rPr>
              <a:t>----------------------------------&gt;</a:t>
            </a:r>
            <a:r>
              <a:rPr sz="2400" b="0" dirty="0"/>
              <a:t>  </a:t>
            </a:r>
            <a:r>
              <a:rPr sz="2400" b="1" dirty="0">
                <a:solidFill>
                  <a:srgbClr val="1527D7"/>
                </a:solidFill>
              </a:rPr>
              <a:t>more permanent / more powerful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60136"/>
            <a:ext cx="2743200" cy="1097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288736"/>
            <a:ext cx="2377440" cy="6400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85800" y="231616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Variable / </a:t>
            </a:r>
            <a:r>
              <a:rPr sz="2000" b="1" i="0" dirty="0" err="1">
                <a:solidFill>
                  <a:srgbClr val="FFFFFF"/>
                </a:solidFill>
              </a:rPr>
              <a:t>useState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11169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Gone when the screen closes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A counter, a toggle while editing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0400" y="3751776"/>
            <a:ext cx="164592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3364992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64992" y="2060136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47872" y="2288736"/>
            <a:ext cx="2377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593592" y="231616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AsyncStorage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11169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Stays on THIS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Theme, login token, small </a:t>
            </a:r>
            <a:r>
              <a:rPr sz="2000" b="0" i="0" dirty="0" err="1">
                <a:solidFill>
                  <a:srgbClr val="111827"/>
                </a:solidFill>
              </a:rPr>
              <a:t>prefs</a:t>
            </a:r>
            <a:r>
              <a:rPr sz="2000" b="0" i="0" dirty="0">
                <a:solidFill>
                  <a:srgbClr val="111827"/>
                </a:solidFill>
              </a:rPr>
              <a:t> 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08192" y="3751776"/>
            <a:ext cx="164592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6272784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72784" y="2060136"/>
            <a:ext cx="2743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55664" y="2288736"/>
            <a:ext cx="237744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501384" y="2275224"/>
            <a:ext cx="228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On-device DB (SQLite)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11169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Lots of structured local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Big offline lists you must query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015984" y="3751776"/>
            <a:ext cx="164592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ounded Rectangle 30"/>
          <p:cNvSpPr/>
          <p:nvPr/>
        </p:nvSpPr>
        <p:spPr>
          <a:xfrm>
            <a:off x="9180576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80576" y="2060136"/>
            <a:ext cx="27432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363456" y="2288736"/>
            <a:ext cx="237744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9409176" y="231616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Cloud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311169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Shared across users &amp; devices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3456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Courses, profiles, real app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7420" y="5795503"/>
            <a:ext cx="9178119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This course uses the two middle/right options: </a:t>
            </a:r>
            <a:r>
              <a:rPr sz="2400" b="1" dirty="0" err="1"/>
              <a:t>AsyncStorage</a:t>
            </a:r>
            <a:r>
              <a:rPr sz="2400" b="1" dirty="0"/>
              <a:t> and a </a:t>
            </a:r>
            <a:r>
              <a:rPr sz="2400" b="1" dirty="0" err="1"/>
              <a:t>Supabase</a:t>
            </a:r>
            <a:r>
              <a:rPr sz="2400" b="1" dirty="0"/>
              <a:t> cloud database.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28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374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11827"/>
                </a:solidFill>
              </a:rPr>
              <a:t>AsyncStorage</a:t>
            </a:r>
            <a:r>
              <a:rPr sz="3600" b="1" i="0" dirty="0">
                <a:solidFill>
                  <a:srgbClr val="111827"/>
                </a:solidFill>
              </a:rPr>
              <a:t> - The Device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8" y="759360"/>
            <a:ext cx="1166761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200" dirty="0"/>
              <a:t>A tiny key-value store that survives app restarts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It saves small string values on the phone under a key, like a notebook only this app can read.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It is asynchronous (returns a Promise), stores STRINGS only, and lives until the app is uninstalled or cleared.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0848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311251"/>
            <a:ext cx="4879075" cy="309326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import AsyncStorage from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"@react-native-async-storage/async-storage"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// SAVE - objects must be stringified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await AsyncStorage.setItem(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"theme", JSON.stringify({ dark: true })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// READ - and parsed back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const raw = await AsyncStorage.getItem("theme")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const theme = raw ? JSON.parse(raw) : null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await AsyncStorage.removeItem("theme")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7153" y="1966559"/>
            <a:ext cx="5677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6A34A"/>
                </a:solidFill>
              </a:rPr>
              <a:t>Reach for it when...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7153" y="2499439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534841" y="2449462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The data is small (a few KB)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7153" y="3126767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534841" y="3087423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Only THIS device needs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7153" y="3743462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534841" y="3714751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It's simple: </a:t>
            </a:r>
            <a:r>
              <a:rPr sz="2200" b="0" i="0" dirty="0" err="1">
                <a:solidFill>
                  <a:srgbClr val="111827"/>
                </a:solidFill>
              </a:rPr>
              <a:t>prefs</a:t>
            </a:r>
            <a:r>
              <a:rPr sz="2200" b="0" i="0" dirty="0">
                <a:solidFill>
                  <a:srgbClr val="111827"/>
                </a:solidFill>
              </a:rPr>
              <a:t>, flags, a token, a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7153" y="4349521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534841" y="4320810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You want it to work fully offline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7153" y="4913045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534841" y="4884333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You don't need to search or relate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472" y="5539692"/>
            <a:ext cx="11323070" cy="110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Three </a:t>
            </a:r>
            <a:r>
              <a:rPr lang="en-US" sz="2200" b="0" i="0" dirty="0">
                <a:solidFill>
                  <a:srgbClr val="111827"/>
                </a:solidFill>
              </a:rPr>
              <a:t>things</a:t>
            </a:r>
            <a:r>
              <a:rPr sz="2200" b="0" i="0" dirty="0">
                <a:solidFill>
                  <a:srgbClr val="111827"/>
                </a:solidFill>
              </a:rPr>
              <a:t>: (1) it stores STRINGS - </a:t>
            </a:r>
            <a:r>
              <a:rPr sz="2200" b="0" i="0" dirty="0" err="1">
                <a:solidFill>
                  <a:srgbClr val="111827"/>
                </a:solidFill>
              </a:rPr>
              <a:t>JSON.stringify</a:t>
            </a:r>
            <a:r>
              <a:rPr sz="2200" b="0" i="0" dirty="0">
                <a:solidFill>
                  <a:srgbClr val="111827"/>
                </a:solidFill>
              </a:rPr>
              <a:t> on save, </a:t>
            </a:r>
            <a:r>
              <a:rPr sz="2200" b="0" i="0" dirty="0" err="1">
                <a:solidFill>
                  <a:srgbClr val="111827"/>
                </a:solidFill>
              </a:rPr>
              <a:t>JSON.parse</a:t>
            </a:r>
            <a:r>
              <a:rPr sz="2200" b="0" i="0" dirty="0">
                <a:solidFill>
                  <a:srgbClr val="111827"/>
                </a:solidFill>
              </a:rPr>
              <a:t> on read.  (2) Every call is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async - always await.  (3) It is NOT secure storage - fine for a theme, not ideal for a raw password.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For sensitive tokens, expo-secure-store encrypts them (we revisit this in the security section).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29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7392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A Database </a:t>
            </a:r>
            <a:r>
              <a:rPr lang="en-US" sz="3600" b="1" i="0" dirty="0">
                <a:solidFill>
                  <a:srgbClr val="111827"/>
                </a:solidFill>
              </a:rPr>
              <a:t>–</a:t>
            </a:r>
            <a:r>
              <a:rPr sz="3600" b="1" i="0" dirty="0">
                <a:solidFill>
                  <a:srgbClr val="111827"/>
                </a:solidFill>
              </a:rPr>
              <a:t> </a:t>
            </a:r>
            <a:r>
              <a:rPr lang="en-US" sz="3600" b="1" i="0" dirty="0">
                <a:solidFill>
                  <a:srgbClr val="111827"/>
                </a:solidFill>
              </a:rPr>
              <a:t>Storing Shared Data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DB stores structured data in server-based tables. </a:t>
            </a:r>
            <a:r>
              <a:rPr lang="en-US" sz="2400" b="1" dirty="0"/>
              <a:t>W12 Campus Hub uses </a:t>
            </a:r>
            <a:r>
              <a:rPr lang="en-US" sz="2400" b="1" dirty="0" err="1"/>
              <a:t>Supabase</a:t>
            </a:r>
            <a:r>
              <a:rPr lang="en-US" sz="2400" b="1" dirty="0"/>
              <a:t> (Postgres + authentication) to securely store and share related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400" b="0" dirty="0"/>
          </a:p>
        </p:txBody>
      </p:sp>
      <p:sp>
        <p:nvSpPr>
          <p:cNvPr id="5" name="Rectangle 4"/>
          <p:cNvSpPr/>
          <p:nvPr/>
        </p:nvSpPr>
        <p:spPr>
          <a:xfrm>
            <a:off x="365760" y="677200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728790" y="1807119"/>
            <a:ext cx="5397690" cy="325808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// Supabase = a cloud database you query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import { supabase } from "../lib/supabase"</a:t>
            </a:r>
          </a:p>
          <a:p>
            <a:pPr algn="l"/>
            <a:endParaRPr>
              <a:solidFill>
                <a:srgbClr val="FFFFFF"/>
              </a:solidFill>
              <a:latin typeface="Consolas"/>
            </a:endParaRP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// READ many, with a filter (can't do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// this in AsyncStorage)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const { data, error } = await supabase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.from("courses")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.select("*")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.eq("term", "Winter 2026")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.order("code")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792" y="170106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Reach for it when...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792" y="2112541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638952" y="2158261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+  Data is shared between users/devices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1792" y="2697334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638952" y="2743054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There's a lot of it, or it's related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792" y="3345924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638952" y="3391644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You must search, filter, sort, or join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792" y="4015776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638952" y="4061496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It must survive a reinstall or new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1792" y="4653733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638952" y="4699453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Rules decide who can read/write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79"/>
            <a:ext cx="11338560" cy="1569660"/>
          </a:xfrm>
          <a:prstGeom prst="rect">
            <a:avLst/>
          </a:prstGeom>
          <a:solidFill>
            <a:srgbClr val="F0F4FF"/>
          </a:solidFill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The price you pay: you need a backend (</a:t>
            </a:r>
            <a:r>
              <a:rPr sz="2400" b="0" i="0" dirty="0" err="1">
                <a:solidFill>
                  <a:srgbClr val="111827"/>
                </a:solidFill>
              </a:rPr>
              <a:t>Supabase</a:t>
            </a:r>
            <a:r>
              <a:rPr sz="2400" b="0" i="0" dirty="0">
                <a:solidFill>
                  <a:srgbClr val="111827"/>
                </a:solidFill>
              </a:rPr>
              <a:t> handles this), the app must be online to reach it, and there's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more to set up - tables, queries &amp; access rules. That's the trade-off: more power, more moving parts.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Pattern to remember: the database is the truth; </a:t>
            </a:r>
            <a:r>
              <a:rPr sz="2400" b="0" i="0" dirty="0" err="1">
                <a:solidFill>
                  <a:srgbClr val="111827"/>
                </a:solidFill>
              </a:rPr>
              <a:t>AsyncStorage</a:t>
            </a:r>
            <a:r>
              <a:rPr sz="2400" b="0" i="0" dirty="0">
                <a:solidFill>
                  <a:srgbClr val="111827"/>
                </a:solidFill>
              </a:rPr>
              <a:t> is at most a local cache of a slice of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30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11827"/>
                </a:solidFill>
              </a:rPr>
              <a:t>AsyncStorage</a:t>
            </a:r>
            <a:r>
              <a:rPr sz="3600" b="1" i="0" dirty="0">
                <a:solidFill>
                  <a:srgbClr val="111827"/>
                </a:solidFill>
              </a:rPr>
              <a:t> vs Database </a:t>
            </a:r>
            <a:r>
              <a:rPr lang="en-US" sz="3600" b="1" i="0" dirty="0">
                <a:solidFill>
                  <a:srgbClr val="111827"/>
                </a:solidFill>
              </a:rPr>
              <a:t>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dirty="0"/>
              <a:t>Read each row and ask: which side is my feature 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34384"/>
            <a:ext cx="365760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48640" y="1462224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34384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4297680" y="1434928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AsyncStorage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55279" y="1434384"/>
            <a:ext cx="379476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8046720" y="1448576"/>
            <a:ext cx="3611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8744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548640" y="214761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Where it lives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4761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563EB"/>
                </a:solidFill>
              </a:rPr>
              <a:t>On the one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47616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C00000"/>
                </a:solidFill>
              </a:rPr>
              <a:t>On a server, shared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4816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548640" y="272368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Good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2368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Small key-value prefs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23688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Large, structured, related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80888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548640" y="329976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Search / filter /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9976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No - you load it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9760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Yes - that's its whole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56960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548640" y="3875832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Shared between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875832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Never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875832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Always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33032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548640" y="4459855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Works 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451904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Yes, fully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451904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No (needs network)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09104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TextBox 32"/>
          <p:cNvSpPr txBox="1"/>
          <p:nvPr/>
        </p:nvSpPr>
        <p:spPr>
          <a:xfrm>
            <a:off x="548640" y="502797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Survives reinstall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02797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027976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85176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TextBox 36"/>
          <p:cNvSpPr txBox="1"/>
          <p:nvPr/>
        </p:nvSpPr>
        <p:spPr>
          <a:xfrm>
            <a:off x="548640" y="560404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Setup effort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60404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Almost none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604048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Backend, tables, rules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61248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TextBox 40"/>
          <p:cNvSpPr txBox="1"/>
          <p:nvPr/>
        </p:nvSpPr>
        <p:spPr>
          <a:xfrm>
            <a:off x="548640" y="61801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In Campus 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61801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Theme, token, cache (W9)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6180120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Courses, profiles, auth (W12)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31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600" b="1" dirty="0"/>
              <a:t>Matching Data to Storage Solutions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8821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/>
              <a:t>Same app, several pieces of data - and they don't all go to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3425" y="1480104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476305" y="1662984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Dark-mode 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5345" y="1644696"/>
            <a:ext cx="20116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271065" y="1631184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AsyncStorage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905" y="166298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Tiny, this device only, must work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425" y="2266488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476305" y="2449368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"Stay logged in"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5345" y="2431080"/>
            <a:ext cx="20116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271065" y="2417568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SecureStore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905" y="244936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Small + sensitive -&gt; encrypted device storage.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425" y="3052872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476305" y="3235752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List of all courses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5345" y="3217464"/>
            <a:ext cx="20116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271065" y="3217600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905" y="323575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Shared, large, searchable - the source of truth.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3425" y="3839256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476305" y="4022136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Your saved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5345" y="4003848"/>
            <a:ext cx="20116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271065" y="3990336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904" y="4022136"/>
            <a:ext cx="56051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Must follow you to a new phone; the server owns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3425" y="4625640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476305" y="48085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Recently viewed (cache)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5345" y="4790232"/>
            <a:ext cx="20116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4271065" y="4776720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AsyncStorage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19905" y="480852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A convenience copy of server data, for speed.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3425" y="5412024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476305" y="5594904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Draft of a 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5345" y="5576616"/>
            <a:ext cx="201168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4271065" y="5549456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useState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19905" y="559490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Only matters while the screen is open.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32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F735-27E8-EA1A-8018-551256B6353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AA22E-46D5-4B0C-CBD8-9579C3EEBC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Talking to a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D5BE2-28FA-1A89-C1AE-5E1BF3E15623}"/>
              </a:ext>
            </a:extLst>
          </p:cNvPr>
          <p:cNvSpPr txBox="1"/>
          <p:nvPr/>
        </p:nvSpPr>
        <p:spPr>
          <a:xfrm>
            <a:off x="833748" y="3410831"/>
            <a:ext cx="6072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Part 6 . API calls - how the app asks for data over the network</a:t>
            </a:r>
          </a:p>
        </p:txBody>
      </p:sp>
    </p:spTree>
    <p:extLst>
      <p:ext uri="{BB962C8B-B14F-4D97-AF65-F5344CB8AC3E}">
        <p14:creationId xmlns:p14="http://schemas.microsoft.com/office/powerpoint/2010/main" val="3307553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11827"/>
                </a:solidFill>
              </a:rPr>
              <a:t>What Is an API?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33856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An API is a set of requests that lets an app communicate with a server, which processes the request and returns data, usually in JSON.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A waiter between your app and the kitchen (the server)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853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11827"/>
                </a:solidFill>
              </a:rPr>
              <a:t>Most mobile APIs are "REST": you call a URL (endpoint) with a verb (method).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608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488" y="3430364"/>
            <a:ext cx="237744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31208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488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Read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56" y="4436204"/>
            <a:ext cx="2724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/>
              <a:t>"give me the courses"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400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93280" y="3430364"/>
            <a:ext cx="23774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3539000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280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Create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280" y="4436204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/>
              <a:t>"add this profile"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8192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1072" y="3430364"/>
            <a:ext cx="23774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6446792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PUT / 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1072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Update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1072" y="4436204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/>
              <a:t>"change my email"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984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08864" y="3430364"/>
            <a:ext cx="237744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9354584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864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Remove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864" y="4436204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/>
              <a:t>"drop this item"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52205"/>
            <a:ext cx="11695049" cy="103777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GET  https://api.example.com/courses?term=Winter2026   -&gt;  200 OK   [ {...}, {...} ]  (JSON array)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POST https://api.example.com/profile  body:{ email }   -&gt;  201 Created   { id: 42 }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Status codes tell you what happened:  2xx = success  .  4xx = you sent something wrong  .  5xx = server broke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34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API</a:t>
            </a:r>
            <a:r>
              <a:rPr sz="3600" b="1" i="0" dirty="0">
                <a:solidFill>
                  <a:srgbClr val="111827"/>
                </a:solidFill>
              </a:rPr>
              <a:t>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2313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Every network call passes through these states - your UI must handle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16583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Rectangle 6"/>
          <p:cNvSpPr/>
          <p:nvPr/>
        </p:nvSpPr>
        <p:spPr>
          <a:xfrm>
            <a:off x="457200" y="1616583"/>
            <a:ext cx="91440" cy="673679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85800" y="1699559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6B7280"/>
                </a:solidFill>
              </a:rPr>
              <a:t>1 . 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26311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Nothing asked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6695" y="1726311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the screen / a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53871"/>
            <a:ext cx="11247120" cy="68180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Rectangle 11"/>
          <p:cNvSpPr/>
          <p:nvPr/>
        </p:nvSpPr>
        <p:spPr>
          <a:xfrm>
            <a:off x="457200" y="2453871"/>
            <a:ext cx="64008" cy="68180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85800" y="2564143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2 .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3599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Request sent, waiting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6695" y="2522655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a spinner - never a frozen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77511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Rectangle 16"/>
          <p:cNvSpPr/>
          <p:nvPr/>
        </p:nvSpPr>
        <p:spPr>
          <a:xfrm>
            <a:off x="457200" y="3277511"/>
            <a:ext cx="91440" cy="68180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5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3a .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87239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Data came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6695" y="3387239"/>
            <a:ext cx="5302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Render the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28447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Rectangle 21"/>
          <p:cNvSpPr/>
          <p:nvPr/>
        </p:nvSpPr>
        <p:spPr>
          <a:xfrm>
            <a:off x="457200" y="4128447"/>
            <a:ext cx="91440" cy="6736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85800" y="4238719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3b .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38175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Network or server failed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6695" y="4238175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a friendly message + retry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79383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Rectangle 26"/>
          <p:cNvSpPr/>
          <p:nvPr/>
        </p:nvSpPr>
        <p:spPr>
          <a:xfrm>
            <a:off x="384048" y="4979383"/>
            <a:ext cx="164592" cy="68180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85800" y="5089655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4 . empty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089111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Success, but zero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6695" y="5089111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"nothing here yet", not a blank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835" y="5812576"/>
            <a:ext cx="1186550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Beginners code only the success path. Real architecture plans for loading, error, AND empty.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35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F</a:t>
            </a:r>
            <a:r>
              <a:rPr sz="3600" b="1" i="0" dirty="0">
                <a:solidFill>
                  <a:srgbClr val="111827"/>
                </a:solidFill>
              </a:rPr>
              <a:t>etch</a:t>
            </a:r>
            <a:r>
              <a:rPr lang="en-US" sz="3600" b="1" i="0" dirty="0">
                <a:solidFill>
                  <a:srgbClr val="111827"/>
                </a:solidFill>
              </a:rPr>
              <a:t>ing Data from an API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96919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dirty="0"/>
              <a:t>The shape you'll write </a:t>
            </a:r>
            <a:r>
              <a:rPr lang="en-US" sz="2800" dirty="0"/>
              <a:t>later</a:t>
            </a:r>
            <a:r>
              <a:rPr sz="2800" dirty="0"/>
              <a:t> - handling all the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3680" y="1448030"/>
            <a:ext cx="5269674" cy="511654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function CoursesScreen()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const [data, setData]       = useState([])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const [loading, setLoading] = useState(true)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const [error, setError]     = useState(null)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useEffect(() =&gt;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async function load()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try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setLoading(true)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const res = await fetch(URL)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if (!res.ok) throw new Error("Bad status")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const json = await res.json()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setData(json.results)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} catch (e)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setError("Couldn't load courses.")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} finally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setLoading(false)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}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load()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}, [])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// render: loading? error? empty? data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770" y="1557214"/>
            <a:ext cx="4297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Line by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5640" y="2014414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7375931" y="1982886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await fetch(URL)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8470" y="2293510"/>
            <a:ext cx="4793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Sends the request; pauses until a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5640" y="2727646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2" name="TextBox 11"/>
          <p:cNvSpPr txBox="1"/>
          <p:nvPr/>
        </p:nvSpPr>
        <p:spPr>
          <a:xfrm>
            <a:off x="7375931" y="266882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563EB"/>
                </a:solidFill>
                <a:latin typeface="Consolas"/>
              </a:rPr>
              <a:t>res.ok</a:t>
            </a:r>
            <a:r>
              <a:rPr sz="2400" b="1" i="0" dirty="0">
                <a:solidFill>
                  <a:srgbClr val="2563EB"/>
                </a:solidFill>
                <a:latin typeface="Consolas"/>
              </a:rPr>
              <a:t> /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8470" y="2993094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11827"/>
                </a:solidFill>
              </a:rPr>
              <a:t>Check it! fetch won't throw on 404/500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5640" y="3440878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7375931" y="339570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await </a:t>
            </a:r>
            <a:r>
              <a:rPr sz="2400" b="1" i="0" dirty="0" err="1">
                <a:solidFill>
                  <a:srgbClr val="2563EB"/>
                </a:solidFill>
                <a:latin typeface="Consolas"/>
              </a:rPr>
              <a:t>res.json</a:t>
            </a:r>
            <a:r>
              <a:rPr sz="2400" b="1" i="0" dirty="0">
                <a:solidFill>
                  <a:srgbClr val="2563EB"/>
                </a:solidFill>
                <a:latin typeface="Consolas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8470" y="3706326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Parse the body from text into objects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5640" y="4154109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8" name="TextBox 17"/>
          <p:cNvSpPr txBox="1"/>
          <p:nvPr/>
        </p:nvSpPr>
        <p:spPr>
          <a:xfrm>
            <a:off x="7375931" y="4095286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try / catch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8470" y="4433205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Network can fail anytime - always wrap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55640" y="4867342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7375931" y="4835814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finally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4329" y="5132790"/>
            <a:ext cx="4735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Stop the spinner whether it worked or not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55640" y="5580574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4" name="TextBox 23"/>
          <p:cNvSpPr txBox="1"/>
          <p:nvPr/>
        </p:nvSpPr>
        <p:spPr>
          <a:xfrm>
            <a:off x="7375931" y="5521750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563EB"/>
                </a:solidFill>
                <a:latin typeface="Consolas"/>
              </a:rPr>
              <a:t>useEffect</a:t>
            </a:r>
            <a:r>
              <a:rPr sz="2400" b="1" i="0" dirty="0">
                <a:solidFill>
                  <a:srgbClr val="2563EB"/>
                </a:solidFill>
                <a:latin typeface="Consolas"/>
              </a:rPr>
              <a:t>([])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8470" y="5832374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Run the fetch once when screen mounts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36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/>
              <a:t>Organizing API Code with a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Not scattered in every screen - in one data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34691"/>
            <a:ext cx="5486400" cy="4572000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71851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fetch() in every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7477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The same URL copy-pasted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1699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Change the endpoint -&gt; edit 8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8627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Each screen parses JSON its own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75554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Auth token attached inconsistently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42482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Impossible to test without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544" y="5146571"/>
            <a:ext cx="544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DC2626"/>
                </a:solidFill>
              </a:rPr>
              <a:t>The network code leaks into the presentation layer - concerns are mixed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34691"/>
            <a:ext cx="5486400" cy="4572000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617259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One API client / data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129051"/>
            <a:ext cx="512064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// lib/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api.ts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- the only place URLs live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const BASE 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process.env.EXPO_PUBLIC_API_URL</a:t>
            </a:r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export async function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getCourses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const r = await fetch(`${BASE}/courses`)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if (!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r.ok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 throw new Error("load failed")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return (await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r.json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()).results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501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Screens just call getCourses()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049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Change the URL in ONE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45987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Token + error handling centralised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521475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Easy to test, easy to swap the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37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6007-3518-4F6D-357C-C257CB0AA8E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DC413-3375-F152-4F70-36A453218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50" y="2448100"/>
            <a:ext cx="6072018" cy="980901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sz="4800" b="1" dirty="0"/>
              <a:t>Authentication &amp;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90D53-CF0C-45A3-2100-402307F701DD}"/>
              </a:ext>
            </a:extLst>
          </p:cNvPr>
          <p:cNvSpPr txBox="1"/>
          <p:nvPr/>
        </p:nvSpPr>
        <p:spPr>
          <a:xfrm>
            <a:off x="833748" y="3410831"/>
            <a:ext cx="6072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527D7"/>
                </a:solidFill>
              </a:rPr>
              <a:t>Part 7 . Who are you - and how do we keep the app safe</a:t>
            </a:r>
          </a:p>
        </p:txBody>
      </p:sp>
    </p:spTree>
    <p:extLst>
      <p:ext uri="{BB962C8B-B14F-4D97-AF65-F5344CB8AC3E}">
        <p14:creationId xmlns:p14="http://schemas.microsoft.com/office/powerpoint/2010/main" val="200138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Authentication vs Authorization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5043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Authentication vs Authorization - different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17234"/>
            <a:ext cx="5486400" cy="359621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685800" y="16725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Authentication (</a:t>
            </a:r>
            <a:r>
              <a:rPr sz="2400" b="1" i="0" dirty="0" err="1">
                <a:solidFill>
                  <a:srgbClr val="2563EB"/>
                </a:solidFill>
              </a:rPr>
              <a:t>AuthN</a:t>
            </a:r>
            <a:r>
              <a:rPr sz="2400" b="1" i="0" dirty="0">
                <a:solidFill>
                  <a:srgbClr val="2563EB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60" y="2161807"/>
            <a:ext cx="507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 dirty="0">
                <a:solidFill>
                  <a:srgbClr val="FF0000"/>
                </a:solidFill>
              </a:rPr>
              <a:t>"Who are you?"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60" y="2633335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Proving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60" y="3145671"/>
            <a:ext cx="53171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Usually email + password, or Google/Apple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60" y="3658007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Result: the server is sure it's really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760" y="4170343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Happens once, at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760" y="4682679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Campus Hub: </a:t>
            </a:r>
            <a:r>
              <a:rPr sz="2200" b="0" i="0" dirty="0" err="1">
                <a:solidFill>
                  <a:srgbClr val="111827"/>
                </a:solidFill>
              </a:rPr>
              <a:t>Supabase</a:t>
            </a:r>
            <a:r>
              <a:rPr sz="2200" b="0" i="0" dirty="0">
                <a:solidFill>
                  <a:srgbClr val="111827"/>
                </a:solidFill>
              </a:rPr>
              <a:t> 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17234"/>
            <a:ext cx="5486400" cy="359621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492240" y="16725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Authorization (AuthZ)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7200" y="2161807"/>
            <a:ext cx="507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 dirty="0">
                <a:solidFill>
                  <a:srgbClr val="FF0000"/>
                </a:solidFill>
              </a:rPr>
              <a:t>"What are you allowed to do?"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7200" y="2633335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Checking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7200" y="3145671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Can THIS user edit THAT record?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7200" y="3658007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Result: an action is allowed or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7200" y="4170343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Happens on every protected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7200" y="4682679"/>
            <a:ext cx="52303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Campus Hub: database access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32" y="5329986"/>
            <a:ext cx="11561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111827"/>
                </a:solidFill>
              </a:rPr>
              <a:t>Order matters: authenticate first (who), then authorize (what). Login proves who; rules decide what.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39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09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600" b="1" dirty="0"/>
              <a:t>Common Authentication Approaches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74571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Four common options - and why we pick the last one for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990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75384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457200" y="1275384"/>
            <a:ext cx="91440" cy="10241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685800" y="1439976"/>
            <a:ext cx="3108960" cy="4114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Roll your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16968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Store passwords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560072"/>
            <a:ext cx="7680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Maximum control. But you must hash, salt, handle resets, breaches... Easy to get dangerously wrong. Avoid as a beginner.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36672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57200" y="2436672"/>
            <a:ext cx="91440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4" name="Rounded Rectangle 13"/>
          <p:cNvSpPr/>
          <p:nvPr/>
        </p:nvSpPr>
        <p:spPr>
          <a:xfrm>
            <a:off x="685800" y="2601264"/>
            <a:ext cx="31089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5" name="TextBox 14"/>
          <p:cNvSpPr txBox="1"/>
          <p:nvPr/>
        </p:nvSpPr>
        <p:spPr>
          <a:xfrm>
            <a:off x="731520" y="2587752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Session + cookie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419200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Server remembers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762304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Classic for websites. Server keeps a session; browser sends a cookie. Less natural for mobile apps.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97960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457200" y="3597960"/>
            <a:ext cx="9144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0" name="Rounded Rectangle 19"/>
          <p:cNvSpPr/>
          <p:nvPr/>
        </p:nvSpPr>
        <p:spPr>
          <a:xfrm>
            <a:off x="685800" y="3762552"/>
            <a:ext cx="31089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Token (JWT)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594136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A signed pass you carry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882648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Server gives a signed token at login; the app sends it with each request. Stateless, mobile-friendly. The modern default.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9248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457200" y="4759248"/>
            <a:ext cx="91440" cy="10241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685800" y="4923839"/>
            <a:ext cx="3108960" cy="769441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7" name="TextBox 26"/>
          <p:cNvSpPr txBox="1"/>
          <p:nvPr/>
        </p:nvSpPr>
        <p:spPr>
          <a:xfrm>
            <a:off x="731520" y="4951272"/>
            <a:ext cx="28529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Managed (</a:t>
            </a:r>
            <a:r>
              <a:rPr sz="2200" b="1" i="0" dirty="0" err="1">
                <a:solidFill>
                  <a:srgbClr val="FFFFFF"/>
                </a:solidFill>
              </a:rPr>
              <a:t>Supabase</a:t>
            </a:r>
            <a:r>
              <a:rPr sz="2200" b="1" i="0" dirty="0">
                <a:solidFill>
                  <a:srgbClr val="FFFFFF"/>
                </a:solidFill>
              </a:rPr>
              <a:t> / OAuth)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714480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Let a provider do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057584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A trusted service handles login, tokens, resets, "Sign in with Google". You write the least code and get the most safety.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25853"/>
            <a:ext cx="114300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We choose </a:t>
            </a:r>
            <a:r>
              <a:rPr sz="2400" b="1" dirty="0" err="1"/>
              <a:t>Supabase</a:t>
            </a:r>
            <a:r>
              <a:rPr sz="2400" b="1" dirty="0"/>
              <a:t> (managed + JWT): least code to get wrong, real security, and it teaches the token pattern.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40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JWT</a:t>
            </a:r>
            <a:r>
              <a:rPr sz="3600" b="1" i="0" dirty="0">
                <a:solidFill>
                  <a:srgbClr val="111827"/>
                </a:solidFill>
              </a:rPr>
              <a:t> Token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What "being logged in" actually means on a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7071" y="141186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3288" y="1576456"/>
            <a:ext cx="4572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03288" y="161303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76" y="155789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2563EB"/>
                </a:solidFill>
              </a:rPr>
              <a:t>Log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3318" y="1567312"/>
            <a:ext cx="884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App sends email + password over HTTPS to the auth server.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67880" y="210680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307071" y="223482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3288" y="2399416"/>
            <a:ext cx="45720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03288" y="243599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776" y="238085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6A34A"/>
                </a:solidFill>
              </a:rPr>
              <a:t>Get a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3318" y="2390272"/>
            <a:ext cx="884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Server verifies, returns a signed token (JWT) + refresh token.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7880" y="292976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307071" y="305778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3288" y="3222376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03288" y="325895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776" y="320381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</a:rPr>
              <a:t>Store it safely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3318" y="3158640"/>
            <a:ext cx="9045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App keeps the token in encrypted </a:t>
            </a:r>
            <a:r>
              <a:rPr sz="2400" b="0" i="0" dirty="0" err="1">
                <a:solidFill>
                  <a:srgbClr val="111827"/>
                </a:solidFill>
              </a:rPr>
              <a:t>SecureStore</a:t>
            </a:r>
            <a:r>
              <a:rPr sz="2400" b="0" i="0" dirty="0">
                <a:solidFill>
                  <a:srgbClr val="111827"/>
                </a:solidFill>
              </a:rPr>
              <a:t> - not plain </a:t>
            </a:r>
            <a:r>
              <a:rPr sz="2400" b="0" i="0" dirty="0" err="1">
                <a:solidFill>
                  <a:srgbClr val="111827"/>
                </a:solidFill>
              </a:rPr>
              <a:t>AsyncStorage</a:t>
            </a:r>
            <a:r>
              <a:rPr sz="24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7880" y="375272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ed Rectangle 23"/>
          <p:cNvSpPr/>
          <p:nvPr/>
        </p:nvSpPr>
        <p:spPr>
          <a:xfrm>
            <a:off x="307071" y="388074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3288" y="4045336"/>
            <a:ext cx="45720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03288" y="408191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776" y="402677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</a:rPr>
              <a:t>Attach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3318" y="4036192"/>
            <a:ext cx="884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Every protected request sends the token in an Authorization header.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67880" y="457568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Rounded Rectangle 29"/>
          <p:cNvSpPr/>
          <p:nvPr/>
        </p:nvSpPr>
        <p:spPr>
          <a:xfrm>
            <a:off x="307071" y="470370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03288" y="4868296"/>
            <a:ext cx="4572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403288" y="490487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776" y="484973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</a:rPr>
              <a:t>Expire / 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4390" y="4859152"/>
            <a:ext cx="8805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Tokens expire on purpose; a refresh token gets a new one silently.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67880" y="539864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ounded Rectangle 35"/>
          <p:cNvSpPr/>
          <p:nvPr/>
        </p:nvSpPr>
        <p:spPr>
          <a:xfrm>
            <a:off x="307071" y="552666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03288" y="5691255"/>
            <a:ext cx="45720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403288" y="5727831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776" y="5672695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DC2626"/>
                </a:solidFill>
              </a:rPr>
              <a:t>Log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3318" y="5682112"/>
            <a:ext cx="9000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Delete the stored tokens. No token = no access.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FFC000"/>
                </a:solidFill>
              </a:rPr>
              <a:t>41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Think Like an Attacker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The mobile threat model in one uncomfortable 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07768"/>
            <a:ext cx="1101852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Your app ships to the user's device. They - and anyone else - can unzip it, read the JS, watch its</a:t>
            </a:r>
            <a:r>
              <a:rPr lang="en-US" sz="2400" b="1" i="0" dirty="0">
                <a:solidFill>
                  <a:srgbClr val="FFFFFF"/>
                </a:solidFill>
              </a:rPr>
              <a:t> </a:t>
            </a:r>
            <a:r>
              <a:rPr sz="2400" b="1" i="0" dirty="0">
                <a:solidFill>
                  <a:srgbClr val="FFFFFF"/>
                </a:solidFill>
              </a:rPr>
              <a:t>network traffic, and see anything stored on the phone. Treat everything in the app as PUBLIC.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819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284706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Hardcoded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6517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An API key in the code is a key handed to everyone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76517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Keep secrets on the server; ship only public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687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640080" y="371574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Reading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3385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Plain HTTP can be sniffed on public 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63385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Always HTTPS - encrypts data in transit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6555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640080" y="458442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Trusting the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50253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Validation only in the app is easily bypassed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50253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Re-validate on the server too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3423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1" name="TextBox 20"/>
          <p:cNvSpPr txBox="1"/>
          <p:nvPr/>
        </p:nvSpPr>
        <p:spPr>
          <a:xfrm>
            <a:off x="640080" y="545310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Stolen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37121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A logged-in phone in the wrong 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37121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Encrypt stored tokens; let them expire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42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/>
              <a:t>Mobile App Security Best Practices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09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The habits that prevent most beginner security holes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16578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457200" y="1616578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731520" y="170392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Never hardcode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2834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Use env vars (EXPO_PUBLIC_... only for PUBLIC values). Real secrets stay server-side.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16578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6355080" y="1616578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6629400" y="170392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Always use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42834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/>
              <a:t>Every request encrypted in transit. Never send credentials over plain HTTP.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7906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457200" y="3097906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731520" y="318525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Store tokens in SecureStore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24162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expo-secure-store encrypts. </a:t>
            </a:r>
            <a:r>
              <a:rPr sz="2100" b="0" i="0" dirty="0" err="1"/>
              <a:t>AsyncStorage</a:t>
            </a:r>
            <a:r>
              <a:rPr sz="2100" b="0" i="0" dirty="0"/>
              <a:t> is readable - wrong place for a token.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97906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9" name="Rectangle 18"/>
          <p:cNvSpPr/>
          <p:nvPr/>
        </p:nvSpPr>
        <p:spPr>
          <a:xfrm>
            <a:off x="6355080" y="3097906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6629400" y="318525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Validate on BOTH sides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24162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Zod in the app for UX; re-check on the server because the client can lie.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9234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3" name="Rectangle 22"/>
          <p:cNvSpPr/>
          <p:nvPr/>
        </p:nvSpPr>
        <p:spPr>
          <a:xfrm>
            <a:off x="457200" y="4579234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4" name="TextBox 23"/>
          <p:cNvSpPr txBox="1"/>
          <p:nvPr/>
        </p:nvSpPr>
        <p:spPr>
          <a:xfrm>
            <a:off x="731520" y="466657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Least privilege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05490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/>
              <a:t>Ship the anon/public key, not the service key. Give each user only the access they need.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579234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7" name="Rectangle 26"/>
          <p:cNvSpPr/>
          <p:nvPr/>
        </p:nvSpPr>
        <p:spPr>
          <a:xfrm>
            <a:off x="6355080" y="4579234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8" name="TextBox 27"/>
          <p:cNvSpPr txBox="1"/>
          <p:nvPr/>
        </p:nvSpPr>
        <p:spPr>
          <a:xfrm>
            <a:off x="6629400" y="466657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Don't log sensitive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105490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/>
              <a:t>No passwords or tokens in console.log or crash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</a:rPr>
              <a:t>43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600" b="1" dirty="0"/>
              <a:t>A Complete View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99123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Everything from today, in one Campus Hub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51026"/>
            <a:ext cx="6949440" cy="457200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208" y="1687874"/>
            <a:ext cx="658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CLIENT (the phone)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9666"/>
            <a:ext cx="3108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713232" y="2309393"/>
            <a:ext cx="3054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Screens (Presentation)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199666"/>
            <a:ext cx="32461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005072" y="2309393"/>
            <a:ext cx="3191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State . useForm . Context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03120" y="2794026"/>
            <a:ext cx="228600" cy="228600"/>
          </a:xfrm>
          <a:prstGeom prst="downArrow">
            <a:avLst/>
          </a:prstGeom>
          <a:solidFill>
            <a:srgbClr val="152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Down Arrow 12"/>
          <p:cNvSpPr/>
          <p:nvPr/>
        </p:nvSpPr>
        <p:spPr>
          <a:xfrm>
            <a:off x="5394960" y="2794026"/>
            <a:ext cx="228600" cy="228600"/>
          </a:xfrm>
          <a:prstGeom prst="downArrow">
            <a:avLst/>
          </a:prstGeom>
          <a:solidFill>
            <a:srgbClr val="152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685800" y="3114065"/>
            <a:ext cx="3108960" cy="815977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13232" y="3182849"/>
            <a:ext cx="3054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AsyncStorage</a:t>
            </a:r>
            <a:r>
              <a:rPr sz="2000" b="1" i="0" dirty="0">
                <a:solidFill>
                  <a:srgbClr val="FFFFFF"/>
                </a:solidFill>
              </a:rPr>
              <a:t> / </a:t>
            </a:r>
            <a:r>
              <a:rPr sz="2000" b="1" i="0" dirty="0" err="1">
                <a:solidFill>
                  <a:srgbClr val="FFFFFF"/>
                </a:solidFill>
              </a:rPr>
              <a:t>SecureStore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77639" y="3114066"/>
            <a:ext cx="3246120" cy="81597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005072" y="3332977"/>
            <a:ext cx="3191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API client (fetch)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82141"/>
            <a:ext cx="6583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11827"/>
                </a:solidFill>
              </a:rPr>
              <a:t>Validates input (Zod) . shows loading/error/empty . holds a session token . works offline where it 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5142125"/>
            <a:ext cx="4572000" cy="548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490472" y="5251853"/>
            <a:ext cx="451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Sends requests over HTTPS + token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39" y="3708426"/>
            <a:ext cx="913583" cy="40011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2080" y="3251226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0000"/>
                </a:solidFill>
              </a:rPr>
              <a:t>HTTPS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7655" y="1651026"/>
            <a:ext cx="3566160" cy="457200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4184" y="1687874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SERVER (</a:t>
            </a:r>
            <a:r>
              <a:rPr sz="2400" b="1" i="0" dirty="0" err="1">
                <a:solidFill>
                  <a:srgbClr val="D97706"/>
                </a:solidFill>
              </a:rPr>
              <a:t>Supabase</a:t>
            </a:r>
            <a:r>
              <a:rPr sz="2400" b="1" i="0" dirty="0">
                <a:solidFill>
                  <a:srgbClr val="D97706"/>
                </a:solidFill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30536" y="219966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8557968" y="2309393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Auth (verifies, issues JWT)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30536" y="293118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557968" y="3040914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Authorization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30536" y="366270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557968" y="3772433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Postgres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0536" y="439422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8557968" y="4503954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Secrets &amp; service keys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0536" y="5125746"/>
            <a:ext cx="3291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/>
              <a:t>The source of truth. Trusted code. Where real validation &amp; secrets live.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10528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 dirty="0">
                <a:solidFill>
                  <a:srgbClr val="FFC000"/>
                </a:solidFill>
              </a:rPr>
              <a:t>44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-82577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</a:rPr>
              <a:t>Summary</a:t>
            </a:r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664789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914400" y="587813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Architecture =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6949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Big, hard-to-change choices about parts, responsibilities &amp; how they talk.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98636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914400" y="1548956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Think in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14444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Presentation -&gt; State -&gt; Data -&gt; Backend. Each does one job and trusts the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7204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914400" y="2531172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Diagram before you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3012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Boxes = responsibilities, arrows = data. The cheapest place to find a mistake.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82074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914400" y="355969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There is no "best"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7882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Every choice is a trade-off. Ask what you're optimizing for, then write it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85372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914400" y="45493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Match data to its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0118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Small &amp; local -&gt; </a:t>
            </a:r>
            <a:r>
              <a:rPr sz="2200" b="0" i="0" dirty="0" err="1"/>
              <a:t>AsyncStorage</a:t>
            </a:r>
            <a:r>
              <a:rPr sz="2200" b="0" i="0" dirty="0"/>
              <a:t>. Shared &amp; structured -&gt; database. Sensitive -&gt; </a:t>
            </a:r>
            <a:r>
              <a:rPr sz="2200" b="0" i="0" dirty="0" err="1"/>
              <a:t>SecureStore</a:t>
            </a:r>
            <a:r>
              <a:rPr sz="2200" b="0" i="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42367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914400" y="5479039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Never trust the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1823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The app is public: HTTPS everywhere, secrets on the server, validate on both sides.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11827"/>
                </a:solidFill>
              </a:rPr>
              <a:t>Glossary - Words You Now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Every term from today,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48032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594360" y="149866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8948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Big, hard-to-change structure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48032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6492240" y="1512312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03128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A group of parts with one shared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1536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687"/>
            <a:ext cx="233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Separation of concerns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92983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Each part does only its own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051536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6492240" y="2115815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Client /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79335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The phone you don't control / machine you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55040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594360" y="271932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Component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96488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Boxes (parts) + arrows (who talks to who)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55040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6492240" y="271932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Sequence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569192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Messages between parts, ordered over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58544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594360" y="332282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Trade-off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199992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Gaining one quality by giving up another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58544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6492240" y="332282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ADR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1364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A short note recording a decision and its why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62048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594360" y="3926328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</a:rPr>
              <a:t>AsyncStorage</a:t>
            </a:r>
            <a:endParaRPr b="1" i="0" dirty="0">
              <a:solidFill>
                <a:srgbClr val="2563EB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71800" y="3830792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Small key-value storage on one device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862048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6492240" y="3926328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803496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Shared, structured data on a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65552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594360" y="454348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API / 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584424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The menu of requests a server answers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465552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6492240" y="4529832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fetch()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40700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The call that sends an HTTP request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69056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594360" y="514698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</a:rPr>
              <a:t>AuthN</a:t>
            </a:r>
            <a:r>
              <a:rPr b="1" i="0" dirty="0">
                <a:solidFill>
                  <a:srgbClr val="2563EB"/>
                </a:solidFill>
              </a:rPr>
              <a:t> / </a:t>
            </a:r>
            <a:r>
              <a:rPr b="1" i="0" dirty="0" err="1">
                <a:solidFill>
                  <a:srgbClr val="2563EB"/>
                </a:solidFill>
              </a:rPr>
              <a:t>AuthZ</a:t>
            </a:r>
            <a:endParaRPr b="1" i="0" dirty="0">
              <a:solidFill>
                <a:srgbClr val="2563EB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71800" y="503780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Who you are / what you may 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069056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6492240" y="5133336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JWT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983208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A signed token proving you're logged 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72560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594360" y="5750488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HTTPS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5791432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11827"/>
                </a:solidFill>
              </a:rPr>
              <a:t>Encrypted network transport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5672560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TextBox 51"/>
          <p:cNvSpPr txBox="1"/>
          <p:nvPr/>
        </p:nvSpPr>
        <p:spPr>
          <a:xfrm>
            <a:off x="6492240" y="573684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SecureStore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573065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Encrypted on-device storage for secrets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7876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6B7280"/>
                </a:solidFill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5384</Words>
  <Application>Microsoft Office PowerPoint</Application>
  <PresentationFormat>Custom</PresentationFormat>
  <Paragraphs>814</Paragraphs>
  <Slides>45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Arial</vt:lpstr>
      <vt:lpstr>Calibri</vt:lpstr>
      <vt:lpstr>Consolas</vt:lpstr>
      <vt:lpstr>Titillium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2026-10-05T21:52:58Z</dcterms:created>
  <dcterms:modified xsi:type="dcterms:W3CDTF">2026-10-05T21:53:45Z</dcterms:modified>
  <cp:category/>
</cp:coreProperties>
</file>