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27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911" autoAdjust="0"/>
    <p:restoredTop sz="93447" autoAdjust="0"/>
  </p:normalViewPr>
  <p:slideViewPr>
    <p:cSldViewPr snapToGrid="0" snapToObjects="1">
      <p:cViewPr varScale="1">
        <p:scale>
          <a:sx n="60" d="100"/>
          <a:sy n="60" d="100"/>
        </p:scale>
        <p:origin x="1148" y="36"/>
      </p:cViewPr>
      <p:guideLst>
        <p:guide orient="horz" pos="2160"/>
        <p:guide pos="2880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1A7DB6-BE64-4632-8A2A-9A5C0D85E69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639BF5-02A2-48D1-85F5-565CF7556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48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170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7193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995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335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0868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8275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1094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237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0035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7457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520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0054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419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7312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2640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5731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6985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0557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7798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0302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3817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8561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3141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5360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4527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5855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386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2080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10029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45118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86757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68594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55337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83853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98463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03457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75765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24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0B4D1B-8188-D2D6-8BCD-3FB76F361D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27054"/>
            <a:ext cx="1529541" cy="63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1508760"/>
            <a:ext cx="1218895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 dirty="0">
                <a:solidFill>
                  <a:srgbClr val="FFFFFF"/>
                </a:solidFill>
              </a:rPr>
              <a:t>Mobile </a:t>
            </a:r>
            <a:r>
              <a:rPr lang="en-US" sz="5000" b="1" i="0" dirty="0">
                <a:solidFill>
                  <a:srgbClr val="FFFFFF"/>
                </a:solidFill>
              </a:rPr>
              <a:t>App </a:t>
            </a:r>
            <a:r>
              <a:rPr sz="5000" b="1" i="0" dirty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10" name="Subtitle 3">
            <a:extLst>
              <a:ext uri="{FF2B5EF4-FFF2-40B4-BE49-F238E27FC236}">
                <a16:creationId xmlns:a16="http://schemas.microsoft.com/office/drawing/2014/main" id="{13F6F202-F5E2-FAA5-5C18-6BB820DB8BA2}"/>
              </a:ext>
            </a:extLst>
          </p:cNvPr>
          <p:cNvSpPr txBox="1">
            <a:spLocks/>
          </p:cNvSpPr>
          <p:nvPr/>
        </p:nvSpPr>
        <p:spPr>
          <a:xfrm>
            <a:off x="268573" y="581954"/>
            <a:ext cx="7904756" cy="820333"/>
          </a:xfrm>
          <a:prstGeom prst="rect">
            <a:avLst/>
          </a:prstGeom>
        </p:spPr>
        <p:txBody>
          <a:bodyPr anchor="ctr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CPRG303 – Mobile Application Development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EF02DABF-5EE0-6A33-D4A8-1CD72CBFF878}"/>
              </a:ext>
            </a:extLst>
          </p:cNvPr>
          <p:cNvSpPr txBox="1">
            <a:spLocks/>
          </p:cNvSpPr>
          <p:nvPr/>
        </p:nvSpPr>
        <p:spPr>
          <a:xfrm>
            <a:off x="0" y="3689699"/>
            <a:ext cx="12188824" cy="16557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algn="ctr" defTabSz="457200">
              <a:lnSpc>
                <a:spcPct val="120000"/>
              </a:lnSpc>
              <a:spcAft>
                <a:spcPts val="600"/>
              </a:spcAft>
            </a:pPr>
            <a:r>
              <a:rPr lang="en-US" sz="48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Edited By:</a:t>
            </a:r>
          </a:p>
          <a:p>
            <a:pPr algn="ctr" defTabSz="457200">
              <a:lnSpc>
                <a:spcPct val="120000"/>
              </a:lnSpc>
              <a:spcAft>
                <a:spcPts val="600"/>
              </a:spcAft>
            </a:pPr>
            <a:r>
              <a:rPr lang="en-US" sz="48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Dr. Hamdy Ibrahim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C5EE739-42FC-EE6C-DE45-FC584BC65C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053033"/>
            <a:ext cx="1631852" cy="2223013"/>
          </a:xfrm>
          <a:prstGeom prst="rect">
            <a:avLst/>
          </a:prstGeom>
        </p:spPr>
      </p:pic>
      <p:sp>
        <p:nvSpPr>
          <p:cNvPr id="16" name="Text 4">
            <a:extLst>
              <a:ext uri="{FF2B5EF4-FFF2-40B4-BE49-F238E27FC236}">
                <a16:creationId xmlns:a16="http://schemas.microsoft.com/office/drawing/2014/main" id="{2D98DE45-D28E-5390-7E59-9AC0A7695EA7}"/>
              </a:ext>
            </a:extLst>
          </p:cNvPr>
          <p:cNvSpPr/>
          <p:nvPr/>
        </p:nvSpPr>
        <p:spPr>
          <a:xfrm>
            <a:off x="2" y="6328750"/>
            <a:ext cx="12188950" cy="52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SADT  ·  School For Advanced Digital Technology</a:t>
            </a:r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576"/>
            <a:ext cx="11430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From Building Screens to Designing Apps</a:t>
            </a:r>
            <a:endParaRPr lang="en-US" sz="3600" dirty="0"/>
          </a:p>
          <a:p>
            <a:pPr algn="l"/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07072" y="1344307"/>
            <a:ext cx="5638744" cy="3840480"/>
          </a:xfrm>
          <a:prstGeom prst="roundRect">
            <a:avLst/>
          </a:prstGeom>
          <a:solidFill>
            <a:srgbClr val="F0FFF4"/>
          </a:solidFill>
          <a:ln w="1587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" name="TextBox 7"/>
          <p:cNvSpPr txBox="1"/>
          <p:nvPr/>
        </p:nvSpPr>
        <p:spPr>
          <a:xfrm>
            <a:off x="713095" y="1454035"/>
            <a:ext cx="54101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16A34A"/>
                </a:solidFill>
              </a:rPr>
              <a:t>Today you WILL learn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4667" y="1966099"/>
            <a:ext cx="55266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111827"/>
                </a:solidFill>
              </a:rPr>
              <a:t>+  What "architecture" </a:t>
            </a:r>
            <a:r>
              <a:rPr lang="en-US" sz="2400" b="0" i="0" dirty="0">
                <a:solidFill>
                  <a:srgbClr val="111827"/>
                </a:solidFill>
              </a:rPr>
              <a:t>means</a:t>
            </a:r>
            <a:endParaRPr sz="2400" b="0" i="0" dirty="0">
              <a:solidFill>
                <a:srgbClr val="111827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14667" y="2395867"/>
            <a:ext cx="55266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111827"/>
                </a:solidFill>
              </a:rPr>
              <a:t>+  The layers every mobile app is built from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4667" y="2825635"/>
            <a:ext cx="55266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111827"/>
                </a:solidFill>
              </a:rPr>
              <a:t>+  How to draw an architecture diagram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667" y="3255403"/>
            <a:ext cx="55266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11827"/>
                </a:solidFill>
              </a:rPr>
              <a:t>+  How to choose between options 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667" y="3685171"/>
            <a:ext cx="55266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0" i="0" dirty="0">
                <a:solidFill>
                  <a:srgbClr val="111827"/>
                </a:solidFill>
              </a:rPr>
              <a:t>      </a:t>
            </a:r>
            <a:r>
              <a:rPr sz="2400" b="0" i="0" dirty="0">
                <a:solidFill>
                  <a:srgbClr val="111827"/>
                </a:solidFill>
              </a:rPr>
              <a:t>   defend the choice (trade-offs)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667" y="4114938"/>
            <a:ext cx="55266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11827"/>
                </a:solidFill>
              </a:rPr>
              <a:t>+  Where data lives: device vs 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667" y="4544707"/>
            <a:ext cx="55266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11827"/>
                </a:solidFill>
              </a:rPr>
              <a:t>+  How API calls, login &amp; security fit 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7288" y="1344307"/>
            <a:ext cx="5526685" cy="3840480"/>
          </a:xfrm>
          <a:prstGeom prst="roundRect">
            <a:avLst/>
          </a:prstGeom>
          <a:solidFill>
            <a:srgbClr val="FFF1F1"/>
          </a:solidFill>
          <a:ln w="1587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7" name="TextBox 16"/>
          <p:cNvSpPr txBox="1"/>
          <p:nvPr/>
        </p:nvSpPr>
        <p:spPr>
          <a:xfrm>
            <a:off x="6737903" y="1454035"/>
            <a:ext cx="53125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DC2626"/>
                </a:solidFill>
              </a:rPr>
              <a:t>Today is NOT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3633" y="1966099"/>
            <a:ext cx="53125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111827"/>
                </a:solidFill>
              </a:rPr>
              <a:t>-  A coding-along session (no live typing)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3633" y="2450731"/>
            <a:ext cx="53125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11827"/>
                </a:solidFill>
              </a:rPr>
              <a:t>-  Memorising one "correct" 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3633" y="2935363"/>
            <a:ext cx="53125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111827"/>
                </a:solidFill>
              </a:rPr>
              <a:t>-  A list of rules to obey blindly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3633" y="3419995"/>
            <a:ext cx="53125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11827"/>
                </a:solidFill>
              </a:rPr>
              <a:t>-  Vendor-specific - the ideas outlive any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3633" y="3904627"/>
            <a:ext cx="53125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111827"/>
                </a:solidFill>
              </a:rPr>
              <a:t>-  library or framework you will 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3633" y="4389259"/>
            <a:ext cx="53125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111827"/>
                </a:solidFill>
              </a:rPr>
              <a:t>-  Scary - every term is defined from zero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2 / 46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576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Agenda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11480" y="988776"/>
            <a:ext cx="5669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411480" y="1043640"/>
            <a:ext cx="5669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906888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</a:rPr>
              <a:t>What architecture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17784"/>
            <a:ext cx="8503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Definition, why it matters, the cost of skipping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770248"/>
            <a:ext cx="5669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411480" y="1825112"/>
            <a:ext cx="5669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688360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11827"/>
                </a:solidFill>
              </a:rPr>
              <a:t>The layers of an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1999256"/>
            <a:ext cx="8503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Presentation . State . Data . Backend - and data 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565368"/>
            <a:ext cx="5669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411480" y="2620232"/>
            <a:ext cx="5669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483480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11827"/>
                </a:solidFill>
              </a:rPr>
              <a:t>Architecture diagrams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794376"/>
            <a:ext cx="8503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Types, the boxes-and-arrows grammar, how to draw 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319544"/>
            <a:ext cx="5669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411480" y="3374408"/>
            <a:ext cx="5669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237656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</a:rPr>
              <a:t>Choices &amp; trade-offs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548552"/>
            <a:ext cx="8503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/>
              <a:t>There is no "best" - a framework for deciding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155608"/>
            <a:ext cx="5669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411480" y="4210472"/>
            <a:ext cx="5669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046424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</a:rPr>
              <a:t>Storage: device vs 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357320"/>
            <a:ext cx="8503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/>
              <a:t>AsyncStorage vs a database - when to use which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5005320"/>
            <a:ext cx="5669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7" name="TextBox 26"/>
          <p:cNvSpPr txBox="1"/>
          <p:nvPr/>
        </p:nvSpPr>
        <p:spPr>
          <a:xfrm>
            <a:off x="411480" y="5060184"/>
            <a:ext cx="5669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882488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</a:rPr>
              <a:t>API calls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5193384"/>
            <a:ext cx="8503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/>
              <a:t>Talking to a server: fetch, the request lifecycle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5737065"/>
            <a:ext cx="56692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1" name="TextBox 30"/>
          <p:cNvSpPr txBox="1"/>
          <p:nvPr/>
        </p:nvSpPr>
        <p:spPr>
          <a:xfrm>
            <a:off x="411480" y="5791929"/>
            <a:ext cx="5669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650310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</a:rPr>
              <a:t>Auth &amp; security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5961206"/>
            <a:ext cx="8503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Who are you, and how do we keep the app safe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3 / 46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" y="2250516"/>
            <a:ext cx="1218882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 dirty="0">
                <a:solidFill>
                  <a:srgbClr val="FFFFFF"/>
                </a:solidFill>
              </a:rPr>
              <a:t>What Is Architecture?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" y="3530675"/>
            <a:ext cx="121888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 dirty="0">
                <a:solidFill>
                  <a:srgbClr val="BFDBFF"/>
                </a:solidFill>
              </a:rPr>
              <a:t>Part 1 . The big idea, before any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576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111827"/>
                </a:solidFill>
              </a:rPr>
              <a:t>Architecture - A Definition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960120"/>
            <a:ext cx="11247120" cy="1325880"/>
          </a:xfrm>
          <a:prstGeom prst="roundRect">
            <a:avLst/>
          </a:prstGeom>
          <a:solidFill>
            <a:srgbClr val="F0F4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048144"/>
            <a:ext cx="1078992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111827"/>
                </a:solidFill>
              </a:rPr>
              <a:t>Software architecture is the set of big, hard-to-change decisions about how the parts of your app</a:t>
            </a:r>
            <a:r>
              <a:rPr lang="en-US" sz="2200" b="1" i="0" dirty="0">
                <a:solidFill>
                  <a:srgbClr val="111827"/>
                </a:solidFill>
              </a:rPr>
              <a:t> </a:t>
            </a:r>
            <a:r>
              <a:rPr sz="2200" b="1" i="0" dirty="0">
                <a:solidFill>
                  <a:srgbClr val="111827"/>
                </a:solidFill>
              </a:rPr>
              <a:t>are divided up, what each part is responsible for, and how those parts talk to each other.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92080"/>
            <a:ext cx="11338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/>
              <a:t>Three </a:t>
            </a:r>
            <a:r>
              <a:rPr lang="en-US" sz="2400" b="0" dirty="0"/>
              <a:t>drawn </a:t>
            </a:r>
            <a:r>
              <a:rPr sz="2400" b="0" dirty="0"/>
              <a:t>ideas: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08960"/>
            <a:ext cx="3566160" cy="317544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356616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685800" y="3310128"/>
            <a:ext cx="3200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563EB"/>
                </a:solidFill>
              </a:rPr>
              <a:t>Divided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22191"/>
            <a:ext cx="32004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200" b="0" i="0" dirty="0">
                <a:solidFill>
                  <a:srgbClr val="111827"/>
                </a:solidFill>
              </a:rPr>
              <a:t>An app is not one giant file. </a:t>
            </a:r>
            <a:endParaRPr lang="en-US" sz="2200" b="0" i="0" dirty="0">
              <a:solidFill>
                <a:srgbClr val="111827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200" b="0" i="0" dirty="0">
                <a:solidFill>
                  <a:srgbClr val="111827"/>
                </a:solidFill>
              </a:rPr>
              <a:t>It is many</a:t>
            </a:r>
            <a:r>
              <a:rPr lang="en-US" sz="2200" b="0" i="0" dirty="0">
                <a:solidFill>
                  <a:srgbClr val="111827"/>
                </a:solidFill>
              </a:rPr>
              <a:t> </a:t>
            </a:r>
            <a:r>
              <a:rPr sz="2200" b="0" i="0" dirty="0">
                <a:solidFill>
                  <a:srgbClr val="111827"/>
                </a:solidFill>
              </a:rPr>
              <a:t>parts, each doing one job. </a:t>
            </a:r>
            <a:endParaRPr lang="en-US" sz="2200" b="0" i="0" dirty="0">
              <a:solidFill>
                <a:srgbClr val="111827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200" b="0" i="0" dirty="0">
                <a:solidFill>
                  <a:srgbClr val="111827"/>
                </a:solidFill>
              </a:rPr>
              <a:t>Architecture</a:t>
            </a:r>
            <a:r>
              <a:rPr lang="en-US" sz="2200" b="0" i="0" dirty="0">
                <a:solidFill>
                  <a:srgbClr val="111827"/>
                </a:solidFill>
              </a:rPr>
              <a:t> </a:t>
            </a:r>
            <a:r>
              <a:rPr sz="2200" b="0" i="0" dirty="0">
                <a:solidFill>
                  <a:srgbClr val="111827"/>
                </a:solidFill>
              </a:rPr>
              <a:t>is where you draw those dividing lines.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33672" y="3108960"/>
            <a:ext cx="3566160" cy="317544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" name="Rectangle 12"/>
          <p:cNvSpPr/>
          <p:nvPr/>
        </p:nvSpPr>
        <p:spPr>
          <a:xfrm>
            <a:off x="4233672" y="3108960"/>
            <a:ext cx="356616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" name="TextBox 13"/>
          <p:cNvSpPr txBox="1"/>
          <p:nvPr/>
        </p:nvSpPr>
        <p:spPr>
          <a:xfrm>
            <a:off x="4462272" y="3310128"/>
            <a:ext cx="3200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7C3AED"/>
                </a:solidFill>
              </a:rPr>
              <a:t>Responsible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3822191"/>
            <a:ext cx="32004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200" b="0" i="0" dirty="0">
                <a:solidFill>
                  <a:srgbClr val="111827"/>
                </a:solidFill>
              </a:rPr>
              <a:t>Each part owns one concern: drawing the</a:t>
            </a:r>
            <a:r>
              <a:rPr lang="en-US" sz="2200" b="0" i="0" dirty="0">
                <a:solidFill>
                  <a:srgbClr val="111827"/>
                </a:solidFill>
              </a:rPr>
              <a:t> </a:t>
            </a:r>
            <a:r>
              <a:rPr sz="2200" b="0" i="0" dirty="0">
                <a:solidFill>
                  <a:srgbClr val="111827"/>
                </a:solidFill>
              </a:rPr>
              <a:t>screen, holding state, fetching data.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200" b="0" i="0" dirty="0">
                <a:solidFill>
                  <a:srgbClr val="111827"/>
                </a:solidFill>
              </a:rPr>
              <a:t>Mixing concerns is what creates bugs.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3108960"/>
            <a:ext cx="3566160" cy="317544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7" name="Rectangle 16"/>
          <p:cNvSpPr/>
          <p:nvPr/>
        </p:nvSpPr>
        <p:spPr>
          <a:xfrm>
            <a:off x="8010144" y="3108960"/>
            <a:ext cx="356616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8" name="TextBox 17"/>
          <p:cNvSpPr txBox="1"/>
          <p:nvPr/>
        </p:nvSpPr>
        <p:spPr>
          <a:xfrm>
            <a:off x="8238744" y="3310128"/>
            <a:ext cx="3200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6A34A"/>
                </a:solidFill>
              </a:rPr>
              <a:t>Talk 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3822191"/>
            <a:ext cx="32004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200" b="0" i="0" dirty="0">
                <a:solidFill>
                  <a:srgbClr val="111827"/>
                </a:solidFill>
              </a:rPr>
              <a:t>Parts pass data to each other in agreed</a:t>
            </a:r>
            <a:r>
              <a:rPr lang="en-US" sz="2200" b="0" i="0" dirty="0">
                <a:solidFill>
                  <a:srgbClr val="111827"/>
                </a:solidFill>
              </a:rPr>
              <a:t> </a:t>
            </a:r>
            <a:r>
              <a:rPr sz="2200" b="0" i="0" dirty="0">
                <a:solidFill>
                  <a:srgbClr val="111827"/>
                </a:solidFill>
              </a:rPr>
              <a:t>ways. </a:t>
            </a:r>
            <a:endParaRPr lang="en-US" sz="2200" b="0" i="0" dirty="0">
              <a:solidFill>
                <a:srgbClr val="111827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200" b="0" i="0" dirty="0">
                <a:solidFill>
                  <a:srgbClr val="111827"/>
                </a:solidFill>
              </a:rPr>
              <a:t>The arrows between boxes matter</a:t>
            </a:r>
            <a:r>
              <a:rPr lang="en-US" sz="2200" b="0" i="0" dirty="0">
                <a:solidFill>
                  <a:srgbClr val="111827"/>
                </a:solidFill>
              </a:rPr>
              <a:t> </a:t>
            </a:r>
            <a:r>
              <a:rPr sz="2200" b="0" i="0" dirty="0">
                <a:solidFill>
                  <a:srgbClr val="111827"/>
                </a:solidFill>
              </a:rPr>
              <a:t>as much as the boxes themselves.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5 / 46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0224"/>
            <a:ext cx="11430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 dirty="0">
                <a:solidFill>
                  <a:srgbClr val="111827"/>
                </a:solidFill>
              </a:rPr>
              <a:t>The House Analogy</a:t>
            </a:r>
            <a:r>
              <a:rPr lang="en-US" sz="3600" b="1" i="0" dirty="0">
                <a:solidFill>
                  <a:srgbClr val="111827"/>
                </a:solidFill>
              </a:rPr>
              <a:t>: </a:t>
            </a:r>
            <a:r>
              <a:rPr lang="en-US" sz="2400" dirty="0">
                <a:solidFill>
                  <a:srgbClr val="FF0000"/>
                </a:solidFill>
              </a:rPr>
              <a:t>Why you draw the blueprint before you pour concrete?</a:t>
            </a:r>
            <a:endParaRPr lang="en-US" sz="3600" dirty="0">
              <a:solidFill>
                <a:srgbClr val="FF0000"/>
              </a:solidFill>
            </a:endParaRPr>
          </a:p>
          <a:p>
            <a:pPr algn="l"/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986741"/>
            <a:ext cx="1133856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111827"/>
                </a:solidFill>
              </a:rPr>
              <a:t>Nobody builds a house by stacking bricks and hoping. An architect draws a plan first: where the load-bearing</a:t>
            </a:r>
            <a:r>
              <a:rPr lang="en-US" sz="2200" b="0" i="0" dirty="0">
                <a:solidFill>
                  <a:srgbClr val="111827"/>
                </a:solidFill>
              </a:rPr>
              <a:t> </a:t>
            </a:r>
            <a:r>
              <a:rPr sz="2200" b="0" i="0" dirty="0">
                <a:solidFill>
                  <a:srgbClr val="111827"/>
                </a:solidFill>
              </a:rPr>
              <a:t>walls go, where the plumbing runs, where the wiring lives. Apps are the same - the plan is the architecture.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57344"/>
            <a:ext cx="1124712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" name="TextBox 7"/>
          <p:cNvSpPr txBox="1"/>
          <p:nvPr/>
        </p:nvSpPr>
        <p:spPr>
          <a:xfrm>
            <a:off x="640080" y="2421936"/>
            <a:ext cx="2651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11827"/>
                </a:solidFill>
              </a:rPr>
              <a:t>Foundation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91840" y="2504232"/>
            <a:ext cx="457200" cy="237744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3931920" y="2403648"/>
            <a:ext cx="3108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2563EB"/>
                </a:solidFill>
              </a:rPr>
              <a:t>Tech stack &amp;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326400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6B7280"/>
                </a:solidFill>
              </a:rPr>
              <a:t>Expo / React Native - chosen once, everything sits on top.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098592"/>
            <a:ext cx="1124712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" name="TextBox 12"/>
          <p:cNvSpPr txBox="1"/>
          <p:nvPr/>
        </p:nvSpPr>
        <p:spPr>
          <a:xfrm>
            <a:off x="640080" y="3263184"/>
            <a:ext cx="2651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</a:rPr>
              <a:t>Rooms &amp; walls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291840" y="3345480"/>
            <a:ext cx="457200" cy="237744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5" name="TextBox 14"/>
          <p:cNvSpPr txBox="1"/>
          <p:nvPr/>
        </p:nvSpPr>
        <p:spPr>
          <a:xfrm>
            <a:off x="3931920" y="3135712"/>
            <a:ext cx="31089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 dirty="0">
                <a:solidFill>
                  <a:srgbClr val="2563EB"/>
                </a:solidFill>
              </a:rPr>
              <a:t>Your components &amp; screens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167648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6B7280"/>
                </a:solidFill>
              </a:rPr>
              <a:t>Home, Courses, Settings - separated by what they do.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39840"/>
            <a:ext cx="1124712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8" name="TextBox 17"/>
          <p:cNvSpPr txBox="1"/>
          <p:nvPr/>
        </p:nvSpPr>
        <p:spPr>
          <a:xfrm>
            <a:off x="640080" y="4104432"/>
            <a:ext cx="2651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</a:rPr>
              <a:t>Plumbing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291840" y="4186728"/>
            <a:ext cx="457200" cy="237744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0" name="TextBox 19"/>
          <p:cNvSpPr txBox="1"/>
          <p:nvPr/>
        </p:nvSpPr>
        <p:spPr>
          <a:xfrm>
            <a:off x="3931920" y="4127088"/>
            <a:ext cx="3108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2563EB"/>
                </a:solidFill>
              </a:rPr>
              <a:t>Data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4008896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6B7280"/>
                </a:solidFill>
              </a:rPr>
              <a:t>How information travels from a server to a screen and back.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781088"/>
            <a:ext cx="1124712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3" name="TextBox 22"/>
          <p:cNvSpPr txBox="1"/>
          <p:nvPr/>
        </p:nvSpPr>
        <p:spPr>
          <a:xfrm>
            <a:off x="640080" y="4945680"/>
            <a:ext cx="2651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</a:rPr>
              <a:t>Wiring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291840" y="5027976"/>
            <a:ext cx="457200" cy="237744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5" name="TextBox 24"/>
          <p:cNvSpPr txBox="1"/>
          <p:nvPr/>
        </p:nvSpPr>
        <p:spPr>
          <a:xfrm>
            <a:off x="3931920" y="4927392"/>
            <a:ext cx="3108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563EB"/>
                </a:solidFill>
              </a:rPr>
              <a:t>State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8637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6B7280"/>
                </a:solidFill>
              </a:rPr>
              <a:t>The hidden connections that make one change update many screens.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622336"/>
            <a:ext cx="1124712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8" name="TextBox 27"/>
          <p:cNvSpPr txBox="1"/>
          <p:nvPr/>
        </p:nvSpPr>
        <p:spPr>
          <a:xfrm>
            <a:off x="640080" y="5786928"/>
            <a:ext cx="2651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</a:rPr>
              <a:t>Locks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291840" y="5869224"/>
            <a:ext cx="457200" cy="237744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0" name="TextBox 29"/>
          <p:cNvSpPr txBox="1"/>
          <p:nvPr/>
        </p:nvSpPr>
        <p:spPr>
          <a:xfrm>
            <a:off x="3931920" y="5768640"/>
            <a:ext cx="3108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563EB"/>
                </a:solidFill>
              </a:rPr>
              <a:t>Auth &amp; 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5705040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6B7280"/>
                </a:solidFill>
              </a:rPr>
              <a:t>Who is allowed in, and what they are allowed to touch.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6 / 46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0224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en-US" sz="3600" b="1" dirty="0"/>
              <a:t>Benefits of Good Architecture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384048" y="909488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b="0" dirty="0"/>
              <a:t>Bad structure does not crash today - it taxes you every day after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97535"/>
            <a:ext cx="548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C2626"/>
                </a:solidFill>
              </a:rPr>
              <a:t>Without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91211"/>
            <a:ext cx="5486400" cy="1024128"/>
          </a:xfrm>
          <a:prstGeom prst="roundRect">
            <a:avLst/>
          </a:prstGeom>
          <a:solidFill>
            <a:srgbClr val="FFF1F1"/>
          </a:solidFill>
          <a:ln w="1587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" name="TextBox 7"/>
          <p:cNvSpPr txBox="1"/>
          <p:nvPr/>
        </p:nvSpPr>
        <p:spPr>
          <a:xfrm>
            <a:off x="640080" y="1946171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DC2626"/>
                </a:solidFill>
              </a:rPr>
              <a:t>-  Change becomes scary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11931"/>
            <a:ext cx="51206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111827"/>
                </a:solidFill>
              </a:rPr>
              <a:t>One feature touches ten files because nothing has a clear home.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25163"/>
            <a:ext cx="5486400" cy="1024128"/>
          </a:xfrm>
          <a:prstGeom prst="roundRect">
            <a:avLst/>
          </a:prstGeom>
          <a:solidFill>
            <a:srgbClr val="FFF1F1"/>
          </a:solidFill>
          <a:ln w="1587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" name="TextBox 10"/>
          <p:cNvSpPr txBox="1"/>
          <p:nvPr/>
        </p:nvSpPr>
        <p:spPr>
          <a:xfrm>
            <a:off x="640080" y="2980123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DC2626"/>
                </a:solidFill>
              </a:rPr>
              <a:t>-  Bugs hide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45883"/>
            <a:ext cx="51206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111827"/>
                </a:solidFill>
              </a:rPr>
              <a:t>Data is fetched, stored &amp; validated in five places, so no one place is right.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95595"/>
            <a:ext cx="5486400" cy="1024128"/>
          </a:xfrm>
          <a:prstGeom prst="roundRect">
            <a:avLst/>
          </a:prstGeom>
          <a:solidFill>
            <a:srgbClr val="FFF1F1"/>
          </a:solidFill>
          <a:ln w="1587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" name="TextBox 13"/>
          <p:cNvSpPr txBox="1"/>
          <p:nvPr/>
        </p:nvSpPr>
        <p:spPr>
          <a:xfrm>
            <a:off x="640080" y="4150554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DC2626"/>
                </a:solidFill>
              </a:rPr>
              <a:t>-  You can't add people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16315"/>
            <a:ext cx="51206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111827"/>
                </a:solidFill>
              </a:rPr>
              <a:t>A teammate can't help if only you know where things live.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366027"/>
            <a:ext cx="5486400" cy="1024128"/>
          </a:xfrm>
          <a:prstGeom prst="roundRect">
            <a:avLst/>
          </a:prstGeom>
          <a:solidFill>
            <a:srgbClr val="FFF1F1"/>
          </a:solidFill>
          <a:ln w="1587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7" name="TextBox 16"/>
          <p:cNvSpPr txBox="1"/>
          <p:nvPr/>
        </p:nvSpPr>
        <p:spPr>
          <a:xfrm>
            <a:off x="640080" y="5348283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DC2626"/>
                </a:solidFill>
              </a:rPr>
              <a:t>-  Security holes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714043"/>
            <a:ext cx="51206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111827"/>
                </a:solidFill>
              </a:rPr>
              <a:t>Secrets and logic end up in the app where attackers can read them.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397535"/>
            <a:ext cx="548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6A34A"/>
                </a:solidFill>
              </a:rPr>
              <a:t>With architecture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991211"/>
            <a:ext cx="5486400" cy="1024128"/>
          </a:xfrm>
          <a:prstGeom prst="roundRect">
            <a:avLst/>
          </a:prstGeom>
          <a:solidFill>
            <a:srgbClr val="F0FFF4"/>
          </a:solidFill>
          <a:ln w="1587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1" name="TextBox 20"/>
          <p:cNvSpPr txBox="1"/>
          <p:nvPr/>
        </p:nvSpPr>
        <p:spPr>
          <a:xfrm>
            <a:off x="6446520" y="1946171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6A34A"/>
                </a:solidFill>
              </a:rPr>
              <a:t>+  Change is local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311931"/>
            <a:ext cx="51206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11827"/>
                </a:solidFill>
              </a:rPr>
              <a:t>A new screen is a new file in an obvious folder. Nothing else moves.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161643"/>
            <a:ext cx="5486400" cy="1024128"/>
          </a:xfrm>
          <a:prstGeom prst="roundRect">
            <a:avLst/>
          </a:prstGeom>
          <a:solidFill>
            <a:srgbClr val="F0FFF4"/>
          </a:solidFill>
          <a:ln w="1587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4" name="TextBox 23"/>
          <p:cNvSpPr txBox="1"/>
          <p:nvPr/>
        </p:nvSpPr>
        <p:spPr>
          <a:xfrm>
            <a:off x="6446520" y="3116603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6A34A"/>
                </a:solidFill>
              </a:rPr>
              <a:t>+  One source of truth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482363"/>
            <a:ext cx="51206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11827"/>
                </a:solidFill>
              </a:rPr>
              <a:t>Each piece of data has exactly one owner. Fix it once.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332075"/>
            <a:ext cx="5486400" cy="1024128"/>
          </a:xfrm>
          <a:prstGeom prst="roundRect">
            <a:avLst/>
          </a:prstGeom>
          <a:solidFill>
            <a:srgbClr val="F0FFF4"/>
          </a:solidFill>
          <a:ln w="1587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7" name="TextBox 26"/>
          <p:cNvSpPr txBox="1"/>
          <p:nvPr/>
        </p:nvSpPr>
        <p:spPr>
          <a:xfrm>
            <a:off x="6446520" y="4287034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6A34A"/>
                </a:solidFill>
              </a:rPr>
              <a:t>+  Onboarding is fast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721035"/>
            <a:ext cx="5120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111827"/>
                </a:solidFill>
              </a:rPr>
              <a:t>The folder names ARE the documentation.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5502507"/>
            <a:ext cx="5486400" cy="1024128"/>
          </a:xfrm>
          <a:prstGeom prst="roundRect">
            <a:avLst/>
          </a:prstGeom>
          <a:solidFill>
            <a:srgbClr val="F0FFF4"/>
          </a:solidFill>
          <a:ln w="1587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0" name="TextBox 29"/>
          <p:cNvSpPr txBox="1"/>
          <p:nvPr/>
        </p:nvSpPr>
        <p:spPr>
          <a:xfrm>
            <a:off x="6446520" y="5457467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6A34A"/>
                </a:solidFill>
              </a:rPr>
              <a:t>+  Safe by design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823227"/>
            <a:ext cx="51206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11827"/>
                </a:solidFill>
              </a:rPr>
              <a:t>Secrets live on the server; the app only holds what it must.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7 / 46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" y="2182278"/>
            <a:ext cx="929304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i="0" dirty="0">
                <a:solidFill>
                  <a:srgbClr val="FFFFFF"/>
                </a:solidFill>
              </a:rPr>
              <a:t>App Architecture </a:t>
            </a:r>
            <a:r>
              <a:rPr sz="6000" b="1" i="0" dirty="0">
                <a:solidFill>
                  <a:srgbClr val="FFFFFF"/>
                </a:solidFill>
              </a:rPr>
              <a:t>Layers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017" y="3462437"/>
            <a:ext cx="92930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 dirty="0">
                <a:solidFill>
                  <a:srgbClr val="BFDBFF"/>
                </a:solidFill>
              </a:rPr>
              <a:t>Part 2 . Every mobile app is built from the same few layers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C8EE1A-2463-21FD-76B9-904EC9D77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5979" y="1241034"/>
            <a:ext cx="2290925" cy="44428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576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App Architecture Four Layers - Top to Bottom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4048" y="841248"/>
            <a:ext cx="1143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600" b="0" dirty="0"/>
              <a:t>Each layer only talks to the one next to it - that is the whole trick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456904"/>
            <a:ext cx="11247120" cy="11704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56904"/>
            <a:ext cx="109728" cy="1170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621496"/>
            <a:ext cx="237744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777240" y="164892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1 .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5741" y="1521184"/>
            <a:ext cx="8229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1827"/>
                </a:solidFill>
              </a:rPr>
              <a:t>What the user sees &amp; taps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5741" y="1905232"/>
            <a:ext cx="83210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/>
              <a:t>Screens, components, styles. React Native + Expo Router.</a:t>
            </a:r>
          </a:p>
          <a:p>
            <a:pPr algn="l"/>
            <a:r>
              <a:rPr sz="2200" b="0" i="0" dirty="0"/>
              <a:t>Example files: app/(tab)/</a:t>
            </a:r>
            <a:r>
              <a:rPr sz="2200" b="0" i="0" dirty="0" err="1"/>
              <a:t>home.tsx</a:t>
            </a:r>
            <a:r>
              <a:rPr sz="2200" b="0" i="0" dirty="0"/>
              <a:t>, components/</a:t>
            </a:r>
            <a:r>
              <a:rPr sz="2200" b="0" i="0" dirty="0" err="1"/>
              <a:t>AppCard.tsx</a:t>
            </a:r>
            <a:endParaRPr sz="2200" b="0" i="0" dirty="0"/>
          </a:p>
        </p:txBody>
      </p:sp>
      <p:sp>
        <p:nvSpPr>
          <p:cNvPr id="12" name="Down Arrow 11"/>
          <p:cNvSpPr/>
          <p:nvPr/>
        </p:nvSpPr>
        <p:spPr>
          <a:xfrm>
            <a:off x="1737360" y="2572472"/>
            <a:ext cx="274320" cy="219456"/>
          </a:xfrm>
          <a:prstGeom prst="downArrow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Rounded Rectangle 12"/>
          <p:cNvSpPr/>
          <p:nvPr/>
        </p:nvSpPr>
        <p:spPr>
          <a:xfrm>
            <a:off x="457200" y="2755352"/>
            <a:ext cx="11247120" cy="11704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755352"/>
            <a:ext cx="109728" cy="11704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Rounded Rectangle 14"/>
          <p:cNvSpPr/>
          <p:nvPr/>
        </p:nvSpPr>
        <p:spPr>
          <a:xfrm>
            <a:off x="731520" y="2919944"/>
            <a:ext cx="237744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777240" y="2947376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2 . State / Logic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5741" y="2819632"/>
            <a:ext cx="8229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/>
              <a:t>What the app remembers &amp; decides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5741" y="3203680"/>
            <a:ext cx="83210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/>
              <a:t>useState, hooks, Context, form state. Holds values while the</a:t>
            </a:r>
          </a:p>
          <a:p>
            <a:pPr algn="l"/>
            <a:r>
              <a:rPr sz="2200" b="0" i="0"/>
              <a:t>app is open and decides what to show. Example: useForm().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1737360" y="3870919"/>
            <a:ext cx="274320" cy="219456"/>
          </a:xfrm>
          <a:prstGeom prst="downArrow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Rounded Rectangle 19"/>
          <p:cNvSpPr/>
          <p:nvPr/>
        </p:nvSpPr>
        <p:spPr>
          <a:xfrm>
            <a:off x="457200" y="4053800"/>
            <a:ext cx="11247120" cy="11704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4053800"/>
            <a:ext cx="109728" cy="1170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Rounded Rectangle 21"/>
          <p:cNvSpPr/>
          <p:nvPr/>
        </p:nvSpPr>
        <p:spPr>
          <a:xfrm>
            <a:off x="731520" y="4218391"/>
            <a:ext cx="2377440" cy="4572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TextBox 22"/>
          <p:cNvSpPr txBox="1"/>
          <p:nvPr/>
        </p:nvSpPr>
        <p:spPr>
          <a:xfrm>
            <a:off x="777240" y="424582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3 . Data 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5741" y="4118080"/>
            <a:ext cx="8229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/>
              <a:t>How the app reads &amp; writes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05741" y="4502128"/>
            <a:ext cx="83210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/>
              <a:t>AsyncStorage (device) and fetch() to an API. The ONLY layer</a:t>
            </a:r>
          </a:p>
          <a:p>
            <a:pPr algn="l"/>
            <a:r>
              <a:rPr sz="2200" b="0" i="0"/>
              <a:t>that knows where data physically comes from.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1737360" y="5169368"/>
            <a:ext cx="274320" cy="219456"/>
          </a:xfrm>
          <a:prstGeom prst="downArrow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Rounded Rectangle 26"/>
          <p:cNvSpPr/>
          <p:nvPr/>
        </p:nvSpPr>
        <p:spPr>
          <a:xfrm>
            <a:off x="457200" y="5352248"/>
            <a:ext cx="11247120" cy="11704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5352248"/>
            <a:ext cx="109728" cy="1170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31520" y="5516840"/>
            <a:ext cx="2377440" cy="4572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TextBox 29"/>
          <p:cNvSpPr txBox="1"/>
          <p:nvPr/>
        </p:nvSpPr>
        <p:spPr>
          <a:xfrm>
            <a:off x="777240" y="554427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4 . Backend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05741" y="5416528"/>
            <a:ext cx="8229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/>
              <a:t>Where the truth lives (off the device)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05741" y="5800576"/>
            <a:ext cx="83210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/>
              <a:t>Server, database, auth provider. Example: Supabase in W12.</a:t>
            </a:r>
          </a:p>
          <a:p>
            <a:pPr algn="l"/>
            <a:r>
              <a:rPr sz="2200" b="0" i="0"/>
              <a:t>Shared by every user; the app is just one client of it.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10 / 46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3744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111827"/>
                </a:solidFill>
              </a:rPr>
              <a:t>Golden Rule: Separation of Concerns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63552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18364" y="851618"/>
            <a:ext cx="11673066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11827"/>
                </a:solidFill>
              </a:rPr>
              <a:t>It</a:t>
            </a:r>
            <a:r>
              <a:rPr sz="2400" b="0" i="0" dirty="0">
                <a:solidFill>
                  <a:srgbClr val="111827"/>
                </a:solidFill>
              </a:rPr>
              <a:t> means each layer does its own job and trusts the others to do theirs. A screen says</a:t>
            </a:r>
            <a:r>
              <a:rPr lang="en-US" sz="2400" b="0" i="0" dirty="0">
                <a:solidFill>
                  <a:srgbClr val="111827"/>
                </a:solidFill>
              </a:rPr>
              <a:t> </a:t>
            </a:r>
            <a:r>
              <a:rPr sz="2400" b="0" i="0" dirty="0">
                <a:solidFill>
                  <a:srgbClr val="111827"/>
                </a:solidFill>
              </a:rPr>
              <a:t>"give me the courses" - it does not care if they came from the device, a server, or a test file.</a:t>
            </a:r>
            <a:endParaRPr lang="en-US" sz="2400" b="0" i="0" dirty="0">
              <a:solidFill>
                <a:srgbClr val="111827"/>
              </a:solidFill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 screen should not know HOW data is fetched - only ask for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02691"/>
            <a:ext cx="5486400" cy="3931920"/>
          </a:xfrm>
          <a:prstGeom prst="roundRect">
            <a:avLst/>
          </a:prstGeom>
          <a:solidFill>
            <a:srgbClr val="FFF1F1"/>
          </a:solidFill>
          <a:ln w="1587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694672" y="2453322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DC2626"/>
                </a:solidFill>
              </a:rPr>
              <a:t>Mixed concerns (fragile)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978763"/>
            <a:ext cx="512064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73152" bIns="54864" rtlCol="0" anchor="ctr"/>
          <a:lstStyle/>
          <a:p>
            <a:pPr algn="l"/>
            <a:r>
              <a:rPr sz="1600" dirty="0">
                <a:solidFill>
                  <a:srgbClr val="FFFFFF"/>
                </a:solidFill>
                <a:latin typeface="Consolas"/>
              </a:rPr>
              <a:t>function </a:t>
            </a:r>
            <a:r>
              <a:rPr sz="1600" dirty="0" err="1">
                <a:solidFill>
                  <a:srgbClr val="FFFFFF"/>
                </a:solidFill>
                <a:latin typeface="Consolas"/>
              </a:rPr>
              <a:t>CoursesScreen</a:t>
            </a:r>
            <a:r>
              <a:rPr sz="1600" dirty="0">
                <a:solidFill>
                  <a:srgbClr val="FFFFFF"/>
                </a:solidFill>
                <a:latin typeface="Consolas"/>
              </a:rPr>
              <a:t>() {</a:t>
            </a:r>
          </a:p>
          <a:p>
            <a:pPr algn="l"/>
            <a:r>
              <a:rPr sz="1600" dirty="0">
                <a:solidFill>
                  <a:srgbClr val="FFFFFF"/>
                </a:solidFill>
                <a:latin typeface="Consolas"/>
              </a:rPr>
              <a:t>  // screen ALSO does data + parsing</a:t>
            </a:r>
          </a:p>
          <a:p>
            <a:pPr algn="l"/>
            <a:r>
              <a:rPr sz="1600" dirty="0">
                <a:solidFill>
                  <a:srgbClr val="FFFFFF"/>
                </a:solidFill>
                <a:latin typeface="Consolas"/>
              </a:rPr>
              <a:t>  const [data, </a:t>
            </a:r>
            <a:r>
              <a:rPr sz="1600" dirty="0" err="1">
                <a:solidFill>
                  <a:srgbClr val="FFFFFF"/>
                </a:solidFill>
                <a:latin typeface="Consolas"/>
              </a:rPr>
              <a:t>setData</a:t>
            </a:r>
            <a:r>
              <a:rPr sz="1600" dirty="0">
                <a:solidFill>
                  <a:srgbClr val="FFFFFF"/>
                </a:solidFill>
                <a:latin typeface="Consolas"/>
              </a:rPr>
              <a:t>] = </a:t>
            </a:r>
            <a:r>
              <a:rPr sz="1600" dirty="0" err="1">
                <a:solidFill>
                  <a:srgbClr val="FFFFFF"/>
                </a:solidFill>
                <a:latin typeface="Consolas"/>
              </a:rPr>
              <a:t>useState</a:t>
            </a:r>
            <a:r>
              <a:rPr sz="1600" dirty="0">
                <a:solidFill>
                  <a:srgbClr val="FFFFFF"/>
                </a:solidFill>
                <a:latin typeface="Consolas"/>
              </a:rPr>
              <a:t>([])</a:t>
            </a:r>
          </a:p>
          <a:p>
            <a:pPr algn="l"/>
            <a:r>
              <a:rPr sz="1600" dirty="0">
                <a:solidFill>
                  <a:srgbClr val="FFFFFF"/>
                </a:solidFill>
                <a:latin typeface="Consolas"/>
              </a:rPr>
              <a:t>  </a:t>
            </a:r>
            <a:r>
              <a:rPr sz="1600" dirty="0" err="1">
                <a:solidFill>
                  <a:srgbClr val="FFFFFF"/>
                </a:solidFill>
                <a:latin typeface="Consolas"/>
              </a:rPr>
              <a:t>useEffect</a:t>
            </a:r>
            <a:r>
              <a:rPr sz="1600" dirty="0">
                <a:solidFill>
                  <a:srgbClr val="FFFFFF"/>
                </a:solidFill>
                <a:latin typeface="Consolas"/>
              </a:rPr>
              <a:t>(() =&gt; {</a:t>
            </a:r>
          </a:p>
          <a:p>
            <a:pPr algn="l"/>
            <a:r>
              <a:rPr sz="1600" dirty="0">
                <a:solidFill>
                  <a:srgbClr val="FFFFFF"/>
                </a:solidFill>
                <a:latin typeface="Consolas"/>
              </a:rPr>
              <a:t>    fetch("https://api...")</a:t>
            </a:r>
          </a:p>
          <a:p>
            <a:pPr algn="l"/>
            <a:r>
              <a:rPr sz="1600" dirty="0">
                <a:solidFill>
                  <a:srgbClr val="FFFFFF"/>
                </a:solidFill>
                <a:latin typeface="Consolas"/>
              </a:rPr>
              <a:t>      .then(r =&gt; </a:t>
            </a:r>
            <a:r>
              <a:rPr sz="1600" dirty="0" err="1">
                <a:solidFill>
                  <a:srgbClr val="FFFFFF"/>
                </a:solidFill>
                <a:latin typeface="Consolas"/>
              </a:rPr>
              <a:t>r.json</a:t>
            </a:r>
            <a:r>
              <a:rPr sz="1600" dirty="0">
                <a:solidFill>
                  <a:srgbClr val="FFFFFF"/>
                </a:solidFill>
                <a:latin typeface="Consolas"/>
              </a:rPr>
              <a:t>())</a:t>
            </a:r>
          </a:p>
          <a:p>
            <a:pPr algn="l"/>
            <a:r>
              <a:rPr sz="1600" dirty="0">
                <a:solidFill>
                  <a:srgbClr val="FFFFFF"/>
                </a:solidFill>
                <a:latin typeface="Consolas"/>
              </a:rPr>
              <a:t>      .then(j =&gt; </a:t>
            </a:r>
            <a:r>
              <a:rPr sz="1600" dirty="0" err="1">
                <a:solidFill>
                  <a:srgbClr val="FFFFFF"/>
                </a:solidFill>
                <a:latin typeface="Consolas"/>
              </a:rPr>
              <a:t>setData</a:t>
            </a:r>
            <a:r>
              <a:rPr sz="1600" dirty="0">
                <a:solidFill>
                  <a:srgbClr val="FFFFFF"/>
                </a:solidFill>
                <a:latin typeface="Consolas"/>
              </a:rPr>
              <a:t>(</a:t>
            </a:r>
            <a:r>
              <a:rPr sz="1600" dirty="0" err="1">
                <a:solidFill>
                  <a:srgbClr val="FFFFFF"/>
                </a:solidFill>
                <a:latin typeface="Consolas"/>
              </a:rPr>
              <a:t>j.results</a:t>
            </a:r>
            <a:r>
              <a:rPr sz="1600" dirty="0">
                <a:solidFill>
                  <a:srgbClr val="FFFFFF"/>
                </a:solidFill>
                <a:latin typeface="Consolas"/>
              </a:rPr>
              <a:t>))</a:t>
            </a:r>
          </a:p>
          <a:p>
            <a:pPr algn="l"/>
            <a:r>
              <a:rPr sz="1600" dirty="0">
                <a:solidFill>
                  <a:srgbClr val="FFFFFF"/>
                </a:solidFill>
                <a:latin typeface="Consolas"/>
              </a:rPr>
              <a:t>  }, [])</a:t>
            </a:r>
          </a:p>
          <a:p>
            <a:pPr algn="l"/>
            <a:r>
              <a:rPr sz="1600" dirty="0">
                <a:solidFill>
                  <a:srgbClr val="FFFFFF"/>
                </a:solidFill>
                <a:latin typeface="Consolas"/>
              </a:rPr>
              <a:t>  // ...and rendering, all in one</a:t>
            </a:r>
          </a:p>
          <a:p>
            <a:pPr algn="l"/>
            <a:r>
              <a:rPr sz="1600" dirty="0">
                <a:solidFill>
                  <a:srgbClr val="FFFFFF"/>
                </a:solidFill>
                <a:latin typeface="Consolas"/>
              </a:rPr>
              <a:t>}</a:t>
            </a:r>
          </a:p>
          <a:p>
            <a:pPr algn="l"/>
            <a:r>
              <a:rPr sz="1600" dirty="0">
                <a:solidFill>
                  <a:srgbClr val="FFFFFF"/>
                </a:solidFill>
                <a:latin typeface="Consolas"/>
              </a:rPr>
              <a:t>// Reused nowhere. Untestable.</a:t>
            </a:r>
          </a:p>
          <a:p>
            <a:pPr algn="l"/>
            <a:r>
              <a:rPr sz="1600" dirty="0">
                <a:solidFill>
                  <a:srgbClr val="FFFFFF"/>
                </a:solidFill>
                <a:latin typeface="Consolas"/>
              </a:rPr>
              <a:t>// Change the API =&gt; edit the screen.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402691"/>
            <a:ext cx="5486400" cy="3931920"/>
          </a:xfrm>
          <a:prstGeom prst="roundRect">
            <a:avLst/>
          </a:prstGeom>
          <a:solidFill>
            <a:srgbClr val="F0FFF4"/>
          </a:solidFill>
          <a:ln w="1587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6501112" y="2453322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6A34A"/>
                </a:solidFill>
              </a:rPr>
              <a:t>Separated concerns (flexible)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2978763"/>
            <a:ext cx="512064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73152" bIns="54864" rtlCol="0" anchor="ctr"/>
          <a:lstStyle/>
          <a:p>
            <a:pPr algn="l"/>
            <a:r>
              <a:rPr sz="1600" dirty="0">
                <a:solidFill>
                  <a:srgbClr val="FFFFFF"/>
                </a:solidFill>
                <a:latin typeface="Consolas"/>
              </a:rPr>
              <a:t>// data layer - one job</a:t>
            </a:r>
          </a:p>
          <a:p>
            <a:pPr algn="l"/>
            <a:r>
              <a:rPr sz="1600" dirty="0">
                <a:solidFill>
                  <a:srgbClr val="FFFFFF"/>
                </a:solidFill>
                <a:latin typeface="Consolas"/>
              </a:rPr>
              <a:t>export async function </a:t>
            </a:r>
            <a:r>
              <a:rPr sz="1600" dirty="0" err="1">
                <a:solidFill>
                  <a:srgbClr val="FFFFFF"/>
                </a:solidFill>
                <a:latin typeface="Consolas"/>
              </a:rPr>
              <a:t>getCourses</a:t>
            </a:r>
            <a:r>
              <a:rPr sz="1600" dirty="0">
                <a:solidFill>
                  <a:srgbClr val="FFFFFF"/>
                </a:solidFill>
                <a:latin typeface="Consolas"/>
              </a:rPr>
              <a:t>() {</a:t>
            </a:r>
          </a:p>
          <a:p>
            <a:pPr algn="l"/>
            <a:r>
              <a:rPr sz="1600" dirty="0">
                <a:solidFill>
                  <a:srgbClr val="FFFFFF"/>
                </a:solidFill>
                <a:latin typeface="Consolas"/>
              </a:rPr>
              <a:t>  const r = await fetch("https://api...")</a:t>
            </a:r>
          </a:p>
          <a:p>
            <a:pPr algn="l"/>
            <a:r>
              <a:rPr sz="1600" dirty="0">
                <a:solidFill>
                  <a:srgbClr val="FFFFFF"/>
                </a:solidFill>
                <a:latin typeface="Consolas"/>
              </a:rPr>
              <a:t>  return (await </a:t>
            </a:r>
            <a:r>
              <a:rPr sz="1600" dirty="0" err="1">
                <a:solidFill>
                  <a:srgbClr val="FFFFFF"/>
                </a:solidFill>
                <a:latin typeface="Consolas"/>
              </a:rPr>
              <a:t>r.json</a:t>
            </a:r>
            <a:r>
              <a:rPr sz="1600" dirty="0">
                <a:solidFill>
                  <a:srgbClr val="FFFFFF"/>
                </a:solidFill>
                <a:latin typeface="Consolas"/>
              </a:rPr>
              <a:t>()).results</a:t>
            </a:r>
          </a:p>
          <a:p>
            <a:pPr algn="l"/>
            <a:r>
              <a:rPr sz="1600" dirty="0">
                <a:solidFill>
                  <a:srgbClr val="FFFFFF"/>
                </a:solidFill>
                <a:latin typeface="Consolas"/>
              </a:rPr>
              <a:t>}</a:t>
            </a:r>
          </a:p>
          <a:p>
            <a:pPr algn="l"/>
            <a:endParaRPr sz="1600" dirty="0">
              <a:solidFill>
                <a:srgbClr val="FFFFFF"/>
              </a:solidFill>
              <a:latin typeface="Consolas"/>
            </a:endParaRPr>
          </a:p>
          <a:p>
            <a:pPr algn="l"/>
            <a:r>
              <a:rPr sz="1600" dirty="0">
                <a:solidFill>
                  <a:srgbClr val="FFFFFF"/>
                </a:solidFill>
                <a:latin typeface="Consolas"/>
              </a:rPr>
              <a:t>// screen - one job</a:t>
            </a:r>
          </a:p>
          <a:p>
            <a:pPr algn="l"/>
            <a:r>
              <a:rPr sz="1600" dirty="0">
                <a:solidFill>
                  <a:srgbClr val="FFFFFF"/>
                </a:solidFill>
                <a:latin typeface="Consolas"/>
              </a:rPr>
              <a:t>function </a:t>
            </a:r>
            <a:r>
              <a:rPr sz="1600" dirty="0" err="1">
                <a:solidFill>
                  <a:srgbClr val="FFFFFF"/>
                </a:solidFill>
                <a:latin typeface="Consolas"/>
              </a:rPr>
              <a:t>CoursesScreen</a:t>
            </a:r>
            <a:r>
              <a:rPr sz="1600" dirty="0">
                <a:solidFill>
                  <a:srgbClr val="FFFFFF"/>
                </a:solidFill>
                <a:latin typeface="Consolas"/>
              </a:rPr>
              <a:t>() {</a:t>
            </a:r>
          </a:p>
          <a:p>
            <a:pPr algn="l"/>
            <a:r>
              <a:rPr sz="1600" dirty="0">
                <a:solidFill>
                  <a:srgbClr val="FFFFFF"/>
                </a:solidFill>
                <a:latin typeface="Consolas"/>
              </a:rPr>
              <a:t>  const courses = </a:t>
            </a:r>
            <a:r>
              <a:rPr lang="en-US" sz="1600" dirty="0" err="1">
                <a:solidFill>
                  <a:srgbClr val="FFFFFF"/>
                </a:solidFill>
                <a:latin typeface="Consolas"/>
              </a:rPr>
              <a:t>get</a:t>
            </a:r>
            <a:r>
              <a:rPr sz="1600" dirty="0" err="1">
                <a:solidFill>
                  <a:srgbClr val="FFFFFF"/>
                </a:solidFill>
                <a:latin typeface="Consolas"/>
              </a:rPr>
              <a:t>Courses</a:t>
            </a:r>
            <a:r>
              <a:rPr sz="1600" dirty="0">
                <a:solidFill>
                  <a:srgbClr val="FFFFFF"/>
                </a:solidFill>
                <a:latin typeface="Consolas"/>
              </a:rPr>
              <a:t>() // just asks</a:t>
            </a:r>
          </a:p>
          <a:p>
            <a:pPr algn="l"/>
            <a:r>
              <a:rPr sz="1600" dirty="0">
                <a:solidFill>
                  <a:srgbClr val="FFFFFF"/>
                </a:solidFill>
                <a:latin typeface="Consolas"/>
              </a:rPr>
              <a:t>  return &lt;</a:t>
            </a:r>
            <a:r>
              <a:rPr sz="1600" dirty="0" err="1">
                <a:solidFill>
                  <a:srgbClr val="FFFFFF"/>
                </a:solidFill>
                <a:latin typeface="Consolas"/>
              </a:rPr>
              <a:t>CourseList</a:t>
            </a:r>
            <a:r>
              <a:rPr sz="1600" dirty="0">
                <a:solidFill>
                  <a:srgbClr val="FFFFFF"/>
                </a:solidFill>
                <a:latin typeface="Consolas"/>
              </a:rPr>
              <a:t> data={courses} /&gt;</a:t>
            </a:r>
          </a:p>
          <a:p>
            <a:pPr algn="l"/>
            <a:r>
              <a:rPr sz="1600" dirty="0">
                <a:solidFill>
                  <a:srgbClr val="FFFFFF"/>
                </a:solidFill>
                <a:latin typeface="Consolas"/>
              </a:rPr>
              <a:t>}</a:t>
            </a:r>
          </a:p>
          <a:p>
            <a:pPr algn="l"/>
            <a:r>
              <a:rPr sz="1600" dirty="0">
                <a:solidFill>
                  <a:srgbClr val="FFFFFF"/>
                </a:solidFill>
                <a:latin typeface="Consolas"/>
              </a:rPr>
              <a:t>// Swap the source without touching UI.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11 / 46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3744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111827"/>
                </a:solidFill>
              </a:rPr>
              <a:t>Client vs Server </a:t>
            </a:r>
            <a:r>
              <a:rPr lang="en-US" sz="3600" b="1" i="0" dirty="0">
                <a:solidFill>
                  <a:srgbClr val="111827"/>
                </a:solidFill>
              </a:rPr>
              <a:t>Responsibilities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5760" y="64990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732695"/>
            <a:ext cx="113385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111827"/>
                </a:solidFill>
              </a:rPr>
              <a:t>Your app (the "client") runs on the user's phone - which you do not control. The "server" runs on machines you</a:t>
            </a:r>
            <a:r>
              <a:rPr lang="en-US" sz="2400" b="0" i="0" dirty="0">
                <a:solidFill>
                  <a:srgbClr val="111827"/>
                </a:solidFill>
              </a:rPr>
              <a:t> </a:t>
            </a:r>
            <a:r>
              <a:rPr sz="2400" b="0" i="0" dirty="0">
                <a:solidFill>
                  <a:srgbClr val="111827"/>
                </a:solidFill>
              </a:rPr>
              <a:t>do control. Everything about storage, APIs, auth &amp; security comes back to which side of this line code lives 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42759"/>
            <a:ext cx="5394960" cy="3977639"/>
          </a:xfrm>
          <a:prstGeom prst="roundRect">
            <a:avLst/>
          </a:prstGeom>
          <a:solidFill>
            <a:srgbClr val="F0F4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8" name="TextBox 7"/>
          <p:cNvSpPr txBox="1"/>
          <p:nvPr/>
        </p:nvSpPr>
        <p:spPr>
          <a:xfrm>
            <a:off x="640080" y="2079920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563EB"/>
                </a:solidFill>
              </a:rPr>
              <a:t>CLIENT  (the phone)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82840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.  Runs your React Native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94904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.  Anyone can inspect the app binary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06968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.  Can be offline at any moment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9031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.  Fast for the user - it's right there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31096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.  NEVER trust it with secrets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43160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.  Holds: UI, screen state, a session token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942759"/>
            <a:ext cx="5394960" cy="3977639"/>
          </a:xfrm>
          <a:prstGeom prst="roundRect">
            <a:avLst/>
          </a:prstGeom>
          <a:solidFill>
            <a:srgbClr val="FFFBEB"/>
          </a:solidFill>
          <a:ln w="1587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16" name="TextBox 15"/>
          <p:cNvSpPr txBox="1"/>
          <p:nvPr/>
        </p:nvSpPr>
        <p:spPr>
          <a:xfrm>
            <a:off x="6492240" y="2079920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97706"/>
                </a:solidFill>
              </a:rPr>
              <a:t>SERVER  (you control)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582840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.  Runs trusted code &amp; the 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094904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.  Users can't see its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606968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.  Always on, shared by everyone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119031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.  The source of truth for real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631096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.  Where secrets &amp; rules belong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143160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.  Holds: data, passwords (hashed), keys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692" y="6021938"/>
            <a:ext cx="11430000" cy="83099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111827"/>
                </a:solidFill>
              </a:rPr>
              <a:t>Rule of thumb: if knowing it would let someone cheat or steal, it belongs on the server - not in the app.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12 / 46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576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en-US" sz="3600" b="1" dirty="0"/>
              <a:t>A Request Through the Architecture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54588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b="0" dirty="0"/>
              <a:t>Follow a single tap from finger to pixels and 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461678"/>
            <a:ext cx="1124712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792" y="1644558"/>
            <a:ext cx="50292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667512" y="1671990"/>
            <a:ext cx="411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571406"/>
            <a:ext cx="3108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563EB"/>
                </a:solidFill>
              </a:rPr>
              <a:t>User taps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626270"/>
            <a:ext cx="6949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11827"/>
                </a:solidFill>
              </a:rPr>
              <a:t>"Show my courses" on the Courses screen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786384" y="2174910"/>
            <a:ext cx="164592" cy="146304"/>
          </a:xfrm>
          <a:prstGeom prst="downArrow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Rounded Rectangle 11"/>
          <p:cNvSpPr/>
          <p:nvPr/>
        </p:nvSpPr>
        <p:spPr>
          <a:xfrm>
            <a:off x="457200" y="2302926"/>
            <a:ext cx="1124712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1792" y="2485806"/>
            <a:ext cx="502920" cy="3657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667512" y="2513238"/>
            <a:ext cx="411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412654"/>
            <a:ext cx="3108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7C3AED"/>
                </a:solidFill>
              </a:rPr>
              <a:t>State asks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467518"/>
            <a:ext cx="6949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11827"/>
                </a:solidFill>
              </a:rPr>
              <a:t>The screen calls the data layer: getCourses()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786384" y="3016158"/>
            <a:ext cx="164592" cy="146304"/>
          </a:xfrm>
          <a:prstGeom prst="downArrow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Rounded Rectangle 17"/>
          <p:cNvSpPr/>
          <p:nvPr/>
        </p:nvSpPr>
        <p:spPr>
          <a:xfrm>
            <a:off x="457200" y="3144174"/>
            <a:ext cx="1124712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1792" y="3327054"/>
            <a:ext cx="502920" cy="3657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667512" y="3354486"/>
            <a:ext cx="411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253902"/>
            <a:ext cx="3108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D9488"/>
                </a:solidFill>
              </a:rPr>
              <a:t>Data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308766"/>
            <a:ext cx="6949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11827"/>
                </a:solidFill>
              </a:rPr>
              <a:t>fetch() sends an HTTPS request to the server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786384" y="3857406"/>
            <a:ext cx="164592" cy="146304"/>
          </a:xfrm>
          <a:prstGeom prst="downArrow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4" name="Rounded Rectangle 23"/>
          <p:cNvSpPr/>
          <p:nvPr/>
        </p:nvSpPr>
        <p:spPr>
          <a:xfrm>
            <a:off x="457200" y="3985422"/>
            <a:ext cx="1124712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21792" y="4168302"/>
            <a:ext cx="502920" cy="3657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TextBox 25"/>
          <p:cNvSpPr txBox="1"/>
          <p:nvPr/>
        </p:nvSpPr>
        <p:spPr>
          <a:xfrm>
            <a:off x="667512" y="4195734"/>
            <a:ext cx="411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095150"/>
            <a:ext cx="3108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97706"/>
                </a:solidFill>
              </a:rPr>
              <a:t>Server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150014"/>
            <a:ext cx="6949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11827"/>
                </a:solidFill>
              </a:rPr>
              <a:t>Looks up courses in the database, returns JSON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786384" y="4698654"/>
            <a:ext cx="164592" cy="146304"/>
          </a:xfrm>
          <a:prstGeom prst="downArrow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0" name="Rounded Rectangle 29"/>
          <p:cNvSpPr/>
          <p:nvPr/>
        </p:nvSpPr>
        <p:spPr>
          <a:xfrm>
            <a:off x="457200" y="4826670"/>
            <a:ext cx="1124712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21792" y="5009550"/>
            <a:ext cx="502920" cy="3657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2" name="TextBox 31"/>
          <p:cNvSpPr txBox="1"/>
          <p:nvPr/>
        </p:nvSpPr>
        <p:spPr>
          <a:xfrm>
            <a:off x="667512" y="5036982"/>
            <a:ext cx="411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936398"/>
            <a:ext cx="3108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7C3AED"/>
                </a:solidFill>
              </a:rPr>
              <a:t>State updates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4991262"/>
            <a:ext cx="6949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11827"/>
                </a:solidFill>
              </a:rPr>
              <a:t>Data layer hands JSON back; state stores it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786384" y="5539902"/>
            <a:ext cx="164592" cy="146304"/>
          </a:xfrm>
          <a:prstGeom prst="downArrow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6" name="Rounded Rectangle 35"/>
          <p:cNvSpPr/>
          <p:nvPr/>
        </p:nvSpPr>
        <p:spPr>
          <a:xfrm>
            <a:off x="457200" y="5667918"/>
            <a:ext cx="1124712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21792" y="5850798"/>
            <a:ext cx="50292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8" name="TextBox 37"/>
          <p:cNvSpPr txBox="1"/>
          <p:nvPr/>
        </p:nvSpPr>
        <p:spPr>
          <a:xfrm>
            <a:off x="667512" y="5878230"/>
            <a:ext cx="411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5777646"/>
            <a:ext cx="3108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563EB"/>
                </a:solidFill>
              </a:rPr>
              <a:t>UI re-renders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5832510"/>
            <a:ext cx="6949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11827"/>
                </a:solidFill>
              </a:rPr>
              <a:t>React draws the list - the user sees courses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510528"/>
            <a:ext cx="1280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13 / 46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" y="2100390"/>
            <a:ext cx="1218882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 dirty="0">
                <a:solidFill>
                  <a:srgbClr val="FFFFFF"/>
                </a:solidFill>
              </a:rPr>
              <a:t>Architecture Diagrams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" y="3380549"/>
            <a:ext cx="121888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 dirty="0">
                <a:solidFill>
                  <a:srgbClr val="BFDBFF"/>
                </a:solidFill>
              </a:rPr>
              <a:t>Part 3 . How to draw what's in your head so others can see 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0224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Benefits of Architecture Diagrams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384048" y="936784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3200" b="0" dirty="0"/>
              <a:t>A diagram is the cheapest place to find a mistake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744190"/>
            <a:ext cx="5669280" cy="2103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7" name="Rectangle 6"/>
          <p:cNvSpPr/>
          <p:nvPr/>
        </p:nvSpPr>
        <p:spPr>
          <a:xfrm>
            <a:off x="457200" y="1744190"/>
            <a:ext cx="5669280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8" name="TextBox 7"/>
          <p:cNvSpPr txBox="1"/>
          <p:nvPr/>
        </p:nvSpPr>
        <p:spPr>
          <a:xfrm>
            <a:off x="731520" y="1936622"/>
            <a:ext cx="51206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1527D7"/>
                </a:solidFill>
              </a:rPr>
              <a:t>Find gaps before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35445"/>
            <a:ext cx="521208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 dirty="0"/>
              <a:t>A missing arrow on paper costs seconds. A missing call in code costs hours of debugging.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744190"/>
            <a:ext cx="5669280" cy="2103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11" name="Rectangle 10"/>
          <p:cNvSpPr/>
          <p:nvPr/>
        </p:nvSpPr>
        <p:spPr>
          <a:xfrm>
            <a:off x="6355080" y="1744190"/>
            <a:ext cx="5669280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12" name="TextBox 11"/>
          <p:cNvSpPr txBox="1"/>
          <p:nvPr/>
        </p:nvSpPr>
        <p:spPr>
          <a:xfrm>
            <a:off x="6629400" y="1936622"/>
            <a:ext cx="51206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1527D7"/>
                </a:solidFill>
              </a:rPr>
              <a:t>Communicate fast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435445"/>
            <a:ext cx="5495416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 dirty="0"/>
              <a:t>One picture replaces three paragraphs. Your team, your instructor, future-you all read it instantly.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075909"/>
            <a:ext cx="5669280" cy="2103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57200" y="4075909"/>
            <a:ext cx="5669280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" y="4268342"/>
            <a:ext cx="51206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1527D7"/>
                </a:solidFill>
              </a:rPr>
              <a:t>Make decisions visible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80813"/>
            <a:ext cx="521208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 dirty="0"/>
              <a:t>Drawing forces you to decide where each responsibility lives. Vague ideas can't be drawn.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4075909"/>
            <a:ext cx="5669280" cy="2103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355080" y="4075909"/>
            <a:ext cx="5669280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29400" y="4268342"/>
            <a:ext cx="51206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1527D7"/>
                </a:solidFill>
              </a:rPr>
              <a:t>Spot </a:t>
            </a:r>
            <a:r>
              <a:rPr sz="2600" b="1" dirty="0">
                <a:solidFill>
                  <a:srgbClr val="1527D7"/>
                </a:solidFill>
              </a:rPr>
              <a:t>bad</a:t>
            </a:r>
            <a:r>
              <a:rPr sz="2600" b="1" i="0" dirty="0">
                <a:solidFill>
                  <a:srgbClr val="1527D7"/>
                </a:solidFill>
              </a:rPr>
              <a:t> 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780813"/>
            <a:ext cx="521208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/>
              <a:t>If your diagram is a tangle of crossing arrows, your code will be too. The mess shows up early.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15 / 46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576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Common Architecture Diagrams 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4048" y="977728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b="0" dirty="0"/>
              <a:t>You will mostly use the first two in this course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680041"/>
            <a:ext cx="5669280" cy="2148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Rectangle 6"/>
          <p:cNvSpPr/>
          <p:nvPr/>
        </p:nvSpPr>
        <p:spPr>
          <a:xfrm>
            <a:off x="457200" y="1680041"/>
            <a:ext cx="91440" cy="2148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731520" y="1699145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563EB"/>
                </a:solidFill>
              </a:rPr>
              <a:t>Component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56345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1" dirty="0">
                <a:solidFill>
                  <a:srgbClr val="FF0000"/>
                </a:solidFill>
              </a:rPr>
              <a:t>"What are the parts?"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13545"/>
            <a:ext cx="53492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Boxes for each piece (screens, data layer, server) and</a:t>
            </a:r>
            <a:r>
              <a:rPr lang="en-US" sz="2400" b="0" i="0" dirty="0"/>
              <a:t> </a:t>
            </a:r>
            <a:r>
              <a:rPr sz="2400" b="0" i="0" dirty="0"/>
              <a:t>lines for who-talks-to-who. Your go-to overview.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680041"/>
            <a:ext cx="5669280" cy="2148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Rectangle 11"/>
          <p:cNvSpPr/>
          <p:nvPr/>
        </p:nvSpPr>
        <p:spPr>
          <a:xfrm>
            <a:off x="6355080" y="1680041"/>
            <a:ext cx="91440" cy="2148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6629400" y="1699145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7C3AED"/>
                </a:solidFill>
              </a:rPr>
              <a:t>Data-flow diagram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156345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1">
                <a:solidFill>
                  <a:srgbClr val="FF0000"/>
                </a:solidFill>
              </a:rPr>
              <a:t>"Where does data move?"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399" y="2613545"/>
            <a:ext cx="55594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Arrows show data travelling: form -&gt; validation -&gt; storage.</a:t>
            </a:r>
          </a:p>
          <a:p>
            <a:pPr algn="l"/>
            <a:r>
              <a:rPr sz="2400" b="0" i="0" dirty="0"/>
              <a:t>Great for explaining a feature end-to-end.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180315"/>
            <a:ext cx="5669280" cy="2148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Rectangle 16"/>
          <p:cNvSpPr/>
          <p:nvPr/>
        </p:nvSpPr>
        <p:spPr>
          <a:xfrm>
            <a:off x="457200" y="4180315"/>
            <a:ext cx="91440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731520" y="4172123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D9488"/>
                </a:solidFill>
              </a:rPr>
              <a:t>Sequence diagram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629323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1" dirty="0">
                <a:solidFill>
                  <a:srgbClr val="FF0000"/>
                </a:solidFill>
              </a:rPr>
              <a:t>"In what order, over time?"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86523"/>
            <a:ext cx="52120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Vertical timelines per participant; arrows are messages</a:t>
            </a:r>
            <a:r>
              <a:rPr lang="en-US" sz="2400" b="0" i="0" dirty="0"/>
              <a:t> </a:t>
            </a:r>
            <a:r>
              <a:rPr sz="2400" b="0" i="0" dirty="0"/>
              <a:t>in order. Perfect for a login or an API request.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4180315"/>
            <a:ext cx="5669280" cy="2148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Rectangle 21"/>
          <p:cNvSpPr/>
          <p:nvPr/>
        </p:nvSpPr>
        <p:spPr>
          <a:xfrm>
            <a:off x="6355080" y="4180315"/>
            <a:ext cx="91440" cy="2148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TextBox 22"/>
          <p:cNvSpPr txBox="1"/>
          <p:nvPr/>
        </p:nvSpPr>
        <p:spPr>
          <a:xfrm>
            <a:off x="6629400" y="4172123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97706"/>
                </a:solidFill>
              </a:rPr>
              <a:t>ER diagram (ERD)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4629323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1">
                <a:solidFill>
                  <a:srgbClr val="FF0000"/>
                </a:solidFill>
              </a:rPr>
              <a:t>"How is data shaped?"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5086523"/>
            <a:ext cx="52120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Tables and the relationships between them. You'll meet</a:t>
            </a:r>
            <a:r>
              <a:rPr lang="en-US" sz="2400" b="0" i="0" dirty="0"/>
              <a:t> </a:t>
            </a:r>
            <a:r>
              <a:rPr sz="2400" b="0" i="0" dirty="0"/>
              <a:t>this in W12 when Campus Hub gets a real database.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16 / 46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576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Diagrams Basics</a:t>
            </a:r>
            <a:r>
              <a:rPr sz="3600" b="1" i="0" dirty="0">
                <a:solidFill>
                  <a:srgbClr val="111827"/>
                </a:solidFill>
              </a:rPr>
              <a:t>: Boxes &amp; Arrows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977728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800" b="0" dirty="0"/>
              <a:t>Two symbols carry almost everything - use them consistently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643875"/>
            <a:ext cx="5486400" cy="4572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685800" y="1781035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563EB"/>
                </a:solidFill>
              </a:rPr>
              <a:t>A BOX = a responsibility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798" y="2283954"/>
            <a:ext cx="515544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One box = one job, one part of the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798" y="2786874"/>
            <a:ext cx="515544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Label it with a NOUN ("Courses screen",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798" y="3289795"/>
            <a:ext cx="515544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111827"/>
                </a:solidFill>
              </a:rPr>
              <a:t>    "Auth service"), not a verb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798" y="3792715"/>
            <a:ext cx="515544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If a box does two things, split it in two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798" y="4295635"/>
            <a:ext cx="515544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Group related boxes inside a bigger box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798" y="4798555"/>
            <a:ext cx="515544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111827"/>
                </a:solidFill>
              </a:rPr>
              <a:t>    to show a layer or a folder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327" y="5301475"/>
            <a:ext cx="525091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 dirty="0">
                <a:solidFill>
                  <a:srgbClr val="6B7280"/>
                </a:solidFill>
              </a:rPr>
              <a:t>Keep boxes the same size when they're the same kind of thing - it signals they're peers.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643875"/>
            <a:ext cx="5486400" cy="4572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6492240" y="1781035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6A34A"/>
                </a:solidFill>
              </a:rPr>
              <a:t>An ARROW = a relationship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5439" y="2283954"/>
            <a:ext cx="514794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Arrow = "talks to" or "sends data to"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5439" y="2786874"/>
            <a:ext cx="514794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Point it in the direction data flows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5439" y="3289795"/>
            <a:ext cx="514794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111827"/>
                </a:solidFill>
              </a:rPr>
              <a:t>Label it with WHAT travels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5439" y="3792715"/>
            <a:ext cx="514794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    ("course list", "JWT token")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5439" y="4295635"/>
            <a:ext cx="514794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Two-way? Draw two arrows, not 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5439" y="4798555"/>
            <a:ext cx="514794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Crossing arrows everywhere = redesign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3999" y="5301475"/>
            <a:ext cx="524327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6B7280"/>
                </a:solidFill>
              </a:rPr>
              <a:t>Fewer arrows is better. Each arrow is a connection you'll have to build and maintain.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17 / 46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576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111827"/>
                </a:solidFill>
              </a:rPr>
              <a:t>Campus Hub</a:t>
            </a:r>
            <a:r>
              <a:rPr lang="en-US" sz="3600" b="1" i="0" dirty="0">
                <a:solidFill>
                  <a:srgbClr val="111827"/>
                </a:solidFill>
              </a:rPr>
              <a:t> Architecture Example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4048" y="909488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800" b="0" dirty="0"/>
              <a:t>A component diagram of the app you're about to finish building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1100" y="1402175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563EB"/>
                </a:solidFill>
              </a:rPr>
              <a:t>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1100" y="1835903"/>
            <a:ext cx="2377440" cy="5669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816820" y="1909191"/>
            <a:ext cx="228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</a:rPr>
              <a:t>Home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39980" y="1835903"/>
            <a:ext cx="2377440" cy="5669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3285700" y="1895543"/>
            <a:ext cx="228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</a:rPr>
              <a:t>Courses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08860" y="1835903"/>
            <a:ext cx="2377440" cy="5669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5754580" y="1909191"/>
            <a:ext cx="2377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</a:rPr>
              <a:t>Settings / Profile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77740" y="1835903"/>
            <a:ext cx="2743200" cy="5669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8223460" y="1895543"/>
            <a:ext cx="2651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</a:rPr>
              <a:t>Login (W12)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4245820" y="2457694"/>
            <a:ext cx="411480" cy="694945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771100" y="2705263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7C3AED"/>
                </a:solidFill>
              </a:rPr>
              <a:t>State &amp; logic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1100" y="3152639"/>
            <a:ext cx="5120640" cy="56692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816820" y="3225927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</a:rPr>
              <a:t>Hooks . Context . </a:t>
            </a:r>
            <a:r>
              <a:rPr sz="2400" b="1" i="0" dirty="0" err="1">
                <a:solidFill>
                  <a:srgbClr val="FFFFFF"/>
                </a:solidFill>
              </a:rPr>
              <a:t>useForm</a:t>
            </a:r>
            <a:r>
              <a:rPr sz="2400" b="1" i="0" dirty="0">
                <a:solidFill>
                  <a:srgbClr val="FFFFFF"/>
                </a:solidFill>
              </a:rPr>
              <a:t> (W8)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74620" y="3152639"/>
            <a:ext cx="4846320" cy="56692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TextBox 19"/>
          <p:cNvSpPr txBox="1"/>
          <p:nvPr/>
        </p:nvSpPr>
        <p:spPr>
          <a:xfrm>
            <a:off x="6120340" y="3225927"/>
            <a:ext cx="4754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Auth session (W12)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4245820" y="3774430"/>
            <a:ext cx="411480" cy="694945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771100" y="4035646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0D9488"/>
                </a:solidFill>
              </a:rPr>
              <a:t>Data access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1100" y="4469375"/>
            <a:ext cx="3246120" cy="56692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TextBox 23"/>
          <p:cNvSpPr txBox="1"/>
          <p:nvPr/>
        </p:nvSpPr>
        <p:spPr>
          <a:xfrm>
            <a:off x="816820" y="4515367"/>
            <a:ext cx="31546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</a:rPr>
              <a:t>AsyncStorage</a:t>
            </a:r>
            <a:r>
              <a:rPr sz="2400" b="1" i="0" dirty="0">
                <a:solidFill>
                  <a:srgbClr val="FFFFFF"/>
                </a:solidFill>
              </a:rPr>
              <a:t> (W9)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0100" y="4469375"/>
            <a:ext cx="3246120" cy="56692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TextBox 25"/>
          <p:cNvSpPr txBox="1"/>
          <p:nvPr/>
        </p:nvSpPr>
        <p:spPr>
          <a:xfrm>
            <a:off x="4245820" y="4515367"/>
            <a:ext cx="31546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</a:rPr>
              <a:t>API client / fetch (W10)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29100" y="4469375"/>
            <a:ext cx="3998932" cy="56692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TextBox 27"/>
          <p:cNvSpPr txBox="1"/>
          <p:nvPr/>
        </p:nvSpPr>
        <p:spPr>
          <a:xfrm>
            <a:off x="7674819" y="4515367"/>
            <a:ext cx="37429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</a:rPr>
              <a:t>Device: camera/GPS (W11)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4245820" y="5091166"/>
            <a:ext cx="411480" cy="694945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TextBox 29"/>
          <p:cNvSpPr txBox="1"/>
          <p:nvPr/>
        </p:nvSpPr>
        <p:spPr>
          <a:xfrm>
            <a:off x="771100" y="5338735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D97706"/>
                </a:solidFill>
              </a:rPr>
              <a:t>Backend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1100" y="5786111"/>
            <a:ext cx="10149840" cy="56692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2" name="TextBox 31"/>
          <p:cNvSpPr txBox="1"/>
          <p:nvPr/>
        </p:nvSpPr>
        <p:spPr>
          <a:xfrm>
            <a:off x="816820" y="5832102"/>
            <a:ext cx="10058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</a:rPr>
              <a:t>Supabase</a:t>
            </a:r>
            <a:r>
              <a:rPr sz="2400" b="1" i="0" dirty="0">
                <a:solidFill>
                  <a:srgbClr val="FFFFFF"/>
                </a:solidFill>
              </a:rPr>
              <a:t> - Auth + Postgres database + storage (W12-13)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18 / 46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576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sz="3600" b="1" dirty="0"/>
              <a:t>Login Process: Step-by-Step Data Flow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758825" y="908831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b="0" dirty="0"/>
              <a:t>A sequence diagram: who sends what, in what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97280" y="1552436"/>
            <a:ext cx="18288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1143000" y="1538924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1866056" y="2101076"/>
            <a:ext cx="27432" cy="41148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120640" y="1552436"/>
            <a:ext cx="1828800" cy="4572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5166359" y="155257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</a:rPr>
              <a:t>Auth 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25896" y="2101076"/>
            <a:ext cx="27432" cy="41148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961120" y="1552436"/>
            <a:ext cx="1828800" cy="4572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9006840" y="15662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i="0" dirty="0">
                <a:solidFill>
                  <a:srgbClr val="FFFFFF"/>
                </a:solidFill>
              </a:rPr>
              <a:t>DB</a:t>
            </a:r>
            <a:endParaRPr sz="2400" b="1" i="0" dirty="0">
              <a:solidFill>
                <a:srgbClr val="FFFFFF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866376" y="2101076"/>
            <a:ext cx="27432" cy="41148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011680" y="2567420"/>
            <a:ext cx="4023359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ight Arrow 15"/>
          <p:cNvSpPr/>
          <p:nvPr/>
        </p:nvSpPr>
        <p:spPr>
          <a:xfrm>
            <a:off x="5870448" y="2466836"/>
            <a:ext cx="164592" cy="20116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15289" y="2106396"/>
            <a:ext cx="4219751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 dirty="0">
                <a:solidFill>
                  <a:srgbClr val="111827"/>
                </a:solidFill>
              </a:rPr>
              <a:t>1 . email + password (over HTTPS)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3207500"/>
            <a:ext cx="3840480" cy="228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ight Arrow 18"/>
          <p:cNvSpPr/>
          <p:nvPr/>
        </p:nvSpPr>
        <p:spPr>
          <a:xfrm>
            <a:off x="9710928" y="3106915"/>
            <a:ext cx="164592" cy="201168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599" y="2828364"/>
            <a:ext cx="402335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 dirty="0">
                <a:solidFill>
                  <a:srgbClr val="111827"/>
                </a:solidFill>
              </a:rPr>
              <a:t>2 . find user, check hashed password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3847580"/>
            <a:ext cx="3840480" cy="228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Left Arrow 21"/>
          <p:cNvSpPr/>
          <p:nvPr/>
        </p:nvSpPr>
        <p:spPr>
          <a:xfrm>
            <a:off x="6035040" y="3746996"/>
            <a:ext cx="164592" cy="201168"/>
          </a:xfrm>
          <a:prstGeom prst="lef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26479" y="3509388"/>
            <a:ext cx="374904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 dirty="0">
                <a:solidFill>
                  <a:srgbClr val="111827"/>
                </a:solidFill>
              </a:rPr>
              <a:t>3 . user record (valid)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0" y="4487660"/>
            <a:ext cx="4023359" cy="228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Left Arrow 24"/>
          <p:cNvSpPr/>
          <p:nvPr/>
        </p:nvSpPr>
        <p:spPr>
          <a:xfrm>
            <a:off x="1875200" y="4387075"/>
            <a:ext cx="164592" cy="201168"/>
          </a:xfrm>
          <a:prstGeom prst="lef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103120" y="4040284"/>
            <a:ext cx="393192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 dirty="0">
                <a:solidFill>
                  <a:srgbClr val="111827"/>
                </a:solidFill>
              </a:rPr>
              <a:t>4 . signed token (JWT) + session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0" y="5127740"/>
            <a:ext cx="4023359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ight Arrow 27"/>
          <p:cNvSpPr/>
          <p:nvPr/>
        </p:nvSpPr>
        <p:spPr>
          <a:xfrm>
            <a:off x="5870448" y="5027156"/>
            <a:ext cx="164592" cy="20116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103120" y="4694012"/>
            <a:ext cx="393192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 dirty="0">
                <a:solidFill>
                  <a:srgbClr val="111827"/>
                </a:solidFill>
              </a:rPr>
              <a:t>5 . later: request + token attached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11680" y="5767820"/>
            <a:ext cx="4023359" cy="228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Left Arrow 30"/>
          <p:cNvSpPr/>
          <p:nvPr/>
        </p:nvSpPr>
        <p:spPr>
          <a:xfrm>
            <a:off x="1875200" y="5667236"/>
            <a:ext cx="164592" cy="201168"/>
          </a:xfrm>
          <a:prstGeom prst="lef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03120" y="5402332"/>
            <a:ext cx="393192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11827"/>
                </a:solidFill>
              </a:rPr>
              <a:t>6 . token valid -&gt; protected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991" y="6258182"/>
            <a:ext cx="10398502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2400" b="0" dirty="0"/>
              <a:t>Read top to bottom = time passing. Each arrow is one message between two parts.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19 / 46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0224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Creating Architecture Diagram Process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7" y="841248"/>
            <a:ext cx="121248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solidFill>
                  <a:srgbClr val="FF0000"/>
                </a:solidFill>
              </a:rPr>
              <a:t>Five steps, then pick a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493751"/>
            <a:ext cx="7304968" cy="103245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612623"/>
            <a:ext cx="384048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566928" y="1649199"/>
            <a:ext cx="384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57759"/>
            <a:ext cx="23774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1827"/>
                </a:solidFill>
              </a:rPr>
              <a:t>List the parts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530599"/>
            <a:ext cx="394011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/>
              <a:t>Write every noun: screens, data layer, server, database. Each becomes a box.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57366"/>
            <a:ext cx="7304968" cy="843007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66928" y="2776238"/>
            <a:ext cx="384048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566928" y="2812815"/>
            <a:ext cx="384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721374"/>
            <a:ext cx="23774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1827"/>
                </a:solidFill>
              </a:rPr>
              <a:t>Group into layers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8296" y="2748807"/>
            <a:ext cx="42724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/>
              <a:t>Stack them: presentation on top, backend at the bottom. Like the house.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57198"/>
            <a:ext cx="7304968" cy="914773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66928" y="3776071"/>
            <a:ext cx="384048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566928" y="3812647"/>
            <a:ext cx="384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721207"/>
            <a:ext cx="23774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1827"/>
                </a:solidFill>
              </a:rPr>
              <a:t>Draw the arrows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98294" y="3748639"/>
            <a:ext cx="39169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/>
              <a:t>Connect only the boxes that actually talk. Label what travels.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752577"/>
            <a:ext cx="7304968" cy="8019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66928" y="4871448"/>
            <a:ext cx="384048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TextBox 22"/>
          <p:cNvSpPr txBox="1"/>
          <p:nvPr/>
        </p:nvSpPr>
        <p:spPr>
          <a:xfrm>
            <a:off x="566928" y="4908024"/>
            <a:ext cx="384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816584"/>
            <a:ext cx="23774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1827"/>
                </a:solidFill>
              </a:rPr>
              <a:t>Walk one feature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98296" y="4803072"/>
            <a:ext cx="41079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/>
              <a:t>Trace a real action (login, load courses); check every arrow exists.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752408"/>
            <a:ext cx="7304968" cy="80628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66928" y="5871280"/>
            <a:ext cx="384048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TextBox 27"/>
          <p:cNvSpPr txBox="1"/>
          <p:nvPr/>
        </p:nvSpPr>
        <p:spPr>
          <a:xfrm>
            <a:off x="566928" y="5907856"/>
            <a:ext cx="384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5816416"/>
            <a:ext cx="23774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111827"/>
                </a:solidFill>
              </a:rPr>
              <a:t>Delete the clutter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5789256"/>
            <a:ext cx="41960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/>
              <a:t>Remove boxes/arrows that don't earn their place. Simpler is clearer.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82922" y="1493751"/>
            <a:ext cx="4069080" cy="4572000"/>
          </a:xfrm>
          <a:prstGeom prst="roundRect">
            <a:avLst/>
          </a:prstGeom>
          <a:solidFill>
            <a:srgbClr val="F0F4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32" name="TextBox 31"/>
          <p:cNvSpPr txBox="1"/>
          <p:nvPr/>
        </p:nvSpPr>
        <p:spPr>
          <a:xfrm>
            <a:off x="8165802" y="1630911"/>
            <a:ext cx="3657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2563EB"/>
                </a:solidFill>
              </a:rPr>
              <a:t>Tools to draw with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5802" y="2133830"/>
            <a:ext cx="3657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1827"/>
                </a:solidFill>
              </a:rPr>
              <a:t>. Pen &amp; paper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682" y="2485670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/>
              <a:t>Fastest. Start here, always.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65802" y="3093950"/>
            <a:ext cx="3657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1827"/>
                </a:solidFill>
              </a:rPr>
              <a:t>. Excalidraw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8682" y="3404846"/>
            <a:ext cx="35661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/>
              <a:t>Free, hand-drawn feel. Great for class.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65802" y="4054071"/>
            <a:ext cx="3657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1827"/>
                </a:solidFill>
              </a:rPr>
              <a:t>. Mermaid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48682" y="4364967"/>
            <a:ext cx="35661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/>
              <a:t>Diagrams from text - lives in your README.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65802" y="5014191"/>
            <a:ext cx="3657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1827"/>
                </a:solidFill>
              </a:rPr>
              <a:t>. draw.io / Figma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48682" y="5325087"/>
            <a:ext cx="4069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/>
              <a:t>Polished diagrams for documents.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510528"/>
            <a:ext cx="12801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0" i="0">
                <a:solidFill>
                  <a:srgbClr val="6B7280"/>
                </a:solidFill>
              </a:rPr>
              <a:t>20 / 46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0224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Bonus: Text-Based </a:t>
            </a:r>
            <a:r>
              <a:rPr sz="3600" b="1" i="0" dirty="0">
                <a:solidFill>
                  <a:srgbClr val="111827"/>
                </a:solidFill>
              </a:rPr>
              <a:t>Diagrams </a:t>
            </a:r>
            <a:r>
              <a:rPr lang="en-US" sz="3600" b="1" i="0" dirty="0">
                <a:solidFill>
                  <a:srgbClr val="111827"/>
                </a:solidFill>
              </a:rPr>
              <a:t>with </a:t>
            </a:r>
            <a:r>
              <a:rPr sz="3600" b="1" i="0" dirty="0">
                <a:solidFill>
                  <a:srgbClr val="111827"/>
                </a:solidFill>
              </a:rPr>
              <a:t>Mermaid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936784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b="0" dirty="0"/>
              <a:t>Because it lives in your repo, it never goes stale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720" y="1944128"/>
            <a:ext cx="3953473" cy="4206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73152" bIns="54864" rtlCol="0" anchor="ctr"/>
          <a:lstStyle/>
          <a:p>
            <a:pPr algn="l"/>
            <a:r>
              <a:rPr sz="2000" dirty="0">
                <a:solidFill>
                  <a:srgbClr val="FFFFFF"/>
                </a:solidFill>
                <a:latin typeface="Consolas"/>
              </a:rPr>
              <a:t>graph TD</a:t>
            </a:r>
          </a:p>
          <a:p>
            <a:pPr algn="l"/>
            <a:r>
              <a:rPr sz="2000" dirty="0">
                <a:solidFill>
                  <a:srgbClr val="FFFFFF"/>
                </a:solidFill>
                <a:latin typeface="Consolas"/>
              </a:rPr>
              <a:t>  Home[Home screen]</a:t>
            </a:r>
          </a:p>
          <a:p>
            <a:pPr algn="l"/>
            <a:r>
              <a:rPr sz="2000" dirty="0">
                <a:solidFill>
                  <a:srgbClr val="FFFFFF"/>
                </a:solidFill>
                <a:latin typeface="Consolas"/>
              </a:rPr>
              <a:t>  Courses[Courses screen]</a:t>
            </a:r>
          </a:p>
          <a:p>
            <a:pPr algn="l"/>
            <a:r>
              <a:rPr sz="2000" dirty="0">
                <a:solidFill>
                  <a:srgbClr val="FFFFFF"/>
                </a:solidFill>
                <a:latin typeface="Consolas"/>
              </a:rPr>
              <a:t>  Form[</a:t>
            </a:r>
            <a:r>
              <a:rPr sz="2000" dirty="0" err="1">
                <a:solidFill>
                  <a:srgbClr val="FFFFFF"/>
                </a:solidFill>
                <a:latin typeface="Consolas"/>
              </a:rPr>
              <a:t>useForm</a:t>
            </a:r>
            <a:r>
              <a:rPr sz="2000" dirty="0">
                <a:solidFill>
                  <a:srgbClr val="FFFFFF"/>
                </a:solidFill>
                <a:latin typeface="Consolas"/>
              </a:rPr>
              <a:t> + Zod]</a:t>
            </a:r>
          </a:p>
          <a:p>
            <a:pPr algn="l"/>
            <a:r>
              <a:rPr sz="2000" dirty="0">
                <a:solidFill>
                  <a:srgbClr val="FFFFFF"/>
                </a:solidFill>
                <a:latin typeface="Consolas"/>
              </a:rPr>
              <a:t>  Store[</a:t>
            </a:r>
            <a:r>
              <a:rPr sz="2000" dirty="0" err="1">
                <a:solidFill>
                  <a:srgbClr val="FFFFFF"/>
                </a:solidFill>
                <a:latin typeface="Consolas"/>
              </a:rPr>
              <a:t>AsyncStorage</a:t>
            </a:r>
            <a:r>
              <a:rPr sz="2000" dirty="0">
                <a:solidFill>
                  <a:srgbClr val="FFFFFF"/>
                </a:solidFill>
                <a:latin typeface="Consolas"/>
              </a:rPr>
              <a:t>]</a:t>
            </a:r>
          </a:p>
          <a:p>
            <a:pPr algn="l"/>
            <a:r>
              <a:rPr sz="2000" dirty="0">
                <a:solidFill>
                  <a:srgbClr val="FFFFFF"/>
                </a:solidFill>
                <a:latin typeface="Consolas"/>
              </a:rPr>
              <a:t>  API[API client / fetch]</a:t>
            </a:r>
          </a:p>
          <a:p>
            <a:pPr algn="l"/>
            <a:r>
              <a:rPr sz="2000" dirty="0">
                <a:solidFill>
                  <a:srgbClr val="FFFFFF"/>
                </a:solidFill>
                <a:latin typeface="Consolas"/>
              </a:rPr>
              <a:t>  DB[(</a:t>
            </a:r>
            <a:r>
              <a:rPr sz="2000" dirty="0" err="1">
                <a:solidFill>
                  <a:srgbClr val="FFFFFF"/>
                </a:solidFill>
                <a:latin typeface="Consolas"/>
              </a:rPr>
              <a:t>Supabase</a:t>
            </a:r>
            <a:r>
              <a:rPr sz="2000" dirty="0">
                <a:solidFill>
                  <a:srgbClr val="FFFFFF"/>
                </a:solidFill>
                <a:latin typeface="Consolas"/>
              </a:rPr>
              <a:t> DB)]</a:t>
            </a:r>
          </a:p>
          <a:p>
            <a:pPr algn="l"/>
            <a:endParaRPr sz="2000" dirty="0">
              <a:solidFill>
                <a:srgbClr val="FFFFFF"/>
              </a:solidFill>
              <a:latin typeface="Consolas"/>
            </a:endParaRPr>
          </a:p>
          <a:p>
            <a:pPr algn="l"/>
            <a:r>
              <a:rPr sz="2000" dirty="0">
                <a:solidFill>
                  <a:srgbClr val="FFFFFF"/>
                </a:solidFill>
                <a:latin typeface="Consolas"/>
              </a:rPr>
              <a:t>  Home --&gt; Form</a:t>
            </a:r>
          </a:p>
          <a:p>
            <a:pPr algn="l"/>
            <a:r>
              <a:rPr sz="2000" dirty="0">
                <a:solidFill>
                  <a:srgbClr val="FFFFFF"/>
                </a:solidFill>
                <a:latin typeface="Consolas"/>
              </a:rPr>
              <a:t>  Courses --&gt; API</a:t>
            </a:r>
          </a:p>
          <a:p>
            <a:pPr algn="l"/>
            <a:r>
              <a:rPr sz="2000" dirty="0">
                <a:solidFill>
                  <a:srgbClr val="FFFFFF"/>
                </a:solidFill>
                <a:latin typeface="Consolas"/>
              </a:rPr>
              <a:t>  Form --&gt; Store</a:t>
            </a:r>
          </a:p>
          <a:p>
            <a:pPr algn="l"/>
            <a:r>
              <a:rPr sz="2000" dirty="0">
                <a:solidFill>
                  <a:srgbClr val="FFFFFF"/>
                </a:solidFill>
                <a:latin typeface="Consolas"/>
              </a:rPr>
              <a:t>  API --&gt; DB</a:t>
            </a:r>
          </a:p>
          <a:p>
            <a:pPr algn="l"/>
            <a:r>
              <a:rPr sz="2000" dirty="0">
                <a:solidFill>
                  <a:srgbClr val="FFFFFF"/>
                </a:solidFill>
                <a:latin typeface="Consolas"/>
              </a:rPr>
              <a:t>  Store -.cache.-&gt; Courses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21297"/>
            <a:ext cx="73393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111827"/>
                </a:solidFill>
              </a:rPr>
              <a:t>Why instructors love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415657"/>
            <a:ext cx="7339367" cy="658368"/>
          </a:xfrm>
          <a:prstGeom prst="roundRect">
            <a:avLst/>
          </a:prstGeom>
          <a:solidFill>
            <a:srgbClr val="F0F4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" name="TextBox 8"/>
          <p:cNvSpPr txBox="1"/>
          <p:nvPr/>
        </p:nvSpPr>
        <p:spPr>
          <a:xfrm>
            <a:off x="4847870" y="2507097"/>
            <a:ext cx="69661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11827"/>
                </a:solidFill>
              </a:rPr>
              <a:t>-&gt; It's just text - version-controlled with your 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3192897"/>
            <a:ext cx="7339367" cy="658368"/>
          </a:xfrm>
          <a:prstGeom prst="roundRect">
            <a:avLst/>
          </a:prstGeom>
          <a:solidFill>
            <a:srgbClr val="F0F4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" name="TextBox 10"/>
          <p:cNvSpPr txBox="1"/>
          <p:nvPr/>
        </p:nvSpPr>
        <p:spPr>
          <a:xfrm>
            <a:off x="4847870" y="3284337"/>
            <a:ext cx="69661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11827"/>
                </a:solidFill>
              </a:rPr>
              <a:t>-&gt; GitHub &amp; VS Code render it automatically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3970137"/>
            <a:ext cx="7339367" cy="658368"/>
          </a:xfrm>
          <a:prstGeom prst="roundRect">
            <a:avLst/>
          </a:prstGeom>
          <a:solidFill>
            <a:srgbClr val="F0F4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3" name="TextBox 12"/>
          <p:cNvSpPr txBox="1"/>
          <p:nvPr/>
        </p:nvSpPr>
        <p:spPr>
          <a:xfrm>
            <a:off x="4847870" y="4061577"/>
            <a:ext cx="69661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11827"/>
                </a:solidFill>
              </a:rPr>
              <a:t>-&gt; Change a line, the picture updates - no redraw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4747377"/>
            <a:ext cx="7339367" cy="658368"/>
          </a:xfrm>
          <a:prstGeom prst="roundRect">
            <a:avLst/>
          </a:prstGeom>
          <a:solidFill>
            <a:srgbClr val="F0F4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5" name="TextBox 14"/>
          <p:cNvSpPr txBox="1"/>
          <p:nvPr/>
        </p:nvSpPr>
        <p:spPr>
          <a:xfrm>
            <a:off x="4847870" y="4838817"/>
            <a:ext cx="69661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11827"/>
                </a:solidFill>
              </a:rPr>
              <a:t>-&gt; [(...)] = a database . -.-&gt; = an optional/cache link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5524617"/>
            <a:ext cx="7339367" cy="658368"/>
          </a:xfrm>
          <a:prstGeom prst="roundRect">
            <a:avLst/>
          </a:prstGeom>
          <a:solidFill>
            <a:srgbClr val="F0F4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7" name="TextBox 16"/>
          <p:cNvSpPr txBox="1"/>
          <p:nvPr/>
        </p:nvSpPr>
        <p:spPr>
          <a:xfrm>
            <a:off x="4847870" y="5616057"/>
            <a:ext cx="69661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11827"/>
                </a:solidFill>
              </a:rPr>
              <a:t>-&gt; You don't need it for the exam - but it's a great habit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21 / 46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0224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111827"/>
                </a:solidFill>
              </a:rPr>
              <a:t>Common </a:t>
            </a:r>
            <a:r>
              <a:rPr lang="en-US" sz="3600" b="1" i="0" dirty="0">
                <a:solidFill>
                  <a:srgbClr val="111827"/>
                </a:solidFill>
              </a:rPr>
              <a:t>Architecture </a:t>
            </a:r>
            <a:r>
              <a:rPr sz="3600" b="1" i="0" dirty="0">
                <a:solidFill>
                  <a:srgbClr val="111827"/>
                </a:solidFill>
              </a:rPr>
              <a:t>Diagram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841248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b="0" dirty="0"/>
              <a:t>The four that make a diagram useless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34367" y="1534696"/>
            <a:ext cx="11731625" cy="106070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7" name="Rectangle 6"/>
          <p:cNvSpPr/>
          <p:nvPr/>
        </p:nvSpPr>
        <p:spPr>
          <a:xfrm>
            <a:off x="334367" y="1534696"/>
            <a:ext cx="76303" cy="106070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8" name="TextBox 7"/>
          <p:cNvSpPr txBox="1"/>
          <p:nvPr/>
        </p:nvSpPr>
        <p:spPr>
          <a:xfrm>
            <a:off x="562968" y="1662712"/>
            <a:ext cx="112547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C2626"/>
                </a:solidFill>
              </a:rPr>
              <a:t>-  Boxes with no clear job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968" y="2083336"/>
            <a:ext cx="1150302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 dirty="0"/>
              <a:t>A box labelled "stuff" or "logic" hides the decision you were supposed to make. Name the responsibility.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367" y="2741704"/>
            <a:ext cx="11731625" cy="106070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11" name="Rectangle 10"/>
          <p:cNvSpPr/>
          <p:nvPr/>
        </p:nvSpPr>
        <p:spPr>
          <a:xfrm>
            <a:off x="334367" y="2741704"/>
            <a:ext cx="76303" cy="106070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12" name="TextBox 11"/>
          <p:cNvSpPr txBox="1"/>
          <p:nvPr/>
        </p:nvSpPr>
        <p:spPr>
          <a:xfrm>
            <a:off x="562968" y="2869720"/>
            <a:ext cx="112547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C2626"/>
                </a:solidFill>
              </a:rPr>
              <a:t>-  Arrows with no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968" y="3290344"/>
            <a:ext cx="112547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/>
              <a:t>An </a:t>
            </a:r>
            <a:r>
              <a:rPr sz="2200" b="0" i="0" dirty="0" err="1"/>
              <a:t>unlabelled</a:t>
            </a:r>
            <a:r>
              <a:rPr sz="2200" b="0" i="0" dirty="0"/>
              <a:t> arrow says "these are connected" but not how. Always write what travels along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367" y="3948712"/>
            <a:ext cx="11731625" cy="106070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15" name="Rectangle 14"/>
          <p:cNvSpPr/>
          <p:nvPr/>
        </p:nvSpPr>
        <p:spPr>
          <a:xfrm>
            <a:off x="334367" y="3948712"/>
            <a:ext cx="76303" cy="106070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16" name="TextBox 15"/>
          <p:cNvSpPr txBox="1"/>
          <p:nvPr/>
        </p:nvSpPr>
        <p:spPr>
          <a:xfrm>
            <a:off x="562968" y="4076728"/>
            <a:ext cx="112547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C2626"/>
                </a:solidFill>
              </a:rPr>
              <a:t>-  Drawing the whole world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968" y="4497352"/>
            <a:ext cx="112547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/>
              <a:t>Twenty boxes nobody can read. Diagram ONE feature or ONE layer at the right zoom level.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4367" y="5155720"/>
            <a:ext cx="11731625" cy="106070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19" name="Rectangle 18"/>
          <p:cNvSpPr/>
          <p:nvPr/>
        </p:nvSpPr>
        <p:spPr>
          <a:xfrm>
            <a:off x="334367" y="5155720"/>
            <a:ext cx="76303" cy="106070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20" name="TextBox 19"/>
          <p:cNvSpPr txBox="1"/>
          <p:nvPr/>
        </p:nvSpPr>
        <p:spPr>
          <a:xfrm>
            <a:off x="562968" y="5283736"/>
            <a:ext cx="112547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C2626"/>
                </a:solidFill>
              </a:rPr>
              <a:t>-  Never updating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968" y="5704360"/>
            <a:ext cx="112547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/>
              <a:t>A diagram that lies is worse than none. Keep it in the repo (Mermaid) so it updates with the code.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22 / 46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" y="2168625"/>
            <a:ext cx="1218882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 dirty="0">
                <a:solidFill>
                  <a:srgbClr val="FFFFFF"/>
                </a:solidFill>
              </a:rPr>
              <a:t>Choices &amp;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448784"/>
            <a:ext cx="121888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 dirty="0">
                <a:solidFill>
                  <a:srgbClr val="BFDBFF"/>
                </a:solidFill>
              </a:rPr>
              <a:t>Part 4 . There is no "best" - only the right fit for your context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576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Understanding Architecture Trade-Offs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4048" y="841248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/>
              <a:t>Every architectural choice trades one good thing for another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9" y="1427644"/>
            <a:ext cx="115502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111827"/>
                </a:solidFill>
              </a:rPr>
              <a:t>Beginners want a rule: "always use X." Senior developers ask "what are we optimizing for?" The same choice can be</a:t>
            </a:r>
            <a:r>
              <a:rPr lang="en-US" sz="2400" b="0" i="0" dirty="0">
                <a:solidFill>
                  <a:srgbClr val="111827"/>
                </a:solidFill>
              </a:rPr>
              <a:t> </a:t>
            </a:r>
            <a:r>
              <a:rPr sz="2400" b="0" i="0" dirty="0">
                <a:solidFill>
                  <a:srgbClr val="111827"/>
                </a:solidFill>
              </a:rPr>
              <a:t>right for one app and wrong for another. Your job is not to </a:t>
            </a:r>
            <a:r>
              <a:rPr lang="en-US" sz="2400" b="0" i="0" dirty="0">
                <a:solidFill>
                  <a:srgbClr val="111827"/>
                </a:solidFill>
              </a:rPr>
              <a:t>memorize</a:t>
            </a:r>
            <a:r>
              <a:rPr sz="2400" b="0" i="0" dirty="0">
                <a:solidFill>
                  <a:srgbClr val="111827"/>
                </a:solidFill>
              </a:rPr>
              <a:t> answers - it's to weigh the trade-offs.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48698" y="3764110"/>
            <a:ext cx="46361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0000"/>
                </a:solidFill>
              </a:rPr>
              <a:t>You usually can't max all three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84433" y="2930918"/>
            <a:ext cx="1645920" cy="64008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2984433" y="302713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</a:rPr>
              <a:t>Simple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21392" y="4548171"/>
            <a:ext cx="1645920" cy="6400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1521392" y="4644387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</a:rPr>
              <a:t>Fast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38913" y="4548171"/>
            <a:ext cx="1645920" cy="6400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4538913" y="463073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</a:rPr>
              <a:t>Powerful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9" y="5399363"/>
            <a:ext cx="7137922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400" b="0" dirty="0"/>
              <a:t>Pick a </a:t>
            </a:r>
            <a:r>
              <a:rPr lang="en-US" sz="2400" b="0" dirty="0"/>
              <a:t>DB</a:t>
            </a:r>
            <a:r>
              <a:rPr sz="2400" b="0" dirty="0"/>
              <a:t> for power and you pay in setup time.</a:t>
            </a:r>
          </a:p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400" b="0" dirty="0"/>
              <a:t>Pick </a:t>
            </a:r>
            <a:r>
              <a:rPr sz="2400" b="0" dirty="0" err="1"/>
              <a:t>AsyncStorage</a:t>
            </a:r>
            <a:r>
              <a:rPr sz="2400" b="0" dirty="0"/>
              <a:t> for simple and you give up queries.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67813" y="2307160"/>
            <a:ext cx="4766484" cy="4297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16" name="TextBox 15"/>
          <p:cNvSpPr txBox="1"/>
          <p:nvPr/>
        </p:nvSpPr>
        <p:spPr>
          <a:xfrm>
            <a:off x="7396413" y="2444320"/>
            <a:ext cx="5212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1827"/>
                </a:solidFill>
              </a:rPr>
              <a:t>Common axes you trade along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6413" y="2947240"/>
            <a:ext cx="5303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563EB"/>
                </a:solidFill>
              </a:rPr>
              <a:t>. Simplicity vs Power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79293" y="3248992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/>
              <a:t>Easy to learn vs does more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6413" y="3660472"/>
            <a:ext cx="5303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563EB"/>
                </a:solidFill>
              </a:rPr>
              <a:t>. Speed to build vs Scales later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9293" y="3962224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/>
              <a:t>Ship now vs grow without a rewrite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96413" y="4373704"/>
            <a:ext cx="5303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563EB"/>
                </a:solidFill>
              </a:rPr>
              <a:t>. Offline vs Always fresh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79293" y="4675456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/>
              <a:t>Works on the bus vs always current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6413" y="5086936"/>
            <a:ext cx="5303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563EB"/>
                </a:solidFill>
              </a:rPr>
              <a:t>. Cost vs Convenience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9293" y="5388688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/>
              <a:t>Free &amp; manual vs paid &amp; managed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96413" y="5800168"/>
            <a:ext cx="5303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563EB"/>
                </a:solidFill>
              </a:rPr>
              <a:t>. Control vs Less 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79293" y="6101920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/>
              <a:t>DIY vs trust a provider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69096" y="65742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6B7280"/>
                </a:solidFill>
              </a:rPr>
              <a:t>24 / 46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576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Architecture Selection Decision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4048" y="841248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dirty="0"/>
              <a:t>Five questions to ask before you pick anything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439160"/>
            <a:ext cx="11247120" cy="85953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Rounded Rectangle 6"/>
          <p:cNvSpPr/>
          <p:nvPr/>
        </p:nvSpPr>
        <p:spPr>
          <a:xfrm>
            <a:off x="594360" y="1622040"/>
            <a:ext cx="50292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594360" y="167690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7000"/>
            <a:ext cx="10241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F0000"/>
                </a:solidFill>
              </a:rPr>
              <a:t>What problem am I actually solving?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878344"/>
            <a:ext cx="10241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Write it in one sentence. Half of all over-engineering dies here.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26712"/>
            <a:ext cx="11247120" cy="85953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Rounded Rectangle 11"/>
          <p:cNvSpPr/>
          <p:nvPr/>
        </p:nvSpPr>
        <p:spPr>
          <a:xfrm>
            <a:off x="594360" y="2609592"/>
            <a:ext cx="50292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594360" y="266445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468200"/>
            <a:ext cx="10241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F0000"/>
                </a:solidFill>
              </a:rPr>
              <a:t>How</a:t>
            </a:r>
            <a:r>
              <a:rPr sz="2400" b="1" i="0" dirty="0">
                <a:solidFill>
                  <a:srgbClr val="111827"/>
                </a:solidFill>
              </a:rPr>
              <a:t> </a:t>
            </a:r>
            <a:r>
              <a:rPr sz="2400" b="1" dirty="0">
                <a:solidFill>
                  <a:srgbClr val="FF0000"/>
                </a:solidFill>
              </a:rPr>
              <a:t>much data, and how complex?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879544"/>
            <a:ext cx="10241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Five settings vs ten thousand searchable records point to different tools.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14264"/>
            <a:ext cx="11247120" cy="85953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Rounded Rectangle 16"/>
          <p:cNvSpPr/>
          <p:nvPr/>
        </p:nvSpPr>
        <p:spPr>
          <a:xfrm>
            <a:off x="594360" y="3597144"/>
            <a:ext cx="50292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594360" y="365200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469400"/>
            <a:ext cx="10241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F0000"/>
                </a:solidFill>
              </a:rPr>
              <a:t>Does it need to be shared, or stay on this phone?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867096"/>
            <a:ext cx="10241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Shared = server. Just-this-device = local storage.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01816"/>
            <a:ext cx="11247120" cy="85953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Rounded Rectangle 21"/>
          <p:cNvSpPr/>
          <p:nvPr/>
        </p:nvSpPr>
        <p:spPr>
          <a:xfrm>
            <a:off x="594360" y="4584696"/>
            <a:ext cx="50292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TextBox 22"/>
          <p:cNvSpPr txBox="1"/>
          <p:nvPr/>
        </p:nvSpPr>
        <p:spPr>
          <a:xfrm>
            <a:off x="594360" y="46395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429656"/>
            <a:ext cx="10241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F0000"/>
                </a:solidFill>
              </a:rPr>
              <a:t>What happens offline / on failure?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854648"/>
            <a:ext cx="10241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If the answer matters, it shapes your whole data layer.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389368"/>
            <a:ext cx="11247120" cy="85953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Rounded Rectangle 26"/>
          <p:cNvSpPr/>
          <p:nvPr/>
        </p:nvSpPr>
        <p:spPr>
          <a:xfrm>
            <a:off x="594360" y="5572248"/>
            <a:ext cx="50292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TextBox 27"/>
          <p:cNvSpPr txBox="1"/>
          <p:nvPr/>
        </p:nvSpPr>
        <p:spPr>
          <a:xfrm>
            <a:off x="594360" y="562711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403560"/>
            <a:ext cx="10241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F0000"/>
                </a:solidFill>
              </a:rPr>
              <a:t>What's the simplest thing that works?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828552"/>
            <a:ext cx="10241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Default to the smallest option. You can always grow into a bigger one.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6B7280"/>
                </a:solidFill>
              </a:rPr>
              <a:t>25 / 46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700" b="1" i="0" dirty="0">
                <a:solidFill>
                  <a:srgbClr val="111827"/>
                </a:solidFill>
              </a:rPr>
              <a:t>Documenting Architecture Decisions</a:t>
            </a:r>
            <a:endParaRPr sz="2700" b="1" i="0" dirty="0">
              <a:solidFill>
                <a:srgbClr val="111827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8363" y="841248"/>
            <a:ext cx="1197046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111827"/>
                </a:solidFill>
              </a:rPr>
              <a:t>Architecture Decision Record (</a:t>
            </a:r>
            <a:r>
              <a:rPr sz="2500" b="0" dirty="0"/>
              <a:t>ADR</a:t>
            </a:r>
            <a:r>
              <a:rPr lang="en-US" sz="2500" b="0" dirty="0"/>
              <a:t>):</a:t>
            </a:r>
            <a:r>
              <a:rPr sz="2500" b="0" dirty="0"/>
              <a:t> a few lines that save future-you an argument</a:t>
            </a:r>
            <a:endParaRPr lang="en-US" sz="2500" b="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111827"/>
                </a:solidFill>
              </a:rPr>
              <a:t>ADR is a tiny note explaining what you chose and WHY. Months later nobody remembers the reasoning - the ADR does. Keep them in a /docs folder next to your code.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9188" y="2442949"/>
            <a:ext cx="4706832" cy="434189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73152" bIns="54864" rtlCol="0" anchor="ctr"/>
          <a:lstStyle/>
          <a:p>
            <a:pPr algn="l"/>
            <a:r>
              <a:rPr sz="1400" dirty="0">
                <a:solidFill>
                  <a:srgbClr val="FFFFFF"/>
                </a:solidFill>
                <a:latin typeface="Consolas"/>
              </a:rPr>
              <a:t># ADR 003: Use </a:t>
            </a:r>
            <a:r>
              <a:rPr sz="1400" dirty="0" err="1">
                <a:solidFill>
                  <a:srgbClr val="FFFFFF"/>
                </a:solidFill>
                <a:latin typeface="Consolas"/>
              </a:rPr>
              <a:t>AsyncStorage</a:t>
            </a:r>
            <a:r>
              <a:rPr sz="1400" dirty="0">
                <a:solidFill>
                  <a:srgbClr val="FFFFFF"/>
                </a:solidFill>
                <a:latin typeface="Consolas"/>
              </a:rPr>
              <a:t> for the</a:t>
            </a:r>
          </a:p>
          <a:p>
            <a:pPr algn="l"/>
            <a:r>
              <a:rPr sz="1400" dirty="0">
                <a:solidFill>
                  <a:srgbClr val="FFFFFF"/>
                </a:solidFill>
                <a:latin typeface="Consolas"/>
              </a:rPr>
              <a:t>#          "recently viewed courses" list</a:t>
            </a:r>
          </a:p>
          <a:p>
            <a:pPr algn="l"/>
            <a:endParaRPr sz="1400" dirty="0">
              <a:solidFill>
                <a:srgbClr val="FFFFFF"/>
              </a:solidFill>
              <a:latin typeface="Consolas"/>
            </a:endParaRPr>
          </a:p>
          <a:p>
            <a:pPr algn="l"/>
            <a:r>
              <a:rPr sz="1400" dirty="0">
                <a:solidFill>
                  <a:srgbClr val="FFFFFF"/>
                </a:solidFill>
                <a:latin typeface="Consolas"/>
              </a:rPr>
              <a:t>Status:   Accepted</a:t>
            </a:r>
          </a:p>
          <a:p>
            <a:pPr algn="l"/>
            <a:r>
              <a:rPr sz="1400" dirty="0">
                <a:solidFill>
                  <a:srgbClr val="FFFFFF"/>
                </a:solidFill>
                <a:latin typeface="Consolas"/>
              </a:rPr>
              <a:t>Date:     2026-03-02</a:t>
            </a:r>
          </a:p>
          <a:p>
            <a:pPr algn="l"/>
            <a:endParaRPr sz="1400" dirty="0">
              <a:solidFill>
                <a:srgbClr val="FFFFFF"/>
              </a:solidFill>
              <a:latin typeface="Consolas"/>
            </a:endParaRPr>
          </a:p>
          <a:p>
            <a:pPr algn="l"/>
            <a:r>
              <a:rPr sz="1400" dirty="0">
                <a:solidFill>
                  <a:srgbClr val="FFFFFF"/>
                </a:solidFill>
                <a:latin typeface="Consolas"/>
              </a:rPr>
              <a:t>Context:</a:t>
            </a:r>
          </a:p>
          <a:p>
            <a:pPr algn="l"/>
            <a:r>
              <a:rPr sz="1400" dirty="0">
                <a:solidFill>
                  <a:srgbClr val="FFFFFF"/>
                </a:solidFill>
                <a:latin typeface="Consolas"/>
              </a:rPr>
              <a:t>  We want the home screen to show the last</a:t>
            </a:r>
          </a:p>
          <a:p>
            <a:pPr algn="l"/>
            <a:r>
              <a:rPr sz="1400" dirty="0">
                <a:solidFill>
                  <a:srgbClr val="FFFFFF"/>
                </a:solidFill>
                <a:latin typeface="Consolas"/>
              </a:rPr>
              <a:t>  courses the user opened, even after they</a:t>
            </a:r>
          </a:p>
          <a:p>
            <a:pPr algn="l"/>
            <a:r>
              <a:rPr sz="1400" dirty="0">
                <a:solidFill>
                  <a:srgbClr val="FFFFFF"/>
                </a:solidFill>
                <a:latin typeface="Consolas"/>
              </a:rPr>
              <a:t>  close the app. It's a short list, only</a:t>
            </a:r>
          </a:p>
          <a:p>
            <a:pPr algn="l"/>
            <a:r>
              <a:rPr sz="1400" dirty="0">
                <a:solidFill>
                  <a:srgbClr val="FFFFFF"/>
                </a:solidFill>
                <a:latin typeface="Consolas"/>
              </a:rPr>
              <a:t>  this user cares, never shared.</a:t>
            </a:r>
          </a:p>
          <a:p>
            <a:pPr algn="l"/>
            <a:endParaRPr sz="1400" dirty="0">
              <a:solidFill>
                <a:srgbClr val="FFFFFF"/>
              </a:solidFill>
              <a:latin typeface="Consolas"/>
            </a:endParaRPr>
          </a:p>
          <a:p>
            <a:pPr algn="l"/>
            <a:r>
              <a:rPr sz="1400" dirty="0">
                <a:solidFill>
                  <a:srgbClr val="FFFFFF"/>
                </a:solidFill>
                <a:latin typeface="Consolas"/>
              </a:rPr>
              <a:t>Decision:</a:t>
            </a:r>
          </a:p>
          <a:p>
            <a:pPr algn="l"/>
            <a:r>
              <a:rPr sz="1400" dirty="0">
                <a:solidFill>
                  <a:srgbClr val="FFFFFF"/>
                </a:solidFill>
                <a:latin typeface="Consolas"/>
              </a:rPr>
              <a:t>  Store it in </a:t>
            </a:r>
            <a:r>
              <a:rPr sz="1400" dirty="0" err="1">
                <a:solidFill>
                  <a:srgbClr val="FFFFFF"/>
                </a:solidFill>
                <a:latin typeface="Consolas"/>
              </a:rPr>
              <a:t>AsyncStorage</a:t>
            </a:r>
            <a:r>
              <a:rPr sz="1400" dirty="0">
                <a:solidFill>
                  <a:srgbClr val="FFFFFF"/>
                </a:solidFill>
                <a:latin typeface="Consolas"/>
              </a:rPr>
              <a:t> as JSON.</a:t>
            </a:r>
          </a:p>
          <a:p>
            <a:pPr algn="l"/>
            <a:endParaRPr sz="1400" dirty="0">
              <a:solidFill>
                <a:srgbClr val="FFFFFF"/>
              </a:solidFill>
              <a:latin typeface="Consolas"/>
            </a:endParaRPr>
          </a:p>
          <a:p>
            <a:pPr algn="l"/>
            <a:r>
              <a:rPr sz="1400" dirty="0">
                <a:solidFill>
                  <a:srgbClr val="FFFFFF"/>
                </a:solidFill>
                <a:latin typeface="Consolas"/>
              </a:rPr>
              <a:t>Consequences:</a:t>
            </a:r>
          </a:p>
          <a:p>
            <a:pPr algn="l"/>
            <a:r>
              <a:rPr sz="1400" dirty="0">
                <a:solidFill>
                  <a:srgbClr val="FFFFFF"/>
                </a:solidFill>
                <a:latin typeface="Consolas"/>
              </a:rPr>
              <a:t>  + No backend needed, works offline.</a:t>
            </a:r>
          </a:p>
          <a:p>
            <a:pPr algn="l"/>
            <a:r>
              <a:rPr sz="1400" dirty="0">
                <a:solidFill>
                  <a:srgbClr val="FFFFFF"/>
                </a:solidFill>
                <a:latin typeface="Consolas"/>
              </a:rPr>
              <a:t>  - Lost if the app is uninstalled (fine).</a:t>
            </a:r>
          </a:p>
          <a:p>
            <a:pPr algn="l"/>
            <a:r>
              <a:rPr sz="1400" dirty="0">
                <a:solidFill>
                  <a:srgbClr val="FFFFFF"/>
                </a:solidFill>
                <a:latin typeface="Consolas"/>
              </a:rPr>
              <a:t>  - Not searchable (we don't need that).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49695" y="2251883"/>
            <a:ext cx="45862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0000"/>
                </a:solidFill>
              </a:rPr>
              <a:t>The four headings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2558" y="2754803"/>
            <a:ext cx="4858603" cy="777240"/>
          </a:xfrm>
          <a:prstGeom prst="roundRect">
            <a:avLst/>
          </a:prstGeom>
          <a:solidFill>
            <a:srgbClr val="F0F4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0" name="TextBox 9"/>
          <p:cNvSpPr txBox="1"/>
          <p:nvPr/>
        </p:nvSpPr>
        <p:spPr>
          <a:xfrm>
            <a:off x="6538449" y="2714403"/>
            <a:ext cx="44929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2563EB"/>
                </a:solidFill>
              </a:rPr>
              <a:t>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8449" y="3093539"/>
            <a:ext cx="44929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111827"/>
                </a:solidFill>
              </a:rPr>
              <a:t>What's the situation &amp; need?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2558" y="3669203"/>
            <a:ext cx="4858603" cy="777240"/>
          </a:xfrm>
          <a:prstGeom prst="roundRect">
            <a:avLst/>
          </a:prstGeom>
          <a:solidFill>
            <a:srgbClr val="F0F4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3" name="TextBox 12"/>
          <p:cNvSpPr txBox="1"/>
          <p:nvPr/>
        </p:nvSpPr>
        <p:spPr>
          <a:xfrm>
            <a:off x="6538449" y="3628803"/>
            <a:ext cx="44929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2563EB"/>
                </a:solidFill>
              </a:rPr>
              <a:t>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8449" y="3994291"/>
            <a:ext cx="44929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111827"/>
                </a:solidFill>
              </a:rPr>
              <a:t>What did we choose to do?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32558" y="4583603"/>
            <a:ext cx="4858603" cy="777240"/>
          </a:xfrm>
          <a:prstGeom prst="roundRect">
            <a:avLst/>
          </a:prstGeom>
          <a:solidFill>
            <a:srgbClr val="F0F4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6" name="TextBox 15"/>
          <p:cNvSpPr txBox="1"/>
          <p:nvPr/>
        </p:nvSpPr>
        <p:spPr>
          <a:xfrm>
            <a:off x="6538449" y="4570499"/>
            <a:ext cx="44929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2563EB"/>
                </a:solidFill>
              </a:rPr>
              <a:t>Consequences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8449" y="4908691"/>
            <a:ext cx="44929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111827"/>
                </a:solidFill>
              </a:rPr>
              <a:t>The good AND the bad we accept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32558" y="5525299"/>
            <a:ext cx="4858603" cy="777240"/>
          </a:xfrm>
          <a:prstGeom prst="roundRect">
            <a:avLst/>
          </a:prstGeom>
          <a:solidFill>
            <a:srgbClr val="F0F4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9" name="TextBox 18"/>
          <p:cNvSpPr txBox="1"/>
          <p:nvPr/>
        </p:nvSpPr>
        <p:spPr>
          <a:xfrm>
            <a:off x="6538449" y="5484899"/>
            <a:ext cx="44929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2563EB"/>
                </a:solidFill>
              </a:rPr>
              <a:t>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8449" y="5850387"/>
            <a:ext cx="44929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111827"/>
                </a:solidFill>
              </a:rPr>
              <a:t>Proposed / Accepted / Replaced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26 / 46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-1" y="2195923"/>
            <a:ext cx="1218882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 dirty="0">
                <a:solidFill>
                  <a:srgbClr val="FFFFFF"/>
                </a:solidFill>
              </a:rPr>
              <a:t>Where Does Data Live?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476082"/>
            <a:ext cx="121888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 dirty="0">
                <a:solidFill>
                  <a:srgbClr val="BFDBFF"/>
                </a:solidFill>
              </a:rPr>
              <a:t>Part 5 . </a:t>
            </a:r>
            <a:r>
              <a:rPr sz="2800" b="0" i="0" dirty="0" err="1">
                <a:solidFill>
                  <a:srgbClr val="BFDBFF"/>
                </a:solidFill>
              </a:rPr>
              <a:t>AsyncStorage</a:t>
            </a:r>
            <a:r>
              <a:rPr sz="2800" b="0" i="0" dirty="0">
                <a:solidFill>
                  <a:srgbClr val="BFDBFF"/>
                </a:solidFill>
              </a:rPr>
              <a:t> vs a database - the classic trade-off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576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Data</a:t>
            </a:r>
            <a:r>
              <a:rPr sz="3600" b="1" i="0" dirty="0">
                <a:solidFill>
                  <a:srgbClr val="111827"/>
                </a:solidFill>
              </a:rPr>
              <a:t> Storage </a:t>
            </a:r>
            <a:r>
              <a:rPr lang="en-US" sz="3600" b="1" dirty="0">
                <a:solidFill>
                  <a:srgbClr val="111827"/>
                </a:solidFill>
              </a:rPr>
              <a:t>Options in Mobile App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4048" y="923136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/>
              <a:t>From "forgotten instantly" to "shared with the world"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402310"/>
            <a:ext cx="11338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1527D7"/>
                </a:solidFill>
              </a:rPr>
              <a:t>Less permanent / simpler  </a:t>
            </a:r>
            <a:r>
              <a:rPr sz="2400" b="1" dirty="0">
                <a:solidFill>
                  <a:srgbClr val="FF0000"/>
                </a:solidFill>
              </a:rPr>
              <a:t>----------------------------------&gt;</a:t>
            </a:r>
            <a:r>
              <a:rPr sz="2400" b="0" dirty="0"/>
              <a:t>  </a:t>
            </a:r>
            <a:r>
              <a:rPr sz="2400" b="1" dirty="0">
                <a:solidFill>
                  <a:srgbClr val="1527D7"/>
                </a:solidFill>
              </a:rPr>
              <a:t>more permanent / more powerful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60136"/>
            <a:ext cx="2743200" cy="345369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060136"/>
            <a:ext cx="2743200" cy="10972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" y="2288736"/>
            <a:ext cx="2377440" cy="64008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685800" y="2316168"/>
            <a:ext cx="228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</a:rPr>
              <a:t>Variable / </a:t>
            </a:r>
            <a:r>
              <a:rPr sz="2000" b="1" i="0" dirty="0" err="1">
                <a:solidFill>
                  <a:srgbClr val="FFFFFF"/>
                </a:solidFill>
              </a:rPr>
              <a:t>useState</a:t>
            </a:r>
            <a:endParaRPr sz="2000" b="1" i="0" dirty="0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3111696"/>
            <a:ext cx="24231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11827"/>
                </a:solidFill>
              </a:rPr>
              <a:t>Gone when the screen closes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08976"/>
            <a:ext cx="2423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6B7280"/>
                </a:solidFill>
              </a:rPr>
              <a:t>Use it for: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4736"/>
            <a:ext cx="24231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11827"/>
                </a:solidFill>
              </a:rPr>
              <a:t>A counter, a toggle while editing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200400" y="3751776"/>
            <a:ext cx="164592" cy="274320"/>
          </a:xfrm>
          <a:prstGeom prst="rightArrow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Rounded Rectangle 14"/>
          <p:cNvSpPr/>
          <p:nvPr/>
        </p:nvSpPr>
        <p:spPr>
          <a:xfrm>
            <a:off x="3364992" y="2060136"/>
            <a:ext cx="2743200" cy="345369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64992" y="2060136"/>
            <a:ext cx="274320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547872" y="2288736"/>
            <a:ext cx="2377440" cy="6400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/>
          <p:cNvSpPr txBox="1"/>
          <p:nvPr/>
        </p:nvSpPr>
        <p:spPr>
          <a:xfrm>
            <a:off x="3593592" y="2316168"/>
            <a:ext cx="228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AsyncStorage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3111696"/>
            <a:ext cx="2423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</a:rPr>
              <a:t>Stays on THIS device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4208976"/>
            <a:ext cx="2423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B7280"/>
                </a:solidFill>
              </a:rPr>
              <a:t>Use it for: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7872" y="4574736"/>
            <a:ext cx="24231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11827"/>
                </a:solidFill>
              </a:rPr>
              <a:t>Theme, login token, small prefs (W9)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108192" y="3751776"/>
            <a:ext cx="164592" cy="274320"/>
          </a:xfrm>
          <a:prstGeom prst="rightArrow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Rounded Rectangle 22"/>
          <p:cNvSpPr/>
          <p:nvPr/>
        </p:nvSpPr>
        <p:spPr>
          <a:xfrm>
            <a:off x="6272784" y="2060136"/>
            <a:ext cx="2743200" cy="345369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72784" y="2060136"/>
            <a:ext cx="274320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55664" y="2288736"/>
            <a:ext cx="2377440" cy="6400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TextBox 25"/>
          <p:cNvSpPr txBox="1"/>
          <p:nvPr/>
        </p:nvSpPr>
        <p:spPr>
          <a:xfrm>
            <a:off x="6501384" y="2275224"/>
            <a:ext cx="228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</a:rPr>
              <a:t>On-device DB (SQLite)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5664" y="3111696"/>
            <a:ext cx="24231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</a:rPr>
              <a:t>Lots of structured local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4208976"/>
            <a:ext cx="2423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B7280"/>
                </a:solidFill>
              </a:rPr>
              <a:t>Use it for: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5664" y="4574736"/>
            <a:ext cx="24231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11827"/>
                </a:solidFill>
              </a:rPr>
              <a:t>Big offline lists you must query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015984" y="3751776"/>
            <a:ext cx="164592" cy="274320"/>
          </a:xfrm>
          <a:prstGeom prst="rightArrow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1" name="Rounded Rectangle 30"/>
          <p:cNvSpPr/>
          <p:nvPr/>
        </p:nvSpPr>
        <p:spPr>
          <a:xfrm>
            <a:off x="9180576" y="2060136"/>
            <a:ext cx="2743200" cy="345369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80576" y="2060136"/>
            <a:ext cx="2743200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363456" y="2288736"/>
            <a:ext cx="2377440" cy="6400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4" name="TextBox 33"/>
          <p:cNvSpPr txBox="1"/>
          <p:nvPr/>
        </p:nvSpPr>
        <p:spPr>
          <a:xfrm>
            <a:off x="9409176" y="2316168"/>
            <a:ext cx="228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Cloud database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63456" y="3111696"/>
            <a:ext cx="24231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</a:rPr>
              <a:t>Shared across users &amp; devices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63456" y="4208976"/>
            <a:ext cx="2423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B7280"/>
                </a:solidFill>
              </a:rPr>
              <a:t>Use it for: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63456" y="4574736"/>
            <a:ext cx="24231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11827"/>
                </a:solidFill>
              </a:rPr>
              <a:t>Courses, profiles, real app data (W12)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37420" y="5795503"/>
            <a:ext cx="9178119" cy="83099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2400" b="1" dirty="0"/>
              <a:t>This course uses the two middle/right options: </a:t>
            </a:r>
            <a:r>
              <a:rPr sz="2400" b="1" dirty="0" err="1"/>
              <a:t>AsyncStorage</a:t>
            </a:r>
            <a:r>
              <a:rPr sz="2400" b="1" dirty="0"/>
              <a:t> (W9) and a </a:t>
            </a:r>
            <a:r>
              <a:rPr sz="2400" b="1" dirty="0" err="1"/>
              <a:t>Supabase</a:t>
            </a:r>
            <a:r>
              <a:rPr sz="2400" b="1" dirty="0"/>
              <a:t> cloud database (W12).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28 / 46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3744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 err="1">
                <a:solidFill>
                  <a:srgbClr val="111827"/>
                </a:solidFill>
              </a:rPr>
              <a:t>AsyncStorage</a:t>
            </a:r>
            <a:r>
              <a:rPr sz="3600" b="1" i="0" dirty="0">
                <a:solidFill>
                  <a:srgbClr val="111827"/>
                </a:solidFill>
              </a:rPr>
              <a:t> - The Device Notebook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198" y="759360"/>
            <a:ext cx="1166761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200" dirty="0"/>
              <a:t>A tiny key-value store that survives app restarts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111827"/>
                </a:solidFill>
              </a:rPr>
              <a:t>It saves small string values on the phone under a key, like a notebook only this app can read. 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111827"/>
                </a:solidFill>
              </a:rPr>
              <a:t>It is asynchronous (returns a Promise), stores STRINGS only, and lives until the app is uninstalled or cleared.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90848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2311251"/>
            <a:ext cx="4879075" cy="309326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73152" bIns="54864" rtlCol="0" anchor="ctr"/>
          <a:lstStyle/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import AsyncStorage from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  "@react-native-async-storage/async-storage"</a:t>
            </a:r>
          </a:p>
          <a:p>
            <a:pPr algn="l"/>
            <a:endParaRPr sz="1400">
              <a:solidFill>
                <a:srgbClr val="FFFFFF"/>
              </a:solidFill>
              <a:latin typeface="Consolas"/>
            </a:endParaRP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// SAVE - objects must be stringified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await AsyncStorage.setItem(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  "theme", JSON.stringify({ dark: true })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)</a:t>
            </a:r>
          </a:p>
          <a:p>
            <a:pPr algn="l"/>
            <a:endParaRPr sz="1400">
              <a:solidFill>
                <a:srgbClr val="FFFFFF"/>
              </a:solidFill>
              <a:latin typeface="Consolas"/>
            </a:endParaRP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// READ - and parsed back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const raw = await AsyncStorage.getItem("theme")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const theme = raw ? JSON.parse(raw) : null</a:t>
            </a:r>
          </a:p>
          <a:p>
            <a:pPr algn="l"/>
            <a:endParaRPr sz="1400">
              <a:solidFill>
                <a:srgbClr val="FFFFFF"/>
              </a:solidFill>
              <a:latin typeface="Consolas"/>
            </a:endParaRP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await AsyncStorage.removeItem("theme")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7153" y="2243011"/>
            <a:ext cx="56774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16A34A"/>
                </a:solidFill>
              </a:rPr>
              <a:t>Reach for it when...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7153" y="2722732"/>
            <a:ext cx="5426895" cy="384048"/>
          </a:xfrm>
          <a:prstGeom prst="roundRect">
            <a:avLst/>
          </a:prstGeom>
          <a:solidFill>
            <a:srgbClr val="F0FFF4"/>
          </a:solidFill>
          <a:ln w="1587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" name="TextBox 9"/>
          <p:cNvSpPr txBox="1"/>
          <p:nvPr/>
        </p:nvSpPr>
        <p:spPr>
          <a:xfrm>
            <a:off x="6534841" y="2768452"/>
            <a:ext cx="537331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111827"/>
                </a:solidFill>
              </a:rPr>
              <a:t>+  The data is small (a few KB)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7153" y="3179932"/>
            <a:ext cx="5426895" cy="384048"/>
          </a:xfrm>
          <a:prstGeom prst="roundRect">
            <a:avLst/>
          </a:prstGeom>
          <a:solidFill>
            <a:srgbClr val="F0FFF4"/>
          </a:solidFill>
          <a:ln w="1587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2" name="TextBox 11"/>
          <p:cNvSpPr txBox="1"/>
          <p:nvPr/>
        </p:nvSpPr>
        <p:spPr>
          <a:xfrm>
            <a:off x="6534841" y="3225652"/>
            <a:ext cx="537331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+  Only THIS device needs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87153" y="3637132"/>
            <a:ext cx="5426895" cy="384048"/>
          </a:xfrm>
          <a:prstGeom prst="roundRect">
            <a:avLst/>
          </a:prstGeom>
          <a:solidFill>
            <a:srgbClr val="F0FFF4"/>
          </a:solidFill>
          <a:ln w="1587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" name="TextBox 13"/>
          <p:cNvSpPr txBox="1"/>
          <p:nvPr/>
        </p:nvSpPr>
        <p:spPr>
          <a:xfrm>
            <a:off x="6534841" y="3682852"/>
            <a:ext cx="537331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+  It's simple: prefs, flags, a token, a cache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87153" y="4094332"/>
            <a:ext cx="5426895" cy="384048"/>
          </a:xfrm>
          <a:prstGeom prst="roundRect">
            <a:avLst/>
          </a:prstGeom>
          <a:solidFill>
            <a:srgbClr val="F0FFF4"/>
          </a:solidFill>
          <a:ln w="1587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6" name="TextBox 15"/>
          <p:cNvSpPr txBox="1"/>
          <p:nvPr/>
        </p:nvSpPr>
        <p:spPr>
          <a:xfrm>
            <a:off x="6534841" y="4140052"/>
            <a:ext cx="537331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+  You want it to work fully offline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87153" y="4551532"/>
            <a:ext cx="5426895" cy="384048"/>
          </a:xfrm>
          <a:prstGeom prst="roundRect">
            <a:avLst/>
          </a:prstGeom>
          <a:solidFill>
            <a:srgbClr val="F0FFF4"/>
          </a:solidFill>
          <a:ln w="1587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8" name="TextBox 17"/>
          <p:cNvSpPr txBox="1"/>
          <p:nvPr/>
        </p:nvSpPr>
        <p:spPr>
          <a:xfrm>
            <a:off x="6534841" y="4597252"/>
            <a:ext cx="537331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+  You don't need to search or relate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472" y="5539692"/>
            <a:ext cx="11323070" cy="110799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111827"/>
                </a:solidFill>
              </a:rPr>
              <a:t>Three </a:t>
            </a:r>
            <a:r>
              <a:rPr lang="en-US" sz="2200" b="0" i="0" dirty="0">
                <a:solidFill>
                  <a:srgbClr val="111827"/>
                </a:solidFill>
              </a:rPr>
              <a:t>things</a:t>
            </a:r>
            <a:r>
              <a:rPr sz="2200" b="0" i="0" dirty="0">
                <a:solidFill>
                  <a:srgbClr val="111827"/>
                </a:solidFill>
              </a:rPr>
              <a:t>: (1) it stores STRINGS - </a:t>
            </a:r>
            <a:r>
              <a:rPr sz="2200" b="0" i="0" dirty="0" err="1">
                <a:solidFill>
                  <a:srgbClr val="111827"/>
                </a:solidFill>
              </a:rPr>
              <a:t>JSON.stringify</a:t>
            </a:r>
            <a:r>
              <a:rPr sz="2200" b="0" i="0" dirty="0">
                <a:solidFill>
                  <a:srgbClr val="111827"/>
                </a:solidFill>
              </a:rPr>
              <a:t> on save, </a:t>
            </a:r>
            <a:r>
              <a:rPr sz="2200" b="0" i="0" dirty="0" err="1">
                <a:solidFill>
                  <a:srgbClr val="111827"/>
                </a:solidFill>
              </a:rPr>
              <a:t>JSON.parse</a:t>
            </a:r>
            <a:r>
              <a:rPr sz="2200" b="0" i="0" dirty="0">
                <a:solidFill>
                  <a:srgbClr val="111827"/>
                </a:solidFill>
              </a:rPr>
              <a:t> on read.  (2) Every call is</a:t>
            </a:r>
            <a:r>
              <a:rPr lang="en-US" sz="2200" b="0" i="0" dirty="0">
                <a:solidFill>
                  <a:srgbClr val="111827"/>
                </a:solidFill>
              </a:rPr>
              <a:t> </a:t>
            </a:r>
            <a:r>
              <a:rPr sz="2200" b="0" i="0" dirty="0">
                <a:solidFill>
                  <a:srgbClr val="111827"/>
                </a:solidFill>
              </a:rPr>
              <a:t>async - always await.  (3) It is NOT secure storage - fine for a theme, not ideal for a raw password.</a:t>
            </a:r>
            <a:r>
              <a:rPr lang="en-US" sz="2200" b="0" i="0" dirty="0">
                <a:solidFill>
                  <a:srgbClr val="111827"/>
                </a:solidFill>
              </a:rPr>
              <a:t> </a:t>
            </a:r>
            <a:r>
              <a:rPr sz="2200" b="0" i="0" dirty="0">
                <a:solidFill>
                  <a:srgbClr val="111827"/>
                </a:solidFill>
              </a:rPr>
              <a:t>For sensitive tokens, expo-secure-store encrypts them (we revisit this in the security section).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29 / 46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7392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111827"/>
                </a:solidFill>
              </a:rPr>
              <a:t>A Database </a:t>
            </a:r>
            <a:r>
              <a:rPr lang="en-US" sz="3600" b="1" i="0" dirty="0">
                <a:solidFill>
                  <a:srgbClr val="111827"/>
                </a:solidFill>
              </a:rPr>
              <a:t>–</a:t>
            </a:r>
            <a:r>
              <a:rPr sz="3600" b="1" i="0" dirty="0">
                <a:solidFill>
                  <a:srgbClr val="111827"/>
                </a:solidFill>
              </a:rPr>
              <a:t> </a:t>
            </a:r>
            <a:r>
              <a:rPr lang="en-US" sz="3600" b="1" i="0" dirty="0">
                <a:solidFill>
                  <a:srgbClr val="111827"/>
                </a:solidFill>
              </a:rPr>
              <a:t>Storing Shared Data 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4048" y="841248"/>
            <a:ext cx="11430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DB stores structured data in server-based tables. </a:t>
            </a:r>
            <a:r>
              <a:rPr lang="en-US" sz="2400" b="1" dirty="0"/>
              <a:t>W12 Campus Hub uses </a:t>
            </a:r>
            <a:r>
              <a:rPr lang="en-US" sz="2400" b="1" dirty="0" err="1"/>
              <a:t>Supabase</a:t>
            </a:r>
            <a:r>
              <a:rPr lang="en-US" sz="2400" b="1" dirty="0"/>
              <a:t> (Postgres + authentication) to securely store and share related data.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sz="2400" b="0" dirty="0"/>
          </a:p>
        </p:txBody>
      </p:sp>
      <p:sp>
        <p:nvSpPr>
          <p:cNvPr id="5" name="Rectangle 4"/>
          <p:cNvSpPr/>
          <p:nvPr/>
        </p:nvSpPr>
        <p:spPr>
          <a:xfrm>
            <a:off x="365760" y="677200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" name="Rectangle 6"/>
          <p:cNvSpPr/>
          <p:nvPr/>
        </p:nvSpPr>
        <p:spPr>
          <a:xfrm>
            <a:off x="728790" y="1807119"/>
            <a:ext cx="5397690" cy="3258089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73152" bIns="54864" rtlCol="0" anchor="ctr"/>
          <a:lstStyle/>
          <a:p>
            <a:pPr algn="l"/>
            <a:r>
              <a:rPr>
                <a:solidFill>
                  <a:srgbClr val="FFFFFF"/>
                </a:solidFill>
                <a:latin typeface="Consolas"/>
              </a:rPr>
              <a:t>// Supabase = a cloud database you query</a:t>
            </a:r>
          </a:p>
          <a:p>
            <a:pPr algn="l"/>
            <a:r>
              <a:rPr>
                <a:solidFill>
                  <a:srgbClr val="FFFFFF"/>
                </a:solidFill>
                <a:latin typeface="Consolas"/>
              </a:rPr>
              <a:t>import { supabase } from "../lib/supabase"</a:t>
            </a:r>
          </a:p>
          <a:p>
            <a:pPr algn="l"/>
            <a:endParaRPr>
              <a:solidFill>
                <a:srgbClr val="FFFFFF"/>
              </a:solidFill>
              <a:latin typeface="Consolas"/>
            </a:endParaRPr>
          </a:p>
          <a:p>
            <a:pPr algn="l"/>
            <a:r>
              <a:rPr>
                <a:solidFill>
                  <a:srgbClr val="FFFFFF"/>
                </a:solidFill>
                <a:latin typeface="Consolas"/>
              </a:rPr>
              <a:t>// READ many, with a filter (can't do</a:t>
            </a:r>
          </a:p>
          <a:p>
            <a:pPr algn="l"/>
            <a:r>
              <a:rPr>
                <a:solidFill>
                  <a:srgbClr val="FFFFFF"/>
                </a:solidFill>
                <a:latin typeface="Consolas"/>
              </a:rPr>
              <a:t>// this in AsyncStorage)</a:t>
            </a:r>
          </a:p>
          <a:p>
            <a:pPr algn="l"/>
            <a:r>
              <a:rPr>
                <a:solidFill>
                  <a:srgbClr val="FFFFFF"/>
                </a:solidFill>
                <a:latin typeface="Consolas"/>
              </a:rPr>
              <a:t>const { data, error } = await supabase</a:t>
            </a:r>
          </a:p>
          <a:p>
            <a:pPr algn="l"/>
            <a:r>
              <a:rPr>
                <a:solidFill>
                  <a:srgbClr val="FFFFFF"/>
                </a:solidFill>
                <a:latin typeface="Consolas"/>
              </a:rPr>
              <a:t>  .from("courses")</a:t>
            </a:r>
          </a:p>
          <a:p>
            <a:pPr algn="l"/>
            <a:r>
              <a:rPr>
                <a:solidFill>
                  <a:srgbClr val="FFFFFF"/>
                </a:solidFill>
                <a:latin typeface="Consolas"/>
              </a:rPr>
              <a:t>  .select("*")</a:t>
            </a:r>
          </a:p>
          <a:p>
            <a:pPr algn="l"/>
            <a:r>
              <a:rPr>
                <a:solidFill>
                  <a:srgbClr val="FFFFFF"/>
                </a:solidFill>
                <a:latin typeface="Consolas"/>
              </a:rPr>
              <a:t>  .eq("term", "Winter 2026")</a:t>
            </a:r>
          </a:p>
          <a:p>
            <a:pPr algn="l"/>
            <a:r>
              <a:rPr>
                <a:solidFill>
                  <a:srgbClr val="FFFFFF"/>
                </a:solidFill>
                <a:latin typeface="Consolas"/>
              </a:rPr>
              <a:t>  .order("code")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1792" y="2051942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D97706"/>
                </a:solidFill>
              </a:rPr>
              <a:t>Reach for it when...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01792" y="2463423"/>
            <a:ext cx="5120640" cy="384048"/>
          </a:xfrm>
          <a:prstGeom prst="roundRect">
            <a:avLst/>
          </a:prstGeom>
          <a:solidFill>
            <a:srgbClr val="FFFBEB"/>
          </a:solidFill>
          <a:ln w="1587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" name="TextBox 9"/>
          <p:cNvSpPr txBox="1"/>
          <p:nvPr/>
        </p:nvSpPr>
        <p:spPr>
          <a:xfrm>
            <a:off x="6638952" y="2509143"/>
            <a:ext cx="4846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111827"/>
                </a:solidFill>
              </a:rPr>
              <a:t>+  Data is shared between users/devices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01792" y="2920623"/>
            <a:ext cx="5120640" cy="384048"/>
          </a:xfrm>
          <a:prstGeom prst="roundRect">
            <a:avLst/>
          </a:prstGeom>
          <a:solidFill>
            <a:srgbClr val="FFFBEB"/>
          </a:solidFill>
          <a:ln w="1587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2" name="TextBox 11"/>
          <p:cNvSpPr txBox="1"/>
          <p:nvPr/>
        </p:nvSpPr>
        <p:spPr>
          <a:xfrm>
            <a:off x="6638952" y="2966343"/>
            <a:ext cx="4846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11827"/>
                </a:solidFill>
              </a:rPr>
              <a:t>+  There's a lot of it, or it's related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01792" y="3377823"/>
            <a:ext cx="5120640" cy="384048"/>
          </a:xfrm>
          <a:prstGeom prst="roundRect">
            <a:avLst/>
          </a:prstGeom>
          <a:solidFill>
            <a:srgbClr val="FFFBEB"/>
          </a:solidFill>
          <a:ln w="1587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" name="TextBox 13"/>
          <p:cNvSpPr txBox="1"/>
          <p:nvPr/>
        </p:nvSpPr>
        <p:spPr>
          <a:xfrm>
            <a:off x="6638952" y="3423543"/>
            <a:ext cx="4846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11827"/>
                </a:solidFill>
              </a:rPr>
              <a:t>+  You must search, filter, sort, or join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01792" y="3835023"/>
            <a:ext cx="5120640" cy="384048"/>
          </a:xfrm>
          <a:prstGeom prst="roundRect">
            <a:avLst/>
          </a:prstGeom>
          <a:solidFill>
            <a:srgbClr val="FFFBEB"/>
          </a:solidFill>
          <a:ln w="1587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6" name="TextBox 15"/>
          <p:cNvSpPr txBox="1"/>
          <p:nvPr/>
        </p:nvSpPr>
        <p:spPr>
          <a:xfrm>
            <a:off x="6638952" y="3880743"/>
            <a:ext cx="4846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11827"/>
                </a:solidFill>
              </a:rPr>
              <a:t>+  It must survive a reinstall or new phone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01792" y="4292223"/>
            <a:ext cx="5120640" cy="384048"/>
          </a:xfrm>
          <a:prstGeom prst="roundRect">
            <a:avLst/>
          </a:prstGeom>
          <a:solidFill>
            <a:srgbClr val="FFFBEB"/>
          </a:solidFill>
          <a:ln w="1587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8" name="TextBox 17"/>
          <p:cNvSpPr txBox="1"/>
          <p:nvPr/>
        </p:nvSpPr>
        <p:spPr>
          <a:xfrm>
            <a:off x="6638952" y="4337943"/>
            <a:ext cx="4846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11827"/>
                </a:solidFill>
              </a:rPr>
              <a:t>+  Rules decide who can read/write what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212079"/>
            <a:ext cx="11338560" cy="1569660"/>
          </a:xfrm>
          <a:prstGeom prst="rect">
            <a:avLst/>
          </a:prstGeom>
          <a:solidFill>
            <a:srgbClr val="F0F4FF"/>
          </a:solidFill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111827"/>
                </a:solidFill>
              </a:rPr>
              <a:t>The price you pay: you need a backend (</a:t>
            </a:r>
            <a:r>
              <a:rPr sz="2400" b="0" i="0" dirty="0" err="1">
                <a:solidFill>
                  <a:srgbClr val="111827"/>
                </a:solidFill>
              </a:rPr>
              <a:t>Supabase</a:t>
            </a:r>
            <a:r>
              <a:rPr sz="2400" b="0" i="0" dirty="0">
                <a:solidFill>
                  <a:srgbClr val="111827"/>
                </a:solidFill>
              </a:rPr>
              <a:t> handles this), the app must be online to reach it, and there's</a:t>
            </a:r>
            <a:r>
              <a:rPr lang="en-US" sz="2400" b="0" i="0" dirty="0">
                <a:solidFill>
                  <a:srgbClr val="111827"/>
                </a:solidFill>
              </a:rPr>
              <a:t> </a:t>
            </a:r>
            <a:r>
              <a:rPr sz="2400" b="0" i="0" dirty="0">
                <a:solidFill>
                  <a:srgbClr val="111827"/>
                </a:solidFill>
              </a:rPr>
              <a:t>more to set up - tables, queries &amp; access rules. That's the trade-off: more power, more moving parts.</a:t>
            </a:r>
            <a:r>
              <a:rPr lang="en-US" sz="2400" b="0" i="0" dirty="0">
                <a:solidFill>
                  <a:srgbClr val="111827"/>
                </a:solidFill>
              </a:rPr>
              <a:t> </a:t>
            </a:r>
            <a:r>
              <a:rPr sz="2400" b="0" i="0" dirty="0">
                <a:solidFill>
                  <a:srgbClr val="111827"/>
                </a:solidFill>
              </a:rPr>
              <a:t>Pattern to remember: the database is the truth; </a:t>
            </a:r>
            <a:r>
              <a:rPr sz="2400" b="0" i="0" dirty="0" err="1">
                <a:solidFill>
                  <a:srgbClr val="111827"/>
                </a:solidFill>
              </a:rPr>
              <a:t>AsyncStorage</a:t>
            </a:r>
            <a:r>
              <a:rPr sz="2400" b="0" i="0" dirty="0">
                <a:solidFill>
                  <a:srgbClr val="111827"/>
                </a:solidFill>
              </a:rPr>
              <a:t> is at most a local cache of a slice of 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30 / 46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576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 err="1">
                <a:solidFill>
                  <a:srgbClr val="111827"/>
                </a:solidFill>
              </a:rPr>
              <a:t>AsyncStorage</a:t>
            </a:r>
            <a:r>
              <a:rPr sz="3600" b="1" i="0" dirty="0">
                <a:solidFill>
                  <a:srgbClr val="111827"/>
                </a:solidFill>
              </a:rPr>
              <a:t> vs Database </a:t>
            </a:r>
            <a:r>
              <a:rPr lang="en-US" sz="3600" b="1" i="0" dirty="0">
                <a:solidFill>
                  <a:srgbClr val="111827"/>
                </a:solidFill>
              </a:rPr>
              <a:t> 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4048" y="841248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dirty="0"/>
              <a:t>Read each row and ask: which side is my feature 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34384"/>
            <a:ext cx="3657600" cy="5029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" name="TextBox 6"/>
          <p:cNvSpPr txBox="1"/>
          <p:nvPr/>
        </p:nvSpPr>
        <p:spPr>
          <a:xfrm>
            <a:off x="548640" y="1462224"/>
            <a:ext cx="3474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434384"/>
            <a:ext cx="365760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" name="TextBox 8"/>
          <p:cNvSpPr txBox="1"/>
          <p:nvPr/>
        </p:nvSpPr>
        <p:spPr>
          <a:xfrm>
            <a:off x="4297680" y="1434928"/>
            <a:ext cx="3474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</a:rPr>
              <a:t>AsyncStorage</a:t>
            </a:r>
            <a:endParaRPr sz="2400" b="1" i="0" dirty="0">
              <a:solidFill>
                <a:srgbClr val="FFFFFF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955279" y="1434384"/>
            <a:ext cx="3794760" cy="5029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" name="TextBox 10"/>
          <p:cNvSpPr txBox="1"/>
          <p:nvPr/>
        </p:nvSpPr>
        <p:spPr>
          <a:xfrm>
            <a:off x="8046720" y="1448576"/>
            <a:ext cx="3611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28744"/>
            <a:ext cx="11292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3" name="TextBox 12"/>
          <p:cNvSpPr txBox="1"/>
          <p:nvPr/>
        </p:nvSpPr>
        <p:spPr>
          <a:xfrm>
            <a:off x="548640" y="2147616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</a:rPr>
              <a:t>Where it lives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147616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2563EB"/>
                </a:solidFill>
              </a:rPr>
              <a:t>On the one device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147616"/>
            <a:ext cx="3611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C00000"/>
                </a:solidFill>
              </a:rPr>
              <a:t>On a server, shared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04816"/>
            <a:ext cx="1129284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7" name="TextBox 16"/>
          <p:cNvSpPr txBox="1"/>
          <p:nvPr/>
        </p:nvSpPr>
        <p:spPr>
          <a:xfrm>
            <a:off x="548640" y="2723688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</a:rPr>
              <a:t>Good for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723688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563EB"/>
                </a:solidFill>
              </a:rPr>
              <a:t>Small key-value prefs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723688"/>
            <a:ext cx="3611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00000"/>
                </a:solidFill>
              </a:rPr>
              <a:t>Large, structured, related 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180888"/>
            <a:ext cx="11292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1" name="TextBox 20"/>
          <p:cNvSpPr txBox="1"/>
          <p:nvPr/>
        </p:nvSpPr>
        <p:spPr>
          <a:xfrm>
            <a:off x="548640" y="3299760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</a:rPr>
              <a:t>Search / filter / sort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299760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563EB"/>
                </a:solidFill>
              </a:rPr>
              <a:t>No - you load it 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299760"/>
            <a:ext cx="3611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00000"/>
                </a:solidFill>
              </a:rPr>
              <a:t>Yes - that's its whole job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56960"/>
            <a:ext cx="1129284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5" name="TextBox 24"/>
          <p:cNvSpPr txBox="1"/>
          <p:nvPr/>
        </p:nvSpPr>
        <p:spPr>
          <a:xfrm>
            <a:off x="548640" y="3875832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</a:rPr>
              <a:t>Shared between users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3875832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563EB"/>
                </a:solidFill>
              </a:rPr>
              <a:t>Never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3875832"/>
            <a:ext cx="3611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00000"/>
                </a:solidFill>
              </a:rPr>
              <a:t>Always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333032"/>
            <a:ext cx="11292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9" name="TextBox 28"/>
          <p:cNvSpPr txBox="1"/>
          <p:nvPr/>
        </p:nvSpPr>
        <p:spPr>
          <a:xfrm>
            <a:off x="548640" y="4459855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</a:rPr>
              <a:t>Works offline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4451904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563EB"/>
                </a:solidFill>
              </a:rPr>
              <a:t>Yes, fully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4451904"/>
            <a:ext cx="3611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00000"/>
                </a:solidFill>
              </a:rPr>
              <a:t>No (needs network)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909104"/>
            <a:ext cx="1129284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3" name="TextBox 32"/>
          <p:cNvSpPr txBox="1"/>
          <p:nvPr/>
        </p:nvSpPr>
        <p:spPr>
          <a:xfrm>
            <a:off x="548640" y="5027976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</a:rPr>
              <a:t>Survives reinstall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5027976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563EB"/>
                </a:solidFill>
              </a:rPr>
              <a:t>No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5027976"/>
            <a:ext cx="3611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00000"/>
                </a:solidFill>
              </a:rPr>
              <a:t>Yes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485176"/>
            <a:ext cx="11292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7" name="TextBox 36"/>
          <p:cNvSpPr txBox="1"/>
          <p:nvPr/>
        </p:nvSpPr>
        <p:spPr>
          <a:xfrm>
            <a:off x="548640" y="5604048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</a:rPr>
              <a:t>Setup effort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5604048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563EB"/>
                </a:solidFill>
              </a:rPr>
              <a:t>Almost none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5604048"/>
            <a:ext cx="3611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00000"/>
                </a:solidFill>
              </a:rPr>
              <a:t>Backend, tables, rules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6061248"/>
            <a:ext cx="1129284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1" name="TextBox 40"/>
          <p:cNvSpPr txBox="1"/>
          <p:nvPr/>
        </p:nvSpPr>
        <p:spPr>
          <a:xfrm>
            <a:off x="548640" y="6180120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</a:rPr>
              <a:t>In Campus Hub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80" y="6180120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563EB"/>
                </a:solidFill>
              </a:rPr>
              <a:t>Theme, token, cache (W9)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6180120"/>
            <a:ext cx="3611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00000"/>
                </a:solidFill>
              </a:rPr>
              <a:t>Courses, profiles, auth (W12)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31 / 46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576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3600" b="1" dirty="0"/>
              <a:t>Matching Data to Storage Solutions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384048" y="882192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dirty="0"/>
              <a:t>Same app, several pieces of data - and they don't all go to one place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93425" y="1480104"/>
            <a:ext cx="11731624" cy="67665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" name="TextBox 6"/>
          <p:cNvSpPr txBox="1"/>
          <p:nvPr/>
        </p:nvSpPr>
        <p:spPr>
          <a:xfrm>
            <a:off x="476305" y="1662984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11827"/>
                </a:solidFill>
              </a:rPr>
              <a:t>Dark-mode setting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5345" y="1644696"/>
            <a:ext cx="201168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TextBox 8"/>
          <p:cNvSpPr txBox="1"/>
          <p:nvPr/>
        </p:nvSpPr>
        <p:spPr>
          <a:xfrm>
            <a:off x="4271065" y="1631184"/>
            <a:ext cx="1920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 err="1">
                <a:solidFill>
                  <a:srgbClr val="FFFFFF"/>
                </a:solidFill>
              </a:rPr>
              <a:t>AsyncStorage</a:t>
            </a:r>
            <a:endParaRPr sz="2000" b="1" i="0" dirty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19905" y="1662984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/>
              <a:t>Tiny, this device only, must work offline.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3425" y="2266488"/>
            <a:ext cx="11731624" cy="67665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" name="TextBox 11"/>
          <p:cNvSpPr txBox="1"/>
          <p:nvPr/>
        </p:nvSpPr>
        <p:spPr>
          <a:xfrm>
            <a:off x="476305" y="2449368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</a:rPr>
              <a:t>"Stay logged in" token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25345" y="2431080"/>
            <a:ext cx="2011680" cy="3657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4271065" y="2417568"/>
            <a:ext cx="1920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 err="1">
                <a:solidFill>
                  <a:srgbClr val="FFFFFF"/>
                </a:solidFill>
              </a:rPr>
              <a:t>SecureStore</a:t>
            </a:r>
            <a:endParaRPr sz="2000" b="1" i="0" dirty="0">
              <a:solidFill>
                <a:srgbClr val="FFFF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905" y="2449368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/>
              <a:t>Small + sensitive -&gt; encrypted device storage.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3425" y="3052872"/>
            <a:ext cx="11731624" cy="67665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7" name="TextBox 16"/>
          <p:cNvSpPr txBox="1"/>
          <p:nvPr/>
        </p:nvSpPr>
        <p:spPr>
          <a:xfrm>
            <a:off x="476305" y="3235752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</a:rPr>
              <a:t>List of all courses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25345" y="3217464"/>
            <a:ext cx="2011680" cy="3657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4271065" y="3217600"/>
            <a:ext cx="1920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905" y="3235752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/>
              <a:t>Shared, large, searchable - the source of truth.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3425" y="3839256"/>
            <a:ext cx="11731624" cy="67665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2" name="TextBox 21"/>
          <p:cNvSpPr txBox="1"/>
          <p:nvPr/>
        </p:nvSpPr>
        <p:spPr>
          <a:xfrm>
            <a:off x="476305" y="4022136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</a:rPr>
              <a:t>Your saved profile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25345" y="4003848"/>
            <a:ext cx="2011680" cy="3657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4" name="TextBox 23"/>
          <p:cNvSpPr txBox="1"/>
          <p:nvPr/>
        </p:nvSpPr>
        <p:spPr>
          <a:xfrm>
            <a:off x="4271065" y="3990336"/>
            <a:ext cx="1920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904" y="4022136"/>
            <a:ext cx="56051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/>
              <a:t>Must follow you to a new phone; the server owns it.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3425" y="4625640"/>
            <a:ext cx="11731624" cy="67665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7" name="TextBox 26"/>
          <p:cNvSpPr txBox="1"/>
          <p:nvPr/>
        </p:nvSpPr>
        <p:spPr>
          <a:xfrm>
            <a:off x="476305" y="4808520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</a:rPr>
              <a:t>Recently viewed (cache)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25345" y="4790232"/>
            <a:ext cx="201168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9" name="TextBox 28"/>
          <p:cNvSpPr txBox="1"/>
          <p:nvPr/>
        </p:nvSpPr>
        <p:spPr>
          <a:xfrm>
            <a:off x="4271065" y="4776720"/>
            <a:ext cx="1920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 err="1">
                <a:solidFill>
                  <a:srgbClr val="FFFFFF"/>
                </a:solidFill>
              </a:rPr>
              <a:t>AsyncStorage</a:t>
            </a:r>
            <a:endParaRPr sz="2000" b="1" i="0" dirty="0">
              <a:solidFill>
                <a:srgbClr val="FFFFFF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19905" y="480852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/>
              <a:t>A convenience copy of server data, for speed.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3425" y="5412024"/>
            <a:ext cx="11731624" cy="67665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2" name="TextBox 31"/>
          <p:cNvSpPr txBox="1"/>
          <p:nvPr/>
        </p:nvSpPr>
        <p:spPr>
          <a:xfrm>
            <a:off x="476305" y="5594904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</a:rPr>
              <a:t>Draft of a form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25345" y="5576616"/>
            <a:ext cx="2011680" cy="36576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4" name="TextBox 33"/>
          <p:cNvSpPr txBox="1"/>
          <p:nvPr/>
        </p:nvSpPr>
        <p:spPr>
          <a:xfrm>
            <a:off x="4271065" y="5549456"/>
            <a:ext cx="1920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 err="1">
                <a:solidFill>
                  <a:srgbClr val="FFFFFF"/>
                </a:solidFill>
              </a:rPr>
              <a:t>useState</a:t>
            </a:r>
            <a:endParaRPr sz="2000" b="1" i="0" dirty="0">
              <a:solidFill>
                <a:srgbClr val="FFFFFF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19905" y="5594904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/>
              <a:t>Only matters while the screen is open.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32 / 46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2346048"/>
            <a:ext cx="1218882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 dirty="0">
                <a:solidFill>
                  <a:srgbClr val="FFFFFF"/>
                </a:solidFill>
              </a:rPr>
              <a:t>Talking to a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" y="3626207"/>
            <a:ext cx="121888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 dirty="0">
                <a:solidFill>
                  <a:srgbClr val="BFDBFF"/>
                </a:solidFill>
              </a:rPr>
              <a:t>Part 6 . API calls - how the app asks for data over the network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11827"/>
                </a:solidFill>
              </a:rPr>
              <a:t>What Is an API?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338560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dirty="0"/>
              <a:t>An API is a set of requests that lets an app communicate with a server, which processes the request and returns data, usually in JSON.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dirty="0"/>
              <a:t>A waiter between your app and the kitchen (the server)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7853"/>
            <a:ext cx="10972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111827"/>
                </a:solidFill>
              </a:rPr>
              <a:t>Most mobile APIs are "REST": you call a URL (endpoint) with a verb (method).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608" y="3247484"/>
            <a:ext cx="2743200" cy="1691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85488" y="3430364"/>
            <a:ext cx="2377440" cy="457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" name="TextBox 9"/>
          <p:cNvSpPr txBox="1"/>
          <p:nvPr/>
        </p:nvSpPr>
        <p:spPr>
          <a:xfrm>
            <a:off x="631208" y="3457795"/>
            <a:ext cx="228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488" y="4043012"/>
            <a:ext cx="2468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11827"/>
                </a:solidFill>
              </a:rPr>
              <a:t>Read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56" y="4436204"/>
            <a:ext cx="272491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dirty="0"/>
              <a:t>"give me the courses"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400" y="3247484"/>
            <a:ext cx="2743200" cy="1691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493280" y="3430364"/>
            <a:ext cx="237744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5" name="TextBox 14"/>
          <p:cNvSpPr txBox="1"/>
          <p:nvPr/>
        </p:nvSpPr>
        <p:spPr>
          <a:xfrm>
            <a:off x="3539000" y="3457795"/>
            <a:ext cx="228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280" y="4043012"/>
            <a:ext cx="2468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</a:rPr>
              <a:t>Create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280" y="4436204"/>
            <a:ext cx="2560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/>
              <a:t>"add this profile"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8192" y="3247484"/>
            <a:ext cx="2743200" cy="1691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01072" y="3430364"/>
            <a:ext cx="2377440" cy="4572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0" name="TextBox 19"/>
          <p:cNvSpPr txBox="1"/>
          <p:nvPr/>
        </p:nvSpPr>
        <p:spPr>
          <a:xfrm>
            <a:off x="6446792" y="3457795"/>
            <a:ext cx="228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PUT / PATCH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1072" y="4043012"/>
            <a:ext cx="2468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</a:rPr>
              <a:t>Update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1072" y="4436204"/>
            <a:ext cx="2560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/>
              <a:t>"change my email"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25984" y="3247484"/>
            <a:ext cx="2743200" cy="1691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308864" y="3430364"/>
            <a:ext cx="2377440" cy="4572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5" name="TextBox 24"/>
          <p:cNvSpPr txBox="1"/>
          <p:nvPr/>
        </p:nvSpPr>
        <p:spPr>
          <a:xfrm>
            <a:off x="9354584" y="3457795"/>
            <a:ext cx="228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DELETE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864" y="4043012"/>
            <a:ext cx="2468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</a:rPr>
              <a:t>Remove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8864" y="4436204"/>
            <a:ext cx="2560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/>
              <a:t>"drop this item"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252205"/>
            <a:ext cx="11695049" cy="1037773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73152" bIns="54864" rtlCol="0" anchor="ctr"/>
          <a:lstStyle/>
          <a:p>
            <a:pPr algn="l"/>
            <a:r>
              <a:rPr sz="1500">
                <a:solidFill>
                  <a:srgbClr val="FFFFFF"/>
                </a:solidFill>
                <a:latin typeface="Consolas"/>
              </a:rPr>
              <a:t>GET  https://api.example.com/courses?term=Winter2026   -&gt;  200 OK   [ {...}, {...} ]  (JSON array)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onsolas"/>
              </a:rPr>
              <a:t>POST https://api.example.com/profile  body:{ email }   -&gt;  201 Created   { id: 42 }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onsolas"/>
              </a:rPr>
              <a:t>Status codes tell you what happened:  2xx = success  .  4xx = you sent something wrong  .  5xx = server broke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34 / 46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576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API</a:t>
            </a:r>
            <a:r>
              <a:rPr sz="3600" b="1" i="0" dirty="0">
                <a:solidFill>
                  <a:srgbClr val="111827"/>
                </a:solidFill>
              </a:rPr>
              <a:t> Request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923136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b="0" dirty="0"/>
              <a:t>Every network call passes through these states - your UI must handle 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616583"/>
            <a:ext cx="11247120" cy="67367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" name="Rectangle 6"/>
          <p:cNvSpPr/>
          <p:nvPr/>
        </p:nvSpPr>
        <p:spPr>
          <a:xfrm>
            <a:off x="457200" y="1616583"/>
            <a:ext cx="91440" cy="673679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685800" y="1699559"/>
            <a:ext cx="2194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6B7280"/>
                </a:solidFill>
              </a:rPr>
              <a:t>1 . idle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726311"/>
            <a:ext cx="42062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111827"/>
                </a:solidFill>
              </a:rPr>
              <a:t>Nothing asked yet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6695" y="1726311"/>
            <a:ext cx="50661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/>
              <a:t>UI: Show the screen / a button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53871"/>
            <a:ext cx="11247120" cy="681801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2" name="Rectangle 11"/>
          <p:cNvSpPr/>
          <p:nvPr/>
        </p:nvSpPr>
        <p:spPr>
          <a:xfrm>
            <a:off x="457200" y="2453871"/>
            <a:ext cx="64008" cy="681801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685800" y="2564143"/>
            <a:ext cx="2194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563EB"/>
                </a:solidFill>
              </a:rPr>
              <a:t>2 . loading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563599"/>
            <a:ext cx="42062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1827"/>
                </a:solidFill>
              </a:rPr>
              <a:t>Request sent, waiting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6695" y="2522655"/>
            <a:ext cx="50661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/>
              <a:t>UI: Show a spinner - never a frozen screen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277511"/>
            <a:ext cx="11247120" cy="67367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7" name="Rectangle 16"/>
          <p:cNvSpPr/>
          <p:nvPr/>
        </p:nvSpPr>
        <p:spPr>
          <a:xfrm>
            <a:off x="457200" y="3277511"/>
            <a:ext cx="91440" cy="681801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685800" y="3374135"/>
            <a:ext cx="2194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6A34A"/>
                </a:solidFill>
              </a:rPr>
              <a:t>3a . success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387239"/>
            <a:ext cx="42062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1827"/>
                </a:solidFill>
              </a:rPr>
              <a:t>Data came 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6695" y="3387239"/>
            <a:ext cx="530229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/>
              <a:t>UI: Render the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128447"/>
            <a:ext cx="11247120" cy="67367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2" name="Rectangle 21"/>
          <p:cNvSpPr/>
          <p:nvPr/>
        </p:nvSpPr>
        <p:spPr>
          <a:xfrm>
            <a:off x="457200" y="4128447"/>
            <a:ext cx="91440" cy="673679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TextBox 22"/>
          <p:cNvSpPr txBox="1"/>
          <p:nvPr/>
        </p:nvSpPr>
        <p:spPr>
          <a:xfrm>
            <a:off x="685800" y="4238719"/>
            <a:ext cx="2194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DC2626"/>
                </a:solidFill>
              </a:rPr>
              <a:t>3b . error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4238175"/>
            <a:ext cx="42062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1827"/>
                </a:solidFill>
              </a:rPr>
              <a:t>Network or server failed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6695" y="4238175"/>
            <a:ext cx="50661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/>
              <a:t>UI: Show a friendly message + retry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979383"/>
            <a:ext cx="11247120" cy="67367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7" name="Rectangle 26"/>
          <p:cNvSpPr/>
          <p:nvPr/>
        </p:nvSpPr>
        <p:spPr>
          <a:xfrm>
            <a:off x="384048" y="4979383"/>
            <a:ext cx="164592" cy="681801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TextBox 27"/>
          <p:cNvSpPr txBox="1"/>
          <p:nvPr/>
        </p:nvSpPr>
        <p:spPr>
          <a:xfrm>
            <a:off x="685800" y="5089655"/>
            <a:ext cx="2194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D97706"/>
                </a:solidFill>
              </a:rPr>
              <a:t>4 . empty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5089111"/>
            <a:ext cx="42062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1827"/>
                </a:solidFill>
              </a:rPr>
              <a:t>Success, but zero results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6695" y="5089111"/>
            <a:ext cx="50661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/>
              <a:t>UI: Show "nothing here yet", not a blank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6835" y="5812576"/>
            <a:ext cx="11865509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2400" b="1" dirty="0"/>
              <a:t>Beginners code only the success path. Real architecture plans for loading, error, AND empty.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35 / 46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0224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F</a:t>
            </a:r>
            <a:r>
              <a:rPr sz="3600" b="1" i="0" dirty="0">
                <a:solidFill>
                  <a:srgbClr val="111827"/>
                </a:solidFill>
              </a:rPr>
              <a:t>etch</a:t>
            </a:r>
            <a:r>
              <a:rPr lang="en-US" sz="3600" b="1" i="0" dirty="0">
                <a:solidFill>
                  <a:srgbClr val="111827"/>
                </a:solidFill>
              </a:rPr>
              <a:t>ing Data from an API 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4048" y="896919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dirty="0"/>
              <a:t>The shape you'll write in Week 10 - handling all the states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3680" y="1448030"/>
            <a:ext cx="5269674" cy="511654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73152" bIns="54864" rtlCol="0" anchor="ctr"/>
          <a:lstStyle/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function CoursesScreen() {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  const [data, setData]       = useState([])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  const [loading, setLoading] = useState(true)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  const [error, setError]     = useState(null)</a:t>
            </a:r>
          </a:p>
          <a:p>
            <a:pPr algn="l"/>
            <a:endParaRPr sz="1400">
              <a:solidFill>
                <a:srgbClr val="FFFFFF"/>
              </a:solidFill>
              <a:latin typeface="Consolas"/>
            </a:endParaRP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  useEffect(() =&gt; {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    async function load() {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      try {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        setLoading(true)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        const res = await fetch(URL)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        if (!res.ok) throw new Error("Bad status")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        const json = await res.json()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        setData(json.results)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      } catch (e) {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        setError("Couldn't load courses.")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      } finally {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        setLoading(false)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      }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    }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    load()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  }, [])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  // render: loading? error? empty? data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8770" y="1557214"/>
            <a:ext cx="4297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111827"/>
                </a:solidFill>
              </a:rPr>
              <a:t>Line by 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55640" y="2014414"/>
            <a:ext cx="4735090" cy="603504"/>
          </a:xfrm>
          <a:prstGeom prst="roundRect">
            <a:avLst/>
          </a:prstGeom>
          <a:solidFill>
            <a:srgbClr val="F0F4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9" name="TextBox 8"/>
          <p:cNvSpPr txBox="1"/>
          <p:nvPr/>
        </p:nvSpPr>
        <p:spPr>
          <a:xfrm>
            <a:off x="7375931" y="1982886"/>
            <a:ext cx="4023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563EB"/>
                </a:solidFill>
                <a:latin typeface="Consolas"/>
              </a:rPr>
              <a:t>await fetch(URL)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8470" y="2293510"/>
            <a:ext cx="47937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111827"/>
                </a:solidFill>
              </a:rPr>
              <a:t>Sends the request; pauses until a response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55640" y="2727646"/>
            <a:ext cx="4735090" cy="603504"/>
          </a:xfrm>
          <a:prstGeom prst="roundRect">
            <a:avLst/>
          </a:prstGeom>
          <a:solidFill>
            <a:srgbClr val="F0F4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2" name="TextBox 11"/>
          <p:cNvSpPr txBox="1"/>
          <p:nvPr/>
        </p:nvSpPr>
        <p:spPr>
          <a:xfrm>
            <a:off x="7375931" y="2668822"/>
            <a:ext cx="4023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 err="1">
                <a:solidFill>
                  <a:srgbClr val="2563EB"/>
                </a:solidFill>
                <a:latin typeface="Consolas"/>
              </a:rPr>
              <a:t>res.ok</a:t>
            </a:r>
            <a:r>
              <a:rPr sz="2400" b="1" i="0" dirty="0">
                <a:solidFill>
                  <a:srgbClr val="2563EB"/>
                </a:solidFill>
                <a:latin typeface="Consolas"/>
              </a:rPr>
              <a:t> /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78470" y="2993094"/>
            <a:ext cx="45208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>
                <a:solidFill>
                  <a:srgbClr val="111827"/>
                </a:solidFill>
              </a:rPr>
              <a:t>Check it! fetch won't throw on 404/500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55640" y="3440878"/>
            <a:ext cx="4735090" cy="603504"/>
          </a:xfrm>
          <a:prstGeom prst="roundRect">
            <a:avLst/>
          </a:prstGeom>
          <a:solidFill>
            <a:srgbClr val="F0F4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5" name="TextBox 14"/>
          <p:cNvSpPr txBox="1"/>
          <p:nvPr/>
        </p:nvSpPr>
        <p:spPr>
          <a:xfrm>
            <a:off x="7375931" y="3395702"/>
            <a:ext cx="4023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563EB"/>
                </a:solidFill>
                <a:latin typeface="Consolas"/>
              </a:rPr>
              <a:t>await </a:t>
            </a:r>
            <a:r>
              <a:rPr sz="2400" b="1" i="0" dirty="0" err="1">
                <a:solidFill>
                  <a:srgbClr val="2563EB"/>
                </a:solidFill>
                <a:latin typeface="Consolas"/>
              </a:rPr>
              <a:t>res.json</a:t>
            </a:r>
            <a:r>
              <a:rPr sz="2400" b="1" i="0" dirty="0">
                <a:solidFill>
                  <a:srgbClr val="2563EB"/>
                </a:solidFill>
                <a:latin typeface="Consolas"/>
              </a:rPr>
              <a:t>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8470" y="3706326"/>
            <a:ext cx="45208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111827"/>
                </a:solidFill>
              </a:rPr>
              <a:t>Parse the body from text into objects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55640" y="4154109"/>
            <a:ext cx="4735090" cy="603504"/>
          </a:xfrm>
          <a:prstGeom prst="roundRect">
            <a:avLst/>
          </a:prstGeom>
          <a:solidFill>
            <a:srgbClr val="F0F4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8" name="TextBox 17"/>
          <p:cNvSpPr txBox="1"/>
          <p:nvPr/>
        </p:nvSpPr>
        <p:spPr>
          <a:xfrm>
            <a:off x="7375931" y="4095286"/>
            <a:ext cx="4023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563EB"/>
                </a:solidFill>
                <a:latin typeface="Consolas"/>
              </a:rPr>
              <a:t>try / catch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8470" y="4433205"/>
            <a:ext cx="45208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111827"/>
                </a:solidFill>
              </a:rPr>
              <a:t>Network can fail anytime - always wrap 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55640" y="4867342"/>
            <a:ext cx="4735090" cy="603504"/>
          </a:xfrm>
          <a:prstGeom prst="roundRect">
            <a:avLst/>
          </a:prstGeom>
          <a:solidFill>
            <a:srgbClr val="F0F4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21" name="TextBox 20"/>
          <p:cNvSpPr txBox="1"/>
          <p:nvPr/>
        </p:nvSpPr>
        <p:spPr>
          <a:xfrm>
            <a:off x="7375931" y="4835814"/>
            <a:ext cx="4023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563EB"/>
                </a:solidFill>
                <a:latin typeface="Consolas"/>
              </a:rPr>
              <a:t>finally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4329" y="5132790"/>
            <a:ext cx="47350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111827"/>
                </a:solidFill>
              </a:rPr>
              <a:t>Stop the spinner whether it worked or not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55640" y="5580574"/>
            <a:ext cx="4735090" cy="603504"/>
          </a:xfrm>
          <a:prstGeom prst="roundRect">
            <a:avLst/>
          </a:prstGeom>
          <a:solidFill>
            <a:srgbClr val="F0F4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24" name="TextBox 23"/>
          <p:cNvSpPr txBox="1"/>
          <p:nvPr/>
        </p:nvSpPr>
        <p:spPr>
          <a:xfrm>
            <a:off x="7375931" y="5521750"/>
            <a:ext cx="4023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 err="1">
                <a:solidFill>
                  <a:srgbClr val="2563EB"/>
                </a:solidFill>
                <a:latin typeface="Consolas"/>
              </a:rPr>
              <a:t>useEffect</a:t>
            </a:r>
            <a:r>
              <a:rPr sz="2400" b="1" i="0" dirty="0">
                <a:solidFill>
                  <a:srgbClr val="2563EB"/>
                </a:solidFill>
                <a:latin typeface="Consolas"/>
              </a:rPr>
              <a:t>([])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8470" y="5832374"/>
            <a:ext cx="45208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111827"/>
                </a:solidFill>
              </a:rPr>
              <a:t>Run the fetch once when screen mounts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36 / 46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576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sz="3600" b="1" dirty="0"/>
              <a:t>Organizing API Code with a Data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841248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b="0" dirty="0"/>
              <a:t>Not scattered in every screen - in one data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534691"/>
            <a:ext cx="5486400" cy="4572000"/>
          </a:xfrm>
          <a:prstGeom prst="roundRect">
            <a:avLst/>
          </a:prstGeom>
          <a:solidFill>
            <a:srgbClr val="FFF1F1"/>
          </a:solidFill>
          <a:ln w="1587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671851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DC2626"/>
                </a:solidFill>
              </a:rPr>
              <a:t>fetch() in every screen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74770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111827"/>
                </a:solidFill>
              </a:rPr>
              <a:t>.  The same URL copy-pasted everywhere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41699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111827"/>
                </a:solidFill>
              </a:rPr>
              <a:t>.  Change the endpoint -&gt; edit 8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08627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111827"/>
                </a:solidFill>
              </a:rPr>
              <a:t>.  Each screen parses JSON its own 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75554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111827"/>
                </a:solidFill>
              </a:rPr>
              <a:t>.  Auth token attached inconsistently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442482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111827"/>
                </a:solidFill>
              </a:rPr>
              <a:t>.  Impossible to test without the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544" y="5146571"/>
            <a:ext cx="54406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dirty="0">
                <a:solidFill>
                  <a:srgbClr val="DC2626"/>
                </a:solidFill>
              </a:rPr>
              <a:t>The network code leaks into the presentation layer - concerns are mixed again.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534691"/>
            <a:ext cx="5486400" cy="4572000"/>
          </a:xfrm>
          <a:prstGeom prst="roundRect">
            <a:avLst/>
          </a:prstGeom>
          <a:solidFill>
            <a:srgbClr val="F0FFF4"/>
          </a:solidFill>
          <a:ln w="1587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1617259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6A34A"/>
                </a:solidFill>
              </a:rPr>
              <a:t>One API client / data layer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2129051"/>
            <a:ext cx="512064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73152" bIns="54864" rtlCol="0" anchor="ctr"/>
          <a:lstStyle/>
          <a:p>
            <a:pPr algn="l"/>
            <a:r>
              <a:rPr sz="1400" dirty="0">
                <a:solidFill>
                  <a:srgbClr val="FFFFFF"/>
                </a:solidFill>
                <a:latin typeface="Consolas"/>
              </a:rPr>
              <a:t>// lib/</a:t>
            </a:r>
            <a:r>
              <a:rPr sz="1400" dirty="0" err="1">
                <a:solidFill>
                  <a:srgbClr val="FFFFFF"/>
                </a:solidFill>
                <a:latin typeface="Consolas"/>
              </a:rPr>
              <a:t>api.ts</a:t>
            </a:r>
            <a:r>
              <a:rPr sz="1400" dirty="0">
                <a:solidFill>
                  <a:srgbClr val="FFFFFF"/>
                </a:solidFill>
                <a:latin typeface="Consolas"/>
              </a:rPr>
              <a:t> - the only place URLs live</a:t>
            </a:r>
          </a:p>
          <a:p>
            <a:pPr algn="l"/>
            <a:r>
              <a:rPr sz="1400" dirty="0">
                <a:solidFill>
                  <a:srgbClr val="FFFFFF"/>
                </a:solidFill>
                <a:latin typeface="Consolas"/>
              </a:rPr>
              <a:t>const BASE = </a:t>
            </a:r>
            <a:r>
              <a:rPr sz="1400" dirty="0" err="1">
                <a:solidFill>
                  <a:srgbClr val="FFFFFF"/>
                </a:solidFill>
                <a:latin typeface="Consolas"/>
              </a:rPr>
              <a:t>process.env.EXPO_PUBLIC_API_URL</a:t>
            </a:r>
            <a:endParaRPr sz="1400" dirty="0">
              <a:solidFill>
                <a:srgbClr val="FFFFFF"/>
              </a:solidFill>
              <a:latin typeface="Consolas"/>
            </a:endParaRPr>
          </a:p>
          <a:p>
            <a:pPr algn="l"/>
            <a:endParaRPr sz="1400" dirty="0">
              <a:solidFill>
                <a:srgbClr val="FFFFFF"/>
              </a:solidFill>
              <a:latin typeface="Consolas"/>
            </a:endParaRPr>
          </a:p>
          <a:p>
            <a:pPr algn="l"/>
            <a:r>
              <a:rPr sz="1400" dirty="0">
                <a:solidFill>
                  <a:srgbClr val="FFFFFF"/>
                </a:solidFill>
                <a:latin typeface="Consolas"/>
              </a:rPr>
              <a:t>export async function </a:t>
            </a:r>
            <a:r>
              <a:rPr sz="1400" dirty="0" err="1">
                <a:solidFill>
                  <a:srgbClr val="FFFFFF"/>
                </a:solidFill>
                <a:latin typeface="Consolas"/>
              </a:rPr>
              <a:t>getCourses</a:t>
            </a:r>
            <a:r>
              <a:rPr sz="1400" dirty="0">
                <a:solidFill>
                  <a:srgbClr val="FFFFFF"/>
                </a:solidFill>
                <a:latin typeface="Consolas"/>
              </a:rPr>
              <a:t>() {</a:t>
            </a:r>
          </a:p>
          <a:p>
            <a:pPr algn="l"/>
            <a:r>
              <a:rPr sz="1400" dirty="0">
                <a:solidFill>
                  <a:srgbClr val="FFFFFF"/>
                </a:solidFill>
                <a:latin typeface="Consolas"/>
              </a:rPr>
              <a:t>  const r = await fetch(`${BASE}/courses`)</a:t>
            </a:r>
          </a:p>
          <a:p>
            <a:pPr algn="l"/>
            <a:r>
              <a:rPr sz="1400" dirty="0">
                <a:solidFill>
                  <a:srgbClr val="FFFFFF"/>
                </a:solidFill>
                <a:latin typeface="Consolas"/>
              </a:rPr>
              <a:t>  if (!</a:t>
            </a:r>
            <a:r>
              <a:rPr sz="1400" dirty="0" err="1">
                <a:solidFill>
                  <a:srgbClr val="FFFFFF"/>
                </a:solidFill>
                <a:latin typeface="Consolas"/>
              </a:rPr>
              <a:t>r.ok</a:t>
            </a:r>
            <a:r>
              <a:rPr sz="1400" dirty="0">
                <a:solidFill>
                  <a:srgbClr val="FFFFFF"/>
                </a:solidFill>
                <a:latin typeface="Consolas"/>
              </a:rPr>
              <a:t>) throw new Error("load failed")</a:t>
            </a:r>
          </a:p>
          <a:p>
            <a:pPr algn="l"/>
            <a:r>
              <a:rPr sz="1400" dirty="0">
                <a:solidFill>
                  <a:srgbClr val="FFFFFF"/>
                </a:solidFill>
                <a:latin typeface="Consolas"/>
              </a:rPr>
              <a:t>  return (await </a:t>
            </a:r>
            <a:r>
              <a:rPr sz="1400" dirty="0" err="1">
                <a:solidFill>
                  <a:srgbClr val="FFFFFF"/>
                </a:solidFill>
                <a:latin typeface="Consolas"/>
              </a:rPr>
              <a:t>r.json</a:t>
            </a:r>
            <a:r>
              <a:rPr sz="1400" dirty="0">
                <a:solidFill>
                  <a:srgbClr val="FFFFFF"/>
                </a:solidFill>
                <a:latin typeface="Consolas"/>
              </a:rPr>
              <a:t>()).results</a:t>
            </a:r>
          </a:p>
          <a:p>
            <a:pPr algn="l"/>
            <a:r>
              <a:rPr sz="1400" dirty="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095011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+  Screens just call getCourses()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570499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111827"/>
                </a:solidFill>
              </a:rPr>
              <a:t>+  Change the URL in ONE place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5045987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+  Token + error handling centralised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5521475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+  Easy to test, easy to swap the backend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37 / 46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-1" y="2223216"/>
            <a:ext cx="1218882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 dirty="0">
                <a:solidFill>
                  <a:srgbClr val="FFFFFF"/>
                </a:solidFill>
              </a:rPr>
              <a:t>Authentication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503375"/>
            <a:ext cx="121888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BFDBFF"/>
                </a:solidFill>
              </a:rPr>
              <a:t>Part 7 . Who are you - and how do we keep the app safe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576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Authentication vs Authorization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384048" y="950432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b="0" dirty="0"/>
              <a:t>Authentication vs Authorization - different jobs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617234"/>
            <a:ext cx="5486400" cy="359621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" name="TextBox 7"/>
          <p:cNvSpPr txBox="1"/>
          <p:nvPr/>
        </p:nvSpPr>
        <p:spPr>
          <a:xfrm>
            <a:off x="685800" y="1672535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563EB"/>
                </a:solidFill>
              </a:rPr>
              <a:t>Authentication (</a:t>
            </a:r>
            <a:r>
              <a:rPr sz="2400" b="1" i="0" dirty="0" err="1">
                <a:solidFill>
                  <a:srgbClr val="2563EB"/>
                </a:solidFill>
              </a:rPr>
              <a:t>AuthN</a:t>
            </a:r>
            <a:r>
              <a:rPr sz="2400" b="1" i="0" dirty="0">
                <a:solidFill>
                  <a:srgbClr val="2563EB"/>
                </a:solidFill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760" y="2161807"/>
            <a:ext cx="50742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1" dirty="0">
                <a:solidFill>
                  <a:srgbClr val="FF0000"/>
                </a:solidFill>
              </a:rPr>
              <a:t>"Who are you?"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760" y="2633335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.  Proving 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760" y="3145671"/>
            <a:ext cx="531717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111827"/>
                </a:solidFill>
              </a:rPr>
              <a:t>.  Usually email + password, or Google/Apple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760" y="3658007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.  Result: the server is sure it's really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760" y="4170343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.  Happens once, at login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760" y="4682679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.  Campus Hub: Supabase Auth (W12)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617234"/>
            <a:ext cx="5486400" cy="359621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7" name="TextBox 16"/>
          <p:cNvSpPr txBox="1"/>
          <p:nvPr/>
        </p:nvSpPr>
        <p:spPr>
          <a:xfrm>
            <a:off x="6492240" y="1672535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7C3AED"/>
                </a:solidFill>
              </a:rPr>
              <a:t>Authorization (AuthZ)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7200" y="2161807"/>
            <a:ext cx="50742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1" dirty="0">
                <a:solidFill>
                  <a:srgbClr val="FF0000"/>
                </a:solidFill>
              </a:rPr>
              <a:t>"What are you allowed to do?"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7200" y="2633335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.  Checking permissions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7200" y="3145671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.  Can THIS user edit THAT record?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7200" y="3658007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.  Result: an action is allowed or blocked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7200" y="4170343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.  Happens on every protected request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7200" y="4682679"/>
            <a:ext cx="52303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111827"/>
                </a:solidFill>
              </a:rPr>
              <a:t>.  Campus Hub: database access rules (W12)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32" y="5329986"/>
            <a:ext cx="1156183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sz="2800" dirty="0">
                <a:solidFill>
                  <a:srgbClr val="111827"/>
                </a:solidFill>
              </a:rPr>
              <a:t>Order matters: authenticate first (who), then authorize (what). Login proves who; rules decide what.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39 / 46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096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3600" b="1" dirty="0"/>
              <a:t>Common Authentication Approaches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384048" y="745712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800" b="0" dirty="0"/>
              <a:t>Four common options - and why we pick the last one for class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4990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275384"/>
            <a:ext cx="11247120" cy="10241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Rectangle 6"/>
          <p:cNvSpPr/>
          <p:nvPr/>
        </p:nvSpPr>
        <p:spPr>
          <a:xfrm>
            <a:off x="457200" y="1275384"/>
            <a:ext cx="91440" cy="102412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Rounded Rectangle 7"/>
          <p:cNvSpPr/>
          <p:nvPr/>
        </p:nvSpPr>
        <p:spPr>
          <a:xfrm>
            <a:off x="685800" y="1439976"/>
            <a:ext cx="3108960" cy="41148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9" name="TextBox 8"/>
          <p:cNvSpPr txBox="1"/>
          <p:nvPr/>
        </p:nvSpPr>
        <p:spPr>
          <a:xfrm>
            <a:off x="731520" y="1426464"/>
            <a:ext cx="3017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</a:rPr>
              <a:t>Roll your 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1216968"/>
            <a:ext cx="7589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111827"/>
                </a:solidFill>
              </a:rPr>
              <a:t>Store passwords yourself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1560072"/>
            <a:ext cx="76809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/>
              <a:t>Maximum control. But you must hash, salt, handle resets, breaches... Easy to get dangerously wrong. Avoid as a beginner.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36672"/>
            <a:ext cx="11247120" cy="10241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Rectangle 12"/>
          <p:cNvSpPr/>
          <p:nvPr/>
        </p:nvSpPr>
        <p:spPr>
          <a:xfrm>
            <a:off x="457200" y="2436672"/>
            <a:ext cx="91440" cy="10241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14" name="Rounded Rectangle 13"/>
          <p:cNvSpPr/>
          <p:nvPr/>
        </p:nvSpPr>
        <p:spPr>
          <a:xfrm>
            <a:off x="685800" y="2601264"/>
            <a:ext cx="310896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15" name="TextBox 14"/>
          <p:cNvSpPr txBox="1"/>
          <p:nvPr/>
        </p:nvSpPr>
        <p:spPr>
          <a:xfrm>
            <a:off x="731520" y="2587752"/>
            <a:ext cx="3017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</a:rPr>
              <a:t>Session + cookie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2419200"/>
            <a:ext cx="7589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111827"/>
                </a:solidFill>
              </a:rPr>
              <a:t>Server remembers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2762304"/>
            <a:ext cx="76809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/>
              <a:t>Classic for websites. Server keeps a session; browser sends a cookie. Less natural for mobile apps.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597960"/>
            <a:ext cx="11247120" cy="10241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Rectangle 18"/>
          <p:cNvSpPr/>
          <p:nvPr/>
        </p:nvSpPr>
        <p:spPr>
          <a:xfrm>
            <a:off x="457200" y="3597960"/>
            <a:ext cx="91440" cy="10241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20" name="Rounded Rectangle 19"/>
          <p:cNvSpPr/>
          <p:nvPr/>
        </p:nvSpPr>
        <p:spPr>
          <a:xfrm>
            <a:off x="685800" y="3762552"/>
            <a:ext cx="310896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21" name="TextBox 20"/>
          <p:cNvSpPr txBox="1"/>
          <p:nvPr/>
        </p:nvSpPr>
        <p:spPr>
          <a:xfrm>
            <a:off x="731520" y="3749040"/>
            <a:ext cx="3017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</a:rPr>
              <a:t>Token (JWT)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3594136"/>
            <a:ext cx="7589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111827"/>
                </a:solidFill>
              </a:rPr>
              <a:t>A signed pass you carry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3882648"/>
            <a:ext cx="76809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/>
              <a:t>Server gives a signed token at login; the app sends it with each request. Stateless, mobile-friendly. The modern default.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759248"/>
            <a:ext cx="11247120" cy="10241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" name="Rectangle 24"/>
          <p:cNvSpPr/>
          <p:nvPr/>
        </p:nvSpPr>
        <p:spPr>
          <a:xfrm>
            <a:off x="457200" y="4759248"/>
            <a:ext cx="91440" cy="10241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Rounded Rectangle 25"/>
          <p:cNvSpPr/>
          <p:nvPr/>
        </p:nvSpPr>
        <p:spPr>
          <a:xfrm>
            <a:off x="685800" y="4923839"/>
            <a:ext cx="3108960" cy="769441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27" name="TextBox 26"/>
          <p:cNvSpPr txBox="1"/>
          <p:nvPr/>
        </p:nvSpPr>
        <p:spPr>
          <a:xfrm>
            <a:off x="731520" y="4951272"/>
            <a:ext cx="285292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</a:rPr>
              <a:t>Managed (</a:t>
            </a:r>
            <a:r>
              <a:rPr sz="2200" b="1" i="0" dirty="0" err="1">
                <a:solidFill>
                  <a:srgbClr val="FFFFFF"/>
                </a:solidFill>
              </a:rPr>
              <a:t>Supabase</a:t>
            </a:r>
            <a:r>
              <a:rPr sz="2200" b="1" i="0" dirty="0">
                <a:solidFill>
                  <a:srgbClr val="FFFFFF"/>
                </a:solidFill>
              </a:rPr>
              <a:t> / OAuth)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4714480"/>
            <a:ext cx="7589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111827"/>
                </a:solidFill>
              </a:rPr>
              <a:t>Let a provider do 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77639" y="5057584"/>
            <a:ext cx="76809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/>
              <a:t>A trusted service handles login, tokens, resets, "Sign in with Google". You write the least code and get the most safety.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925853"/>
            <a:ext cx="11430000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2400" b="1" dirty="0"/>
              <a:t>We choose </a:t>
            </a:r>
            <a:r>
              <a:rPr sz="2400" b="1" dirty="0" err="1"/>
              <a:t>Supabase</a:t>
            </a:r>
            <a:r>
              <a:rPr sz="2400" b="1" dirty="0"/>
              <a:t> (managed + JWT): least code to get wrong, real security, and it teaches the token pattern.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40 / 46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576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JWT</a:t>
            </a:r>
            <a:r>
              <a:rPr sz="3600" b="1" i="0" dirty="0">
                <a:solidFill>
                  <a:srgbClr val="111827"/>
                </a:solidFill>
              </a:rPr>
              <a:t> Token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841248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b="0" dirty="0"/>
              <a:t>What "being logged in" actually means on a phone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07071" y="1411864"/>
            <a:ext cx="11632118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03288" y="1576456"/>
            <a:ext cx="45720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403288" y="1613032"/>
            <a:ext cx="457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8776" y="1557896"/>
            <a:ext cx="23774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2563EB"/>
                </a:solidFill>
              </a:rPr>
              <a:t>Log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3318" y="1567312"/>
            <a:ext cx="88437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111827"/>
                </a:solidFill>
              </a:rPr>
              <a:t>App sends email + password over HTTPS to the auth server.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67880" y="2106808"/>
            <a:ext cx="146304" cy="146304"/>
          </a:xfrm>
          <a:prstGeom prst="downArrow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Rounded Rectangle 11"/>
          <p:cNvSpPr/>
          <p:nvPr/>
        </p:nvSpPr>
        <p:spPr>
          <a:xfrm>
            <a:off x="307071" y="2234824"/>
            <a:ext cx="11632118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03288" y="2399416"/>
            <a:ext cx="457200" cy="41148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TextBox 13"/>
          <p:cNvSpPr txBox="1"/>
          <p:nvPr/>
        </p:nvSpPr>
        <p:spPr>
          <a:xfrm>
            <a:off x="403288" y="2435992"/>
            <a:ext cx="457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8776" y="2380856"/>
            <a:ext cx="23774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16A34A"/>
                </a:solidFill>
              </a:rPr>
              <a:t>Get a token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3318" y="2390272"/>
            <a:ext cx="88437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111827"/>
                </a:solidFill>
              </a:rPr>
              <a:t>Server verifies, returns a signed token (JWT) + refresh token.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67880" y="2929768"/>
            <a:ext cx="146304" cy="146304"/>
          </a:xfrm>
          <a:prstGeom prst="downArrow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Rounded Rectangle 17"/>
          <p:cNvSpPr/>
          <p:nvPr/>
        </p:nvSpPr>
        <p:spPr>
          <a:xfrm>
            <a:off x="307071" y="3057784"/>
            <a:ext cx="11632118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03288" y="3222376"/>
            <a:ext cx="45720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TextBox 19"/>
          <p:cNvSpPr txBox="1"/>
          <p:nvPr/>
        </p:nvSpPr>
        <p:spPr>
          <a:xfrm>
            <a:off x="403288" y="3258952"/>
            <a:ext cx="457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8776" y="3203816"/>
            <a:ext cx="23774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7C3AED"/>
                </a:solidFill>
              </a:rPr>
              <a:t>Store it safely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93318" y="3158640"/>
            <a:ext cx="90458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111827"/>
                </a:solidFill>
              </a:rPr>
              <a:t>App keeps the token in encrypted </a:t>
            </a:r>
            <a:r>
              <a:rPr sz="2400" b="0" i="0" dirty="0" err="1">
                <a:solidFill>
                  <a:srgbClr val="111827"/>
                </a:solidFill>
              </a:rPr>
              <a:t>SecureStore</a:t>
            </a:r>
            <a:r>
              <a:rPr sz="2400" b="0" i="0" dirty="0">
                <a:solidFill>
                  <a:srgbClr val="111827"/>
                </a:solidFill>
              </a:rPr>
              <a:t> - not plain </a:t>
            </a:r>
            <a:r>
              <a:rPr sz="2400" b="0" i="0" dirty="0" err="1">
                <a:solidFill>
                  <a:srgbClr val="111827"/>
                </a:solidFill>
              </a:rPr>
              <a:t>AsyncStorage</a:t>
            </a:r>
            <a:r>
              <a:rPr sz="2400" b="0" i="0" dirty="0">
                <a:solidFill>
                  <a:srgbClr val="111827"/>
                </a:solidFill>
              </a:rPr>
              <a:t>.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567880" y="3752728"/>
            <a:ext cx="146304" cy="146304"/>
          </a:xfrm>
          <a:prstGeom prst="downArrow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4" name="Rounded Rectangle 23"/>
          <p:cNvSpPr/>
          <p:nvPr/>
        </p:nvSpPr>
        <p:spPr>
          <a:xfrm>
            <a:off x="307071" y="3880744"/>
            <a:ext cx="11632118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03288" y="4045336"/>
            <a:ext cx="457200" cy="4114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TextBox 25"/>
          <p:cNvSpPr txBox="1"/>
          <p:nvPr/>
        </p:nvSpPr>
        <p:spPr>
          <a:xfrm>
            <a:off x="403288" y="4081912"/>
            <a:ext cx="457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8776" y="4026776"/>
            <a:ext cx="23774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9488"/>
                </a:solidFill>
              </a:rPr>
              <a:t>Attach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93318" y="4036192"/>
            <a:ext cx="88437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111827"/>
                </a:solidFill>
              </a:rPr>
              <a:t>Every protected request sends the token in an Authorization header.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567880" y="4575688"/>
            <a:ext cx="146304" cy="146304"/>
          </a:xfrm>
          <a:prstGeom prst="downArrow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0" name="Rounded Rectangle 29"/>
          <p:cNvSpPr/>
          <p:nvPr/>
        </p:nvSpPr>
        <p:spPr>
          <a:xfrm>
            <a:off x="307071" y="4703704"/>
            <a:ext cx="11632118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03288" y="4868296"/>
            <a:ext cx="457200" cy="4114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2" name="TextBox 31"/>
          <p:cNvSpPr txBox="1"/>
          <p:nvPr/>
        </p:nvSpPr>
        <p:spPr>
          <a:xfrm>
            <a:off x="403288" y="4904872"/>
            <a:ext cx="457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8776" y="4849736"/>
            <a:ext cx="23774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</a:rPr>
              <a:t>Expire / refresh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84390" y="4859152"/>
            <a:ext cx="88056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111827"/>
                </a:solidFill>
              </a:rPr>
              <a:t>Tokens expire on purpose; a refresh token gets a new one silently.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567880" y="5398648"/>
            <a:ext cx="146304" cy="146304"/>
          </a:xfrm>
          <a:prstGeom prst="downArrow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6" name="Rounded Rectangle 35"/>
          <p:cNvSpPr/>
          <p:nvPr/>
        </p:nvSpPr>
        <p:spPr>
          <a:xfrm>
            <a:off x="307071" y="5526664"/>
            <a:ext cx="11632118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403288" y="5691255"/>
            <a:ext cx="457200" cy="41148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8" name="TextBox 37"/>
          <p:cNvSpPr txBox="1"/>
          <p:nvPr/>
        </p:nvSpPr>
        <p:spPr>
          <a:xfrm>
            <a:off x="403288" y="5727831"/>
            <a:ext cx="457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8776" y="5672695"/>
            <a:ext cx="23774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DC2626"/>
                </a:solidFill>
              </a:rPr>
              <a:t>Log out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93318" y="5682112"/>
            <a:ext cx="90001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111827"/>
                </a:solidFill>
              </a:rPr>
              <a:t>Delete the stored tokens. No token = no access.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41 / 46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576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111827"/>
                </a:solidFill>
              </a:rPr>
              <a:t>Think Like an Attacker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841248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b="0" dirty="0"/>
              <a:t>The mobile threat model in one uncomfortable fact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407768"/>
            <a:ext cx="11018520" cy="120032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</a:rPr>
              <a:t>Your app ships to the user's device. They - and anyone else - can unzip it, read the JS, watch its</a:t>
            </a:r>
            <a:r>
              <a:rPr lang="en-US" sz="2400" b="1" i="0" dirty="0">
                <a:solidFill>
                  <a:srgbClr val="FFFFFF"/>
                </a:solidFill>
              </a:rPr>
              <a:t> </a:t>
            </a:r>
            <a:r>
              <a:rPr sz="2400" b="1" i="0" dirty="0">
                <a:solidFill>
                  <a:srgbClr val="FFFFFF"/>
                </a:solidFill>
              </a:rPr>
              <a:t>network traffic, and see anything stored on the phone. Treat everything in the app as PUBLIC.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28191"/>
            <a:ext cx="11247120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9" name="TextBox 8"/>
          <p:cNvSpPr txBox="1"/>
          <p:nvPr/>
        </p:nvSpPr>
        <p:spPr>
          <a:xfrm>
            <a:off x="640080" y="2847063"/>
            <a:ext cx="2834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C2626"/>
                </a:solidFill>
              </a:rPr>
              <a:t>! Hardcoded secrets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765175"/>
            <a:ext cx="42062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An API key in the code is a key handed to everyone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765175"/>
            <a:ext cx="3657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527D7"/>
                </a:solidFill>
              </a:rPr>
              <a:t>-&gt; Keep secrets on the server; ship only public keys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596871"/>
            <a:ext cx="11247120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13" name="TextBox 12"/>
          <p:cNvSpPr txBox="1"/>
          <p:nvPr/>
        </p:nvSpPr>
        <p:spPr>
          <a:xfrm>
            <a:off x="640080" y="3715743"/>
            <a:ext cx="2834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C2626"/>
                </a:solidFill>
              </a:rPr>
              <a:t>! Reading traffic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633855"/>
            <a:ext cx="42062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Plain HTTP can be sniffed on public Wi-Fi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3633855"/>
            <a:ext cx="3657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527D7"/>
                </a:solidFill>
              </a:rPr>
              <a:t>-&gt; Always HTTPS - encrypts data in transit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65551"/>
            <a:ext cx="11247120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17" name="TextBox 16"/>
          <p:cNvSpPr txBox="1"/>
          <p:nvPr/>
        </p:nvSpPr>
        <p:spPr>
          <a:xfrm>
            <a:off x="640080" y="4584423"/>
            <a:ext cx="2834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C2626"/>
                </a:solidFill>
              </a:rPr>
              <a:t>! Trusting the client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502535"/>
            <a:ext cx="42062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Validation only in the app is easily bypassed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4502535"/>
            <a:ext cx="3657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527D7"/>
                </a:solidFill>
              </a:rPr>
              <a:t>-&gt; Re-validate on the server too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334231"/>
            <a:ext cx="11247120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21" name="TextBox 20"/>
          <p:cNvSpPr txBox="1"/>
          <p:nvPr/>
        </p:nvSpPr>
        <p:spPr>
          <a:xfrm>
            <a:off x="640080" y="5453103"/>
            <a:ext cx="2834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C2626"/>
                </a:solidFill>
              </a:rPr>
              <a:t>! Stolen device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5371215"/>
            <a:ext cx="42062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</a:rPr>
              <a:t>A logged-in phone in the wrong hands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5371215"/>
            <a:ext cx="3657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527D7"/>
                </a:solidFill>
              </a:rPr>
              <a:t>-&gt; Encrypt stored tokens; let them expire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42 / 46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576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sz="3600" b="1" dirty="0"/>
              <a:t>Mobile App Security Best Practices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384048" y="909488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b="0" dirty="0"/>
              <a:t>The habits that prevent most beginner security holes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616578"/>
            <a:ext cx="5669280" cy="1325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7" name="Rectangle 6"/>
          <p:cNvSpPr/>
          <p:nvPr/>
        </p:nvSpPr>
        <p:spPr>
          <a:xfrm>
            <a:off x="457200" y="1616578"/>
            <a:ext cx="82296" cy="1325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8" name="TextBox 7"/>
          <p:cNvSpPr txBox="1"/>
          <p:nvPr/>
        </p:nvSpPr>
        <p:spPr>
          <a:xfrm>
            <a:off x="731520" y="1703922"/>
            <a:ext cx="5212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111827"/>
                </a:solidFill>
              </a:rPr>
              <a:t>Never hardcode secrets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2834"/>
            <a:ext cx="52120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 dirty="0"/>
              <a:t>Use env vars (EXPO_PUBLIC_... only for PUBLIC values). Real secrets stay server-side.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616578"/>
            <a:ext cx="5669280" cy="1325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11" name="Rectangle 10"/>
          <p:cNvSpPr/>
          <p:nvPr/>
        </p:nvSpPr>
        <p:spPr>
          <a:xfrm>
            <a:off x="6355080" y="1616578"/>
            <a:ext cx="82296" cy="1325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12" name="TextBox 11"/>
          <p:cNvSpPr txBox="1"/>
          <p:nvPr/>
        </p:nvSpPr>
        <p:spPr>
          <a:xfrm>
            <a:off x="6629400" y="1703922"/>
            <a:ext cx="5212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111827"/>
                </a:solidFill>
              </a:rPr>
              <a:t>Always use HTTPS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142834"/>
            <a:ext cx="52120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/>
              <a:t>Every request encrypted in transit. Never send credentials over plain HTTP.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7906"/>
            <a:ext cx="5669280" cy="1325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15" name="Rectangle 14"/>
          <p:cNvSpPr/>
          <p:nvPr/>
        </p:nvSpPr>
        <p:spPr>
          <a:xfrm>
            <a:off x="457200" y="3097906"/>
            <a:ext cx="82296" cy="1325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16" name="TextBox 15"/>
          <p:cNvSpPr txBox="1"/>
          <p:nvPr/>
        </p:nvSpPr>
        <p:spPr>
          <a:xfrm>
            <a:off x="731520" y="3185250"/>
            <a:ext cx="5212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/>
              <a:t>Store tokens in SecureStore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624162"/>
            <a:ext cx="52120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 dirty="0"/>
              <a:t>expo-secure-store encrypts. </a:t>
            </a:r>
            <a:r>
              <a:rPr sz="2100" b="0" i="0" dirty="0" err="1"/>
              <a:t>AsyncStorage</a:t>
            </a:r>
            <a:r>
              <a:rPr sz="2100" b="0" i="0" dirty="0"/>
              <a:t> is readable - wrong place for a token.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097906"/>
            <a:ext cx="5669280" cy="1325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19" name="Rectangle 18"/>
          <p:cNvSpPr/>
          <p:nvPr/>
        </p:nvSpPr>
        <p:spPr>
          <a:xfrm>
            <a:off x="6355080" y="3097906"/>
            <a:ext cx="82296" cy="1325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20" name="TextBox 19"/>
          <p:cNvSpPr txBox="1"/>
          <p:nvPr/>
        </p:nvSpPr>
        <p:spPr>
          <a:xfrm>
            <a:off x="6629400" y="3185250"/>
            <a:ext cx="5212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/>
              <a:t>Validate on BOTH sides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624162"/>
            <a:ext cx="52120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 dirty="0"/>
              <a:t>Zod in the app for UX; re-check on the server because the client can lie.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579234"/>
            <a:ext cx="5669280" cy="1325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23" name="Rectangle 22"/>
          <p:cNvSpPr/>
          <p:nvPr/>
        </p:nvSpPr>
        <p:spPr>
          <a:xfrm>
            <a:off x="457200" y="4579234"/>
            <a:ext cx="82296" cy="1325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24" name="TextBox 23"/>
          <p:cNvSpPr txBox="1"/>
          <p:nvPr/>
        </p:nvSpPr>
        <p:spPr>
          <a:xfrm>
            <a:off x="731520" y="4666578"/>
            <a:ext cx="5212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1827"/>
                </a:solidFill>
              </a:rPr>
              <a:t>Least privilege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105490"/>
            <a:ext cx="52120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/>
              <a:t>Ship the anon/public key, not the service key. Give each user only the access they need.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4579234"/>
            <a:ext cx="5669280" cy="1325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27" name="Rectangle 26"/>
          <p:cNvSpPr/>
          <p:nvPr/>
        </p:nvSpPr>
        <p:spPr>
          <a:xfrm>
            <a:off x="6355080" y="4579234"/>
            <a:ext cx="82296" cy="1325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28" name="TextBox 27"/>
          <p:cNvSpPr txBox="1"/>
          <p:nvPr/>
        </p:nvSpPr>
        <p:spPr>
          <a:xfrm>
            <a:off x="6629400" y="4666578"/>
            <a:ext cx="5212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1827"/>
                </a:solidFill>
              </a:rPr>
              <a:t>Don't log sensitive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5105490"/>
            <a:ext cx="52120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/>
              <a:t>No passwords or tokens in console.log or crash reports.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43 / 46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576"/>
            <a:ext cx="1143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3600" b="1" dirty="0"/>
              <a:t>A Complete View of 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841248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b="0" dirty="0"/>
              <a:t>Everything from today, in one Campus Hub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488976"/>
            <a:ext cx="6949440" cy="4572000"/>
          </a:xfrm>
          <a:prstGeom prst="roundRect">
            <a:avLst/>
          </a:prstGeom>
          <a:solidFill>
            <a:srgbClr val="F0F4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0208" y="1525824"/>
            <a:ext cx="6583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563EB"/>
                </a:solidFill>
              </a:rPr>
              <a:t>CLIENT (the phone)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37616"/>
            <a:ext cx="310896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TextBox 8"/>
          <p:cNvSpPr txBox="1"/>
          <p:nvPr/>
        </p:nvSpPr>
        <p:spPr>
          <a:xfrm>
            <a:off x="713232" y="2147343"/>
            <a:ext cx="30540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Screens (Presentation)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037616"/>
            <a:ext cx="3246120" cy="548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4005072" y="2147343"/>
            <a:ext cx="31912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State . useForm . Context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103120" y="2631976"/>
            <a:ext cx="228600" cy="228600"/>
          </a:xfrm>
          <a:prstGeom prst="downArrow">
            <a:avLst/>
          </a:prstGeom>
          <a:solidFill>
            <a:srgbClr val="152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Down Arrow 12"/>
          <p:cNvSpPr/>
          <p:nvPr/>
        </p:nvSpPr>
        <p:spPr>
          <a:xfrm>
            <a:off x="5394960" y="2631976"/>
            <a:ext cx="228600" cy="228600"/>
          </a:xfrm>
          <a:prstGeom prst="downArrow">
            <a:avLst/>
          </a:prstGeom>
          <a:solidFill>
            <a:srgbClr val="152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Rounded Rectangle 13"/>
          <p:cNvSpPr/>
          <p:nvPr/>
        </p:nvSpPr>
        <p:spPr>
          <a:xfrm>
            <a:off x="685800" y="2952015"/>
            <a:ext cx="3108960" cy="815977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713232" y="3020799"/>
            <a:ext cx="30540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 err="1">
                <a:solidFill>
                  <a:srgbClr val="FFFFFF"/>
                </a:solidFill>
              </a:rPr>
              <a:t>AsyncStorage</a:t>
            </a:r>
            <a:r>
              <a:rPr sz="2000" b="1" i="0" dirty="0">
                <a:solidFill>
                  <a:srgbClr val="FFFFFF"/>
                </a:solidFill>
              </a:rPr>
              <a:t> / </a:t>
            </a:r>
            <a:r>
              <a:rPr sz="2000" b="1" i="0" dirty="0" err="1">
                <a:solidFill>
                  <a:srgbClr val="FFFFFF"/>
                </a:solidFill>
              </a:rPr>
              <a:t>SecureStore</a:t>
            </a:r>
            <a:endParaRPr sz="2000" b="1" i="0" dirty="0">
              <a:solidFill>
                <a:srgbClr val="FFFFFF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977639" y="2952016"/>
            <a:ext cx="3246120" cy="815976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4005072" y="3170927"/>
            <a:ext cx="31912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</a:rPr>
              <a:t>API client (fetch)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020091"/>
            <a:ext cx="65836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111827"/>
                </a:solidFill>
              </a:rPr>
              <a:t>Validates input (Zod) . shows loading/error/empty . holds a session token . works offline where it can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63040" y="4980075"/>
            <a:ext cx="4572000" cy="5486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1490472" y="5089803"/>
            <a:ext cx="45171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Sends requests over HTTPS + token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406640" y="3546376"/>
            <a:ext cx="868680" cy="411480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69480" y="3089176"/>
            <a:ext cx="1005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0000"/>
                </a:solidFill>
              </a:rPr>
              <a:t>HTTPS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47655" y="1488976"/>
            <a:ext cx="3566160" cy="4572000"/>
          </a:xfrm>
          <a:prstGeom prst="roundRect">
            <a:avLst/>
          </a:prstGeom>
          <a:solidFill>
            <a:srgbClr val="FFFBEB"/>
          </a:solidFill>
          <a:ln w="1587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44184" y="1525824"/>
            <a:ext cx="3291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D97706"/>
                </a:solidFill>
              </a:rPr>
              <a:t>SERVER (</a:t>
            </a:r>
            <a:r>
              <a:rPr sz="2400" b="1" i="0" dirty="0" err="1">
                <a:solidFill>
                  <a:srgbClr val="D97706"/>
                </a:solidFill>
              </a:rPr>
              <a:t>Supabase</a:t>
            </a:r>
            <a:r>
              <a:rPr sz="2400" b="1" i="0" dirty="0">
                <a:solidFill>
                  <a:srgbClr val="D97706"/>
                </a:solidFill>
              </a:rPr>
              <a:t>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30536" y="2037616"/>
            <a:ext cx="3200400" cy="5486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TextBox 25"/>
          <p:cNvSpPr txBox="1"/>
          <p:nvPr/>
        </p:nvSpPr>
        <p:spPr>
          <a:xfrm>
            <a:off x="8557968" y="2147343"/>
            <a:ext cx="31455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Auth (verifies, issues JWT)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30536" y="2769136"/>
            <a:ext cx="3200400" cy="5486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8" name="TextBox 27"/>
          <p:cNvSpPr txBox="1"/>
          <p:nvPr/>
        </p:nvSpPr>
        <p:spPr>
          <a:xfrm>
            <a:off x="8557968" y="2878864"/>
            <a:ext cx="31455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Authorization rules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30536" y="3500656"/>
            <a:ext cx="3200400" cy="5486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0" name="TextBox 29"/>
          <p:cNvSpPr txBox="1"/>
          <p:nvPr/>
        </p:nvSpPr>
        <p:spPr>
          <a:xfrm>
            <a:off x="8557968" y="3610383"/>
            <a:ext cx="31455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Postgres database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30536" y="4232176"/>
            <a:ext cx="3200400" cy="5486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2" name="TextBox 31"/>
          <p:cNvSpPr txBox="1"/>
          <p:nvPr/>
        </p:nvSpPr>
        <p:spPr>
          <a:xfrm>
            <a:off x="8557968" y="4341904"/>
            <a:ext cx="31455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Secrets &amp; service keys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30536" y="4963696"/>
            <a:ext cx="32918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dirty="0"/>
              <a:t>The source of truth. Trusted code. Where real validation &amp; secrets live.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44 / 46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-82577"/>
            <a:ext cx="1051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FFFFFF"/>
                </a:solidFill>
              </a:rPr>
              <a:t>Summary</a:t>
            </a:r>
            <a:endParaRPr sz="3600" b="1" i="0" dirty="0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035180"/>
            <a:ext cx="10698480" cy="73152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" name="TextBox 4"/>
          <p:cNvSpPr txBox="1"/>
          <p:nvPr/>
        </p:nvSpPr>
        <p:spPr>
          <a:xfrm>
            <a:off x="914400" y="958204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563EB"/>
                </a:solidFill>
              </a:rPr>
              <a:t>Architecture =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37340"/>
            <a:ext cx="10332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Big, hard-to-change choices about parts, responsibilities &amp; how they talk.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6428"/>
            <a:ext cx="10698480" cy="73152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" name="TextBox 7"/>
          <p:cNvSpPr txBox="1"/>
          <p:nvPr/>
        </p:nvSpPr>
        <p:spPr>
          <a:xfrm>
            <a:off x="914400" y="1826748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563EB"/>
                </a:solidFill>
              </a:rPr>
              <a:t>Think in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2236"/>
            <a:ext cx="10332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Presentation -&gt; State -&gt; Data -&gt; Backend. Each does one job and trusts the next.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17676"/>
            <a:ext cx="10698480" cy="73152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" name="TextBox 10"/>
          <p:cNvSpPr txBox="1"/>
          <p:nvPr/>
        </p:nvSpPr>
        <p:spPr>
          <a:xfrm>
            <a:off x="914400" y="2681644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563EB"/>
                </a:solidFill>
              </a:rPr>
              <a:t>Diagram before you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33484"/>
            <a:ext cx="10332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Boxes = responsibilities, arrows = data. The cheapest place to find a mistake.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58924"/>
            <a:ext cx="10698480" cy="73152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" name="TextBox 13"/>
          <p:cNvSpPr txBox="1"/>
          <p:nvPr/>
        </p:nvSpPr>
        <p:spPr>
          <a:xfrm>
            <a:off x="914400" y="3536540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563EB"/>
                </a:solidFill>
              </a:rPr>
              <a:t>There is no "best"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74732"/>
            <a:ext cx="10332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Every choice is a trade-off. Ask what you're </a:t>
            </a:r>
            <a:r>
              <a:rPr sz="2400" b="0" i="0" dirty="0" err="1"/>
              <a:t>optimising</a:t>
            </a:r>
            <a:r>
              <a:rPr sz="2400" b="0" i="0" dirty="0"/>
              <a:t> for, then write it down.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00172"/>
            <a:ext cx="10698480" cy="73152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7" name="TextBox 16"/>
          <p:cNvSpPr txBox="1"/>
          <p:nvPr/>
        </p:nvSpPr>
        <p:spPr>
          <a:xfrm>
            <a:off x="914400" y="4364140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563EB"/>
                </a:solidFill>
              </a:rPr>
              <a:t>Match data to its home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15980"/>
            <a:ext cx="103327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/>
              <a:t>Small &amp; local -&gt; </a:t>
            </a:r>
            <a:r>
              <a:rPr sz="2200" b="0" i="0" dirty="0" err="1"/>
              <a:t>AsyncStorage</a:t>
            </a:r>
            <a:r>
              <a:rPr sz="2200" b="0" i="0" dirty="0"/>
              <a:t>. Shared &amp; structured -&gt; database. Sensitive -&gt; </a:t>
            </a:r>
            <a:r>
              <a:rPr sz="2200" b="0" i="0" dirty="0" err="1"/>
              <a:t>SecureStore</a:t>
            </a:r>
            <a:r>
              <a:rPr sz="2200" b="0" i="0" dirty="0"/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241420"/>
            <a:ext cx="10698480" cy="73152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0" name="TextBox 19"/>
          <p:cNvSpPr txBox="1"/>
          <p:nvPr/>
        </p:nvSpPr>
        <p:spPr>
          <a:xfrm>
            <a:off x="914400" y="5178092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563EB"/>
                </a:solidFill>
              </a:rPr>
              <a:t>Never trust the client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570876"/>
            <a:ext cx="103327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/>
              <a:t>The app is public: HTTPS everywhere, secrets on the server, validate on both sides.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11827"/>
                </a:solidFill>
              </a:rPr>
              <a:t>Glossary - Words You Now 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841248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b="0" dirty="0"/>
              <a:t>Every term from today, in one place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86384"/>
            <a:ext cx="114300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48032"/>
            <a:ext cx="5669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" name="TextBox 6"/>
          <p:cNvSpPr txBox="1"/>
          <p:nvPr/>
        </p:nvSpPr>
        <p:spPr>
          <a:xfrm>
            <a:off x="594360" y="1498664"/>
            <a:ext cx="233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2563EB"/>
                </a:solidFill>
              </a:rPr>
              <a:t>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389480"/>
            <a:ext cx="3063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111827"/>
                </a:solidFill>
              </a:rPr>
              <a:t>Big, hard-to-change structure decisions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448032"/>
            <a:ext cx="566928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6492240" y="1512312"/>
            <a:ext cx="233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563EB"/>
                </a:solidFill>
              </a:rPr>
              <a:t>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1403128"/>
            <a:ext cx="3063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111827"/>
                </a:solidFill>
              </a:rPr>
              <a:t>A group of parts with one shared job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51536"/>
            <a:ext cx="5669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" name="TextBox 12"/>
          <p:cNvSpPr txBox="1"/>
          <p:nvPr/>
        </p:nvSpPr>
        <p:spPr>
          <a:xfrm>
            <a:off x="594360" y="1965687"/>
            <a:ext cx="2331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2563EB"/>
                </a:solidFill>
              </a:rPr>
              <a:t>Separation of concerns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1992983"/>
            <a:ext cx="3063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111827"/>
                </a:solidFill>
              </a:rPr>
              <a:t>Each part does only its own job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2051536"/>
            <a:ext cx="566928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" name="TextBox 15"/>
          <p:cNvSpPr txBox="1"/>
          <p:nvPr/>
        </p:nvSpPr>
        <p:spPr>
          <a:xfrm>
            <a:off x="6492240" y="2115815"/>
            <a:ext cx="233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563EB"/>
                </a:solidFill>
              </a:rPr>
              <a:t>Client / 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1979335"/>
            <a:ext cx="3063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111827"/>
                </a:solidFill>
              </a:rPr>
              <a:t>The phone you don't control / machine you 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655040"/>
            <a:ext cx="5669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9" name="TextBox 18"/>
          <p:cNvSpPr txBox="1"/>
          <p:nvPr/>
        </p:nvSpPr>
        <p:spPr>
          <a:xfrm>
            <a:off x="594360" y="2719320"/>
            <a:ext cx="233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2563EB"/>
                </a:solidFill>
              </a:rPr>
              <a:t>Component diagram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2596488"/>
            <a:ext cx="3063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111827"/>
                </a:solidFill>
              </a:rPr>
              <a:t>Boxes (parts) + arrows (who talks to who)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2655040"/>
            <a:ext cx="566928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2" name="TextBox 21"/>
          <p:cNvSpPr txBox="1"/>
          <p:nvPr/>
        </p:nvSpPr>
        <p:spPr>
          <a:xfrm>
            <a:off x="6492240" y="2719320"/>
            <a:ext cx="233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563EB"/>
                </a:solidFill>
              </a:rPr>
              <a:t>Sequence diagram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569192"/>
            <a:ext cx="3063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111827"/>
                </a:solidFill>
              </a:rPr>
              <a:t>Messages between parts, ordered over time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258544"/>
            <a:ext cx="5669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5" name="TextBox 24"/>
          <p:cNvSpPr txBox="1"/>
          <p:nvPr/>
        </p:nvSpPr>
        <p:spPr>
          <a:xfrm>
            <a:off x="594360" y="3322824"/>
            <a:ext cx="233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2563EB"/>
                </a:solidFill>
              </a:rPr>
              <a:t>Trade-off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0" y="3199992"/>
            <a:ext cx="3063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111827"/>
                </a:solidFill>
              </a:rPr>
              <a:t>Gaining one quality by giving up another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3258544"/>
            <a:ext cx="566928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8" name="TextBox 27"/>
          <p:cNvSpPr txBox="1"/>
          <p:nvPr/>
        </p:nvSpPr>
        <p:spPr>
          <a:xfrm>
            <a:off x="6492240" y="3322824"/>
            <a:ext cx="233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563EB"/>
                </a:solidFill>
              </a:rPr>
              <a:t>ADR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3213640"/>
            <a:ext cx="3063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111827"/>
                </a:solidFill>
              </a:rPr>
              <a:t>A short note recording a decision and its why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862048"/>
            <a:ext cx="5669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1" name="TextBox 30"/>
          <p:cNvSpPr txBox="1"/>
          <p:nvPr/>
        </p:nvSpPr>
        <p:spPr>
          <a:xfrm>
            <a:off x="594360" y="3926328"/>
            <a:ext cx="233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 err="1">
                <a:solidFill>
                  <a:srgbClr val="2563EB"/>
                </a:solidFill>
              </a:rPr>
              <a:t>AsyncStorage</a:t>
            </a:r>
            <a:endParaRPr b="1" i="0" dirty="0">
              <a:solidFill>
                <a:srgbClr val="2563EB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971800" y="3830792"/>
            <a:ext cx="3063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111827"/>
                </a:solidFill>
              </a:rPr>
              <a:t>Small key-value storage on one device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5080" y="3862048"/>
            <a:ext cx="566928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4" name="TextBox 33"/>
          <p:cNvSpPr txBox="1"/>
          <p:nvPr/>
        </p:nvSpPr>
        <p:spPr>
          <a:xfrm>
            <a:off x="6492240" y="3926328"/>
            <a:ext cx="233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563EB"/>
                </a:solidFill>
              </a:rPr>
              <a:t>Database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3803496"/>
            <a:ext cx="3063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111827"/>
                </a:solidFill>
              </a:rPr>
              <a:t>Shared, structured data on a server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465552"/>
            <a:ext cx="5669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7" name="TextBox 36"/>
          <p:cNvSpPr txBox="1"/>
          <p:nvPr/>
        </p:nvSpPr>
        <p:spPr>
          <a:xfrm>
            <a:off x="594360" y="4543480"/>
            <a:ext cx="233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2563EB"/>
                </a:solidFill>
              </a:rPr>
              <a:t>API / REST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71800" y="4584424"/>
            <a:ext cx="3063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111827"/>
                </a:solidFill>
              </a:rPr>
              <a:t>The menu of requests a server answers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5080" y="4465552"/>
            <a:ext cx="566928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0" name="TextBox 39"/>
          <p:cNvSpPr txBox="1"/>
          <p:nvPr/>
        </p:nvSpPr>
        <p:spPr>
          <a:xfrm>
            <a:off x="6492240" y="4529832"/>
            <a:ext cx="233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563EB"/>
                </a:solidFill>
              </a:rPr>
              <a:t>fetch()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4407000"/>
            <a:ext cx="3063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111827"/>
                </a:solidFill>
              </a:rPr>
              <a:t>The call that sends an HTTP request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069056"/>
            <a:ext cx="5669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3" name="TextBox 42"/>
          <p:cNvSpPr txBox="1"/>
          <p:nvPr/>
        </p:nvSpPr>
        <p:spPr>
          <a:xfrm>
            <a:off x="594360" y="5146984"/>
            <a:ext cx="233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 err="1">
                <a:solidFill>
                  <a:srgbClr val="2563EB"/>
                </a:solidFill>
              </a:rPr>
              <a:t>AuthN</a:t>
            </a:r>
            <a:r>
              <a:rPr b="1" i="0" dirty="0">
                <a:solidFill>
                  <a:srgbClr val="2563EB"/>
                </a:solidFill>
              </a:rPr>
              <a:t> / </a:t>
            </a:r>
            <a:r>
              <a:rPr b="1" i="0" dirty="0" err="1">
                <a:solidFill>
                  <a:srgbClr val="2563EB"/>
                </a:solidFill>
              </a:rPr>
              <a:t>AuthZ</a:t>
            </a:r>
            <a:endParaRPr b="1" i="0" dirty="0">
              <a:solidFill>
                <a:srgbClr val="2563EB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971800" y="5037800"/>
            <a:ext cx="3063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111827"/>
                </a:solidFill>
              </a:rPr>
              <a:t>Who you are / what you may do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55080" y="5069056"/>
            <a:ext cx="566928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6" name="TextBox 45"/>
          <p:cNvSpPr txBox="1"/>
          <p:nvPr/>
        </p:nvSpPr>
        <p:spPr>
          <a:xfrm>
            <a:off x="6492240" y="5133336"/>
            <a:ext cx="233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563EB"/>
                </a:solidFill>
              </a:rPr>
              <a:t>JWT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80" y="4983208"/>
            <a:ext cx="3063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111827"/>
                </a:solidFill>
              </a:rPr>
              <a:t>A signed token proving you're logged in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672560"/>
            <a:ext cx="5669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9" name="TextBox 48"/>
          <p:cNvSpPr txBox="1"/>
          <p:nvPr/>
        </p:nvSpPr>
        <p:spPr>
          <a:xfrm>
            <a:off x="594360" y="5750488"/>
            <a:ext cx="233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2563EB"/>
                </a:solidFill>
              </a:rPr>
              <a:t>HTTPS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71800" y="5791432"/>
            <a:ext cx="3063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111827"/>
                </a:solidFill>
              </a:rPr>
              <a:t>Encrypted network transport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55080" y="5672560"/>
            <a:ext cx="566928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2" name="TextBox 51"/>
          <p:cNvSpPr txBox="1"/>
          <p:nvPr/>
        </p:nvSpPr>
        <p:spPr>
          <a:xfrm>
            <a:off x="6492240" y="5736840"/>
            <a:ext cx="233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563EB"/>
                </a:solidFill>
              </a:rPr>
              <a:t>SecureStore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69680" y="5573065"/>
            <a:ext cx="3063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111827"/>
                </a:solidFill>
              </a:rPr>
              <a:t>Encrypted on-device storage for secrets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0" y="6578768"/>
            <a:ext cx="1280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 dirty="0">
                <a:solidFill>
                  <a:srgbClr val="6B7280"/>
                </a:solidFill>
              </a:rPr>
              <a:t>46 / 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5554</Words>
  <Application>Microsoft Office PowerPoint</Application>
  <PresentationFormat>Custom</PresentationFormat>
  <Paragraphs>814</Paragraphs>
  <Slides>45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2026-08-30T00:48:20Z</dcterms:created>
  <dcterms:modified xsi:type="dcterms:W3CDTF">2026-08-30T00:58:30Z</dcterms:modified>
  <cp:category/>
</cp:coreProperties>
</file>