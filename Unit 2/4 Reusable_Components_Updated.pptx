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8"/>
  </p:notesMasterIdLst>
  <p:sldIdLst>
    <p:sldId id="278" r:id="rId2"/>
    <p:sldId id="466" r:id="rId3"/>
    <p:sldId id="257" r:id="rId4"/>
    <p:sldId id="451" r:id="rId5"/>
    <p:sldId id="467" r:id="rId6"/>
    <p:sldId id="468" r:id="rId7"/>
    <p:sldId id="456" r:id="rId8"/>
    <p:sldId id="452" r:id="rId9"/>
    <p:sldId id="457" r:id="rId10"/>
    <p:sldId id="260" r:id="rId11"/>
    <p:sldId id="469" r:id="rId12"/>
    <p:sldId id="470" r:id="rId13"/>
    <p:sldId id="454" r:id="rId14"/>
    <p:sldId id="471" r:id="rId15"/>
    <p:sldId id="472" r:id="rId16"/>
    <p:sldId id="458" r:id="rId17"/>
    <p:sldId id="459" r:id="rId18"/>
    <p:sldId id="263" r:id="rId19"/>
    <p:sldId id="473" r:id="rId20"/>
    <p:sldId id="264" r:id="rId21"/>
    <p:sldId id="474" r:id="rId22"/>
    <p:sldId id="464" r:id="rId23"/>
    <p:sldId id="465" r:id="rId24"/>
    <p:sldId id="265" r:id="rId25"/>
    <p:sldId id="266" r:id="rId26"/>
    <p:sldId id="273" r:id="rId2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0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492" autoAdjust="0"/>
  </p:normalViewPr>
  <p:slideViewPr>
    <p:cSldViewPr snapToGrid="0" snapToObjects="1">
      <p:cViewPr varScale="1">
        <p:scale>
          <a:sx n="73" d="100"/>
          <a:sy n="73" d="100"/>
        </p:scale>
        <p:origin x="1914" y="66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 snapToObjects="1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58AE4-3B94-4A76-99DF-52B8754DC79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07999-E436-41F4-A0D0-76551AF56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1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63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7D98B-691C-1431-CCEE-88A650B10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0063C-5637-0EFF-9A21-150C97003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96248-C962-0569-93E2-C0537C281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71C4B-B772-B6EA-FEFA-28AB97C40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80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54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43855-9F18-E3F2-AC2C-1AB6F8E53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AA0D3-91F8-6906-3897-9F86C4F84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BD691-D921-1BAE-EEEE-461B464DF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B57C3-6F45-9B6F-BB4C-0886306B9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54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5DB56-F91C-0933-F828-722BA2A78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2DB2E-27F8-FC20-C3EA-BB0E8FE7A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090C1-A981-1819-5895-FD55D00E0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5C0BF-0DCD-7AD4-926C-1EFDEE5CE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79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11FDB-B9CC-D567-D07B-9D004F2E0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DFB0B-3539-0C28-2386-7F1147396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A10F83-4CC2-6AF8-0721-A046C617B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712AB-491A-F10E-51C9-A5E7CD611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05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0DEFE-B147-3D3A-9FEC-8D809726C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11221E-A44D-A378-CADA-F5DCF5424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66973-9C15-C55E-48F5-1DA981C17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70F48-7CF3-F86F-8891-98B82F6AC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45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277A9-4CD6-868C-2DA1-A1B50B4E7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CCD30-3209-6B5F-1275-3707D9E0B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82F6B-FB6B-F5EA-A408-C7D13439D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769A9-A81D-FBA4-5A31-CD085D2AB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94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822C2-244D-FFAE-452A-F4C317E0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60C4B-3619-BD1E-7490-76979C782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86417-AB69-7200-DBA2-94591501E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C2DC9-F47E-C2A9-EDE2-87F662808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89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0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79415-F50A-9EB8-BA44-603939119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1F31C-80A5-6C38-9227-2ABB358D7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F262F-385E-098C-D608-ECD3F0AAF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F2B62-B680-FB51-218B-1A11A582B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454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A3091-A14D-4EED-0D64-2383FBA7F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09F6C-CF7F-4057-CD29-17075FBCF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50067-F14E-53D4-E5CF-631A6B4FB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3C7EF-2862-2081-228B-86078CBCD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96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F4390-9522-20EC-234D-64F61AF6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08CBE-B35C-9803-4D3D-7FCA7F2C0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C813B-D193-5A4E-4149-C6D0B5143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7027D-D14C-ABFF-BB53-A6CEF3DA4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264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13B5-2DD4-017E-6620-1CE869CB8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4409AD-8A10-0493-FC42-F0617F0B4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08338-3BD0-7271-2FCB-AA1B10ADF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D0051-D7D1-5478-064E-ED760105B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41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8D30-6227-E6FD-3EAB-D321F12A9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938E8-FE96-592B-C13F-4894B6082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6FF390-AD90-C5FD-CDA2-A70BC8469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F280F-C1DC-A54D-2304-C29F66136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746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44837-E989-2EED-E8B7-378F23FEB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430A0-6D11-0A69-81D1-B6862A387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05115-3396-84C0-472E-29055C4D4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98188-CC75-61B5-DC6D-5DAB81D95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5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2706E-A322-C831-3A4F-47C27AE18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959BD-1CCC-AE0B-97C6-7D8096B77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489DF-B108-C7DF-ED79-3DC5623AE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C0D2C-1F7D-022C-ABD6-41C9519AB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876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482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66149-C544-33A1-FAFD-E444DAE0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6B2F69-AAC4-7640-0043-193F05DE4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616F15-ED62-BE5B-92CA-835CE8D59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2C18D-5829-AB54-AC5C-66BB18599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2882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316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E1DFC-D87F-95E7-F3A2-A7250380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4B91F-597E-AFE6-780A-80B9CAB48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10866-88F4-E384-7C83-6B8A6826F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C250A-852D-90FC-372A-7FD928D10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4868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1F4A0-2BBC-78E5-F590-6296606FA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2241F-A476-89B6-C628-5AC1B3040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4D48A7-BF75-168F-C47F-F2A7071BA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FFBB2-2364-9FE5-63CB-1E7A5FF1E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060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EF88E-3C14-F0BA-35D9-4908E7A14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F0CB0-52BB-8A16-2E02-883AD5594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F3C14-2B35-7F36-1965-6E3A1F62B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A5385-B78A-B8A4-8159-6A01BC509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100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877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752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68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3A6097-D6FB-BF9C-3CFD-D30ADEB456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7054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68CD6-059C-BDEA-4975-C6762FAA6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0BFC4D-5330-BA02-A4B9-2EC822E2A18B}"/>
              </a:ext>
            </a:extLst>
          </p:cNvPr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EAE3AF-A4B8-D87E-6F15-348280BB2285}"/>
              </a:ext>
            </a:extLst>
          </p:cNvPr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9A74F-EDDD-43EA-66DA-3A431EC8BA5B}"/>
              </a:ext>
            </a:extLst>
          </p:cNvPr>
          <p:cNvSpPr txBox="1"/>
          <p:nvPr/>
        </p:nvSpPr>
        <p:spPr>
          <a:xfrm>
            <a:off x="0" y="1783080"/>
            <a:ext cx="12188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i="0" dirty="0">
                <a:solidFill>
                  <a:srgbClr val="FFFFFF"/>
                </a:solidFill>
              </a:rPr>
              <a:t>Reusable Components &amp; Interactivity</a:t>
            </a:r>
            <a:endParaRPr sz="5400" b="1" i="0" dirty="0">
              <a:solidFill>
                <a:srgbClr val="FFFFFF"/>
              </a:solidFill>
            </a:endParaRP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5C8C59F1-D53D-553A-3A4D-D405D2515E69}"/>
              </a:ext>
            </a:extLst>
          </p:cNvPr>
          <p:cNvSpPr txBox="1">
            <a:spLocks/>
          </p:cNvSpPr>
          <p:nvPr/>
        </p:nvSpPr>
        <p:spPr>
          <a:xfrm>
            <a:off x="0" y="3702762"/>
            <a:ext cx="12188824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DD5F5D-D9F7-EAEF-7160-ECAC2D736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066096"/>
            <a:ext cx="1631852" cy="2223013"/>
          </a:xfrm>
          <a:prstGeom prst="rect">
            <a:avLst/>
          </a:prstGeom>
        </p:spPr>
      </p:pic>
      <p:sp>
        <p:nvSpPr>
          <p:cNvPr id="16" name="Subtitle 3">
            <a:extLst>
              <a:ext uri="{FF2B5EF4-FFF2-40B4-BE49-F238E27FC236}">
                <a16:creationId xmlns:a16="http://schemas.microsoft.com/office/drawing/2014/main" id="{4A819F09-A09E-C95D-E4A0-452C78500D97}"/>
              </a:ext>
            </a:extLst>
          </p:cNvPr>
          <p:cNvSpPr txBox="1">
            <a:spLocks/>
          </p:cNvSpPr>
          <p:nvPr/>
        </p:nvSpPr>
        <p:spPr>
          <a:xfrm>
            <a:off x="268573" y="581954"/>
            <a:ext cx="7904756" cy="820333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CPRG303 – Mobile Application Development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C50D2861-CE99-D5FE-52C7-0ED2A300BCCD}"/>
              </a:ext>
            </a:extLst>
          </p:cNvPr>
          <p:cNvSpPr/>
          <p:nvPr/>
        </p:nvSpPr>
        <p:spPr>
          <a:xfrm>
            <a:off x="2" y="6341813"/>
            <a:ext cx="12188950" cy="52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4090DE9-58A8-DEA8-ED4C-976BD6499660}"/>
              </a:ext>
            </a:extLst>
          </p:cNvPr>
          <p:cNvSpPr/>
          <p:nvPr/>
        </p:nvSpPr>
        <p:spPr>
          <a:xfrm>
            <a:off x="0" y="2739724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kern="0" spc="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CPRG-303  ·  Week 2  ·  Day 2</a:t>
            </a:r>
            <a:endParaRPr 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201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E03824-576B-32EA-88F1-1A4FE9211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CD58A8-62E2-BAF3-920B-8E4A9B992A56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77A0C-A15D-4EBF-949A-53C0DF76DEF7}"/>
              </a:ext>
            </a:extLst>
          </p:cNvPr>
          <p:cNvSpPr txBox="1"/>
          <p:nvPr/>
        </p:nvSpPr>
        <p:spPr>
          <a:xfrm>
            <a:off x="457200" y="2179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What we Learned</a:t>
            </a:r>
            <a:r>
              <a:rPr lang="en-US" sz="3600" b="1" i="0" dirty="0">
                <a:solidFill>
                  <a:srgbClr val="111827"/>
                </a:solidFill>
              </a:rPr>
              <a:t>?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98D6CB-D629-094F-5B82-BC7853508C39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4B3198-F506-0A9D-90A1-5E10A9A34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489982"/>
              </p:ext>
            </p:extLst>
          </p:nvPr>
        </p:nvGraphicFramePr>
        <p:xfrm>
          <a:off x="247338" y="1016733"/>
          <a:ext cx="11729803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124">
                  <a:extLst>
                    <a:ext uri="{9D8B030D-6E8A-4147-A177-3AD203B41FA5}">
                      <a16:colId xmlns:a16="http://schemas.microsoft.com/office/drawing/2014/main" val="212146873"/>
                    </a:ext>
                  </a:extLst>
                </a:gridCol>
                <a:gridCol w="8836679">
                  <a:extLst>
                    <a:ext uri="{9D8B030D-6E8A-4147-A177-3AD203B41FA5}">
                      <a16:colId xmlns:a16="http://schemas.microsoft.com/office/drawing/2014/main" val="1077044147"/>
                    </a:ext>
                  </a:extLst>
                </a:gridCol>
              </a:tblGrid>
              <a:tr h="76709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SafeAreaView</a:t>
                      </a:r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Outermost wrapper — prevents content hiding behind notch or home indicator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21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ScrollView</a:t>
                      </a:r>
                      <a:endParaRPr lang="en-US" sz="2800" b="1" kern="1200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Scrollable container — renders all children at once (use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FlatList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for large lists)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55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universal layout box — invisible by default, flexbox by default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992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text goes in &lt;Text&gt; — supports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fontSize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fontWeight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numberOfLines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textAlign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751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source={{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uri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}} for remote · require() for local ·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resizeMode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controls fit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851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StyleSheet.Create</a:t>
                      </a:r>
                      <a:r>
                        <a:rPr lang="en-US" sz="2800" b="1" kern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()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inline styles — creates styles once, validates at build time, enables autocomplete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512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Flexbox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flexDirection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justifyContent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alignItems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flexWrap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gap — all layout is flex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281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578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79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0C12C48A-E6BC-7882-9E83-99E044CE4324}"/>
              </a:ext>
            </a:extLst>
          </p:cNvPr>
          <p:cNvSpPr/>
          <p:nvPr/>
        </p:nvSpPr>
        <p:spPr>
          <a:xfrm>
            <a:off x="1082456" y="1997218"/>
            <a:ext cx="484905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Reusable Components?</a:t>
            </a:r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AFB0709B-1EDC-33CE-0453-536D2C6ACEB1}"/>
              </a:ext>
            </a:extLst>
          </p:cNvPr>
          <p:cNvSpPr/>
          <p:nvPr/>
        </p:nvSpPr>
        <p:spPr>
          <a:xfrm>
            <a:off x="1082456" y="31227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Interfaces</a:t>
            </a:r>
            <a:endParaRPr lang="en-US" sz="2800" dirty="0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EB485BDF-59B0-9E0D-E3F9-F6BB0ECEAE4D}"/>
              </a:ext>
            </a:extLst>
          </p:cNvPr>
          <p:cNvSpPr/>
          <p:nvPr/>
        </p:nvSpPr>
        <p:spPr>
          <a:xfrm>
            <a:off x="1082456" y="4135627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Components</a:t>
            </a:r>
            <a:endParaRPr lang="en-US" sz="2800" dirty="0"/>
          </a:p>
        </p:txBody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98F4BCD0-A0C1-E25A-98AF-AFF0BB05ADEE}"/>
              </a:ext>
            </a:extLst>
          </p:cNvPr>
          <p:cNvSpPr/>
          <p:nvPr/>
        </p:nvSpPr>
        <p:spPr>
          <a:xfrm>
            <a:off x="7719023" y="204221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2800" dirty="0"/>
          </a:p>
        </p:txBody>
      </p:sp>
      <p:sp>
        <p:nvSpPr>
          <p:cNvPr id="73" name="Text 20">
            <a:extLst>
              <a:ext uri="{FF2B5EF4-FFF2-40B4-BE49-F238E27FC236}">
                <a16:creationId xmlns:a16="http://schemas.microsoft.com/office/drawing/2014/main" id="{1432F0B2-5ED5-4592-E63B-575E11B89372}"/>
              </a:ext>
            </a:extLst>
          </p:cNvPr>
          <p:cNvSpPr/>
          <p:nvPr/>
        </p:nvSpPr>
        <p:spPr>
          <a:xfrm>
            <a:off x="7719023" y="3387270"/>
            <a:ext cx="374904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Live Code – Movie List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89" name="Text 28">
            <a:extLst>
              <a:ext uri="{FF2B5EF4-FFF2-40B4-BE49-F238E27FC236}">
                <a16:creationId xmlns:a16="http://schemas.microsoft.com/office/drawing/2014/main" id="{2687E1E1-96AC-7698-F544-445467DB324A}"/>
              </a:ext>
            </a:extLst>
          </p:cNvPr>
          <p:cNvSpPr/>
          <p:nvPr/>
        </p:nvSpPr>
        <p:spPr>
          <a:xfrm>
            <a:off x="7719023" y="41638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280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2CA6DE5-9CDF-0824-3DED-623753785E43}"/>
              </a:ext>
            </a:extLst>
          </p:cNvPr>
          <p:cNvSpPr/>
          <p:nvPr/>
        </p:nvSpPr>
        <p:spPr>
          <a:xfrm>
            <a:off x="442376" y="1995278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3EA08BC-9993-4427-4638-6DBD1D92442C}"/>
              </a:ext>
            </a:extLst>
          </p:cNvPr>
          <p:cNvSpPr txBox="1"/>
          <p:nvPr/>
        </p:nvSpPr>
        <p:spPr>
          <a:xfrm>
            <a:off x="442376" y="1962268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FA9FF03-40FA-FB10-FFC3-D6F1A2B2B817}"/>
              </a:ext>
            </a:extLst>
          </p:cNvPr>
          <p:cNvSpPr/>
          <p:nvPr/>
        </p:nvSpPr>
        <p:spPr>
          <a:xfrm>
            <a:off x="446700" y="4021458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CE37646-5A80-CA72-1346-6C88AF2E6D47}"/>
              </a:ext>
            </a:extLst>
          </p:cNvPr>
          <p:cNvSpPr txBox="1"/>
          <p:nvPr/>
        </p:nvSpPr>
        <p:spPr>
          <a:xfrm>
            <a:off x="446700" y="3988448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6D74A18-9F06-7CF9-F541-65BD9D15B194}"/>
              </a:ext>
            </a:extLst>
          </p:cNvPr>
          <p:cNvSpPr/>
          <p:nvPr/>
        </p:nvSpPr>
        <p:spPr>
          <a:xfrm>
            <a:off x="7072762" y="1954370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86EE4F0-E4B5-AE8E-B30E-38B6CE76D377}"/>
              </a:ext>
            </a:extLst>
          </p:cNvPr>
          <p:cNvSpPr txBox="1"/>
          <p:nvPr/>
        </p:nvSpPr>
        <p:spPr>
          <a:xfrm>
            <a:off x="7072762" y="1921360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99FD5C1-317C-6A0E-9905-F145035FAF26}"/>
              </a:ext>
            </a:extLst>
          </p:cNvPr>
          <p:cNvSpPr/>
          <p:nvPr/>
        </p:nvSpPr>
        <p:spPr>
          <a:xfrm>
            <a:off x="7069799" y="2990994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A47FE96-E141-BE3A-230D-10FB10631F55}"/>
              </a:ext>
            </a:extLst>
          </p:cNvPr>
          <p:cNvSpPr txBox="1"/>
          <p:nvPr/>
        </p:nvSpPr>
        <p:spPr>
          <a:xfrm>
            <a:off x="7069799" y="2957984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E7659AB-943F-C44B-596F-6095087D484D}"/>
              </a:ext>
            </a:extLst>
          </p:cNvPr>
          <p:cNvSpPr/>
          <p:nvPr/>
        </p:nvSpPr>
        <p:spPr>
          <a:xfrm>
            <a:off x="7069799" y="4072527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A90A964-DB89-EB5F-A9FC-9B0E21962952}"/>
              </a:ext>
            </a:extLst>
          </p:cNvPr>
          <p:cNvSpPr txBox="1"/>
          <p:nvPr/>
        </p:nvSpPr>
        <p:spPr>
          <a:xfrm>
            <a:off x="7069799" y="4039517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8E79FC9-FB74-963C-50CB-A8BC9DCE9771}"/>
              </a:ext>
            </a:extLst>
          </p:cNvPr>
          <p:cNvSpPr/>
          <p:nvPr/>
        </p:nvSpPr>
        <p:spPr>
          <a:xfrm>
            <a:off x="446700" y="3015148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FF9E801-D93C-C536-D6D5-64A077DC3F68}"/>
              </a:ext>
            </a:extLst>
          </p:cNvPr>
          <p:cNvSpPr txBox="1"/>
          <p:nvPr/>
        </p:nvSpPr>
        <p:spPr>
          <a:xfrm>
            <a:off x="446700" y="2975358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</a:rPr>
              <a:t>0</a:t>
            </a:r>
            <a:r>
              <a:rPr lang="en-US" sz="2800" b="1" i="0" dirty="0">
                <a:solidFill>
                  <a:srgbClr val="FFFFFF"/>
                </a:solidFill>
              </a:rPr>
              <a:t>2</a:t>
            </a:r>
            <a:endParaRPr sz="2800" b="1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C95E-369B-2E43-4B4D-E1FA269C6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58591A-52C0-F150-8D88-4063A201FC07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594834-FA57-D0BF-6241-4121383B7490}"/>
              </a:ext>
            </a:extLst>
          </p:cNvPr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What are Reusable Components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BFE485-AF83-3311-A50A-EF3F834A5EC6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697EC9-21E9-AD47-AAF2-E95BD2C6D87F}"/>
              </a:ext>
            </a:extLst>
          </p:cNvPr>
          <p:cNvSpPr txBox="1"/>
          <p:nvPr/>
        </p:nvSpPr>
        <p:spPr>
          <a:xfrm>
            <a:off x="541421" y="1205150"/>
            <a:ext cx="11254339" cy="490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3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custom React Native component that can be used multiple times in an application.</a:t>
            </a:r>
          </a:p>
          <a:p>
            <a:pPr marL="800100" lvl="1" indent="-342900" fontAlgn="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Build once, reuse many times by passing different data through </a:t>
            </a:r>
            <a:r>
              <a:rPr lang="en-US" sz="2800" b="1" dirty="0"/>
              <a:t>props</a:t>
            </a:r>
            <a:r>
              <a:rPr lang="en-US" sz="2800" dirty="0"/>
              <a:t>.</a:t>
            </a:r>
          </a:p>
          <a:p>
            <a:pPr marL="342900" indent="-342900" fontAlgn="t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Use Reusable Components?</a:t>
            </a:r>
          </a:p>
          <a:p>
            <a:pPr marL="800100" lvl="1" indent="-3429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 code duplication and improve maintainability.</a:t>
            </a:r>
          </a:p>
          <a:p>
            <a:pPr marL="800100" lvl="1" indent="-3429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 screens clean and organized.</a:t>
            </a:r>
          </a:p>
          <a:p>
            <a:pPr marL="800100" lvl="1" indent="-3429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 a consistent user interface.</a:t>
            </a:r>
          </a:p>
          <a:p>
            <a:pPr marL="800100" lvl="1" indent="-3429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</a:t>
            </a:r>
            <a:r>
              <a:rPr lang="en-US" sz="3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updates easier by modifying code in one place.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41011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05BD3-7E6E-0522-BB4D-4AFDCFD77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849687-9EFE-487F-48BC-042D31CCD136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DCFAD-38E2-8F9D-0120-B773FBC15CB3}"/>
              </a:ext>
            </a:extLst>
          </p:cNvPr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 err="1">
                <a:solidFill>
                  <a:srgbClr val="111827"/>
                </a:solidFill>
              </a:rPr>
              <a:t>MovieCard</a:t>
            </a:r>
            <a:r>
              <a:rPr lang="en-US" sz="3600" b="1" i="0" dirty="0">
                <a:solidFill>
                  <a:srgbClr val="111827"/>
                </a:solidFill>
              </a:rPr>
              <a:t> Reusable Component Example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46C00E-FBB0-7542-1B64-36523A30CD27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0CED77-ACDA-5136-6FC7-5D16BC29F8F7}"/>
              </a:ext>
            </a:extLst>
          </p:cNvPr>
          <p:cNvSpPr txBox="1"/>
          <p:nvPr/>
        </p:nvSpPr>
        <p:spPr>
          <a:xfrm>
            <a:off x="1766957" y="932736"/>
            <a:ext cx="7943008" cy="55861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import { View, Text, </a:t>
            </a:r>
            <a:r>
              <a:rPr lang="en-US" sz="17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} from 'react-native';</a:t>
            </a:r>
          </a:p>
          <a:p>
            <a:pPr>
              <a:buNone/>
            </a:pPr>
            <a:b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type </a:t>
            </a:r>
            <a:r>
              <a:rPr lang="en-US" sz="17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MovieCardProps</a:t>
            </a: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title: string;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export default function </a:t>
            </a:r>
            <a:r>
              <a:rPr lang="en-US" sz="17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</a:t>
            </a: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({ title }: </a:t>
            </a:r>
            <a:r>
              <a:rPr lang="en-US" sz="17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MovieCardProps</a:t>
            </a: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return (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&lt;View style={</a:t>
            </a:r>
            <a:r>
              <a:rPr lang="en-US" sz="17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styles.card</a:t>
            </a: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}&gt;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&lt;Text&gt;{title}&lt;/Text&gt;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&lt;/View&gt;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const styles = </a:t>
            </a:r>
            <a:r>
              <a:rPr lang="en-US" sz="17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StyleSheet.create</a:t>
            </a: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card: {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padding: 15,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backgroundColor</a:t>
            </a: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: '#e2e8f0',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marginBottom</a:t>
            </a: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: 10,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C3795E-CB01-ACFB-5436-8DE5D789687F}"/>
              </a:ext>
            </a:extLst>
          </p:cNvPr>
          <p:cNvSpPr txBox="1"/>
          <p:nvPr/>
        </p:nvSpPr>
        <p:spPr>
          <a:xfrm>
            <a:off x="7619834" y="3642603"/>
            <a:ext cx="3990641" cy="8771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1" dirty="0" err="1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MovieCard</a:t>
            </a:r>
            <a:r>
              <a:rPr lang="en-US" sz="1700" b="1" dirty="0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 title="Avatar" /&gt;</a:t>
            </a:r>
          </a:p>
          <a:p>
            <a:pPr>
              <a:buNone/>
            </a:pPr>
            <a:r>
              <a:rPr lang="en-US" sz="1700" b="1" dirty="0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1" dirty="0" err="1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MovieCard</a:t>
            </a:r>
            <a:r>
              <a:rPr lang="en-US" sz="1700" b="1" dirty="0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 title="Inception" /&gt;</a:t>
            </a:r>
          </a:p>
          <a:p>
            <a:pPr>
              <a:buNone/>
            </a:pPr>
            <a:r>
              <a:rPr lang="en-US" sz="1700" b="1" dirty="0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1" dirty="0" err="1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MovieCard</a:t>
            </a:r>
            <a:r>
              <a:rPr lang="en-US" sz="1700" b="1" dirty="0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 title="Minecraft" /&gt;</a:t>
            </a:r>
          </a:p>
        </p:txBody>
      </p:sp>
    </p:spTree>
    <p:extLst>
      <p:ext uri="{BB962C8B-B14F-4D97-AF65-F5344CB8AC3E}">
        <p14:creationId xmlns:p14="http://schemas.microsoft.com/office/powerpoint/2010/main" val="1741274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7FF5C-1239-4841-680A-9370C8093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CA8663-37FB-B281-247B-F50B33113360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4F0910-672B-3B64-8CBD-AD4DC0232F91}"/>
              </a:ext>
            </a:extLst>
          </p:cNvPr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With and Without Reusable Components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D629CB-B3D8-A9FA-007F-515420E02520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8840561-341E-408E-0FAC-C9C99CE433F8}"/>
              </a:ext>
            </a:extLst>
          </p:cNvPr>
          <p:cNvSpPr/>
          <p:nvPr/>
        </p:nvSpPr>
        <p:spPr>
          <a:xfrm>
            <a:off x="204534" y="1069843"/>
            <a:ext cx="5793622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F831F165-29F0-3DF0-810B-374DE003B526}"/>
              </a:ext>
            </a:extLst>
          </p:cNvPr>
          <p:cNvSpPr/>
          <p:nvPr/>
        </p:nvSpPr>
        <p:spPr>
          <a:xfrm>
            <a:off x="364186" y="1069843"/>
            <a:ext cx="506349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reusable components</a:t>
            </a:r>
            <a:endParaRPr lang="en-US" sz="2400" b="1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291F3BB9-A2A2-40D4-8D41-22BCF3CD4302}"/>
              </a:ext>
            </a:extLst>
          </p:cNvPr>
          <p:cNvSpPr/>
          <p:nvPr/>
        </p:nvSpPr>
        <p:spPr>
          <a:xfrm>
            <a:off x="204533" y="1417315"/>
            <a:ext cx="5793623" cy="32675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E66B706F-5E37-9976-3000-141B488CF7C4}"/>
              </a:ext>
            </a:extLst>
          </p:cNvPr>
          <p:cNvSpPr/>
          <p:nvPr/>
        </p:nvSpPr>
        <p:spPr>
          <a:xfrm>
            <a:off x="416581" y="1527042"/>
            <a:ext cx="5466859" cy="2663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{/* Movie 1 */}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style={styles.card}&gt;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&lt;Image source={{ uri: movie1.poster }} /&gt;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 style={styles.title}&gt;{movie1.title}&lt;/Text&gt;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 style={styles.year}&gt;{movie1.year}&lt;/Text&gt;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&lt;/View&gt;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{/* Movie 2 — identical! */}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style={styles.card}&gt;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&lt;Image source={{ uri: movie2.poster }} /&gt;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 style={styles.title}&gt;{movie2.title}&lt;/Text&gt;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 style={styles.year}&gt;{movie2.year}&lt;/Text&gt;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{/* Imagine 50 movies... */}</a:t>
            </a:r>
            <a:endParaRPr lang="en-US" sz="14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DF19FD97-591C-DB3E-16A3-D9D582EA3B2E}"/>
              </a:ext>
            </a:extLst>
          </p:cNvPr>
          <p:cNvSpPr/>
          <p:nvPr/>
        </p:nvSpPr>
        <p:spPr>
          <a:xfrm>
            <a:off x="592009" y="4835736"/>
            <a:ext cx="511600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code — hard to maintain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design? Update in 50 places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duplicated across every copy</a:t>
            </a:r>
            <a:endParaRPr lang="en-US" sz="2200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B36F60CB-3B2F-A2BF-7FBC-DDBB57FDBA7C}"/>
              </a:ext>
            </a:extLst>
          </p:cNvPr>
          <p:cNvSpPr/>
          <p:nvPr/>
        </p:nvSpPr>
        <p:spPr>
          <a:xfrm>
            <a:off x="7101038" y="1069843"/>
            <a:ext cx="41605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F315CDF-7515-33E2-0D7B-A1812CC5CAC5}"/>
              </a:ext>
            </a:extLst>
          </p:cNvPr>
          <p:cNvSpPr/>
          <p:nvPr/>
        </p:nvSpPr>
        <p:spPr>
          <a:xfrm>
            <a:off x="7210766" y="1069843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reusable component</a:t>
            </a:r>
            <a:endParaRPr lang="en-US" sz="24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25C12901-9D85-676D-12DB-D97F4598A3F2}"/>
              </a:ext>
            </a:extLst>
          </p:cNvPr>
          <p:cNvSpPr/>
          <p:nvPr/>
        </p:nvSpPr>
        <p:spPr>
          <a:xfrm>
            <a:off x="7101038" y="1417315"/>
            <a:ext cx="4160520" cy="302233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0655BE6B-6353-F71A-0AB6-290D86B95FCE}"/>
              </a:ext>
            </a:extLst>
          </p:cNvPr>
          <p:cNvSpPr/>
          <p:nvPr/>
        </p:nvSpPr>
        <p:spPr>
          <a:xfrm>
            <a:off x="7238197" y="1527043"/>
            <a:ext cx="4396339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{/* Clean, DRY, readable */}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{MOVIES.map(movie =&gt; (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&lt;MovieCard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key={movie.id}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title={movie.title}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year={movie.year}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rating={movie.rating}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posterUrl={movie.posterUrl}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onPress={() =&gt; openMovie(movie)}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))}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{/* 1 component handles ALL movies */}</a:t>
            </a:r>
            <a:endParaRPr lang="en-US" sz="14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73B0D6A6-E959-5116-73F4-6B1B76EAF34D}"/>
              </a:ext>
            </a:extLst>
          </p:cNvPr>
          <p:cNvSpPr/>
          <p:nvPr/>
        </p:nvSpPr>
        <p:spPr>
          <a:xfrm>
            <a:off x="6719356" y="4840546"/>
            <a:ext cx="5469469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design once → all cards update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test in isolation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look guaranteed across the app</a:t>
            </a:r>
            <a:endParaRPr lang="en-US" sz="2200" dirty="0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22CFD018-8C32-7BEC-BD2C-DD5D18ECA920}"/>
              </a:ext>
            </a:extLst>
          </p:cNvPr>
          <p:cNvSpPr/>
          <p:nvPr/>
        </p:nvSpPr>
        <p:spPr>
          <a:xfrm>
            <a:off x="204534" y="5907503"/>
            <a:ext cx="11827855" cy="38404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3208CA"/>
              </a:solidFill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5A431CF5-BCFB-039D-7B9B-5BADFF9B5FED}"/>
              </a:ext>
            </a:extLst>
          </p:cNvPr>
          <p:cNvSpPr/>
          <p:nvPr/>
        </p:nvSpPr>
        <p:spPr>
          <a:xfrm>
            <a:off x="368477" y="5944079"/>
            <a:ext cx="11570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DRY = Don't Repeat Yourself — the single most important principle in software development</a:t>
            </a:r>
            <a:endParaRPr lang="en-US" sz="2200" dirty="0">
              <a:solidFill>
                <a:srgbClr val="3208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270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E4DBD-7070-0649-E057-8B47443E5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8AFDE0-54F0-2EAF-5CED-4D9701A9AF76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4F08DB-FB3A-9613-44E2-47A96858F695}"/>
              </a:ext>
            </a:extLst>
          </p:cNvPr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TypeScript Interfaces — Defining Your Props </a:t>
            </a:r>
            <a:r>
              <a:rPr lang="en-US" sz="36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6D4E2E-8B20-A7B3-BEB0-0A5093FD609A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3C3ABF3-FEE4-D185-4D00-6077B43C0D87}"/>
              </a:ext>
            </a:extLst>
          </p:cNvPr>
          <p:cNvSpPr/>
          <p:nvPr/>
        </p:nvSpPr>
        <p:spPr>
          <a:xfrm>
            <a:off x="2062217" y="1391323"/>
            <a:ext cx="7923998" cy="2044903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057BB6E-2BA7-BB67-C425-1DEA31B3E1D4}"/>
              </a:ext>
            </a:extLst>
          </p:cNvPr>
          <p:cNvSpPr/>
          <p:nvPr/>
        </p:nvSpPr>
        <p:spPr>
          <a:xfrm>
            <a:off x="2199376" y="1452447"/>
            <a:ext cx="7665607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Define the interface BEFORE the component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MovieCardProps {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    string;       // required — must be a string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year:      number;       // required — must be a number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rating:    number;       // required — 0-5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genre:     string;       // required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posterUrl: string;       // required — image URL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onPress?:  () =&gt; void;  // OPTIONAL — the '?' means callers can omit it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B88B9AD3-7A73-1318-D8E9-0818C5E70126}"/>
              </a:ext>
            </a:extLst>
          </p:cNvPr>
          <p:cNvSpPr/>
          <p:nvPr/>
        </p:nvSpPr>
        <p:spPr>
          <a:xfrm>
            <a:off x="2062217" y="3539690"/>
            <a:ext cx="7923998" cy="1332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81034DFC-0DB0-0353-F430-FFEFAAA97BE4}"/>
              </a:ext>
            </a:extLst>
          </p:cNvPr>
          <p:cNvSpPr/>
          <p:nvPr/>
        </p:nvSpPr>
        <p:spPr>
          <a:xfrm>
            <a:off x="2199376" y="3649417"/>
            <a:ext cx="7665607" cy="12225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TypeScript will ERROR if you: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&lt;MovieCard title={42} /&gt;           // ❌ number where string expected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&lt;MovieCard rating="4.8" /&gt;         // ❌ string where number expected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&lt;MovieCard /&gt;                      // ❌ missing required prop 'title'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&lt;MovieCard title="RRR" extra="x" /&gt;// ❌ 'extra' doesn't exist in interface</a:t>
            </a:r>
            <a:endParaRPr lang="en-US" sz="14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9F3668A3-EA94-2A40-4535-265674A19C95}"/>
              </a:ext>
            </a:extLst>
          </p:cNvPr>
          <p:cNvSpPr/>
          <p:nvPr/>
        </p:nvSpPr>
        <p:spPr>
          <a:xfrm>
            <a:off x="257472" y="5110054"/>
            <a:ext cx="3437052" cy="1222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29BCE808-766E-3DC2-0736-49E716053933}"/>
              </a:ext>
            </a:extLst>
          </p:cNvPr>
          <p:cNvSpPr/>
          <p:nvPr/>
        </p:nvSpPr>
        <p:spPr>
          <a:xfrm>
            <a:off x="257472" y="5049893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FB6A178B-C15E-9D57-3CA8-DE9014ADB37B}"/>
              </a:ext>
            </a:extLst>
          </p:cNvPr>
          <p:cNvSpPr/>
          <p:nvPr/>
        </p:nvSpPr>
        <p:spPr>
          <a:xfrm>
            <a:off x="747884" y="5101390"/>
            <a:ext cx="262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Bugs Early</a:t>
            </a:r>
            <a:endParaRPr lang="en-US" sz="20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207D7BA0-B5C2-47BA-D039-84ADB2DE4FAE}"/>
              </a:ext>
            </a:extLst>
          </p:cNvPr>
          <p:cNvSpPr/>
          <p:nvPr/>
        </p:nvSpPr>
        <p:spPr>
          <a:xfrm>
            <a:off x="851832" y="5622603"/>
            <a:ext cx="274063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errors appear in your IDE before you even run the app</a:t>
            </a:r>
            <a:endParaRPr lang="en-US" sz="2000" dirty="0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98881FD3-94C9-808D-6AAA-E2EA3677E8B8}"/>
              </a:ext>
            </a:extLst>
          </p:cNvPr>
          <p:cNvSpPr/>
          <p:nvPr/>
        </p:nvSpPr>
        <p:spPr>
          <a:xfrm>
            <a:off x="3928079" y="5110054"/>
            <a:ext cx="4178144" cy="122251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8F97B580-7198-1E38-396D-45FA01E2BE2F}"/>
              </a:ext>
            </a:extLst>
          </p:cNvPr>
          <p:cNvSpPr/>
          <p:nvPr/>
        </p:nvSpPr>
        <p:spPr>
          <a:xfrm>
            <a:off x="3807758" y="5023426"/>
            <a:ext cx="89612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A180FADF-947D-041F-A321-125429122904}"/>
              </a:ext>
            </a:extLst>
          </p:cNvPr>
          <p:cNvSpPr/>
          <p:nvPr/>
        </p:nvSpPr>
        <p:spPr>
          <a:xfrm>
            <a:off x="4549870" y="5098986"/>
            <a:ext cx="28951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Self-Documenting Code</a:t>
            </a:r>
            <a:endParaRPr lang="en-US" sz="200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295624DD-1EFB-1B27-3EA8-A2CC34687CEB}"/>
              </a:ext>
            </a:extLst>
          </p:cNvPr>
          <p:cNvSpPr/>
          <p:nvPr/>
        </p:nvSpPr>
        <p:spPr>
          <a:xfrm>
            <a:off x="4581064" y="5629824"/>
            <a:ext cx="352515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Anyone reading your component immediately knows what data it needs</a:t>
            </a:r>
            <a:endParaRPr lang="en-US" sz="2000" dirty="0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71CE5DA8-8E34-0261-BF1C-6E311D2C2A47}"/>
              </a:ext>
            </a:extLst>
          </p:cNvPr>
          <p:cNvSpPr/>
          <p:nvPr/>
        </p:nvSpPr>
        <p:spPr>
          <a:xfrm>
            <a:off x="8333551" y="5105718"/>
            <a:ext cx="3714390" cy="122251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A681009B-39F0-853B-4422-E58D9CB488EA}"/>
              </a:ext>
            </a:extLst>
          </p:cNvPr>
          <p:cNvSpPr/>
          <p:nvPr/>
        </p:nvSpPr>
        <p:spPr>
          <a:xfrm>
            <a:off x="7961580" y="5404107"/>
            <a:ext cx="103359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B77C898F-404A-4B24-C047-3492796B8699}"/>
              </a:ext>
            </a:extLst>
          </p:cNvPr>
          <p:cNvSpPr/>
          <p:nvPr/>
        </p:nvSpPr>
        <p:spPr>
          <a:xfrm>
            <a:off x="8583373" y="5214967"/>
            <a:ext cx="3339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Autocomplete</a:t>
            </a:r>
            <a:endParaRPr lang="en-US" sz="20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9631766-C6B2-DE31-985C-B7B3D38CC109}"/>
              </a:ext>
            </a:extLst>
          </p:cNvPr>
          <p:cNvSpPr/>
          <p:nvPr/>
        </p:nvSpPr>
        <p:spPr>
          <a:xfrm>
            <a:off x="8583373" y="5615862"/>
            <a:ext cx="333930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editor knows every prop name and type — no guessing</a:t>
            </a:r>
            <a:endParaRPr lang="en-US" sz="2000" dirty="0"/>
          </a:p>
        </p:txBody>
      </p:sp>
      <p:sp>
        <p:nvSpPr>
          <p:cNvPr id="62" name="Text 2">
            <a:extLst>
              <a:ext uri="{FF2B5EF4-FFF2-40B4-BE49-F238E27FC236}">
                <a16:creationId xmlns:a16="http://schemas.microsoft.com/office/drawing/2014/main" id="{3417CF45-27BE-A8C9-C6CC-8CB046D63DA0}"/>
              </a:ext>
            </a:extLst>
          </p:cNvPr>
          <p:cNvSpPr/>
          <p:nvPr/>
        </p:nvSpPr>
        <p:spPr>
          <a:xfrm>
            <a:off x="228604" y="935233"/>
            <a:ext cx="119478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 declares the shape of the data your component expects. TypeScript enforces it at build time.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5695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A610D-55C3-345F-A3FF-DA874427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76AEBE-0CF5-20BE-8828-A6BB4E4ACF9D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C21F92-84F9-301C-E2B7-E8D1E9F9A458}"/>
              </a:ext>
            </a:extLst>
          </p:cNvPr>
          <p:cNvSpPr txBox="1"/>
          <p:nvPr/>
        </p:nvSpPr>
        <p:spPr>
          <a:xfrm>
            <a:off x="457200" y="-2070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111827"/>
                </a:solidFill>
              </a:rPr>
              <a:t>Optional Prop &amp; Default Values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F4024E-497C-6855-726A-1844CCC2EAA5}"/>
              </a:ext>
            </a:extLst>
          </p:cNvPr>
          <p:cNvSpPr/>
          <p:nvPr/>
        </p:nvSpPr>
        <p:spPr>
          <a:xfrm>
            <a:off x="457200" y="62466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B1429058-A094-C87B-06F1-1AD312C83723}"/>
              </a:ext>
            </a:extLst>
          </p:cNvPr>
          <p:cNvSpPr/>
          <p:nvPr/>
        </p:nvSpPr>
        <p:spPr>
          <a:xfrm>
            <a:off x="950551" y="785280"/>
            <a:ext cx="9439976" cy="2906985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0934F306-9E5D-BD93-8B38-C27C3561F140}"/>
              </a:ext>
            </a:extLst>
          </p:cNvPr>
          <p:cNvSpPr/>
          <p:nvPr/>
        </p:nvSpPr>
        <p:spPr>
          <a:xfrm>
            <a:off x="1087711" y="810785"/>
            <a:ext cx="8138160" cy="1837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MovieCardProps {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     string;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year:       number;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rating:     number;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posterUrl:  string;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genre?:     string;       // optional — caller can omit it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onPress?:   () =&gt; void;  // optional callback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Using the component — all valid: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&lt;MovieCard title="Interstellar" year={2014} rating={4.8} posterUrl={url} /&gt;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&lt;MovieCard title="Parasite" year={2019} rating={4.7} posterUrl={url}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genre="Thriller" onPress={() =&gt; navigate('/details')} /&gt;</a:t>
            </a:r>
            <a:endParaRPr lang="en-US" sz="140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A4E94CD4-FE99-90E7-9945-FDAF8EF442D2}"/>
              </a:ext>
            </a:extLst>
          </p:cNvPr>
          <p:cNvSpPr/>
          <p:nvPr/>
        </p:nvSpPr>
        <p:spPr>
          <a:xfrm>
            <a:off x="950550" y="3739997"/>
            <a:ext cx="9439977" cy="25499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0040C0A3-C1C2-D0CA-057F-529C99024A4D}"/>
              </a:ext>
            </a:extLst>
          </p:cNvPr>
          <p:cNvSpPr/>
          <p:nvPr/>
        </p:nvSpPr>
        <p:spPr>
          <a:xfrm>
            <a:off x="1087710" y="3798949"/>
            <a:ext cx="9302817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Inside the component — handle optional props safely: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MovieCard({ title, year, rating, posterUrl, genre, onPress }: MovieCardProps) {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&lt;Pressable onPress={onPress}&gt;  {/* onPress may be undefined — Pressable handles it */}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&lt;Text&gt;{title}&lt;/Text&gt;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{genre &amp;&amp; (                  // ← conditional render: only show if genre was provided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&lt;Text style={styles.genre}&gt;{genre}&lt;/Text&gt;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&lt;/Pressable&gt;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1C40D424-1FAF-5FA6-3A13-8147196B16D9}"/>
              </a:ext>
            </a:extLst>
          </p:cNvPr>
          <p:cNvSpPr/>
          <p:nvPr/>
        </p:nvSpPr>
        <p:spPr>
          <a:xfrm>
            <a:off x="7478577" y="1623161"/>
            <a:ext cx="3768907" cy="1177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algn="ctr"/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Tip: optional props with ? make components flexible without breaking existing callers</a:t>
            </a:r>
            <a:endParaRPr lang="en-US" sz="2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743AA2-0F3A-AD40-9D9A-7850A8629F6A}"/>
              </a:ext>
            </a:extLst>
          </p:cNvPr>
          <p:cNvSpPr txBox="1"/>
          <p:nvPr/>
        </p:nvSpPr>
        <p:spPr>
          <a:xfrm>
            <a:off x="4476307" y="5686773"/>
            <a:ext cx="7074479" cy="7694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R="0" lvl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 a default value to an optional prop so the component has a fallback value when the prop is not provided.</a:t>
            </a:r>
          </a:p>
        </p:txBody>
      </p:sp>
    </p:spTree>
    <p:extLst>
      <p:ext uri="{BB962C8B-B14F-4D97-AF65-F5344CB8AC3E}">
        <p14:creationId xmlns:p14="http://schemas.microsoft.com/office/powerpoint/2010/main" val="3606595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77815-387D-5FB2-4906-EAB01898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3D075D-8FD6-ED3A-1F1D-AAF9C8D99411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7921B-B20F-4D9F-6E47-C1624125FAD7}"/>
              </a:ext>
            </a:extLst>
          </p:cNvPr>
          <p:cNvSpPr txBox="1"/>
          <p:nvPr/>
        </p:nvSpPr>
        <p:spPr>
          <a:xfrm>
            <a:off x="457200" y="18755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Pressable — The Modern Touch Handler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3F1388-30A1-648F-C858-9B592F884E0C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CC4356D-5B00-5F12-800F-1D90B958A55D}"/>
              </a:ext>
            </a:extLst>
          </p:cNvPr>
          <p:cNvSpPr/>
          <p:nvPr/>
        </p:nvSpPr>
        <p:spPr>
          <a:xfrm>
            <a:off x="185569" y="2061972"/>
            <a:ext cx="32381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Pressable instead of TouchableOpacity?</a:t>
            </a:r>
            <a:endParaRPr 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DD4ADE-DE80-C46E-FB2F-CB37515E5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792924"/>
              </p:ext>
            </p:extLst>
          </p:nvPr>
        </p:nvGraphicFramePr>
        <p:xfrm>
          <a:off x="3520029" y="982980"/>
          <a:ext cx="848322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628">
                  <a:extLst>
                    <a:ext uri="{9D8B030D-6E8A-4147-A177-3AD203B41FA5}">
                      <a16:colId xmlns:a16="http://schemas.microsoft.com/office/drawing/2014/main" val="979282815"/>
                    </a:ext>
                  </a:extLst>
                </a:gridCol>
                <a:gridCol w="2708628">
                  <a:extLst>
                    <a:ext uri="{9D8B030D-6E8A-4147-A177-3AD203B41FA5}">
                      <a16:colId xmlns:a16="http://schemas.microsoft.com/office/drawing/2014/main" val="3835174997"/>
                    </a:ext>
                  </a:extLst>
                </a:gridCol>
                <a:gridCol w="3065971">
                  <a:extLst>
                    <a:ext uri="{9D8B030D-6E8A-4147-A177-3AD203B41FA5}">
                      <a16:colId xmlns:a16="http://schemas.microsoft.com/office/drawing/2014/main" val="23091948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TouchableOpacity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Pressable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541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Pressed feedback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Opacity only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style via callback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154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press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144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in/out events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963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role, label, hint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136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legacy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use this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321469"/>
                  </a:ext>
                </a:extLst>
              </a:tr>
            </a:tbl>
          </a:graphicData>
        </a:graphic>
      </p:graphicFrame>
      <p:sp>
        <p:nvSpPr>
          <p:cNvPr id="10" name="Shape 39">
            <a:extLst>
              <a:ext uri="{FF2B5EF4-FFF2-40B4-BE49-F238E27FC236}">
                <a16:creationId xmlns:a16="http://schemas.microsoft.com/office/drawing/2014/main" id="{9A001D84-4348-4B1F-F094-737251570C86}"/>
              </a:ext>
            </a:extLst>
          </p:cNvPr>
          <p:cNvSpPr/>
          <p:nvPr/>
        </p:nvSpPr>
        <p:spPr>
          <a:xfrm>
            <a:off x="366327" y="3776900"/>
            <a:ext cx="7541512" cy="2957343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4F50F851-3F72-9FC6-FC78-F11BC6747C55}"/>
              </a:ext>
            </a:extLst>
          </p:cNvPr>
          <p:cNvSpPr/>
          <p:nvPr/>
        </p:nvSpPr>
        <p:spPr>
          <a:xfrm>
            <a:off x="503487" y="3747442"/>
            <a:ext cx="7404352" cy="2309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&lt;Pressable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style={({ pressed }) =&gt; [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styles.card,                    // always applied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pressed &amp;&amp; styles.cardPressed,  // only when pressed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onPress={() =&gt; console.log('Tapped!')}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onLongPress={() =&gt; console.log('Long pressed!')}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accessibilityRole="button"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accessibilityLabel={movie.title}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{/* children go here */}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&lt;/Pressable&gt;</a:t>
            </a:r>
            <a:endParaRPr lang="en-US" sz="1600" dirty="0"/>
          </a:p>
        </p:txBody>
      </p:sp>
      <p:sp>
        <p:nvSpPr>
          <p:cNvPr id="14" name="Shape 39">
            <a:extLst>
              <a:ext uri="{FF2B5EF4-FFF2-40B4-BE49-F238E27FC236}">
                <a16:creationId xmlns:a16="http://schemas.microsoft.com/office/drawing/2014/main" id="{5CEAC8AD-AFC2-EE25-601D-C46B9F03AAA5}"/>
              </a:ext>
            </a:extLst>
          </p:cNvPr>
          <p:cNvSpPr/>
          <p:nvPr/>
        </p:nvSpPr>
        <p:spPr>
          <a:xfrm>
            <a:off x="8193856" y="4837203"/>
            <a:ext cx="3730214" cy="97461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40">
            <a:extLst>
              <a:ext uri="{FF2B5EF4-FFF2-40B4-BE49-F238E27FC236}">
                <a16:creationId xmlns:a16="http://schemas.microsoft.com/office/drawing/2014/main" id="{F76917E2-2336-3763-8BED-5B0D63D00B7C}"/>
              </a:ext>
            </a:extLst>
          </p:cNvPr>
          <p:cNvSpPr/>
          <p:nvPr/>
        </p:nvSpPr>
        <p:spPr>
          <a:xfrm>
            <a:off x="8267219" y="4902221"/>
            <a:ext cx="3944092" cy="8445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StyleSheet: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cardPressed: { opacity: 0.8, transform: [{ scale: 0.97 }] 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68778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TextInput</a:t>
            </a:r>
            <a:r>
              <a:rPr lang="en-US" sz="3600" b="1" dirty="0">
                <a:solidFill>
                  <a:srgbClr val="111827"/>
                </a:solidFill>
              </a:rPr>
              <a:t> — The Controlled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92A58226-7DFF-D161-A939-8C1C999AB4C7}"/>
              </a:ext>
            </a:extLst>
          </p:cNvPr>
          <p:cNvSpPr/>
          <p:nvPr/>
        </p:nvSpPr>
        <p:spPr>
          <a:xfrm>
            <a:off x="365760" y="1063497"/>
            <a:ext cx="11585608" cy="2679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0" indent="-457200" defTabSz="914400" fontAlgn="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+mj-lt"/>
              </a:rPr>
              <a:t>The Primary React Native component for collecting text input from users.</a:t>
            </a:r>
          </a:p>
          <a:p>
            <a:pPr marL="914400" lvl="1" indent="-4572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Allows users to enter and edit text in an application.</a:t>
            </a:r>
          </a:p>
          <a:p>
            <a:pPr marL="914400" lvl="1" indent="-4572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Commonly used for forms, search boxes, and user input fields.</a:t>
            </a:r>
          </a:p>
          <a:p>
            <a:pPr marL="914400" lvl="1" indent="-4572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Supports placeholders, keyboard types, and input validation.</a:t>
            </a:r>
          </a:p>
          <a:p>
            <a:pPr marL="914400" lvl="1" indent="-4572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Works with state to capture and update user-entered data.</a:t>
            </a:r>
            <a:endParaRPr lang="en-US" sz="2800" dirty="0">
              <a:latin typeface="+mj-lt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800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C5DA31-4295-C1DD-C73D-BC33193B72F8}"/>
              </a:ext>
            </a:extLst>
          </p:cNvPr>
          <p:cNvSpPr txBox="1"/>
          <p:nvPr/>
        </p:nvSpPr>
        <p:spPr>
          <a:xfrm>
            <a:off x="605353" y="3524769"/>
            <a:ext cx="6096000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import { 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useState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} from 'react';</a:t>
            </a:r>
          </a:p>
          <a:p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import { 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TextInput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} from 'react-native';</a:t>
            </a:r>
          </a:p>
          <a:p>
            <a:b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export default function App() {</a:t>
            </a:r>
          </a:p>
          <a:p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const [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movieTitle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setMovieTitle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] = 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useState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('');</a:t>
            </a:r>
          </a:p>
          <a:p>
            <a:b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return (</a:t>
            </a:r>
          </a:p>
          <a:p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&lt;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TextInput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    placeholder="Enter movie title"      value={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movieTitle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			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onChangeText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={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setMovieTitle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}    /&gt;</a:t>
            </a:r>
          </a:p>
          <a:p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);</a:t>
            </a:r>
          </a:p>
          <a:p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1E5AC4A5-7C2E-08A1-A3C4-53E1A601858B}"/>
              </a:ext>
            </a:extLst>
          </p:cNvPr>
          <p:cNvSpPr/>
          <p:nvPr/>
        </p:nvSpPr>
        <p:spPr>
          <a:xfrm>
            <a:off x="6884895" y="4512824"/>
            <a:ext cx="506647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Never read from a ref to get input values — always use the controlled pattern (value + onChangeText)</a:t>
            </a:r>
            <a:endParaRPr lang="en-US" sz="2400" dirty="0">
              <a:solidFill>
                <a:srgbClr val="3208C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AAD08F-E0A9-B269-B122-005FB1A49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B4D728-D0F7-52EE-73BC-371B64CAF0FB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4A6F7A-B5AC-E9DA-744D-09859CBA41DD}"/>
              </a:ext>
            </a:extLst>
          </p:cNvPr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TextInput</a:t>
            </a:r>
            <a:r>
              <a:rPr lang="en-US" sz="3600" b="1" dirty="0">
                <a:solidFill>
                  <a:srgbClr val="111827"/>
                </a:solidFill>
              </a:rPr>
              <a:t> — Key Properties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68AF70-89F2-21D4-9F92-7DFD58F3DBC9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782BD0-F624-D113-DA18-521DD5C13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067535"/>
              </p:ext>
            </p:extLst>
          </p:nvPr>
        </p:nvGraphicFramePr>
        <p:xfrm>
          <a:off x="1628059" y="1430517"/>
          <a:ext cx="9124633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1527">
                  <a:extLst>
                    <a:ext uri="{9D8B030D-6E8A-4147-A177-3AD203B41FA5}">
                      <a16:colId xmlns:a16="http://schemas.microsoft.com/office/drawing/2014/main" val="1314823762"/>
                    </a:ext>
                  </a:extLst>
                </a:gridCol>
                <a:gridCol w="6563106">
                  <a:extLst>
                    <a:ext uri="{9D8B030D-6E8A-4147-A177-3AD203B41FA5}">
                      <a16:colId xmlns:a16="http://schemas.microsoft.com/office/drawing/2014/main" val="1383358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67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rgbClr val="3208CA"/>
                          </a:solidFill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text — must come from state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521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onChangeText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Called with new string every keystroke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461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Hint text when input is empty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057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secureTextEntry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Hides text — for passwords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205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keyboardType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"email-address" | "numeric" | "phone-pad"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69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multiline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into a multi-line text area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163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maxLength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character limit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500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396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276DE-339B-F97B-D138-53C0AC27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1E4771-FE8E-ABE9-99BB-7754428BF918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B72AF-F35A-C506-E940-68564BBCFB32}"/>
              </a:ext>
            </a:extLst>
          </p:cNvPr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TextInput</a:t>
            </a:r>
            <a:r>
              <a:rPr lang="en-US" sz="3600" b="1" dirty="0">
                <a:solidFill>
                  <a:srgbClr val="111827"/>
                </a:solidFill>
              </a:rPr>
              <a:t> —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F592D0-139C-9337-F1D8-BF6A7F7EE9B2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973ED-A79C-BBEB-EB9D-A496645D5616}"/>
              </a:ext>
            </a:extLst>
          </p:cNvPr>
          <p:cNvSpPr txBox="1"/>
          <p:nvPr/>
        </p:nvSpPr>
        <p:spPr>
          <a:xfrm>
            <a:off x="1534467" y="944910"/>
            <a:ext cx="5510146" cy="584775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import {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useState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} from 'react';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import {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TextInput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, View, Text } from 'react-native';</a:t>
            </a:r>
          </a:p>
          <a:p>
            <a:b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export default function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SearchBar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// 1️⃣  State holds the current value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const [query,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setQuery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] =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useState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('');</a:t>
            </a:r>
          </a:p>
          <a:p>
            <a:endParaRPr lang="en-US" sz="1700" b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return (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&lt;View&gt;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&lt;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TextInput</a:t>
            </a:r>
            <a:endParaRPr lang="en-US" sz="1700" b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// 2️⃣  Always feed state back as 'value'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value={query}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// 3️⃣  Always update state on change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onChangeText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={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setQuery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placeholder="Search movies…"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placeholderTextColor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="#94A3B8"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clearButtonMode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="while-editing"  // iOS 'x' button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returnKeyType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="search"           // keyboard 'Search' key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autoCapitalize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="none"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autoCorrect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={false}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/&gt;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1D9096-4A09-B2C5-F39E-D3A581CF3402}"/>
              </a:ext>
            </a:extLst>
          </p:cNvPr>
          <p:cNvSpPr txBox="1"/>
          <p:nvPr/>
        </p:nvSpPr>
        <p:spPr>
          <a:xfrm>
            <a:off x="7541122" y="3168595"/>
            <a:ext cx="3631861" cy="140038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{/* Derived display from state */}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&lt;Text&gt;You typed: {query}&lt;/Text&gt;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&lt;/View&gt;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);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1335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4D3C9-E44C-D6C7-9690-FA233B85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FCD326-B630-9D8C-E8F5-879ACF95E57D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C562A-9322-0002-C1CF-C9D6765FB129}"/>
              </a:ext>
            </a:extLst>
          </p:cNvPr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Switch — The Controlled Toggle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18DF22-2391-A60E-EDC2-FB53A8D505BC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34971A6-8866-D109-D6F2-E326EA63B5CC}"/>
              </a:ext>
            </a:extLst>
          </p:cNvPr>
          <p:cNvSpPr/>
          <p:nvPr/>
        </p:nvSpPr>
        <p:spPr>
          <a:xfrm>
            <a:off x="393065" y="1487579"/>
            <a:ext cx="11695048" cy="1128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lvl="0" indent="-3429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allows users to toggle between two states, such as ON/OFF or TRUE/FALSE.</a:t>
            </a:r>
          </a:p>
          <a:p>
            <a:pPr marL="342900" lvl="0" indent="-3429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 is commonly used for settings, preferences, and feature toggles.</a:t>
            </a:r>
          </a:p>
          <a:p>
            <a:pPr marL="342900" lvl="0" indent="-3429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 </a:t>
            </a:r>
            <a:r>
              <a:rPr lang="en-US" sz="2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state value.</a:t>
            </a: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2541E6-8F6B-3983-72F7-4CF52061DA2E}"/>
              </a:ext>
            </a:extLst>
          </p:cNvPr>
          <p:cNvSpPr txBox="1"/>
          <p:nvPr/>
        </p:nvSpPr>
        <p:spPr>
          <a:xfrm>
            <a:off x="311478" y="2911746"/>
            <a:ext cx="7401622" cy="369331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import { 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} from 'react';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import { Switch } from 'react-native';</a:t>
            </a:r>
          </a:p>
          <a:p>
            <a:pPr>
              <a:buNone/>
            </a:pPr>
            <a:b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export default function App() {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const [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isDarkMode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setIsDarkMode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(false);</a:t>
            </a:r>
          </a:p>
          <a:p>
            <a:pPr>
              <a:buNone/>
            </a:pPr>
            <a:b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return (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&lt;Switch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value={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isDarkMode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onValueChange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={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setIsDarkMode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/&gt;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52F8DA2-95ED-704C-F0CC-657B25DD0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880" y="3912872"/>
            <a:ext cx="4096322" cy="5430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C945A2B-B89F-D140-C586-B07A8D849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880" y="4791655"/>
            <a:ext cx="4096322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649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FC2E8-9EE1-112D-0059-445224F2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8C3B16-BFCE-158A-2109-9FEAA6D24912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40C4FA-AA9E-2391-B5A3-A41319089EA0}"/>
              </a:ext>
            </a:extLst>
          </p:cNvPr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Switch — Key Properties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E49085-BBBF-0EF2-C789-DE4EF98DA34B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B9C4FE-9A81-86E6-C3E0-A8A3AA5DD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510485"/>
              </p:ext>
            </p:extLst>
          </p:nvPr>
        </p:nvGraphicFramePr>
        <p:xfrm>
          <a:off x="1628059" y="1072708"/>
          <a:ext cx="9948418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5312">
                  <a:extLst>
                    <a:ext uri="{9D8B030D-6E8A-4147-A177-3AD203B41FA5}">
                      <a16:colId xmlns:a16="http://schemas.microsoft.com/office/drawing/2014/main" val="1314823762"/>
                    </a:ext>
                  </a:extLst>
                </a:gridCol>
                <a:gridCol w="6563106">
                  <a:extLst>
                    <a:ext uri="{9D8B030D-6E8A-4147-A177-3AD203B41FA5}">
                      <a16:colId xmlns:a16="http://schemas.microsoft.com/office/drawing/2014/main" val="1383358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Prop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67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rgbClr val="3208CA"/>
                          </a:solidFill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current 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521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onValueChange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en-US" sz="28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newValue</a:t>
                      </a: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</a:t>
                      </a:r>
                      <a:r>
                        <a:rPr lang="en-US" sz="28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=&gt; void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461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trackColor.false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</a:t>
                      </a:r>
                      <a:r>
                        <a:rPr lang="en-US" sz="28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</a:t>
                      </a: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when OFF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057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trackColor.true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</a:t>
                      </a:r>
                      <a:r>
                        <a:rPr lang="en-US" sz="28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</a:t>
                      </a: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when ON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205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thumbColor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circular knob </a:t>
                      </a:r>
                      <a:r>
                        <a:rPr lang="en-US" sz="28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69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ios_backgroundColor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track when value is false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500789"/>
                  </a:ext>
                </a:extLst>
              </a:tr>
            </a:tbl>
          </a:graphicData>
        </a:graphic>
      </p:graphicFrame>
      <p:sp>
        <p:nvSpPr>
          <p:cNvPr id="11" name="Text 25">
            <a:extLst>
              <a:ext uri="{FF2B5EF4-FFF2-40B4-BE49-F238E27FC236}">
                <a16:creationId xmlns:a16="http://schemas.microsoft.com/office/drawing/2014/main" id="{F3B2F91D-1A92-9DD0-031D-2B634782A86A}"/>
              </a:ext>
            </a:extLst>
          </p:cNvPr>
          <p:cNvSpPr/>
          <p:nvPr/>
        </p:nvSpPr>
        <p:spPr>
          <a:xfrm>
            <a:off x="1459089" y="5072231"/>
            <a:ext cx="4846320" cy="11281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WRONG </a:t>
            </a:r>
            <a:r>
              <a:rPr lang="en-US" sz="20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— All switches share one state!  [switch1, switch2] = useState(false)</a:t>
            </a:r>
            <a:endParaRPr lang="en-US" sz="2000" b="1" dirty="0"/>
          </a:p>
        </p:txBody>
      </p:sp>
      <p:sp>
        <p:nvSpPr>
          <p:cNvPr id="13" name="Text 26">
            <a:extLst>
              <a:ext uri="{FF2B5EF4-FFF2-40B4-BE49-F238E27FC236}">
                <a16:creationId xmlns:a16="http://schemas.microsoft.com/office/drawing/2014/main" id="{5C4C8784-0A59-C44F-7ECE-ECB32BCDADE2}"/>
              </a:ext>
            </a:extLst>
          </p:cNvPr>
          <p:cNvSpPr/>
          <p:nvPr/>
        </p:nvSpPr>
        <p:spPr>
          <a:xfrm>
            <a:off x="6830975" y="4981548"/>
            <a:ext cx="4846320" cy="1309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✅  </a:t>
            </a:r>
            <a:r>
              <a:rPr lang="en-US" sz="2000" b="1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</a:t>
            </a:r>
            <a:r>
              <a:rPr lang="en-US" sz="20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— Each switch needs its own const [x, setX] = useState(false)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19512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35A28-7AFB-85DC-5EE0-1572E532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701C6D-CBF9-E07C-703D-2D3D883C80F0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30232-0CB6-70D9-1429-0609586833F7}"/>
              </a:ext>
            </a:extLst>
          </p:cNvPr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Switch —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B87CFE-D5DA-7C51-4F12-88DEF714CF55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2807E-2BE1-82F3-45A9-931F592D39FA}"/>
              </a:ext>
            </a:extLst>
          </p:cNvPr>
          <p:cNvSpPr txBox="1"/>
          <p:nvPr/>
        </p:nvSpPr>
        <p:spPr>
          <a:xfrm>
            <a:off x="1842741" y="940805"/>
            <a:ext cx="8605953" cy="58631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import {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} from 'react';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import { Switch, View, Text,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} from 'react-native';</a:t>
            </a:r>
          </a:p>
          <a:p>
            <a:pPr>
              <a:buNone/>
            </a:pPr>
            <a:b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export default function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DarkModeToggle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const [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darkMode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setDarkMode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(false);</a:t>
            </a:r>
          </a:p>
          <a:p>
            <a:pPr>
              <a:buNone/>
            </a:pPr>
            <a:endParaRPr lang="en-US" sz="15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return (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&lt;View style={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styles.row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}&gt;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&lt;View style={{ flex: 1 }}&gt;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&lt;Text style={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styles.label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}&gt;Dark Mode&lt;/Text&gt;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&lt;Text style={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styles.sub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}&gt;Use dark background across the app&lt;/Text&gt;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&lt;/View&gt;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&lt;Switch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value={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darkMode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               // 1️⃣ always from state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onValueChange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={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setDarkMode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    // 2️⃣ update state on toggle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trackColor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={{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  false: '#CBD5E1',  // off-state track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colour</a:t>
            </a:r>
            <a:endParaRPr lang="en-US" sz="15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  true:  '#003865',  // on-state track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(SAIT navy!)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}}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thumbColor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="#FFFFFF"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ios_backgroundColor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="#CBD5E1"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/&gt;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&lt;/View&gt;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8853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6E857-33A4-A111-E513-EA32924D8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C8059F-2FE7-34DC-7F9D-1D1F62C4E1E4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0CF56B-32F7-093E-BCF9-3DCC3E93C69F}"/>
              </a:ext>
            </a:extLst>
          </p:cNvPr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Building </a:t>
            </a:r>
            <a:r>
              <a:rPr lang="en-US" sz="3600" b="1" dirty="0" err="1">
                <a:solidFill>
                  <a:srgbClr val="111827"/>
                </a:solidFill>
              </a:rPr>
              <a:t>MovieCard</a:t>
            </a:r>
            <a:r>
              <a:rPr lang="en-US" sz="3600" b="1" dirty="0">
                <a:solidFill>
                  <a:srgbClr val="111827"/>
                </a:solidFill>
              </a:rPr>
              <a:t> — Step by Step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860CF8-4C2A-BFEF-AE77-AAD337D75D03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E9E2E-F1B2-105E-C672-146015DF8D3C}"/>
              </a:ext>
            </a:extLst>
          </p:cNvPr>
          <p:cNvSpPr txBox="1"/>
          <p:nvPr/>
        </p:nvSpPr>
        <p:spPr>
          <a:xfrm>
            <a:off x="2444904" y="925239"/>
            <a:ext cx="7725007" cy="58169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// components/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MovieCard.tsx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  ← in its own file!</a:t>
            </a:r>
          </a:p>
          <a:p>
            <a:pPr>
              <a:buNone/>
            </a:pPr>
            <a:endParaRPr lang="en-US" sz="12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interface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MovieCardProps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title:     string;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year:      number;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rating:    number;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genre:     string;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posterUrl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: string;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onPress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?:  () =&gt; void;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2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function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({ title, year, rating, genre,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posterUrl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onPress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}: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MovieCardProps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return (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&lt;Pressable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style={({ pressed }) =&gt; [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styles.card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 pressed &amp;&amp;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styles.cardPressed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]}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onPress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={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onPress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accessibilityRole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="button"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&lt;Image source={{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posterUrl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}} style={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styles.poster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resizeMode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="cover" /&gt;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&lt;View style={styles.info}&gt;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&lt;Text style={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styles.title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numberOfLines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={2}&gt;{title}&lt;/Text&gt;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&lt;Text style={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styles.year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}&gt;{year}&lt;/Text&gt;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&lt;View style={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styles.bottom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  &lt;Text style={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styles.genre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}&gt;{genre}&lt;/Text&gt;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  &lt;Text style={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styles.rating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}&gt;⭐ {rating}&lt;/Text&gt;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&lt;/View&gt;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&lt;/View&gt;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&lt;/Pressable&gt;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export default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28761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E16643-0A13-4978-FF02-B39170868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20BECC-3D69-85F3-0E17-A196F3649E5F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2D7DD5-4DD0-AB0B-0DE3-A3719F403687}"/>
              </a:ext>
            </a:extLst>
          </p:cNvPr>
          <p:cNvSpPr txBox="1"/>
          <p:nvPr/>
        </p:nvSpPr>
        <p:spPr>
          <a:xfrm>
            <a:off x="457200" y="207386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Rendering Lists with .map()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E72604-074B-7CB2-833F-100D379CA1E3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79855850-D21C-F37B-9F63-2F5635588F08}"/>
              </a:ext>
            </a:extLst>
          </p:cNvPr>
          <p:cNvSpPr/>
          <p:nvPr/>
        </p:nvSpPr>
        <p:spPr>
          <a:xfrm>
            <a:off x="457200" y="1201189"/>
            <a:ext cx="1144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Array.map</a:t>
            </a: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() transforms each data item into a JSX element. The key prop is required and must be unique.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992F35-DD53-0EA5-D0FF-9197ADB0CB7A}"/>
              </a:ext>
            </a:extLst>
          </p:cNvPr>
          <p:cNvSpPr txBox="1"/>
          <p:nvPr/>
        </p:nvSpPr>
        <p:spPr>
          <a:xfrm>
            <a:off x="3243784" y="1858557"/>
            <a:ext cx="8769214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const MOVIES = [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{ id: '1', title: 'Interstellar',    year: 2014, rating: 4.8, genre: 'Sci-Fi'   },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{ id: '2', title: 'The Dark Knight', year: 2008, rating: 4.9, genre: 'Action'   },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{ id: '3', title: 'Parasite',        year: 2019, rating: 4.7, genre: 'Thriller' },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b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// Render every movie with one line: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MOVIES.map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(movie =&gt; (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&lt;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</a:t>
            </a:r>
            <a:endParaRPr lang="en-US" sz="14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key={movie.id}         // ← required — must be unique, stable, not the array index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title={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movie.title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year={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movie.year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rating={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movie.rating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genre={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movie.genre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posterUrl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={'https://picsum.photos/200/300?random=' + movie.id}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onPress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={() =&gt; console.log('Tapped:', 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movie.title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)}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/&gt;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))}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6177296-0DF2-4794-136B-312D1C13DBAF}"/>
              </a:ext>
            </a:extLst>
          </p:cNvPr>
          <p:cNvSpPr/>
          <p:nvPr/>
        </p:nvSpPr>
        <p:spPr>
          <a:xfrm>
            <a:off x="191029" y="1914215"/>
            <a:ext cx="31766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.map() Mistakes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F0205C58-8921-FF64-C75A-BBC850ED28A9}"/>
              </a:ext>
            </a:extLst>
          </p:cNvPr>
          <p:cNvSpPr/>
          <p:nvPr/>
        </p:nvSpPr>
        <p:spPr>
          <a:xfrm>
            <a:off x="191029" y="2341847"/>
            <a:ext cx="2826491" cy="1510073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7B48D396-71B8-F95A-D8A5-52C314453F28}"/>
              </a:ext>
            </a:extLst>
          </p:cNvPr>
          <p:cNvSpPr/>
          <p:nvPr/>
        </p:nvSpPr>
        <p:spPr>
          <a:xfrm>
            <a:off x="291507" y="2405856"/>
            <a:ext cx="26802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key={index}</a:t>
            </a:r>
            <a:endParaRPr lang="en-US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D0C14134-1ECC-B76D-494F-F1A063BC2A0A}"/>
              </a:ext>
            </a:extLst>
          </p:cNvPr>
          <p:cNvSpPr/>
          <p:nvPr/>
        </p:nvSpPr>
        <p:spPr>
          <a:xfrm>
            <a:off x="290272" y="3053293"/>
            <a:ext cx="2681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array index as key causes bugs when items are added or reordered. Use a stable unique ID.</a:t>
            </a:r>
            <a:endParaRPr lang="en-US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849DF5F5-ABE6-0B0B-CA2B-4448E6470153}"/>
              </a:ext>
            </a:extLst>
          </p:cNvPr>
          <p:cNvSpPr/>
          <p:nvPr/>
        </p:nvSpPr>
        <p:spPr>
          <a:xfrm>
            <a:off x="191029" y="4191587"/>
            <a:ext cx="2826491" cy="1473227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92760ECF-E675-9AF0-2FF8-EBA21DCE85D4}"/>
              </a:ext>
            </a:extLst>
          </p:cNvPr>
          <p:cNvSpPr/>
          <p:nvPr/>
        </p:nvSpPr>
        <p:spPr>
          <a:xfrm>
            <a:off x="291507" y="4255596"/>
            <a:ext cx="26802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Missing key</a:t>
            </a:r>
            <a:endParaRPr lang="en-US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6C65AFFD-CCB8-B478-92EB-2A05F24613AE}"/>
              </a:ext>
            </a:extLst>
          </p:cNvPr>
          <p:cNvSpPr/>
          <p:nvPr/>
        </p:nvSpPr>
        <p:spPr>
          <a:xfrm>
            <a:off x="290272" y="4869582"/>
            <a:ext cx="282649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logs a warning and performance degrades — React cannot efficiently update the list.</a:t>
            </a:r>
            <a:endParaRPr lang="en-US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179055EB-B495-EB49-356F-A0FB7DF2671C}"/>
              </a:ext>
            </a:extLst>
          </p:cNvPr>
          <p:cNvSpPr/>
          <p:nvPr/>
        </p:nvSpPr>
        <p:spPr>
          <a:xfrm>
            <a:off x="2060745" y="5938689"/>
            <a:ext cx="7629665" cy="801133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12EF41EE-8EC6-164D-B490-2BBB67A355EA}"/>
              </a:ext>
            </a:extLst>
          </p:cNvPr>
          <p:cNvSpPr/>
          <p:nvPr/>
        </p:nvSpPr>
        <p:spPr>
          <a:xfrm>
            <a:off x="2152186" y="600269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key={item.id}</a:t>
            </a:r>
            <a:endParaRPr lang="en-US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27DD9D89-07E0-3109-64FD-7885E66DA83D}"/>
              </a:ext>
            </a:extLst>
          </p:cNvPr>
          <p:cNvSpPr/>
          <p:nvPr/>
        </p:nvSpPr>
        <p:spPr>
          <a:xfrm>
            <a:off x="2113257" y="6282148"/>
            <a:ext cx="715340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database ID, UUID, or any stable unique identifier from your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824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7386"/>
            <a:ext cx="11338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MovieListScreen</a:t>
            </a:r>
            <a:r>
              <a:rPr lang="en-US" sz="3600" b="1" dirty="0">
                <a:solidFill>
                  <a:srgbClr val="111827"/>
                </a:solidFill>
              </a:rPr>
              <a:t> — Full Code Walkthrough  (1 of 3)</a:t>
            </a:r>
          </a:p>
          <a:p>
            <a:pPr algn="l"/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D7279EE-8A3B-C572-7C19-AFF71B16BC59}"/>
              </a:ext>
            </a:extLst>
          </p:cNvPr>
          <p:cNvSpPr/>
          <p:nvPr/>
        </p:nvSpPr>
        <p:spPr>
          <a:xfrm>
            <a:off x="1556423" y="1209239"/>
            <a:ext cx="9075978" cy="51755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C65B1BC7-1D40-2D18-7D20-E8DFED9411B1}"/>
              </a:ext>
            </a:extLst>
          </p:cNvPr>
          <p:cNvSpPr/>
          <p:nvPr/>
        </p:nvSpPr>
        <p:spPr>
          <a:xfrm>
            <a:off x="1693583" y="1263212"/>
            <a:ext cx="9075978" cy="3941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View, TextInput, Switch, FlatList, StyleSheet } from 'react-native';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MovieCard from '../components/MovieCard'; // ← import our component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MOVIES = [ /* array of movie objects with id, title, year, etc */ ];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MovieListScreen() {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Two pieces of state for this screen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[search,   setSearch]   = useState('');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[darkMode, setDarkMode] = useState(false);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Derived data — computed from state, not stored in state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filtered = MOVIES.filter(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=&gt; m.title.toLowerCase().includes(search.toLowerCase())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Dynamic colours based on darkMode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bg       = darkMode ? '#0F172A' : '#F8FAFC';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inputBg  = darkMode ? '#1E293B' : '#E2E8F0';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textColor = darkMode ? '#F1F5F9' : '#1E293B';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164D50-1FB7-4F9A-BDBB-CA8BEF1B4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C17D92-E959-DFC5-06C7-C3A9A07B300C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223874-E8DF-3880-D503-FEB20803AE90}"/>
              </a:ext>
            </a:extLst>
          </p:cNvPr>
          <p:cNvSpPr txBox="1"/>
          <p:nvPr/>
        </p:nvSpPr>
        <p:spPr>
          <a:xfrm>
            <a:off x="457200" y="207386"/>
            <a:ext cx="11338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MovieListScreen</a:t>
            </a:r>
            <a:r>
              <a:rPr lang="en-US" sz="3600" b="1" dirty="0">
                <a:solidFill>
                  <a:srgbClr val="111827"/>
                </a:solidFill>
              </a:rPr>
              <a:t> — Full Code Walkthrough  (2 of 3)</a:t>
            </a:r>
          </a:p>
          <a:p>
            <a:pPr algn="l"/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1BB89B-27E8-86FB-3642-E1B69F7955F1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1BC2BA1-4B8C-71B1-4CD0-4491BFA62CCD}"/>
              </a:ext>
            </a:extLst>
          </p:cNvPr>
          <p:cNvSpPr/>
          <p:nvPr/>
        </p:nvSpPr>
        <p:spPr>
          <a:xfrm>
            <a:off x="1069144" y="895221"/>
            <a:ext cx="10250201" cy="538370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8271F23-8F18-008F-1D1C-132987065883}"/>
              </a:ext>
            </a:extLst>
          </p:cNvPr>
          <p:cNvSpPr/>
          <p:nvPr/>
        </p:nvSpPr>
        <p:spPr>
          <a:xfrm>
            <a:off x="1206305" y="949194"/>
            <a:ext cx="9577782" cy="3941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style={[styles.container, { backgroundColor: bg }]}&gt;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Search bar + dark mode toggle row */}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&lt;View style={styles.controlRow}&gt;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&lt;TextInput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style={[styles.input, { backgroundColor: inputBg, color: textColor }]}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value={search}  onChangeText={setSearch}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placeholder="Search movies…"  placeholderTextColor="#94A3B8"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&lt;Switch value={darkMode} onValueChange={setDarkMode} /&gt;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&lt;/View&gt;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Movie list */}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&lt;FlatList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data={filtered}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keyExtractor={item =&gt; item.id}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renderItem={({ item }) =&gt; &lt;MovieCard {...item} /&gt;}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ListEmptyComponent={&lt;Text&gt;No movies found for "{search}"&lt;/Text&gt;}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14925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-30255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MovieListScreen</a:t>
            </a:r>
            <a:r>
              <a:rPr lang="en-US" sz="3600" b="1" dirty="0">
                <a:solidFill>
                  <a:srgbClr val="111827"/>
                </a:solidFill>
              </a:rPr>
              <a:t> — Key Concepts Explained  (3 of 3)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45D496-A51E-A415-8DF8-4D1C3A622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0" y="775102"/>
            <a:ext cx="11720926" cy="601664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F568319-1CC7-8AF6-AEC0-5A2D55DA9E88}"/>
              </a:ext>
            </a:extLst>
          </p:cNvPr>
          <p:cNvSpPr/>
          <p:nvPr/>
        </p:nvSpPr>
        <p:spPr>
          <a:xfrm>
            <a:off x="457200" y="695476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2FF6D5-39EF-4081-4B75-5F282D00E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C89C1B-5F9E-046D-F6F1-95F1BF3B038B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B3C523-FF95-7D60-395B-9217D6E09A5E}"/>
              </a:ext>
            </a:extLst>
          </p:cNvPr>
          <p:cNvSpPr txBox="1"/>
          <p:nvPr/>
        </p:nvSpPr>
        <p:spPr>
          <a:xfrm>
            <a:off x="457200" y="19502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MovieListScreen</a:t>
            </a:r>
            <a:r>
              <a:rPr lang="en-US" sz="3600" b="1" dirty="0">
                <a:solidFill>
                  <a:srgbClr val="111827"/>
                </a:solidFill>
              </a:rPr>
              <a:t> — Key Concepts Explained  (2 of 3)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089D5E-2CB3-1DA4-598F-D8B602537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576238"/>
              </p:ext>
            </p:extLst>
          </p:nvPr>
        </p:nvGraphicFramePr>
        <p:xfrm>
          <a:off x="828147" y="1055678"/>
          <a:ext cx="10876431" cy="5183353"/>
        </p:xfrm>
        <a:graphic>
          <a:graphicData uri="http://schemas.openxmlformats.org/drawingml/2006/table">
            <a:tbl>
              <a:tblPr/>
              <a:tblGrid>
                <a:gridCol w="3138824">
                  <a:extLst>
                    <a:ext uri="{9D8B030D-6E8A-4147-A177-3AD203B41FA5}">
                      <a16:colId xmlns:a16="http://schemas.microsoft.com/office/drawing/2014/main" val="2787303905"/>
                    </a:ext>
                  </a:extLst>
                </a:gridCol>
                <a:gridCol w="7737607">
                  <a:extLst>
                    <a:ext uri="{9D8B030D-6E8A-4147-A177-3AD203B41FA5}">
                      <a16:colId xmlns:a16="http://schemas.microsoft.com/office/drawing/2014/main" val="2416208896"/>
                    </a:ext>
                  </a:extLst>
                </a:gridCol>
              </a:tblGrid>
              <a:tr h="348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Concept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Short Explanation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265511"/>
                  </a:ext>
                </a:extLst>
              </a:tr>
              <a:tr h="576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Derived Data (filtered)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filtered is calculated from MOVIES and search; it should be computed when needed instead of stored in state.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145603"/>
                  </a:ext>
                </a:extLst>
              </a:tr>
              <a:tr h="576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Controlled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TextInput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value={search} and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onChangeText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={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setSearch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} keep the input synchronized with React state.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704728"/>
                  </a:ext>
                </a:extLst>
              </a:tr>
              <a:tr h="314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Dynamic Styling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Styles change automatically based on the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darkMode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state.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69225"/>
                  </a:ext>
                </a:extLst>
              </a:tr>
              <a:tr h="576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Style Array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[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styles.container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, {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backgroundColor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: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}] combines multiple style objects into one.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982932"/>
                  </a:ext>
                </a:extLst>
              </a:tr>
              <a:tr h="31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Switch Component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The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Switch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 toggles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darkMode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 between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 and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50461"/>
                  </a:ext>
                </a:extLst>
              </a:tr>
              <a:tr h="370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FlatList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Efficiently renders large lists by displaying only visible items.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107530"/>
                  </a:ext>
                </a:extLst>
              </a:tr>
              <a:tr h="382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MovieCard Import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The reusable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MovieCard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 component is imported from the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components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 folder.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137813"/>
                  </a:ext>
                </a:extLst>
              </a:tr>
              <a:tr h="337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Spread Props (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{...item}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Passes all movie object properties to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MovieCard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as props.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128928"/>
                  </a:ext>
                </a:extLst>
              </a:tr>
              <a:tr h="372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keyExtractor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Provides a unique key for each movie item using its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id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065259"/>
                  </a:ext>
                </a:extLst>
              </a:tr>
              <a:tr h="31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ListEmptyComponent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Displays a message when no movies match the search text.</a:t>
                      </a:r>
                      <a:endParaRPr lang="en-US" sz="2000" b="0" i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686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291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03F70-0925-78D5-B504-FA3B7CA5F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9EC55A-0337-3705-E3D7-3D21A34423D3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961B7E-C7C6-32EC-4CC4-A7D6D2EE2C10}"/>
              </a:ext>
            </a:extLst>
          </p:cNvPr>
          <p:cNvSpPr txBox="1"/>
          <p:nvPr/>
        </p:nvSpPr>
        <p:spPr>
          <a:xfrm>
            <a:off x="457200" y="19502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111827"/>
                </a:solidFill>
              </a:rPr>
              <a:t>Component </a:t>
            </a:r>
            <a:r>
              <a:rPr lang="en-US" sz="3600" b="1" dirty="0">
                <a:solidFill>
                  <a:srgbClr val="111827"/>
                </a:solidFill>
              </a:rPr>
              <a:t>File Structure — Where Files Go</a:t>
            </a:r>
            <a:endParaRPr sz="3600" b="1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1E8F62-2906-E9D5-9338-81D3FB75787D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3C688C-779C-6601-9C01-773D8C4DC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26" y="937260"/>
            <a:ext cx="6470077" cy="4292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80D430-2B75-59B3-D04D-E9054300D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27" y="5261698"/>
            <a:ext cx="6470077" cy="10540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5282A8-52B3-7A8E-3BF3-E40D3E9343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4" y="897504"/>
            <a:ext cx="5337153" cy="592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11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6FD2F-DC61-4A66-DF7A-E7E288C0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8C0150-EBF9-BF7C-208C-EC9F852285BC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AA0B94-FC88-E931-2A05-B2FFE4B096F1}"/>
              </a:ext>
            </a:extLst>
          </p:cNvPr>
          <p:cNvSpPr txBox="1"/>
          <p:nvPr/>
        </p:nvSpPr>
        <p:spPr>
          <a:xfrm>
            <a:off x="457200" y="19502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Live Demo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AD9959-2861-9A54-1A19-16B0CE01B7DB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2B443BDE-F70A-C759-80D2-D256693EF4BE}"/>
              </a:ext>
            </a:extLst>
          </p:cNvPr>
          <p:cNvSpPr/>
          <p:nvPr/>
        </p:nvSpPr>
        <p:spPr>
          <a:xfrm>
            <a:off x="1325881" y="1076099"/>
            <a:ext cx="9214539" cy="4114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MovieList Screen — Search + Dark Mode Toggle</a:t>
            </a:r>
            <a:endParaRPr lang="en-US" sz="28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FE2118AB-DD14-738D-E94D-6A2BAB99931E}"/>
              </a:ext>
            </a:extLst>
          </p:cNvPr>
          <p:cNvSpPr/>
          <p:nvPr/>
        </p:nvSpPr>
        <p:spPr>
          <a:xfrm>
            <a:off x="581233" y="2453465"/>
            <a:ext cx="11026358" cy="2395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components/MovieCard.tsx — define interface and layout</a:t>
            </a:r>
            <a:endParaRPr lang="en-US" sz="28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2.  Add TypeScript interface with 5 required props + 1 optional</a:t>
            </a:r>
            <a:endParaRPr lang="en-US" sz="28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3.  Implement the Pressable + pressed state styling</a:t>
            </a:r>
            <a:endParaRPr lang="en-US" sz="28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4.  Back in screen: add search state + controlled TextInput</a:t>
            </a:r>
            <a:endParaRPr lang="en-US" sz="28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5.  Add darkMode state + Switch toggle</a:t>
            </a:r>
            <a:endParaRPr lang="en-US" sz="28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6.  Filter MOVIES array with .filter() + .includes()</a:t>
            </a:r>
            <a:endParaRPr lang="en-US" sz="28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7.  Render with FlatList — keyExtractor + renderItem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72239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7386"/>
            <a:ext cx="11338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11827"/>
                </a:solidFill>
              </a:rPr>
              <a:t>Activity — Course Settings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9BA373CF-4586-EFBF-4CDC-3CBDCEB55FE0}"/>
              </a:ext>
            </a:extLst>
          </p:cNvPr>
          <p:cNvSpPr/>
          <p:nvPr/>
        </p:nvSpPr>
        <p:spPr>
          <a:xfrm>
            <a:off x="679268" y="1347662"/>
            <a:ext cx="4821501" cy="378016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3E9BEE9D-5306-795D-E2A2-22E328A1B8D1}"/>
              </a:ext>
            </a:extLst>
          </p:cNvPr>
          <p:cNvSpPr/>
          <p:nvPr/>
        </p:nvSpPr>
        <p:spPr>
          <a:xfrm>
            <a:off x="679269" y="1347662"/>
            <a:ext cx="482150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3ECDC5AC-9AFC-FCB3-FBF6-ACEB2F7AAB2F}"/>
              </a:ext>
            </a:extLst>
          </p:cNvPr>
          <p:cNvSpPr/>
          <p:nvPr/>
        </p:nvSpPr>
        <p:spPr>
          <a:xfrm>
            <a:off x="788997" y="134766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Building</a:t>
            </a:r>
            <a:endParaRPr lang="en-US" sz="22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39BAFE15-5D86-C1D9-1FCB-5F62E4AFA2EA}"/>
              </a:ext>
            </a:extLst>
          </p:cNvPr>
          <p:cNvSpPr/>
          <p:nvPr/>
        </p:nvSpPr>
        <p:spPr>
          <a:xfrm>
            <a:off x="816428" y="1833601"/>
            <a:ext cx="4487091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SettingsRow.tsx component — label, optional description, Switch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Section 1: Profile — TextInput for name and email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Section 2: Notifications — 4 SettingsRow toggles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Section 3: Display — Dark Mode + Compact View toggles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Section 4: Save button — Pressable that shows "✓ Settings saved!" for 2 seconds then hides</a:t>
            </a:r>
            <a:endParaRPr lang="en-US" sz="20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51F3052B-E35E-DB63-21DF-2B9327FC794D}"/>
              </a:ext>
            </a:extLst>
          </p:cNvPr>
          <p:cNvSpPr/>
          <p:nvPr/>
        </p:nvSpPr>
        <p:spPr>
          <a:xfrm>
            <a:off x="5891349" y="1073338"/>
            <a:ext cx="5806444" cy="44936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88B5C60A-BBC0-A20D-40B8-2B251E7FEEB6}"/>
              </a:ext>
            </a:extLst>
          </p:cNvPr>
          <p:cNvSpPr/>
          <p:nvPr/>
        </p:nvSpPr>
        <p:spPr>
          <a:xfrm>
            <a:off x="6087882" y="1073339"/>
            <a:ext cx="5421675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7B773134-2BDB-8DDD-60CB-8DB2A81BBB70}"/>
              </a:ext>
            </a:extLst>
          </p:cNvPr>
          <p:cNvSpPr/>
          <p:nvPr/>
        </p:nvSpPr>
        <p:spPr>
          <a:xfrm>
            <a:off x="7647001" y="1073339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SettingsRow Interface</a:t>
            </a:r>
            <a:endParaRPr lang="en-US" sz="2200" dirty="0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653E5E22-4271-CD07-60BC-975A4CB6C543}"/>
              </a:ext>
            </a:extLst>
          </p:cNvPr>
          <p:cNvSpPr/>
          <p:nvPr/>
        </p:nvSpPr>
        <p:spPr>
          <a:xfrm>
            <a:off x="6087882" y="1484818"/>
            <a:ext cx="5400901" cy="170992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25670620-7452-C909-858B-F7E695B55B97}"/>
              </a:ext>
            </a:extLst>
          </p:cNvPr>
          <p:cNvSpPr/>
          <p:nvPr/>
        </p:nvSpPr>
        <p:spPr>
          <a:xfrm>
            <a:off x="6283234" y="1542295"/>
            <a:ext cx="5747657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SettingsRowProps {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label:         string;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description?:  string;  // optional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value:         boolean;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onValueChange: (v: boolean) =&gt; void;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7597BB29-F546-9976-0F00-9FA1C0D8D683}"/>
              </a:ext>
            </a:extLst>
          </p:cNvPr>
          <p:cNvSpPr/>
          <p:nvPr/>
        </p:nvSpPr>
        <p:spPr>
          <a:xfrm>
            <a:off x="6094413" y="3258751"/>
            <a:ext cx="5415144" cy="21318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99878977-365F-130C-8B1F-E11FE6F0B3A0}"/>
              </a:ext>
            </a:extLst>
          </p:cNvPr>
          <p:cNvSpPr/>
          <p:nvPr/>
        </p:nvSpPr>
        <p:spPr>
          <a:xfrm>
            <a:off x="6400800" y="3371099"/>
            <a:ext cx="5479873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Save confirmation pattern: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[saved, setSaved] = useState(false);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handleSave() {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setSaved(true);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setTimeout(() =&gt; setSaved(false), 2000);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{saved &amp;&amp; (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 style={styles.savedMsg}&gt;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✓ Settings saved!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&lt;/Text&gt;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)}</a:t>
            </a:r>
            <a:endParaRPr lang="en-US" sz="1600" dirty="0"/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491002B9-FBD3-1F87-45DB-B300CE3F1C12}"/>
              </a:ext>
            </a:extLst>
          </p:cNvPr>
          <p:cNvSpPr/>
          <p:nvPr/>
        </p:nvSpPr>
        <p:spPr>
          <a:xfrm>
            <a:off x="1110343" y="5630981"/>
            <a:ext cx="10377138" cy="813821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F03FCD51-9F57-5AEC-B42D-7B5688A4FAC8}"/>
              </a:ext>
            </a:extLst>
          </p:cNvPr>
          <p:cNvSpPr/>
          <p:nvPr/>
        </p:nvSpPr>
        <p:spPr>
          <a:xfrm>
            <a:off x="1247503" y="5806440"/>
            <a:ext cx="103771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Own SettingsRow.tsx file  ·  Controlled switches  ·  TextInput controlled  ·  setTimeout dismiss  ·  Zero inline styles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7386"/>
            <a:ext cx="11338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Common Mistakes &amp; Quick Fixes</a:t>
            </a:r>
          </a:p>
          <a:p>
            <a:endParaRPr lang="en-US" sz="3600" b="1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3A037D-F5B3-BA7A-5F3C-076EE6B2D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57" y="899379"/>
            <a:ext cx="11652069" cy="554062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111827"/>
                </a:solidFill>
              </a:rPr>
              <a:t>Week 2 Complete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673D379-5116-485C-8886-323CF290CBB6}"/>
              </a:ext>
            </a:extLst>
          </p:cNvPr>
          <p:cNvSpPr/>
          <p:nvPr/>
        </p:nvSpPr>
        <p:spPr>
          <a:xfrm>
            <a:off x="457199" y="1807901"/>
            <a:ext cx="11443064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 live in components/ — one file per component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interface = the contract between parent and child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Pressable with ({ pressed }) =&gt; [...] for dynamic press states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TextInput controlled pattern: value + onChangeText — always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Switch controlled pattern: value + onValueChange — always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.map() + unique key for rendering arrays of components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props with ? — flexible without breaking callers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3307</Words>
  <Application>Microsoft Office PowerPoint</Application>
  <PresentationFormat>Custom</PresentationFormat>
  <Paragraphs>501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Arial</vt:lpstr>
      <vt:lpstr>Calibri</vt:lpstr>
      <vt:lpstr>Consolas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2026-08-31T21:18:28Z</dcterms:created>
  <dcterms:modified xsi:type="dcterms:W3CDTF">2026-08-31T21:18:36Z</dcterms:modified>
  <cp:category/>
</cp:coreProperties>
</file>