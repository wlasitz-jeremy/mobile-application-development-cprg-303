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1"/>
  </p:notesMasterIdLst>
  <p:sldIdLst>
    <p:sldId id="278" r:id="rId2"/>
    <p:sldId id="257" r:id="rId3"/>
    <p:sldId id="451" r:id="rId4"/>
    <p:sldId id="452" r:id="rId5"/>
    <p:sldId id="259" r:id="rId6"/>
    <p:sldId id="260" r:id="rId7"/>
    <p:sldId id="454" r:id="rId8"/>
    <p:sldId id="263" r:id="rId9"/>
    <p:sldId id="264" r:id="rId10"/>
    <p:sldId id="265" r:id="rId11"/>
    <p:sldId id="266" r:id="rId12"/>
    <p:sldId id="268" r:id="rId13"/>
    <p:sldId id="269" r:id="rId14"/>
    <p:sldId id="455" r:id="rId15"/>
    <p:sldId id="271" r:id="rId16"/>
    <p:sldId id="272" r:id="rId17"/>
    <p:sldId id="273" r:id="rId18"/>
    <p:sldId id="275" r:id="rId19"/>
    <p:sldId id="27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13" autoAdjust="0"/>
  </p:normalViewPr>
  <p:slideViewPr>
    <p:cSldViewPr snapToGrid="0" snapToObjects="1">
      <p:cViewPr varScale="1">
        <p:scale>
          <a:sx n="41" d="100"/>
          <a:sy n="41" d="100"/>
        </p:scale>
        <p:origin x="1072" y="2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855-9F18-E3F2-AC2C-1AB6F8E5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A0D3-91F8-6906-3897-9F86C4F8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BD691-D921-1BAE-EEEE-461B464DF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57C3-6F45-9B6F-BB4C-0886306B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77A9-4CD6-868C-2DA1-A1B50B4E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CCD30-3209-6B5F-1275-3707D9E0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2F6B-FB6B-F5EA-A408-C7D13439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69A9-A81D-FBA4-5A31-CD085D2A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7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4390-9522-20EC-234D-64F61AF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8CBE-B35C-9803-4D3D-7FCA7F2C0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813B-D193-5A4E-4149-C6D0B514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027D-D14C-ABFF-BB53-A6CEF3D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6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55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2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8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0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4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Core Visual Components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F96328-5BF3-D54F-2B88-C43DE6DAD1B9}"/>
              </a:ext>
            </a:extLst>
          </p:cNvPr>
          <p:cNvSpPr/>
          <p:nvPr/>
        </p:nvSpPr>
        <p:spPr>
          <a:xfrm>
            <a:off x="-128" y="2711372"/>
            <a:ext cx="1218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·  Text  ·  Image  ·  ScrollView  ·  SafeAreaProvider  ·  Flexbox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C12C48A-E6BC-7882-9E83-99E044CE4324}"/>
              </a:ext>
            </a:extLst>
          </p:cNvPr>
          <p:cNvSpPr/>
          <p:nvPr/>
        </p:nvSpPr>
        <p:spPr>
          <a:xfrm>
            <a:off x="1082455" y="1477873"/>
            <a:ext cx="42556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React Native Renders</a:t>
            </a:r>
            <a:endParaRPr lang="en-US" sz="28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FB0709B-1EDC-33CE-0453-536D2C6ACEB1}"/>
              </a:ext>
            </a:extLst>
          </p:cNvPr>
          <p:cNvSpPr/>
          <p:nvPr/>
        </p:nvSpPr>
        <p:spPr>
          <a:xfrm>
            <a:off x="1082456" y="252943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endParaRPr lang="en-US" sz="28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B485BDF-59B0-9E0D-E3F9-F6BB0ECEAE4D}"/>
              </a:ext>
            </a:extLst>
          </p:cNvPr>
          <p:cNvSpPr/>
          <p:nvPr/>
        </p:nvSpPr>
        <p:spPr>
          <a:xfrm>
            <a:off x="1082456" y="358099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 — The Layout Box</a:t>
            </a:r>
            <a:endParaRPr lang="en-US" sz="28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8F4BCD0-A0C1-E25A-98AF-AFF0BB05ADEE}"/>
              </a:ext>
            </a:extLst>
          </p:cNvPr>
          <p:cNvSpPr/>
          <p:nvPr/>
        </p:nvSpPr>
        <p:spPr>
          <a:xfrm>
            <a:off x="1082456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28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1432F0B2-5ED5-4592-E63B-575E11B89372}"/>
              </a:ext>
            </a:extLst>
          </p:cNvPr>
          <p:cNvSpPr/>
          <p:nvPr/>
        </p:nvSpPr>
        <p:spPr>
          <a:xfrm>
            <a:off x="7724218" y="147787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Image</a:t>
            </a:r>
            <a:endParaRPr lang="en-US" sz="2800"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9B4522B9-6EDA-BDD3-6EB2-14884193B97E}"/>
              </a:ext>
            </a:extLst>
          </p:cNvPr>
          <p:cNvSpPr/>
          <p:nvPr/>
        </p:nvSpPr>
        <p:spPr>
          <a:xfrm>
            <a:off x="7724218" y="252943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StyleSheet.create()</a:t>
            </a:r>
            <a:endParaRPr lang="en-US" sz="2800" dirty="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2687E1E1-96AC-7698-F544-445467DB324A}"/>
              </a:ext>
            </a:extLst>
          </p:cNvPr>
          <p:cNvSpPr/>
          <p:nvPr/>
        </p:nvSpPr>
        <p:spPr>
          <a:xfrm>
            <a:off x="7724218" y="358099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 Engine</a:t>
            </a:r>
            <a:endParaRPr lang="en-US" sz="2800" dirty="0"/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5B8A2320-8A4C-374F-C28B-016251F0487B}"/>
              </a:ext>
            </a:extLst>
          </p:cNvPr>
          <p:cNvSpPr/>
          <p:nvPr/>
        </p:nvSpPr>
        <p:spPr>
          <a:xfrm>
            <a:off x="7724218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flex numbers &amp; flexWrap</a:t>
            </a:r>
            <a:endParaRPr lang="en-US" sz="28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CA6DE5-9CDF-0824-3DED-623753785E43}"/>
              </a:ext>
            </a:extLst>
          </p:cNvPr>
          <p:cNvSpPr/>
          <p:nvPr/>
        </p:nvSpPr>
        <p:spPr>
          <a:xfrm>
            <a:off x="442376" y="144064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EA08BC-9993-4427-4638-6DBD1D92442C}"/>
              </a:ext>
            </a:extLst>
          </p:cNvPr>
          <p:cNvSpPr txBox="1"/>
          <p:nvPr/>
        </p:nvSpPr>
        <p:spPr>
          <a:xfrm>
            <a:off x="442376" y="140763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47391A-D1E0-464D-162B-511CFB5354DC}"/>
              </a:ext>
            </a:extLst>
          </p:cNvPr>
          <p:cNvSpPr/>
          <p:nvPr/>
        </p:nvSpPr>
        <p:spPr>
          <a:xfrm>
            <a:off x="7074994" y="45605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2F3FCC-3022-500B-3868-C5650D19A0CA}"/>
              </a:ext>
            </a:extLst>
          </p:cNvPr>
          <p:cNvSpPr txBox="1"/>
          <p:nvPr/>
        </p:nvSpPr>
        <p:spPr>
          <a:xfrm>
            <a:off x="7074994" y="45275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8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9FF03-40FA-FB10-FFC3-D6F1A2B2B817}"/>
              </a:ext>
            </a:extLst>
          </p:cNvPr>
          <p:cNvSpPr/>
          <p:nvPr/>
        </p:nvSpPr>
        <p:spPr>
          <a:xfrm>
            <a:off x="446700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E37646-5A80-CA72-1346-6C88AF2E6D47}"/>
              </a:ext>
            </a:extLst>
          </p:cNvPr>
          <p:cNvSpPr txBox="1"/>
          <p:nvPr/>
        </p:nvSpPr>
        <p:spPr>
          <a:xfrm>
            <a:off x="446700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D74A18-9F06-7CF9-F541-65BD9D15B194}"/>
              </a:ext>
            </a:extLst>
          </p:cNvPr>
          <p:cNvSpPr/>
          <p:nvPr/>
        </p:nvSpPr>
        <p:spPr>
          <a:xfrm>
            <a:off x="436195" y="454471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6EE4F0-E4B5-AE8E-B30E-38B6CE76D377}"/>
              </a:ext>
            </a:extLst>
          </p:cNvPr>
          <p:cNvSpPr txBox="1"/>
          <p:nvPr/>
        </p:nvSpPr>
        <p:spPr>
          <a:xfrm>
            <a:off x="436195" y="45117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9FD5C1-317C-6A0E-9905-F145035FAF26}"/>
              </a:ext>
            </a:extLst>
          </p:cNvPr>
          <p:cNvSpPr/>
          <p:nvPr/>
        </p:nvSpPr>
        <p:spPr>
          <a:xfrm>
            <a:off x="7074994" y="1390693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47FE96-E141-BE3A-230D-10FB10631F55}"/>
              </a:ext>
            </a:extLst>
          </p:cNvPr>
          <p:cNvSpPr txBox="1"/>
          <p:nvPr/>
        </p:nvSpPr>
        <p:spPr>
          <a:xfrm>
            <a:off x="7074994" y="1357683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7659AB-943F-C44B-596F-6095087D484D}"/>
              </a:ext>
            </a:extLst>
          </p:cNvPr>
          <p:cNvSpPr/>
          <p:nvPr/>
        </p:nvSpPr>
        <p:spPr>
          <a:xfrm>
            <a:off x="7074994" y="24722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0A964-DB89-EB5F-A9FC-9B0E21962952}"/>
              </a:ext>
            </a:extLst>
          </p:cNvPr>
          <p:cNvSpPr txBox="1"/>
          <p:nvPr/>
        </p:nvSpPr>
        <p:spPr>
          <a:xfrm>
            <a:off x="7074994" y="24392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FFB51D2-40D5-753C-2A2C-FD3A6E3DE1F7}"/>
              </a:ext>
            </a:extLst>
          </p:cNvPr>
          <p:cNvSpPr/>
          <p:nvPr/>
        </p:nvSpPr>
        <p:spPr>
          <a:xfrm>
            <a:off x="7074994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52109B-6C5A-01FB-42A8-40E84BFF7867}"/>
              </a:ext>
            </a:extLst>
          </p:cNvPr>
          <p:cNvSpPr txBox="1"/>
          <p:nvPr/>
        </p:nvSpPr>
        <p:spPr>
          <a:xfrm>
            <a:off x="7074994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8E79FC9-FB74-963C-50CB-A8BC9DCE9771}"/>
              </a:ext>
            </a:extLst>
          </p:cNvPr>
          <p:cNvSpPr/>
          <p:nvPr/>
        </p:nvSpPr>
        <p:spPr>
          <a:xfrm>
            <a:off x="446700" y="246051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F9E801-D93C-C536-D6D5-64A077DC3F68}"/>
              </a:ext>
            </a:extLst>
          </p:cNvPr>
          <p:cNvSpPr txBox="1"/>
          <p:nvPr/>
        </p:nvSpPr>
        <p:spPr>
          <a:xfrm>
            <a:off x="446700" y="242072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2</a:t>
            </a:r>
            <a:endParaRPr sz="2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C95E-369B-2E43-4B4D-E1FA269C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8591A-52C0-F150-8D88-4063A201FC0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94834-FA57-D0BF-6241-4121383B7490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How React Native Renders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FE485-AF83-3311-A50A-EF3F834A5EC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4FC4401-445C-C8EB-33EF-C31E059B5ED8}"/>
              </a:ext>
            </a:extLst>
          </p:cNvPr>
          <p:cNvSpPr/>
          <p:nvPr/>
        </p:nvSpPr>
        <p:spPr>
          <a:xfrm>
            <a:off x="457199" y="1025981"/>
            <a:ext cx="11578281" cy="457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code never touches the screen directly — it communicates through native threads.</a:t>
            </a:r>
            <a:endParaRPr lang="en-US" sz="24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9ADEFA3-082D-032B-F7AF-290DEBC0D64A}"/>
              </a:ext>
            </a:extLst>
          </p:cNvPr>
          <p:cNvSpPr/>
          <p:nvPr/>
        </p:nvSpPr>
        <p:spPr>
          <a:xfrm>
            <a:off x="988544" y="1759723"/>
            <a:ext cx="1562141" cy="22035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676F06D-33F1-C556-3C7D-8202720A880F}"/>
              </a:ext>
            </a:extLst>
          </p:cNvPr>
          <p:cNvSpPr/>
          <p:nvPr/>
        </p:nvSpPr>
        <p:spPr>
          <a:xfrm>
            <a:off x="988544" y="1832876"/>
            <a:ext cx="15621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(TypeScript)</a:t>
            </a:r>
            <a:endParaRPr lang="en-US" sz="20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F0F7DA8-21FC-760D-67CF-52F5BEC154DF}"/>
              </a:ext>
            </a:extLst>
          </p:cNvPr>
          <p:cNvSpPr/>
          <p:nvPr/>
        </p:nvSpPr>
        <p:spPr>
          <a:xfrm>
            <a:off x="988544" y="2942025"/>
            <a:ext cx="15621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app/index.tsx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20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AAF61094-9DBE-1297-20D5-84C73FD9FCA9}"/>
              </a:ext>
            </a:extLst>
          </p:cNvPr>
          <p:cNvSpPr/>
          <p:nvPr/>
        </p:nvSpPr>
        <p:spPr>
          <a:xfrm>
            <a:off x="3268589" y="1759723"/>
            <a:ext cx="1371600" cy="220354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36F8BC75-9166-0748-C901-D25F66542557}"/>
              </a:ext>
            </a:extLst>
          </p:cNvPr>
          <p:cNvSpPr/>
          <p:nvPr/>
        </p:nvSpPr>
        <p:spPr>
          <a:xfrm>
            <a:off x="3268589" y="180816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</a:t>
            </a:r>
            <a:endParaRPr lang="en-US" sz="20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72738488-2E18-E29B-AE08-622681137019}"/>
              </a:ext>
            </a:extLst>
          </p:cNvPr>
          <p:cNvSpPr/>
          <p:nvPr/>
        </p:nvSpPr>
        <p:spPr>
          <a:xfrm>
            <a:off x="3268589" y="294202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JS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hot reload</a:t>
            </a:r>
            <a:endParaRPr lang="en-US" sz="20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87D8A73A-4E95-0C79-BD77-D54552C5B909}"/>
              </a:ext>
            </a:extLst>
          </p:cNvPr>
          <p:cNvSpPr/>
          <p:nvPr/>
        </p:nvSpPr>
        <p:spPr>
          <a:xfrm>
            <a:off x="5371725" y="1759724"/>
            <a:ext cx="1371600" cy="220354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9ACC7D58-A2C0-529D-1372-61490E43942A}"/>
              </a:ext>
            </a:extLst>
          </p:cNvPr>
          <p:cNvSpPr/>
          <p:nvPr/>
        </p:nvSpPr>
        <p:spPr>
          <a:xfrm>
            <a:off x="5371725" y="1828261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Thread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(Hermes)</a:t>
            </a:r>
            <a:endParaRPr lang="en-US" sz="20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C184387-D20B-51F9-4D31-12DF4BA45D20}"/>
              </a:ext>
            </a:extLst>
          </p:cNvPr>
          <p:cNvSpPr/>
          <p:nvPr/>
        </p:nvSpPr>
        <p:spPr>
          <a:xfrm>
            <a:off x="5371725" y="290033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200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F89D44D-9825-B727-3F38-73A89B40F425}"/>
              </a:ext>
            </a:extLst>
          </p:cNvPr>
          <p:cNvSpPr/>
          <p:nvPr/>
        </p:nvSpPr>
        <p:spPr>
          <a:xfrm>
            <a:off x="7433460" y="1759725"/>
            <a:ext cx="1581529" cy="2203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0C98F71E-4D4C-494E-EC5B-4FFBF35DAC0D}"/>
              </a:ext>
            </a:extLst>
          </p:cNvPr>
          <p:cNvSpPr/>
          <p:nvPr/>
        </p:nvSpPr>
        <p:spPr>
          <a:xfrm>
            <a:off x="7433461" y="183328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20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BF13FC32-8EB1-9C74-5701-8E3A56F8200B}"/>
              </a:ext>
            </a:extLst>
          </p:cNvPr>
          <p:cNvSpPr/>
          <p:nvPr/>
        </p:nvSpPr>
        <p:spPr>
          <a:xfrm>
            <a:off x="7433461" y="2991861"/>
            <a:ext cx="15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C++ interop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old async bridge</a:t>
            </a:r>
            <a:endParaRPr lang="en-US" sz="20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4D43FCF7-6E2B-9A4E-9E49-516573CDBB74}"/>
              </a:ext>
            </a:extLst>
          </p:cNvPr>
          <p:cNvSpPr/>
          <p:nvPr/>
        </p:nvSpPr>
        <p:spPr>
          <a:xfrm>
            <a:off x="9779392" y="1759723"/>
            <a:ext cx="1581529" cy="22035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9D5B313C-69C1-224D-1200-3BAE519071DA}"/>
              </a:ext>
            </a:extLst>
          </p:cNvPr>
          <p:cNvSpPr/>
          <p:nvPr/>
        </p:nvSpPr>
        <p:spPr>
          <a:xfrm>
            <a:off x="9779393" y="1795805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20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C33CDA74-6EA8-B079-A5E9-C238FE331A1D}"/>
              </a:ext>
            </a:extLst>
          </p:cNvPr>
          <p:cNvSpPr/>
          <p:nvPr/>
        </p:nvSpPr>
        <p:spPr>
          <a:xfrm>
            <a:off x="9767036" y="2917308"/>
            <a:ext cx="1593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UIKit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Views</a:t>
            </a:r>
            <a:endParaRPr lang="en-US" sz="20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EF3B289-C94D-91A4-A08A-E7ED2172E13D}"/>
              </a:ext>
            </a:extLst>
          </p:cNvPr>
          <p:cNvSpPr/>
          <p:nvPr/>
        </p:nvSpPr>
        <p:spPr>
          <a:xfrm>
            <a:off x="457201" y="5328118"/>
            <a:ext cx="114794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Go: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serves a live bundle to your device — save a file and it reloads instantly.</a:t>
            </a:r>
            <a:endParaRPr lang="en-US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 allows synchronous C++ calls — roughly 10x faster than the old asynchronous JSON bridge.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</a:t>
            </a: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layout and style work happens on the JS thread, but the actual drawing happens native.</a:t>
            </a:r>
            <a:endParaRPr lang="en-US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4122EA72-CF92-60C1-AB09-CD493ABA2D9C}"/>
              </a:ext>
            </a:extLst>
          </p:cNvPr>
          <p:cNvSpPr/>
          <p:nvPr/>
        </p:nvSpPr>
        <p:spPr>
          <a:xfrm>
            <a:off x="2625432" y="2667686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53B14EC-EF9C-57D5-2306-5B02D199FCB9}"/>
              </a:ext>
            </a:extLst>
          </p:cNvPr>
          <p:cNvSpPr/>
          <p:nvPr/>
        </p:nvSpPr>
        <p:spPr>
          <a:xfrm>
            <a:off x="4738436" y="2657613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FBE75F79-8A91-9834-72E9-4BBC4584B415}"/>
              </a:ext>
            </a:extLst>
          </p:cNvPr>
          <p:cNvSpPr/>
          <p:nvPr/>
        </p:nvSpPr>
        <p:spPr>
          <a:xfrm>
            <a:off x="6811118" y="2674334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5D2F7D20-DAD6-FBA9-517B-63274BDCDEC8}"/>
              </a:ext>
            </a:extLst>
          </p:cNvPr>
          <p:cNvSpPr/>
          <p:nvPr/>
        </p:nvSpPr>
        <p:spPr>
          <a:xfrm>
            <a:off x="9121828" y="2664261"/>
            <a:ext cx="617838" cy="3994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1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610D-55C3-345F-A3FF-DA874427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6AEBE-0CF5-20BE-8828-A6BB4E4ACF9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1F92-84F9-301C-E2B7-E8D1E9F9A458}"/>
              </a:ext>
            </a:extLst>
          </p:cNvPr>
          <p:cNvSpPr txBox="1"/>
          <p:nvPr/>
        </p:nvSpPr>
        <p:spPr>
          <a:xfrm>
            <a:off x="457200" y="198157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Safe Area – The Right Way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4024E-497C-6855-726A-1844CCC2EAA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3FA36F22-873B-5F7F-CF1B-5DB4A0105122}"/>
              </a:ext>
            </a:extLst>
          </p:cNvPr>
          <p:cNvSpPr/>
          <p:nvPr/>
        </p:nvSpPr>
        <p:spPr>
          <a:xfrm>
            <a:off x="457200" y="1032008"/>
            <a:ext cx="11467069" cy="633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SafeAreaView from react-native is deprecated and Android-broken. Always use react-native-safe-area-context.</a:t>
            </a:r>
            <a:endParaRPr lang="en-US" sz="28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797F7FC-707A-3929-5ACB-5C49C2B6E0AF}"/>
              </a:ext>
            </a:extLst>
          </p:cNvPr>
          <p:cNvSpPr/>
          <p:nvPr/>
        </p:nvSpPr>
        <p:spPr>
          <a:xfrm>
            <a:off x="921814" y="1939761"/>
            <a:ext cx="4620064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2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56FC5538-C51B-8A2F-8CA7-390BA375A642}"/>
              </a:ext>
            </a:extLst>
          </p:cNvPr>
          <p:cNvSpPr/>
          <p:nvPr/>
        </p:nvSpPr>
        <p:spPr>
          <a:xfrm>
            <a:off x="921814" y="2305520"/>
            <a:ext cx="4620064" cy="312839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react-native — DO NOT 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works on iOS, broken on Android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&lt;Text&gt;Content here&lt;/Text&gt;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8A34A85-777F-BBD7-48EB-75CD741FA81A}"/>
              </a:ext>
            </a:extLst>
          </p:cNvPr>
          <p:cNvSpPr/>
          <p:nvPr/>
        </p:nvSpPr>
        <p:spPr>
          <a:xfrm>
            <a:off x="6646946" y="1488003"/>
            <a:ext cx="4790961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 (Expo SDK 55+)</a:t>
            </a:r>
            <a:endParaRPr lang="en-US" sz="20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E567C516-8D63-99AC-F977-D2BFD3108745}"/>
              </a:ext>
            </a:extLst>
          </p:cNvPr>
          <p:cNvSpPr/>
          <p:nvPr/>
        </p:nvSpPr>
        <p:spPr>
          <a:xfrm>
            <a:off x="6646947" y="1876008"/>
            <a:ext cx="4790961" cy="492021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 install react-native-safe-area-context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SafeAreaProvider, SafeAreaView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'react-native-safe-area-context';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_layout.tsx — wrap once at app root: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RootLayout()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&lt;Stack /&gt;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&lt;/SafeAreaProvider&gt;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each screen: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 style={{ flex: 1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&lt;Text&gt;Works iOS + Android&lt;/Text&gt;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F1F3C41-54A2-4E0E-71E2-2AFD80F1269D}"/>
              </a:ext>
            </a:extLst>
          </p:cNvPr>
          <p:cNvSpPr/>
          <p:nvPr/>
        </p:nvSpPr>
        <p:spPr>
          <a:xfrm>
            <a:off x="921814" y="5479630"/>
            <a:ext cx="4620064" cy="748173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import { useSafeAreaInsets } from 'react-native-safe-area-context' — gives you exact pixel values for paddingTop, paddingBottom, etc.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659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View – Layout Box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23FC1150-40A3-0E32-8191-9C81009B613B}"/>
              </a:ext>
            </a:extLst>
          </p:cNvPr>
          <p:cNvSpPr/>
          <p:nvPr/>
        </p:nvSpPr>
        <p:spPr>
          <a:xfrm>
            <a:off x="365760" y="1229691"/>
            <a:ext cx="5605736" cy="370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 is React Native's equivalent of &lt;div&gt;. Every layout is made by nesting Views inside Views.</a:t>
            </a:r>
            <a:endParaRPr lang="en-US" sz="24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DF93E0F-5EB3-B770-28C1-F4C9A2A6186E}"/>
              </a:ext>
            </a:extLst>
          </p:cNvPr>
          <p:cNvSpPr/>
          <p:nvPr/>
        </p:nvSpPr>
        <p:spPr>
          <a:xfrm>
            <a:off x="365760" y="199952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by default</a:t>
            </a:r>
            <a:endParaRPr lang="en-US" sz="2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89EAC7D-0A40-8426-2AB1-F579EAFF104A}"/>
              </a:ext>
            </a:extLst>
          </p:cNvPr>
          <p:cNvSpPr/>
          <p:nvPr/>
        </p:nvSpPr>
        <p:spPr>
          <a:xfrm>
            <a:off x="365759" y="2320141"/>
            <a:ext cx="560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background, no border — add style props to make it visible. Use backgroundColor to debug layouts.</a:t>
            </a:r>
            <a:endParaRPr lang="en-US" sz="20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5B2A7A6-CDB3-A832-D8B2-399FE8860F60}"/>
              </a:ext>
            </a:extLst>
          </p:cNvPr>
          <p:cNvSpPr/>
          <p:nvPr/>
        </p:nvSpPr>
        <p:spPr>
          <a:xfrm>
            <a:off x="365760" y="308696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flex container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64380FBD-E170-6477-88D3-5BD3C80CC626}"/>
              </a:ext>
            </a:extLst>
          </p:cNvPr>
          <p:cNvSpPr/>
          <p:nvPr/>
        </p:nvSpPr>
        <p:spPr>
          <a:xfrm>
            <a:off x="365760" y="3430732"/>
            <a:ext cx="5605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automatically lays out its children using Flexbox. Default direction is 'column' (top to bottom).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29155957-A53A-0976-D668-73FD516650F1}"/>
              </a:ext>
            </a:extLst>
          </p:cNvPr>
          <p:cNvSpPr/>
          <p:nvPr/>
        </p:nvSpPr>
        <p:spPr>
          <a:xfrm>
            <a:off x="365760" y="419755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style props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9F3720B2-AFD9-3092-62BA-16E30E17CD1C}"/>
              </a:ext>
            </a:extLst>
          </p:cNvPr>
          <p:cNvSpPr/>
          <p:nvPr/>
        </p:nvSpPr>
        <p:spPr>
          <a:xfrm>
            <a:off x="365760" y="4541324"/>
            <a:ext cx="5605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backgroundColor, borderRadius, padding, margin, width, height, flex, opacity, shadow, elevation.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D1551FD-3A31-7DBA-8A85-B83C2C62623F}"/>
              </a:ext>
            </a:extLst>
          </p:cNvPr>
          <p:cNvSpPr/>
          <p:nvPr/>
        </p:nvSpPr>
        <p:spPr>
          <a:xfrm>
            <a:off x="365760" y="529657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positioning</a:t>
            </a:r>
            <a:endParaRPr lang="en-US" sz="20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BDF886F-89AF-AACB-7D10-6B4BA2D15ECD}"/>
              </a:ext>
            </a:extLst>
          </p:cNvPr>
          <p:cNvSpPr/>
          <p:nvPr/>
        </p:nvSpPr>
        <p:spPr>
          <a:xfrm>
            <a:off x="365759" y="5570894"/>
            <a:ext cx="55026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position:'absolute' to layer elements — great for badges, overlays, and floating buttons.</a:t>
            </a:r>
            <a:endParaRPr lang="en-US" sz="20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ED3B5C4-3370-B053-B6F9-345EE69DDC38}"/>
              </a:ext>
            </a:extLst>
          </p:cNvPr>
          <p:cNvSpPr/>
          <p:nvPr/>
        </p:nvSpPr>
        <p:spPr>
          <a:xfrm>
            <a:off x="6035504" y="1039984"/>
            <a:ext cx="6007481" cy="55678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style={styles.screen}&gt;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style={styles.header}&gt;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 style={styles.title}&gt;Movie&lt;/Text&gt;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style={styles.row}&gt;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style={styles.badge}&gt;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&lt;Text&gt;Action&lt;/Text&gt;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style={styles.badge}&gt;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&lt;Text&gt;Drama&lt;/Text&gt;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screen: { flex: 1, backgroundColor: '#F8FAFC'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header: { padding: 20, backgroundColor: '#003865'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{ color: 'white', fontSize: 24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row:    { flexDirection: 'row', gap: 8, padding: 12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badge:  { backgroundColor: '#E2E8F0', borderRadius: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paddingHorizontal: 10, paddingVertical: 4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ScrollView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61514F08-8E2B-6972-416C-4C514587264B}"/>
              </a:ext>
            </a:extLst>
          </p:cNvPr>
          <p:cNvSpPr/>
          <p:nvPr/>
        </p:nvSpPr>
        <p:spPr>
          <a:xfrm>
            <a:off x="330915" y="1241435"/>
            <a:ext cx="5763497" cy="468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ScrollView when content is taller than the screen. For long lists of data, use FlatList instead.</a:t>
            </a:r>
            <a:endParaRPr lang="en-US" sz="2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18738CA-1B08-6CAB-B1DB-04B245C452B3}"/>
              </a:ext>
            </a:extLst>
          </p:cNvPr>
          <p:cNvSpPr/>
          <p:nvPr/>
        </p:nvSpPr>
        <p:spPr>
          <a:xfrm>
            <a:off x="235312" y="2654428"/>
            <a:ext cx="816248" cy="30175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2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1AB2B295-890B-3E5E-36F6-8B38FB76E0CF}"/>
              </a:ext>
            </a:extLst>
          </p:cNvPr>
          <p:cNvSpPr/>
          <p:nvPr/>
        </p:nvSpPr>
        <p:spPr>
          <a:xfrm>
            <a:off x="1142999" y="2045828"/>
            <a:ext cx="4760089" cy="151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content — profile pages, detail screens, forms with many fields.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content where you know roughly how many items there are.</a:t>
            </a:r>
            <a:endParaRPr lang="en-US" sz="2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0E77DF5F-6DC2-BDD6-40BB-549260F4D9D2}"/>
              </a:ext>
            </a:extLst>
          </p:cNvPr>
          <p:cNvSpPr/>
          <p:nvPr/>
        </p:nvSpPr>
        <p:spPr>
          <a:xfrm>
            <a:off x="171304" y="3980424"/>
            <a:ext cx="880256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22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7AA1C56F-AB57-17D7-B275-DB5AD2A197E4}"/>
              </a:ext>
            </a:extLst>
          </p:cNvPr>
          <p:cNvSpPr/>
          <p:nvPr/>
        </p:nvSpPr>
        <p:spPr>
          <a:xfrm>
            <a:off x="1143000" y="3800087"/>
            <a:ext cx="476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items — renders everything at once. Use FlatList (virtualized) instead.</a:t>
            </a:r>
            <a:endParaRPr lang="en-US" sz="22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D9B2266C-8BE3-7FF6-748B-4E73067663AE}"/>
              </a:ext>
            </a:extLst>
          </p:cNvPr>
          <p:cNvSpPr/>
          <p:nvPr/>
        </p:nvSpPr>
        <p:spPr>
          <a:xfrm>
            <a:off x="171304" y="4984869"/>
            <a:ext cx="880256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C1BF5B61-538B-5B1F-01E2-C93DF11021F4}"/>
              </a:ext>
            </a:extLst>
          </p:cNvPr>
          <p:cNvSpPr/>
          <p:nvPr/>
        </p:nvSpPr>
        <p:spPr>
          <a:xfrm>
            <a:off x="1143000" y="4769811"/>
            <a:ext cx="4951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contentContainerStyle for inner layout, not the style prop on ScrollView itself.</a:t>
            </a:r>
            <a:endParaRPr lang="en-US" sz="22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04A21690-A898-68BC-BBB0-6957332CC24A}"/>
              </a:ext>
            </a:extLst>
          </p:cNvPr>
          <p:cNvSpPr/>
          <p:nvPr/>
        </p:nvSpPr>
        <p:spPr>
          <a:xfrm>
            <a:off x="171304" y="5850426"/>
            <a:ext cx="880256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22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AEE37FA5-DC46-3BF9-53B9-60817F29433B}"/>
              </a:ext>
            </a:extLst>
          </p:cNvPr>
          <p:cNvSpPr/>
          <p:nvPr/>
        </p:nvSpPr>
        <p:spPr>
          <a:xfrm>
            <a:off x="1143000" y="5646942"/>
            <a:ext cx="4951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showsVerticalScrollIndicator={false} hides the scrollbar for a cleaner look.</a:t>
            </a:r>
            <a:endParaRPr lang="en-US" sz="22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931229C8-840B-DA3B-0FB1-B802DF4C5983}"/>
              </a:ext>
            </a:extLst>
          </p:cNvPr>
          <p:cNvSpPr/>
          <p:nvPr/>
        </p:nvSpPr>
        <p:spPr>
          <a:xfrm>
            <a:off x="6169995" y="1090160"/>
            <a:ext cx="5847526" cy="550162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ScrollView, View, Text, StyleSheet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'react-native-safe-area-context';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ProfileScreen()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&lt;SafeAreaView style={{ flex: 1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&lt;ScrollView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contentContainerStyle={styles.content}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showsVerticalScrollIndicator={false}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style={styles.heading}&gt;Profile&lt;/Text&gt;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style={styles.body}&gt;Bio goes here...&lt;/Text&gt;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{/* All your scrollable content */}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&lt;/ScrollView&gt;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&lt;/SafeAreaView&gt;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{ padding: 20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heading: { fontSize: 28, fontWeight: 'bold'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   { fontSize: 16, color: '#475569'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D3C9-E44C-D6C7-9690-FA233B8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CD326-B630-9D8C-E8F5-879ACF95E57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562A-9322-0002-C1CF-C9D6765FB129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&lt;Text&gt; &amp; &lt;Image&gt;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8DF22-2391-A60E-EDC2-FB53A8D505B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A263FAA-DCFA-2BE1-B08D-96EF7C4FFEFD}"/>
              </a:ext>
            </a:extLst>
          </p:cNvPr>
          <p:cNvSpPr/>
          <p:nvPr/>
        </p:nvSpPr>
        <p:spPr>
          <a:xfrm>
            <a:off x="2220372" y="973899"/>
            <a:ext cx="2325007" cy="43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Key Props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58A7753C-5EFC-DF3B-74B8-A4C43AEF3AD0}"/>
              </a:ext>
            </a:extLst>
          </p:cNvPr>
          <p:cNvSpPr/>
          <p:nvPr/>
        </p:nvSpPr>
        <p:spPr>
          <a:xfrm>
            <a:off x="1960722" y="4774636"/>
            <a:ext cx="2875151" cy="264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— resizeMode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805ED8AC-92D3-F7DC-957B-8EFD777EE404}"/>
              </a:ext>
            </a:extLst>
          </p:cNvPr>
          <p:cNvSpPr/>
          <p:nvPr/>
        </p:nvSpPr>
        <p:spPr>
          <a:xfrm>
            <a:off x="215286" y="5203550"/>
            <a:ext cx="1339594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220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BBB31BC9-8F2E-55CA-5E2B-91301820BA65}"/>
              </a:ext>
            </a:extLst>
          </p:cNvPr>
          <p:cNvSpPr/>
          <p:nvPr/>
        </p:nvSpPr>
        <p:spPr>
          <a:xfrm>
            <a:off x="1854202" y="5203550"/>
            <a:ext cx="1346598" cy="320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endParaRPr lang="en-US" sz="2200" dirty="0"/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478A34F2-D65A-2BD5-AE11-DAC9990C4568}"/>
              </a:ext>
            </a:extLst>
          </p:cNvPr>
          <p:cNvSpPr/>
          <p:nvPr/>
        </p:nvSpPr>
        <p:spPr>
          <a:xfrm>
            <a:off x="5164273" y="5203550"/>
            <a:ext cx="1346599" cy="3200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stretch</a:t>
            </a:r>
            <a:endParaRPr lang="en-US" sz="22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6B8E91FB-D3C3-588E-5B5C-5E157606E5D8}"/>
              </a:ext>
            </a:extLst>
          </p:cNvPr>
          <p:cNvSpPr/>
          <p:nvPr/>
        </p:nvSpPr>
        <p:spPr>
          <a:xfrm>
            <a:off x="3524026" y="5203550"/>
            <a:ext cx="1346599" cy="320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220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A88D7ADD-479A-E979-7704-BDC578074C2E}"/>
              </a:ext>
            </a:extLst>
          </p:cNvPr>
          <p:cNvSpPr/>
          <p:nvPr/>
        </p:nvSpPr>
        <p:spPr>
          <a:xfrm>
            <a:off x="6609144" y="317663"/>
            <a:ext cx="5122481" cy="6337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component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style={styles.heading}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numberOfLines={2}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ellipsizeMode="tail"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Interstellar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Nested text for partial styling */}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 style={styles.body}&gt;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Directed by{" "}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style={{ fontWeight: 'bold' }}&gt;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Christopher Nolan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 — local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poster from '../assets/poster.jpg';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 source={poster}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style={styles.poster} resizeMode="cover" /&gt;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 — remote URL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source={{ uri: 'https://picsum.photos/400/600' }}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style={styles.poster}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resizeMode="cover"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3A313-9D08-CFB2-9060-144A81D3A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58097"/>
              </p:ext>
            </p:extLst>
          </p:nvPr>
        </p:nvGraphicFramePr>
        <p:xfrm>
          <a:off x="365760" y="1528714"/>
          <a:ext cx="60650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630">
                  <a:extLst>
                    <a:ext uri="{9D8B030D-6E8A-4147-A177-3AD203B41FA5}">
                      <a16:colId xmlns:a16="http://schemas.microsoft.com/office/drawing/2014/main" val="399220678"/>
                    </a:ext>
                  </a:extLst>
                </a:gridCol>
                <a:gridCol w="1632268">
                  <a:extLst>
                    <a:ext uri="{9D8B030D-6E8A-4147-A177-3AD203B41FA5}">
                      <a16:colId xmlns:a16="http://schemas.microsoft.com/office/drawing/2014/main" val="129310008"/>
                    </a:ext>
                  </a:extLst>
                </a:gridCol>
                <a:gridCol w="2440178">
                  <a:extLst>
                    <a:ext uri="{9D8B030D-6E8A-4147-A177-3AD203B41FA5}">
                      <a16:colId xmlns:a16="http://schemas.microsoft.com/office/drawing/2014/main" val="3782914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fontSize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Size in </a:t>
                      </a:r>
                      <a:r>
                        <a:rPr lang="en-US" sz="2200" dirty="0" err="1"/>
                        <a:t>dp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0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fontWeight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'bold'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'100'–'900'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05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'#003865'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 / </a:t>
                      </a:r>
                      <a:r>
                        <a:rPr lang="en-US" sz="2200" dirty="0" err="1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rgba</a:t>
                      </a: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named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3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textAlign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'center'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/ c / r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98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numberOfLines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 at N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7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ellipsizeMode</a:t>
                      </a:r>
                      <a:endParaRPr lang="en-US" sz="2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'tail'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head/mid/tail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419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4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 err="1">
                <a:solidFill>
                  <a:srgbClr val="111827"/>
                </a:solidFill>
              </a:rPr>
              <a:t>StyleSheet.create</a:t>
            </a:r>
            <a:r>
              <a:rPr lang="en-US" sz="3600" b="1" dirty="0">
                <a:solidFill>
                  <a:srgbClr val="111827"/>
                </a:solidFill>
              </a:rPr>
              <a:t>() – Quick Intro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7C89844-EC42-FBBE-E9E0-3D82AC84BB99}"/>
              </a:ext>
            </a:extLst>
          </p:cNvPr>
          <p:cNvSpPr/>
          <p:nvPr/>
        </p:nvSpPr>
        <p:spPr>
          <a:xfrm>
            <a:off x="179522" y="1367551"/>
            <a:ext cx="7229319" cy="31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 2 of today goes deep on every style property. Here is the essential pattern you need right now.</a:t>
            </a:r>
            <a:endParaRPr lang="en-US" sz="2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F062348-FE49-E622-47BF-60BEDEA2D54B}"/>
              </a:ext>
            </a:extLst>
          </p:cNvPr>
          <p:cNvSpPr/>
          <p:nvPr/>
        </p:nvSpPr>
        <p:spPr>
          <a:xfrm>
            <a:off x="365760" y="45467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0E6CED6-E131-C4BC-BE42-60BEEA1642F6}"/>
              </a:ext>
            </a:extLst>
          </p:cNvPr>
          <p:cNvSpPr/>
          <p:nvPr/>
        </p:nvSpPr>
        <p:spPr>
          <a:xfrm>
            <a:off x="7589520" y="583482"/>
            <a:ext cx="4206240" cy="616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at the BOTTOM of your file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flex: 1,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'#F8FAFC',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heading: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fontSize: 28,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fontWeight: 'bold',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'#003865',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marginBottom: 8,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'white',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marginBottom: 12,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See Part 2 for shadows!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090042D-40CD-DDF6-B70B-D7A9B57ED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008519"/>
              </p:ext>
            </p:extLst>
          </p:nvPr>
        </p:nvGraphicFramePr>
        <p:xfrm>
          <a:off x="179522" y="2285732"/>
          <a:ext cx="7043081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980">
                  <a:extLst>
                    <a:ext uri="{9D8B030D-6E8A-4147-A177-3AD203B41FA5}">
                      <a16:colId xmlns:a16="http://schemas.microsoft.com/office/drawing/2014/main" val="1238426809"/>
                    </a:ext>
                  </a:extLst>
                </a:gridCol>
                <a:gridCol w="5302101">
                  <a:extLst>
                    <a:ext uri="{9D8B030D-6E8A-4147-A177-3AD203B41FA5}">
                      <a16:colId xmlns:a16="http://schemas.microsoft.com/office/drawing/2014/main" val="2372827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objects are registered once — not re-created on every render. Massive win for list items.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80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dev mode, RN warns you instantly about unknown or incorrect style properties.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6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returned object is frozen — you cannot accidentally mutate styles at runtime.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2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2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 live at the bottom of the file, keeping your JSX lean. It's the universal RN convention.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089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Flexbox – React Native’s Layout Engine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244FDB7-DCD7-0F23-4EBC-F59D2287FA29}"/>
              </a:ext>
            </a:extLst>
          </p:cNvPr>
          <p:cNvSpPr/>
          <p:nvPr/>
        </p:nvSpPr>
        <p:spPr>
          <a:xfrm>
            <a:off x="457201" y="1061626"/>
            <a:ext cx="11082758" cy="31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uses Flexbox for ALL layout. Every View is a flex container by default.</a:t>
            </a:r>
            <a:endParaRPr lang="en-US" sz="24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727AA7C7-FC05-411B-766E-1B253130DE1D}"/>
              </a:ext>
            </a:extLst>
          </p:cNvPr>
          <p:cNvSpPr/>
          <p:nvPr/>
        </p:nvSpPr>
        <p:spPr>
          <a:xfrm>
            <a:off x="197454" y="1698466"/>
            <a:ext cx="5532014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CSS Default</a:t>
            </a:r>
            <a:endParaRPr lang="en-US" sz="22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D3855F3-DF42-3545-020C-FB3F97600EC9}"/>
              </a:ext>
            </a:extLst>
          </p:cNvPr>
          <p:cNvSpPr/>
          <p:nvPr/>
        </p:nvSpPr>
        <p:spPr>
          <a:xfrm>
            <a:off x="197454" y="2055081"/>
            <a:ext cx="5532014" cy="126974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'row'  (horizontal)
</a:t>
            </a:r>
            <a:r>
              <a:rPr lang="en-US" sz="2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'stretch'
</a:t>
            </a: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divs stack vertically</a:t>
            </a:r>
            <a:endParaRPr lang="en-US" sz="22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46C00479-EAAE-87CF-5221-27FFC54EF748}"/>
              </a:ext>
            </a:extLst>
          </p:cNvPr>
          <p:cNvSpPr/>
          <p:nvPr/>
        </p:nvSpPr>
        <p:spPr>
          <a:xfrm>
            <a:off x="6094412" y="1698465"/>
            <a:ext cx="5896959" cy="425653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Default</a:t>
            </a:r>
            <a:endParaRPr lang="en-US" sz="22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3A18DAB9-404C-01FE-5C7A-C94CF891AC99}"/>
              </a:ext>
            </a:extLst>
          </p:cNvPr>
          <p:cNvSpPr/>
          <p:nvPr/>
        </p:nvSpPr>
        <p:spPr>
          <a:xfrm>
            <a:off x="6094412" y="2055082"/>
            <a:ext cx="5896959" cy="12161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(vertical!)
</a:t>
            </a: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'stretch'
</a:t>
            </a: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is a flex container</a:t>
            </a:r>
            <a:endParaRPr lang="en-US" sz="22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DCD6EAEF-6B5D-E0DF-CC5E-BDED5FF2DC3E}"/>
              </a:ext>
            </a:extLst>
          </p:cNvPr>
          <p:cNvSpPr/>
          <p:nvPr/>
        </p:nvSpPr>
        <p:spPr>
          <a:xfrm>
            <a:off x="503329" y="4518055"/>
            <a:ext cx="2254867" cy="868225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&amp; Cross Axis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92250C06-78DC-EEA1-E887-43D2566CFB0E}"/>
              </a:ext>
            </a:extLst>
          </p:cNvPr>
          <p:cNvSpPr/>
          <p:nvPr/>
        </p:nvSpPr>
        <p:spPr>
          <a:xfrm>
            <a:off x="5850423" y="3969190"/>
            <a:ext cx="5498202" cy="22860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DD9E3BAB-7D0C-C358-0609-D6328D72BC1A}"/>
              </a:ext>
            </a:extLst>
          </p:cNvPr>
          <p:cNvSpPr/>
          <p:nvPr/>
        </p:nvSpPr>
        <p:spPr>
          <a:xfrm>
            <a:off x="5941863" y="4076023"/>
            <a:ext cx="527516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(default)</a:t>
            </a:r>
            <a:endParaRPr lang="en-US" sz="22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A5A564AA-B00E-DD0E-0DE0-8C6FE84A2575}"/>
              </a:ext>
            </a:extLst>
          </p:cNvPr>
          <p:cNvSpPr/>
          <p:nvPr/>
        </p:nvSpPr>
        <p:spPr>
          <a:xfrm>
            <a:off x="6170463" y="4550815"/>
            <a:ext cx="46634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C6ECCF68-07B0-EE86-7443-FF747E9AA4B2}"/>
              </a:ext>
            </a:extLst>
          </p:cNvPr>
          <p:cNvSpPr/>
          <p:nvPr/>
        </p:nvSpPr>
        <p:spPr>
          <a:xfrm>
            <a:off x="6170463" y="4550815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200" dirty="0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A8C70C4B-7EF7-5F72-364F-56E664549B85}"/>
              </a:ext>
            </a:extLst>
          </p:cNvPr>
          <p:cNvSpPr/>
          <p:nvPr/>
        </p:nvSpPr>
        <p:spPr>
          <a:xfrm>
            <a:off x="6170463" y="5095753"/>
            <a:ext cx="4663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322408D6-D0D0-4323-A2FB-A0BBC73800BB}"/>
              </a:ext>
            </a:extLst>
          </p:cNvPr>
          <p:cNvSpPr/>
          <p:nvPr/>
        </p:nvSpPr>
        <p:spPr>
          <a:xfrm>
            <a:off x="6170463" y="5095753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2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91C052CA-15B2-EB16-7C96-836B4505B3E1}"/>
              </a:ext>
            </a:extLst>
          </p:cNvPr>
          <p:cNvSpPr/>
          <p:nvPr/>
        </p:nvSpPr>
        <p:spPr>
          <a:xfrm>
            <a:off x="6170463" y="5605966"/>
            <a:ext cx="46634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143512B4-02D2-890F-1BAF-D50F8E4C8509}"/>
              </a:ext>
            </a:extLst>
          </p:cNvPr>
          <p:cNvSpPr/>
          <p:nvPr/>
        </p:nvSpPr>
        <p:spPr>
          <a:xfrm>
            <a:off x="6170463" y="560596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2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48B501B-DD7C-FE83-8741-51C7BCFAF79F}"/>
              </a:ext>
            </a:extLst>
          </p:cNvPr>
          <p:cNvSpPr/>
          <p:nvPr/>
        </p:nvSpPr>
        <p:spPr>
          <a:xfrm>
            <a:off x="4742726" y="4110108"/>
            <a:ext cx="0" cy="2282821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F0C399F0-96F1-CECA-0473-A23FDB278F0D}"/>
              </a:ext>
            </a:extLst>
          </p:cNvPr>
          <p:cNvSpPr/>
          <p:nvPr/>
        </p:nvSpPr>
        <p:spPr>
          <a:xfrm>
            <a:off x="3417427" y="4064389"/>
            <a:ext cx="1325879" cy="23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Main Axis</a:t>
            </a:r>
            <a:endParaRPr lang="en-US" sz="22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291E8CDD-204B-05FD-4613-5509AA381BF0}"/>
              </a:ext>
            </a:extLst>
          </p:cNvPr>
          <p:cNvSpPr/>
          <p:nvPr/>
        </p:nvSpPr>
        <p:spPr>
          <a:xfrm>
            <a:off x="3417427" y="4397162"/>
            <a:ext cx="1325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2626"/>
                </a:solidFill>
              </a:rPr>
              <a:t>(column)</a:t>
            </a:r>
            <a:endParaRPr lang="en-US" sz="2200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C39F4CD2-1E84-91D6-6F56-F15695330E25}"/>
              </a:ext>
            </a:extLst>
          </p:cNvPr>
          <p:cNvSpPr/>
          <p:nvPr/>
        </p:nvSpPr>
        <p:spPr>
          <a:xfrm>
            <a:off x="3970121" y="5131462"/>
            <a:ext cx="530697" cy="4416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↓</a:t>
            </a:r>
            <a:endParaRPr lang="en-US" sz="2200" dirty="0"/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E78FF305-CB13-07A1-5445-457E243F588A}"/>
              </a:ext>
            </a:extLst>
          </p:cNvPr>
          <p:cNvSpPr/>
          <p:nvPr/>
        </p:nvSpPr>
        <p:spPr>
          <a:xfrm>
            <a:off x="4743306" y="6388648"/>
            <a:ext cx="6090597" cy="428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80475586-5738-1E9C-9438-4ED9E8B3B9EE}"/>
              </a:ext>
            </a:extLst>
          </p:cNvPr>
          <p:cNvSpPr/>
          <p:nvPr/>
        </p:nvSpPr>
        <p:spPr>
          <a:xfrm>
            <a:off x="7008470" y="653089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Cross Axis  →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FlexDirection</a:t>
            </a:r>
            <a:r>
              <a:rPr lang="en-US" sz="3600" b="1" dirty="0">
                <a:solidFill>
                  <a:srgbClr val="111827"/>
                </a:solidFill>
              </a:rPr>
              <a:t> – Column vs Row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AC663E8-C196-F991-F69A-BBEA67A6E174}"/>
              </a:ext>
            </a:extLst>
          </p:cNvPr>
          <p:cNvSpPr/>
          <p:nvPr/>
        </p:nvSpPr>
        <p:spPr>
          <a:xfrm>
            <a:off x="608828" y="963330"/>
            <a:ext cx="11186932" cy="73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'column' stacks children top-to-bottom (default).  'row' places them left-to-right.</a:t>
            </a:r>
            <a:endParaRPr lang="en-US" sz="28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C1A1FC33-500A-0296-0475-EA0E557C8EFF}"/>
              </a:ext>
            </a:extLst>
          </p:cNvPr>
          <p:cNvSpPr/>
          <p:nvPr/>
        </p:nvSpPr>
        <p:spPr>
          <a:xfrm>
            <a:off x="457200" y="1938502"/>
            <a:ext cx="5338823" cy="497622"/>
          </a:xfrm>
          <a:prstGeom prst="rect">
            <a:avLst/>
          </a:prstGeom>
          <a:solidFill>
            <a:srgbClr val="003865"/>
          </a:solidFill>
          <a:ln>
            <a:solidFill>
              <a:srgbClr val="00386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'column'  (default)</a:t>
            </a:r>
            <a:endParaRPr lang="en-US" sz="22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6B9EFB82-9DBE-AA28-47BA-FC57AE33F88B}"/>
              </a:ext>
            </a:extLst>
          </p:cNvPr>
          <p:cNvSpPr/>
          <p:nvPr/>
        </p:nvSpPr>
        <p:spPr>
          <a:xfrm>
            <a:off x="1391279" y="2671320"/>
            <a:ext cx="3291840" cy="333756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19DC6306-DF4F-3068-CBDF-01ABFE21369F}"/>
              </a:ext>
            </a:extLst>
          </p:cNvPr>
          <p:cNvSpPr/>
          <p:nvPr/>
        </p:nvSpPr>
        <p:spPr>
          <a:xfrm>
            <a:off x="1528439" y="2790192"/>
            <a:ext cx="30175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2F7DDF3-9387-146C-4875-68DF010980EE}"/>
              </a:ext>
            </a:extLst>
          </p:cNvPr>
          <p:cNvSpPr/>
          <p:nvPr/>
        </p:nvSpPr>
        <p:spPr>
          <a:xfrm>
            <a:off x="1528439" y="27901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2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99797B3-EDE0-BD74-8E53-3530E3D43937}"/>
              </a:ext>
            </a:extLst>
          </p:cNvPr>
          <p:cNvSpPr/>
          <p:nvPr/>
        </p:nvSpPr>
        <p:spPr>
          <a:xfrm>
            <a:off x="1528439" y="3841752"/>
            <a:ext cx="30175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7D0514E-79EB-9287-70DC-BFB6063ED7BE}"/>
              </a:ext>
            </a:extLst>
          </p:cNvPr>
          <p:cNvSpPr/>
          <p:nvPr/>
        </p:nvSpPr>
        <p:spPr>
          <a:xfrm>
            <a:off x="1528439" y="384175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200" dirty="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D58B3DE-244B-E192-061E-A53076F6C2AD}"/>
              </a:ext>
            </a:extLst>
          </p:cNvPr>
          <p:cNvSpPr/>
          <p:nvPr/>
        </p:nvSpPr>
        <p:spPr>
          <a:xfrm>
            <a:off x="1528439" y="4893312"/>
            <a:ext cx="30175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D246CFC6-C2BB-4DE5-F11A-15F71793B693}"/>
              </a:ext>
            </a:extLst>
          </p:cNvPr>
          <p:cNvSpPr/>
          <p:nvPr/>
        </p:nvSpPr>
        <p:spPr>
          <a:xfrm>
            <a:off x="1528439" y="4893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2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E476C9F7-2BDF-513D-5DCA-9D98FBB8EF6C}"/>
              </a:ext>
            </a:extLst>
          </p:cNvPr>
          <p:cNvSpPr/>
          <p:nvPr/>
        </p:nvSpPr>
        <p:spPr>
          <a:xfrm>
            <a:off x="6965067" y="1938502"/>
            <a:ext cx="3977640" cy="49762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flexDirection: 'row'</a:t>
            </a:r>
            <a:endParaRPr lang="en-US" sz="22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2D7AD09-2901-4343-BC94-54E817BB785A}"/>
              </a:ext>
            </a:extLst>
          </p:cNvPr>
          <p:cNvSpPr/>
          <p:nvPr/>
        </p:nvSpPr>
        <p:spPr>
          <a:xfrm>
            <a:off x="6965067" y="2625024"/>
            <a:ext cx="397764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EC2EF42-83B5-DCD4-8E66-8668B94E9912}"/>
              </a:ext>
            </a:extLst>
          </p:cNvPr>
          <p:cNvSpPr/>
          <p:nvPr/>
        </p:nvSpPr>
        <p:spPr>
          <a:xfrm>
            <a:off x="7083939" y="2753040"/>
            <a:ext cx="1152144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A83E545-EAD5-2CE5-7455-4AB9D2EEB7A3}"/>
              </a:ext>
            </a:extLst>
          </p:cNvPr>
          <p:cNvSpPr/>
          <p:nvPr/>
        </p:nvSpPr>
        <p:spPr>
          <a:xfrm>
            <a:off x="7083939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DCE08088-8BAB-AB53-E717-9F2F3E984013}"/>
              </a:ext>
            </a:extLst>
          </p:cNvPr>
          <p:cNvSpPr/>
          <p:nvPr/>
        </p:nvSpPr>
        <p:spPr>
          <a:xfrm>
            <a:off x="8345811" y="2753040"/>
            <a:ext cx="1152144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4140744B-887F-52B4-CF0F-D82061A81AC5}"/>
              </a:ext>
            </a:extLst>
          </p:cNvPr>
          <p:cNvSpPr/>
          <p:nvPr/>
        </p:nvSpPr>
        <p:spPr>
          <a:xfrm>
            <a:off x="8345811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827C27B1-F59A-95F0-687F-3571C2487488}"/>
              </a:ext>
            </a:extLst>
          </p:cNvPr>
          <p:cNvSpPr/>
          <p:nvPr/>
        </p:nvSpPr>
        <p:spPr>
          <a:xfrm>
            <a:off x="9607683" y="2753040"/>
            <a:ext cx="1152144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478A66FF-99DF-487E-D1F4-D54A9D7505F4}"/>
              </a:ext>
            </a:extLst>
          </p:cNvPr>
          <p:cNvSpPr/>
          <p:nvPr/>
        </p:nvSpPr>
        <p:spPr>
          <a:xfrm>
            <a:off x="9607683" y="2753040"/>
            <a:ext cx="1152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66444612-A6A2-5AD9-0228-F85F31B093A4}"/>
              </a:ext>
            </a:extLst>
          </p:cNvPr>
          <p:cNvSpPr/>
          <p:nvPr/>
        </p:nvSpPr>
        <p:spPr>
          <a:xfrm>
            <a:off x="6574420" y="4317242"/>
            <a:ext cx="5348187" cy="1929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style prop on the parent View: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 // items side by side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'column'  (default, items stacked)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'row-reverse'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'column-reverse'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justifyContent</a:t>
            </a:r>
            <a:r>
              <a:rPr lang="en-US" sz="3600" b="1" dirty="0">
                <a:solidFill>
                  <a:srgbClr val="111827"/>
                </a:solidFill>
              </a:rPr>
              <a:t> — Main Axis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AC21D2B-EFBF-CF65-3405-64510E2E6683}"/>
              </a:ext>
            </a:extLst>
          </p:cNvPr>
          <p:cNvSpPr/>
          <p:nvPr/>
        </p:nvSpPr>
        <p:spPr>
          <a:xfrm>
            <a:off x="377335" y="1170781"/>
            <a:ext cx="11625612" cy="316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children are distributed along the main axis (column = vertical by default).</a:t>
            </a:r>
            <a:endParaRPr lang="en-US" sz="26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371057A-D862-8A60-FBDD-952BE1DCA563}"/>
              </a:ext>
            </a:extLst>
          </p:cNvPr>
          <p:cNvSpPr/>
          <p:nvPr/>
        </p:nvSpPr>
        <p:spPr>
          <a:xfrm>
            <a:off x="1268588" y="19739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'flex-start'</a:t>
            </a:r>
            <a:endParaRPr lang="en-US" sz="240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867216D-3C44-DDD2-70D2-0FC758F90352}"/>
              </a:ext>
            </a:extLst>
          </p:cNvPr>
          <p:cNvSpPr/>
          <p:nvPr/>
        </p:nvSpPr>
        <p:spPr>
          <a:xfrm>
            <a:off x="1268588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CF24EFAB-68D9-59A0-BC33-A5D32E4B28EB}"/>
              </a:ext>
            </a:extLst>
          </p:cNvPr>
          <p:cNvSpPr/>
          <p:nvPr/>
        </p:nvSpPr>
        <p:spPr>
          <a:xfrm>
            <a:off x="1405748" y="2357999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7696E4F4-7625-2692-D625-C1058EAF3150}"/>
              </a:ext>
            </a:extLst>
          </p:cNvPr>
          <p:cNvSpPr/>
          <p:nvPr/>
        </p:nvSpPr>
        <p:spPr>
          <a:xfrm>
            <a:off x="1405748" y="2357999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7A637202-D19C-DF0E-D3F9-056F07FD3AED}"/>
              </a:ext>
            </a:extLst>
          </p:cNvPr>
          <p:cNvSpPr/>
          <p:nvPr/>
        </p:nvSpPr>
        <p:spPr>
          <a:xfrm>
            <a:off x="1405748" y="3016367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94DEEF4-B43B-6412-0E5F-815FCFC9D494}"/>
              </a:ext>
            </a:extLst>
          </p:cNvPr>
          <p:cNvSpPr/>
          <p:nvPr/>
        </p:nvSpPr>
        <p:spPr>
          <a:xfrm>
            <a:off x="1405748" y="3016367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36D0D282-C0E2-EECA-301F-B2362662D530}"/>
              </a:ext>
            </a:extLst>
          </p:cNvPr>
          <p:cNvSpPr/>
          <p:nvPr/>
        </p:nvSpPr>
        <p:spPr>
          <a:xfrm>
            <a:off x="1405748" y="3674735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55B1B70-1731-3E10-8728-E2B4E64791BB}"/>
              </a:ext>
            </a:extLst>
          </p:cNvPr>
          <p:cNvSpPr/>
          <p:nvPr/>
        </p:nvSpPr>
        <p:spPr>
          <a:xfrm>
            <a:off x="1405748" y="367473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96347CB-E3B8-F9F4-74CC-91681D2848BD}"/>
              </a:ext>
            </a:extLst>
          </p:cNvPr>
          <p:cNvSpPr/>
          <p:nvPr/>
        </p:nvSpPr>
        <p:spPr>
          <a:xfrm>
            <a:off x="1268588" y="5825193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at the start (default)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B1E60C79-5DF9-D0A0-A288-ABC413B7EF45}"/>
              </a:ext>
            </a:extLst>
          </p:cNvPr>
          <p:cNvSpPr/>
          <p:nvPr/>
        </p:nvSpPr>
        <p:spPr>
          <a:xfrm>
            <a:off x="4900720" y="19739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'center'</a:t>
            </a:r>
            <a:endParaRPr lang="en-US" sz="24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5F9CBAD3-5A33-C4A1-C035-CD38F09EB6BB}"/>
              </a:ext>
            </a:extLst>
          </p:cNvPr>
          <p:cNvSpPr/>
          <p:nvPr/>
        </p:nvSpPr>
        <p:spPr>
          <a:xfrm>
            <a:off x="4900720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BFC2D2D8-4F19-8A35-8B57-663E747C8FA8}"/>
              </a:ext>
            </a:extLst>
          </p:cNvPr>
          <p:cNvSpPr/>
          <p:nvPr/>
        </p:nvSpPr>
        <p:spPr>
          <a:xfrm>
            <a:off x="5037880" y="2970647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AF10D6BD-5A6B-1906-72EC-2B34688976A3}"/>
              </a:ext>
            </a:extLst>
          </p:cNvPr>
          <p:cNvSpPr/>
          <p:nvPr/>
        </p:nvSpPr>
        <p:spPr>
          <a:xfrm>
            <a:off x="5037880" y="2970647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2D59F99D-33F3-CBF6-CB80-133EB286A024}"/>
              </a:ext>
            </a:extLst>
          </p:cNvPr>
          <p:cNvSpPr/>
          <p:nvPr/>
        </p:nvSpPr>
        <p:spPr>
          <a:xfrm>
            <a:off x="5037880" y="3629015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9194E790-FEA4-124F-49C9-B9B681BEBC99}"/>
              </a:ext>
            </a:extLst>
          </p:cNvPr>
          <p:cNvSpPr/>
          <p:nvPr/>
        </p:nvSpPr>
        <p:spPr>
          <a:xfrm>
            <a:off x="5037880" y="362901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007197ED-91AD-0C4B-C5F3-9DF403286BC1}"/>
              </a:ext>
            </a:extLst>
          </p:cNvPr>
          <p:cNvSpPr/>
          <p:nvPr/>
        </p:nvSpPr>
        <p:spPr>
          <a:xfrm>
            <a:off x="5037880" y="4287383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54AD686F-3B5F-E2CA-8FBD-6DAB0EFA582D}"/>
              </a:ext>
            </a:extLst>
          </p:cNvPr>
          <p:cNvSpPr/>
          <p:nvPr/>
        </p:nvSpPr>
        <p:spPr>
          <a:xfrm>
            <a:off x="5037880" y="4287383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D721FC82-CF05-C446-4EFC-25F885833A8D}"/>
              </a:ext>
            </a:extLst>
          </p:cNvPr>
          <p:cNvSpPr/>
          <p:nvPr/>
        </p:nvSpPr>
        <p:spPr>
          <a:xfrm>
            <a:off x="4900720" y="56315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centered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CE87D41D-2BAC-911A-1B52-47B09D24D05C}"/>
              </a:ext>
            </a:extLst>
          </p:cNvPr>
          <p:cNvSpPr/>
          <p:nvPr/>
        </p:nvSpPr>
        <p:spPr>
          <a:xfrm>
            <a:off x="8498132" y="1973951"/>
            <a:ext cx="2833482" cy="2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'space-between'</a:t>
            </a:r>
            <a:endParaRPr lang="en-US" sz="24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CA07F47E-2E12-4649-B942-A21345902715}"/>
              </a:ext>
            </a:extLst>
          </p:cNvPr>
          <p:cNvSpPr/>
          <p:nvPr/>
        </p:nvSpPr>
        <p:spPr>
          <a:xfrm>
            <a:off x="8498132" y="2266559"/>
            <a:ext cx="2514600" cy="3291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FA40D75E-8782-EB19-1A1D-0AC5EC0A338A}"/>
              </a:ext>
            </a:extLst>
          </p:cNvPr>
          <p:cNvSpPr/>
          <p:nvPr/>
        </p:nvSpPr>
        <p:spPr>
          <a:xfrm>
            <a:off x="8635292" y="2357999"/>
            <a:ext cx="22402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A58E5327-421F-7FF8-2BAC-14F4F8FE6F20}"/>
              </a:ext>
            </a:extLst>
          </p:cNvPr>
          <p:cNvSpPr/>
          <p:nvPr/>
        </p:nvSpPr>
        <p:spPr>
          <a:xfrm>
            <a:off x="8635292" y="2357999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66" name="Shape 25">
            <a:extLst>
              <a:ext uri="{FF2B5EF4-FFF2-40B4-BE49-F238E27FC236}">
                <a16:creationId xmlns:a16="http://schemas.microsoft.com/office/drawing/2014/main" id="{151C8C63-7F76-96BE-EEF9-2ECF63BEDD40}"/>
              </a:ext>
            </a:extLst>
          </p:cNvPr>
          <p:cNvSpPr/>
          <p:nvPr/>
        </p:nvSpPr>
        <p:spPr>
          <a:xfrm>
            <a:off x="8635292" y="3629015"/>
            <a:ext cx="22402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7028BE55-5E3E-838D-C9D4-597822205F5A}"/>
              </a:ext>
            </a:extLst>
          </p:cNvPr>
          <p:cNvSpPr/>
          <p:nvPr/>
        </p:nvSpPr>
        <p:spPr>
          <a:xfrm>
            <a:off x="8635292" y="3629015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3D74C736-374E-6CF5-DCCE-EC9448850EA2}"/>
              </a:ext>
            </a:extLst>
          </p:cNvPr>
          <p:cNvSpPr/>
          <p:nvPr/>
        </p:nvSpPr>
        <p:spPr>
          <a:xfrm>
            <a:off x="8635292" y="4900031"/>
            <a:ext cx="2240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5D8763DD-8B7D-A8E1-7E74-02759C40705A}"/>
              </a:ext>
            </a:extLst>
          </p:cNvPr>
          <p:cNvSpPr/>
          <p:nvPr/>
        </p:nvSpPr>
        <p:spPr>
          <a:xfrm>
            <a:off x="8635292" y="4900031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74" name="Text 29">
            <a:extLst>
              <a:ext uri="{FF2B5EF4-FFF2-40B4-BE49-F238E27FC236}">
                <a16:creationId xmlns:a16="http://schemas.microsoft.com/office/drawing/2014/main" id="{D98ABA52-440E-B8E4-3557-66EAA67230E8}"/>
              </a:ext>
            </a:extLst>
          </p:cNvPr>
          <p:cNvSpPr/>
          <p:nvPr/>
        </p:nvSpPr>
        <p:spPr>
          <a:xfrm>
            <a:off x="8498133" y="5758875"/>
            <a:ext cx="2514600" cy="38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 at edges, rest spread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2091CBD2-96AC-6B6A-32B9-6CFF4CC4F249}"/>
              </a:ext>
            </a:extLst>
          </p:cNvPr>
          <p:cNvSpPr/>
          <p:nvPr/>
        </p:nvSpPr>
        <p:spPr>
          <a:xfrm>
            <a:off x="4667665" y="6079954"/>
            <a:ext cx="3044952" cy="38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Also: 'space-around', 'space-evenly', 'flex-end'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alignItems</a:t>
            </a:r>
            <a:r>
              <a:rPr lang="en-US" sz="3600" b="1" dirty="0">
                <a:solidFill>
                  <a:srgbClr val="111827"/>
                </a:solidFill>
              </a:rPr>
              <a:t> — Cross Axis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8C8DCD24-B725-AA49-45C2-B9CAA0BCAFC8}"/>
              </a:ext>
            </a:extLst>
          </p:cNvPr>
          <p:cNvSpPr/>
          <p:nvPr/>
        </p:nvSpPr>
        <p:spPr>
          <a:xfrm>
            <a:off x="550954" y="1142266"/>
            <a:ext cx="1146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children sit on the cross axis. With flexDirection:'row', cross axis is vertical.</a:t>
            </a:r>
            <a:endParaRPr lang="en-US" sz="26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0FE9A48B-C7EC-B80F-DE11-8C0FB7761CD6}"/>
              </a:ext>
            </a:extLst>
          </p:cNvPr>
          <p:cNvSpPr/>
          <p:nvPr/>
        </p:nvSpPr>
        <p:spPr>
          <a:xfrm>
            <a:off x="1893618" y="1808057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'flex-start'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pin to top</a:t>
            </a:r>
            <a:endParaRPr lang="en-US" sz="24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0E665C1B-667E-C8AB-E520-946CF8C2E2A8}"/>
              </a:ext>
            </a:extLst>
          </p:cNvPr>
          <p:cNvSpPr/>
          <p:nvPr/>
        </p:nvSpPr>
        <p:spPr>
          <a:xfrm>
            <a:off x="1893618" y="2064089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F83B8A27-F319-FBCE-6569-8F69953BCE03}"/>
              </a:ext>
            </a:extLst>
          </p:cNvPr>
          <p:cNvSpPr/>
          <p:nvPr/>
        </p:nvSpPr>
        <p:spPr>
          <a:xfrm>
            <a:off x="2030778" y="2137241"/>
            <a:ext cx="2377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34B4C7B3-D937-4454-5B07-AE78D98C3357}"/>
              </a:ext>
            </a:extLst>
          </p:cNvPr>
          <p:cNvSpPr/>
          <p:nvPr/>
        </p:nvSpPr>
        <p:spPr>
          <a:xfrm>
            <a:off x="2030778" y="2137241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96CA37B0-D3F2-C48C-8EF2-BC818A9F33D7}"/>
              </a:ext>
            </a:extLst>
          </p:cNvPr>
          <p:cNvSpPr/>
          <p:nvPr/>
        </p:nvSpPr>
        <p:spPr>
          <a:xfrm>
            <a:off x="4545378" y="2137241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30A7895-D3AD-9161-2F36-759921EF9FED}"/>
              </a:ext>
            </a:extLst>
          </p:cNvPr>
          <p:cNvSpPr/>
          <p:nvPr/>
        </p:nvSpPr>
        <p:spPr>
          <a:xfrm>
            <a:off x="4545378" y="2137241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FF50C0A8-5B16-82C1-E762-13DDEB78FF18}"/>
              </a:ext>
            </a:extLst>
          </p:cNvPr>
          <p:cNvSpPr/>
          <p:nvPr/>
        </p:nvSpPr>
        <p:spPr>
          <a:xfrm>
            <a:off x="7059978" y="2137240"/>
            <a:ext cx="2377440" cy="68580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83AC766-0DBC-EE6B-3D9D-7C81E8CB4014}"/>
              </a:ext>
            </a:extLst>
          </p:cNvPr>
          <p:cNvSpPr/>
          <p:nvPr/>
        </p:nvSpPr>
        <p:spPr>
          <a:xfrm>
            <a:off x="7059978" y="2137241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9CFF3C95-B6C4-8FC1-69E5-0C69D76BF74E}"/>
              </a:ext>
            </a:extLst>
          </p:cNvPr>
          <p:cNvSpPr/>
          <p:nvPr/>
        </p:nvSpPr>
        <p:spPr>
          <a:xfrm>
            <a:off x="1893618" y="3079073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</a:rPr>
              <a:t>'center'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center vertically</a:t>
            </a:r>
            <a:endParaRPr lang="en-US" sz="24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EE9A56B1-5510-77BD-EC22-41CA0739B2FB}"/>
              </a:ext>
            </a:extLst>
          </p:cNvPr>
          <p:cNvSpPr/>
          <p:nvPr/>
        </p:nvSpPr>
        <p:spPr>
          <a:xfrm>
            <a:off x="1893618" y="3335105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6563DDA9-C9F4-293A-4AEB-9B2CB50D695C}"/>
              </a:ext>
            </a:extLst>
          </p:cNvPr>
          <p:cNvSpPr/>
          <p:nvPr/>
        </p:nvSpPr>
        <p:spPr>
          <a:xfrm>
            <a:off x="2030778" y="3435688"/>
            <a:ext cx="2377440" cy="71987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76E17F01-3D91-D88A-C6AD-62BCF2FD501E}"/>
              </a:ext>
            </a:extLst>
          </p:cNvPr>
          <p:cNvSpPr/>
          <p:nvPr/>
        </p:nvSpPr>
        <p:spPr>
          <a:xfrm>
            <a:off x="2030778" y="3540845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E012E46C-E54B-E346-1AAF-3A6DB8B96FEF}"/>
              </a:ext>
            </a:extLst>
          </p:cNvPr>
          <p:cNvSpPr/>
          <p:nvPr/>
        </p:nvSpPr>
        <p:spPr>
          <a:xfrm>
            <a:off x="4545378" y="3435689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07A0BEE1-F100-BCAD-1D4B-479A37FA802C}"/>
              </a:ext>
            </a:extLst>
          </p:cNvPr>
          <p:cNvSpPr/>
          <p:nvPr/>
        </p:nvSpPr>
        <p:spPr>
          <a:xfrm>
            <a:off x="4545378" y="3435689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76B9AB83-8369-39E6-BB2A-0E36D5E62FD8}"/>
              </a:ext>
            </a:extLst>
          </p:cNvPr>
          <p:cNvSpPr/>
          <p:nvPr/>
        </p:nvSpPr>
        <p:spPr>
          <a:xfrm>
            <a:off x="7059978" y="3435688"/>
            <a:ext cx="2377440" cy="71323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54DE32C-D361-1917-E7F6-ECC80559B6E5}"/>
              </a:ext>
            </a:extLst>
          </p:cNvPr>
          <p:cNvSpPr/>
          <p:nvPr/>
        </p:nvSpPr>
        <p:spPr>
          <a:xfrm>
            <a:off x="7059978" y="3591137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8AE8E233-4E8E-FB56-E3A2-37D53D7891DB}"/>
              </a:ext>
            </a:extLst>
          </p:cNvPr>
          <p:cNvSpPr/>
          <p:nvPr/>
        </p:nvSpPr>
        <p:spPr>
          <a:xfrm>
            <a:off x="1893618" y="4350089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alignItems: </a:t>
            </a:r>
            <a:r>
              <a:rPr lang="en-US" sz="2400" b="1" dirty="0">
                <a:solidFill>
                  <a:srgbClr val="3208CA"/>
                </a:solidFill>
                <a:latin typeface="Consolas" pitchFamily="34" charset="0"/>
              </a:rPr>
              <a:t>'flex-end'</a:t>
            </a:r>
            <a:r>
              <a:rPr lang="en-US" sz="24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</a:t>
            </a:r>
            <a:r>
              <a:rPr lang="en-US" sz="2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items pin to bottom</a:t>
            </a:r>
            <a:endParaRPr lang="en-US" sz="24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47F32E3F-4862-7F56-23DA-B4307F4F801B}"/>
              </a:ext>
            </a:extLst>
          </p:cNvPr>
          <p:cNvSpPr/>
          <p:nvPr/>
        </p:nvSpPr>
        <p:spPr>
          <a:xfrm>
            <a:off x="1893618" y="4606121"/>
            <a:ext cx="84124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D2D5B7C1-A67D-7BED-73AC-D25E3CCC28AA}"/>
              </a:ext>
            </a:extLst>
          </p:cNvPr>
          <p:cNvSpPr/>
          <p:nvPr/>
        </p:nvSpPr>
        <p:spPr>
          <a:xfrm>
            <a:off x="2030778" y="4734137"/>
            <a:ext cx="2377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anchor="b"/>
          <a:lstStyle/>
          <a:p>
            <a:endParaRPr lang="en-US" sz="240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785A314-509E-DA3D-538C-65BA8547FC22}"/>
              </a:ext>
            </a:extLst>
          </p:cNvPr>
          <p:cNvSpPr/>
          <p:nvPr/>
        </p:nvSpPr>
        <p:spPr>
          <a:xfrm>
            <a:off x="2030778" y="4944449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2400" dirty="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0E05D76C-7D6D-8F2D-6A90-2087B9920EBA}"/>
              </a:ext>
            </a:extLst>
          </p:cNvPr>
          <p:cNvSpPr/>
          <p:nvPr/>
        </p:nvSpPr>
        <p:spPr>
          <a:xfrm>
            <a:off x="4545378" y="4734137"/>
            <a:ext cx="2377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2C6C485B-499B-82F3-467B-1423AEF08394}"/>
              </a:ext>
            </a:extLst>
          </p:cNvPr>
          <p:cNvSpPr/>
          <p:nvPr/>
        </p:nvSpPr>
        <p:spPr>
          <a:xfrm>
            <a:off x="4545378" y="4734137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2400" dirty="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EB2E0868-C8DE-9ABB-F502-E10032B5F4AE}"/>
              </a:ext>
            </a:extLst>
          </p:cNvPr>
          <p:cNvSpPr/>
          <p:nvPr/>
        </p:nvSpPr>
        <p:spPr>
          <a:xfrm>
            <a:off x="7059978" y="4734137"/>
            <a:ext cx="2377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884CF2B7-9D19-C001-3AC2-AAE732334561}"/>
              </a:ext>
            </a:extLst>
          </p:cNvPr>
          <p:cNvSpPr/>
          <p:nvPr/>
        </p:nvSpPr>
        <p:spPr>
          <a:xfrm>
            <a:off x="7059978" y="5045033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24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974C6D34-9620-EE0D-0E36-E57DD07D6707}"/>
              </a:ext>
            </a:extLst>
          </p:cNvPr>
          <p:cNvSpPr/>
          <p:nvPr/>
        </p:nvSpPr>
        <p:spPr>
          <a:xfrm>
            <a:off x="516231" y="5613231"/>
            <a:ext cx="11422883" cy="741267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7000" tIns="127000" rIns="127000" bIns="127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alignItems: 'stretch' (default) — items expand to fill the container height automatically. No fixed height set on the child.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flex Numbers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589C85E9-F82B-AE2B-18FD-EB96D73DC508}"/>
              </a:ext>
            </a:extLst>
          </p:cNvPr>
          <p:cNvSpPr/>
          <p:nvPr/>
        </p:nvSpPr>
        <p:spPr>
          <a:xfrm>
            <a:off x="851896" y="10420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splits remaining space</a:t>
            </a:r>
            <a:endParaRPr lang="en-US" sz="2400" dirty="0"/>
          </a:p>
        </p:txBody>
      </p:sp>
      <p:sp>
        <p:nvSpPr>
          <p:cNvPr id="86" name="Text 3">
            <a:extLst>
              <a:ext uri="{FF2B5EF4-FFF2-40B4-BE49-F238E27FC236}">
                <a16:creationId xmlns:a16="http://schemas.microsoft.com/office/drawing/2014/main" id="{6677AF86-445A-7C89-0E22-F4A107345306}"/>
              </a:ext>
            </a:extLst>
          </p:cNvPr>
          <p:cNvSpPr/>
          <p:nvPr/>
        </p:nvSpPr>
        <p:spPr>
          <a:xfrm>
            <a:off x="250699" y="1922786"/>
            <a:ext cx="6635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is a ratio. flex:2 gets twice the space of flex:1.</a:t>
            </a:r>
            <a:endParaRPr lang="en-US" sz="2800" dirty="0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11AD82BA-FB28-D570-AB59-160AF31ECEBA}"/>
              </a:ext>
            </a:extLst>
          </p:cNvPr>
          <p:cNvSpPr/>
          <p:nvPr/>
        </p:nvSpPr>
        <p:spPr>
          <a:xfrm>
            <a:off x="851896" y="2777411"/>
            <a:ext cx="4023360" cy="3474720"/>
          </a:xfrm>
          <a:prstGeom prst="rect">
            <a:avLst/>
          </a:prstGeom>
          <a:solidFill>
            <a:srgbClr val="F1F5F9"/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74E4BB1C-994E-17CA-9FCE-E88121EC86F1}"/>
              </a:ext>
            </a:extLst>
          </p:cNvPr>
          <p:cNvSpPr/>
          <p:nvPr/>
        </p:nvSpPr>
        <p:spPr>
          <a:xfrm>
            <a:off x="943336" y="2823131"/>
            <a:ext cx="3840480" cy="8001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92" name="Text 6">
            <a:extLst>
              <a:ext uri="{FF2B5EF4-FFF2-40B4-BE49-F238E27FC236}">
                <a16:creationId xmlns:a16="http://schemas.microsoft.com/office/drawing/2014/main" id="{12473F08-B857-A097-8C49-F9A39C8B9A0E}"/>
              </a:ext>
            </a:extLst>
          </p:cNvPr>
          <p:cNvSpPr/>
          <p:nvPr/>
        </p:nvSpPr>
        <p:spPr>
          <a:xfrm>
            <a:off x="943336" y="2823131"/>
            <a:ext cx="3840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200" dirty="0"/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126460AD-982E-3F33-EE18-19BC9A0BB1DF}"/>
              </a:ext>
            </a:extLst>
          </p:cNvPr>
          <p:cNvSpPr/>
          <p:nvPr/>
        </p:nvSpPr>
        <p:spPr>
          <a:xfrm>
            <a:off x="943336" y="3668951"/>
            <a:ext cx="384048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96" name="Text 8">
            <a:extLst>
              <a:ext uri="{FF2B5EF4-FFF2-40B4-BE49-F238E27FC236}">
                <a16:creationId xmlns:a16="http://schemas.microsoft.com/office/drawing/2014/main" id="{7B5E21D2-54CF-D9A9-A9B4-0E41ECAC34D4}"/>
              </a:ext>
            </a:extLst>
          </p:cNvPr>
          <p:cNvSpPr/>
          <p:nvPr/>
        </p:nvSpPr>
        <p:spPr>
          <a:xfrm>
            <a:off x="943336" y="3668951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2  (double)</a:t>
            </a:r>
            <a:endParaRPr lang="en-US" sz="2200" dirty="0"/>
          </a:p>
        </p:txBody>
      </p:sp>
      <p:sp>
        <p:nvSpPr>
          <p:cNvPr id="98" name="Shape 9">
            <a:extLst>
              <a:ext uri="{FF2B5EF4-FFF2-40B4-BE49-F238E27FC236}">
                <a16:creationId xmlns:a16="http://schemas.microsoft.com/office/drawing/2014/main" id="{C78B792A-51E8-7476-77D3-AB3031ABC84B}"/>
              </a:ext>
            </a:extLst>
          </p:cNvPr>
          <p:cNvSpPr/>
          <p:nvPr/>
        </p:nvSpPr>
        <p:spPr>
          <a:xfrm>
            <a:off x="943336" y="5360591"/>
            <a:ext cx="3840480" cy="8001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1C1A6913-40DB-F818-BBC0-1645035A2169}"/>
              </a:ext>
            </a:extLst>
          </p:cNvPr>
          <p:cNvSpPr/>
          <p:nvPr/>
        </p:nvSpPr>
        <p:spPr>
          <a:xfrm>
            <a:off x="943336" y="5360591"/>
            <a:ext cx="3840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200" dirty="0"/>
          </a:p>
        </p:txBody>
      </p:sp>
      <p:sp>
        <p:nvSpPr>
          <p:cNvPr id="132" name="Text 26">
            <a:extLst>
              <a:ext uri="{FF2B5EF4-FFF2-40B4-BE49-F238E27FC236}">
                <a16:creationId xmlns:a16="http://schemas.microsoft.com/office/drawing/2014/main" id="{1F11EC5E-6708-3E74-FDFF-CC8ED5BF6771}"/>
              </a:ext>
            </a:extLst>
          </p:cNvPr>
          <p:cNvSpPr/>
          <p:nvPr/>
        </p:nvSpPr>
        <p:spPr>
          <a:xfrm>
            <a:off x="6701742" y="1318137"/>
            <a:ext cx="5236385" cy="510048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Splitting space with flex: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genreRow: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genreLeft:   { flex: 1 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genreCenter: { flex: 2 },  // twice as wide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genreRight:  { flex: 1 },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Wrapping items: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tagContainer: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flexWrap: 'wrap',  // wrap to next 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8,           // spacing between items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tagPill: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'#E2E8F0',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borderRadius: 16,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paddingHorizontal: 12,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paddingVertical: 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C1106-6ECC-7535-A64C-1145F6E7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FB869-0F95-BCBB-27B2-E3EFF470CBB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1F730-C3DE-3798-8773-6301B8489D77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flexWrap</a:t>
            </a:r>
            <a:endParaRPr lang="en-US" sz="3600" b="1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EC395-95DC-27FF-0580-94C76315534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B827E8E-DEEF-B155-493A-8ABC31781424}"/>
              </a:ext>
            </a:extLst>
          </p:cNvPr>
          <p:cNvSpPr/>
          <p:nvPr/>
        </p:nvSpPr>
        <p:spPr>
          <a:xfrm>
            <a:off x="775497" y="1042014"/>
            <a:ext cx="4206240" cy="26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flexWrap: wrap</a:t>
            </a:r>
            <a:endParaRPr lang="en-US" sz="2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39CBC70-36A6-D42D-FD2F-61B61DAA3A74}"/>
              </a:ext>
            </a:extLst>
          </p:cNvPr>
          <p:cNvSpPr/>
          <p:nvPr/>
        </p:nvSpPr>
        <p:spPr>
          <a:xfrm>
            <a:off x="457200" y="1899927"/>
            <a:ext cx="6452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items don't wrap. Set flexWrap:'wrap' and they flow to the next row.</a:t>
            </a:r>
            <a:endParaRPr lang="en-US" sz="24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794ACA6F-057C-4FC3-134E-5D4BED46049D}"/>
              </a:ext>
            </a:extLst>
          </p:cNvPr>
          <p:cNvSpPr/>
          <p:nvPr/>
        </p:nvSpPr>
        <p:spPr>
          <a:xfrm>
            <a:off x="775497" y="2884705"/>
            <a:ext cx="4206240" cy="169164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850A95E-A7AB-98FC-12B3-BFE45AB68F74}"/>
              </a:ext>
            </a:extLst>
          </p:cNvPr>
          <p:cNvSpPr/>
          <p:nvPr/>
        </p:nvSpPr>
        <p:spPr>
          <a:xfrm>
            <a:off x="866937" y="2976145"/>
            <a:ext cx="126187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5DA7C05-DD47-5F2A-1B73-96B29A2B7669}"/>
              </a:ext>
            </a:extLst>
          </p:cNvPr>
          <p:cNvSpPr/>
          <p:nvPr/>
        </p:nvSpPr>
        <p:spPr>
          <a:xfrm>
            <a:off x="866937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</a:t>
            </a:r>
            <a:endParaRPr lang="en-US" sz="2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B4A5800-A919-A382-9FA3-093DC962BDF2}"/>
              </a:ext>
            </a:extLst>
          </p:cNvPr>
          <p:cNvSpPr/>
          <p:nvPr/>
        </p:nvSpPr>
        <p:spPr>
          <a:xfrm>
            <a:off x="2183673" y="2976145"/>
            <a:ext cx="126187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CFA0A0D-9501-02DF-CAC6-A30389CF1D1E}"/>
              </a:ext>
            </a:extLst>
          </p:cNvPr>
          <p:cNvSpPr/>
          <p:nvPr/>
        </p:nvSpPr>
        <p:spPr>
          <a:xfrm>
            <a:off x="2183673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</a:t>
            </a:r>
            <a:endParaRPr lang="en-US" sz="2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038FF72-319B-36B8-C985-1718220122BC}"/>
              </a:ext>
            </a:extLst>
          </p:cNvPr>
          <p:cNvSpPr/>
          <p:nvPr/>
        </p:nvSpPr>
        <p:spPr>
          <a:xfrm>
            <a:off x="3500409" y="2976145"/>
            <a:ext cx="126187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DF879B9-7030-2DE5-753E-C6129A462A02}"/>
              </a:ext>
            </a:extLst>
          </p:cNvPr>
          <p:cNvSpPr/>
          <p:nvPr/>
        </p:nvSpPr>
        <p:spPr>
          <a:xfrm>
            <a:off x="3500409" y="2976145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</a:t>
            </a:r>
            <a:endParaRPr lang="en-US" sz="22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3314C0D5-E75D-0254-0542-A2727EEE437C}"/>
              </a:ext>
            </a:extLst>
          </p:cNvPr>
          <p:cNvSpPr/>
          <p:nvPr/>
        </p:nvSpPr>
        <p:spPr>
          <a:xfrm>
            <a:off x="866937" y="3579649"/>
            <a:ext cx="126187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58449DE6-BE1D-8F7F-8AC7-C6973F4134DF}"/>
              </a:ext>
            </a:extLst>
          </p:cNvPr>
          <p:cNvSpPr/>
          <p:nvPr/>
        </p:nvSpPr>
        <p:spPr>
          <a:xfrm>
            <a:off x="866937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</a:t>
            </a:r>
            <a:endParaRPr lang="en-US" sz="22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02608947-C2E9-A2D8-4159-F531D85890EE}"/>
              </a:ext>
            </a:extLst>
          </p:cNvPr>
          <p:cNvSpPr/>
          <p:nvPr/>
        </p:nvSpPr>
        <p:spPr>
          <a:xfrm>
            <a:off x="2183673" y="3579649"/>
            <a:ext cx="12618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7929D391-0D80-ABDB-679B-CEDA2D739E1E}"/>
              </a:ext>
            </a:extLst>
          </p:cNvPr>
          <p:cNvSpPr/>
          <p:nvPr/>
        </p:nvSpPr>
        <p:spPr>
          <a:xfrm>
            <a:off x="2183673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</a:t>
            </a:r>
            <a:endParaRPr lang="en-US" sz="2200" dirty="0"/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0A79EED5-A630-24E9-D2E3-964395FB522C}"/>
              </a:ext>
            </a:extLst>
          </p:cNvPr>
          <p:cNvSpPr/>
          <p:nvPr/>
        </p:nvSpPr>
        <p:spPr>
          <a:xfrm>
            <a:off x="3500409" y="3579649"/>
            <a:ext cx="12618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20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45BEB8A3-8B32-4A3C-255C-55A35ACA5652}"/>
              </a:ext>
            </a:extLst>
          </p:cNvPr>
          <p:cNvSpPr/>
          <p:nvPr/>
        </p:nvSpPr>
        <p:spPr>
          <a:xfrm>
            <a:off x="3500409" y="3579649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6</a:t>
            </a:r>
            <a:endParaRPr lang="en-US" sz="220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1AF5DEE9-2CA0-44DB-92BE-C4C5EAF7FF64}"/>
              </a:ext>
            </a:extLst>
          </p:cNvPr>
          <p:cNvSpPr/>
          <p:nvPr/>
        </p:nvSpPr>
        <p:spPr>
          <a:xfrm>
            <a:off x="6701742" y="1318137"/>
            <a:ext cx="5236385" cy="510048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Splitting space with flex: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genreRow: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genreLeft:   { flex: 1 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genreCenter: { flex: 2 },  // twice as wide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genreRight:  { flex: 1 },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Wrapping items: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tagContainer: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flexWrap: 'wrap',  // wrap to next 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8,           // spacing between items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tagPill: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'#E2E8F0',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borderRadius: 16,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paddingHorizontal: 12,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paddingVertical: 6,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5619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111827"/>
                </a:solidFill>
              </a:rPr>
              <a:t> </a:t>
            </a:r>
            <a:r>
              <a:rPr lang="en-US" sz="3600" b="1" dirty="0">
                <a:solidFill>
                  <a:srgbClr val="111827"/>
                </a:solidFill>
              </a:rPr>
              <a:t>Code Walkthrough — </a:t>
            </a:r>
            <a:r>
              <a:rPr lang="en-US" sz="3600" b="1" dirty="0" err="1">
                <a:solidFill>
                  <a:srgbClr val="111827"/>
                </a:solidFill>
              </a:rPr>
              <a:t>RateIt</a:t>
            </a:r>
            <a:r>
              <a:rPr lang="en-US" sz="3600" b="1" dirty="0">
                <a:solidFill>
                  <a:srgbClr val="111827"/>
                </a:solidFill>
              </a:rPr>
              <a:t> Movie Screen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8F944AD-6F1D-B21F-B4A4-1BEE4B287104}"/>
              </a:ext>
            </a:extLst>
          </p:cNvPr>
          <p:cNvSpPr/>
          <p:nvPr/>
        </p:nvSpPr>
        <p:spPr>
          <a:xfrm>
            <a:off x="235131" y="901990"/>
            <a:ext cx="118806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Let's trace through the Day 1 RateIt starter: SafeAreaProvider, ScrollView, Image, View, Text, and Flexbox all in one screen.</a:t>
            </a:r>
            <a:endParaRPr lang="en-US" b="1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5E449B63-CE24-D789-F9D1-75E0D63E83C9}"/>
              </a:ext>
            </a:extLst>
          </p:cNvPr>
          <p:cNvSpPr/>
          <p:nvPr/>
        </p:nvSpPr>
        <p:spPr>
          <a:xfrm>
            <a:off x="137160" y="1252075"/>
            <a:ext cx="8041396" cy="55275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SafeAreaProvider,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SafeAreaView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 from 'react-native-safe-area-context';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ScrollView, View, Text, Image,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StyleSheet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from 'react-native';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RateItApp()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&lt;SafeAreaProvider&gt;                  {/* 1. Safe area root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&lt;SafeAreaView style={s.screen}&gt;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&lt;ScrollView                     {/* 2. Scrollable page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contentContainerStyle={s.content}&gt;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&lt;Image source={posterImg}     {/* 3. Movie poster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style={s.poster} resizeMode="cover" /&gt;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&lt;View style={s.info}&gt;         {/* 4. Info section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&lt;Text style={s.title}&gt;Interstellar&lt;/Text&gt;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&lt;View style={s.genreRow}&gt;  {/* 5. Genre badges row */}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{genres.map((g) =&gt;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&lt;View key={g} style={s.badge}&gt;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&lt;Text style={s.badgeText}&gt;{g}&lt;/Text&gt;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))}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&lt;/ScrollView&gt;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&lt;/SafeAreaView&gt;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&lt;/SafeAreaProvider&gt;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C22B9CE-3A3E-9146-2FCC-F532A6251EF5}"/>
              </a:ext>
            </a:extLst>
          </p:cNvPr>
          <p:cNvSpPr/>
          <p:nvPr/>
        </p:nvSpPr>
        <p:spPr>
          <a:xfrm>
            <a:off x="8359526" y="1549083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33191641-44B4-676E-3F51-F49CD70B6778}"/>
              </a:ext>
            </a:extLst>
          </p:cNvPr>
          <p:cNvSpPr/>
          <p:nvPr/>
        </p:nvSpPr>
        <p:spPr>
          <a:xfrm>
            <a:off x="8359526" y="154908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CC0E92D-3477-03F4-E643-863B79B65E7E}"/>
              </a:ext>
            </a:extLst>
          </p:cNvPr>
          <p:cNvSpPr/>
          <p:nvPr/>
        </p:nvSpPr>
        <p:spPr>
          <a:xfrm>
            <a:off x="8734430" y="14563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endParaRPr lang="en-US" sz="20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11A5535-8405-68DB-9D4A-0F93347E56CF}"/>
              </a:ext>
            </a:extLst>
          </p:cNvPr>
          <p:cNvSpPr/>
          <p:nvPr/>
        </p:nvSpPr>
        <p:spPr>
          <a:xfrm>
            <a:off x="8734430" y="1750251"/>
            <a:ext cx="3454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app once in _layout.tsx. Each screen uses SafeAreaView.</a:t>
            </a:r>
            <a:endParaRPr lang="en-US" sz="16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40F8FC01-14BB-CCC7-036E-CBA1ED21ABE3}"/>
              </a:ext>
            </a:extLst>
          </p:cNvPr>
          <p:cNvSpPr/>
          <p:nvPr/>
        </p:nvSpPr>
        <p:spPr>
          <a:xfrm>
            <a:off x="8359526" y="2573215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956DF898-D01E-0FCE-73AF-491A92060023}"/>
              </a:ext>
            </a:extLst>
          </p:cNvPr>
          <p:cNvSpPr/>
          <p:nvPr/>
        </p:nvSpPr>
        <p:spPr>
          <a:xfrm>
            <a:off x="8359526" y="2573215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B4E227D-30A7-DFC4-0FA5-06079E6635E3}"/>
              </a:ext>
            </a:extLst>
          </p:cNvPr>
          <p:cNvSpPr/>
          <p:nvPr/>
        </p:nvSpPr>
        <p:spPr>
          <a:xfrm>
            <a:off x="8734430" y="2545783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20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F91474B4-5DFF-A625-0040-161EB998286F}"/>
              </a:ext>
            </a:extLst>
          </p:cNvPr>
          <p:cNvSpPr/>
          <p:nvPr/>
        </p:nvSpPr>
        <p:spPr>
          <a:xfrm>
            <a:off x="8734429" y="2852761"/>
            <a:ext cx="34543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Makes the whole page scrollable. contentContainerStyle controls inner layout.</a:t>
            </a:r>
            <a:endParaRPr lang="en-US" sz="16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1972092-5C65-D83E-EB21-68AC112ED23C}"/>
              </a:ext>
            </a:extLst>
          </p:cNvPr>
          <p:cNvSpPr/>
          <p:nvPr/>
        </p:nvSpPr>
        <p:spPr>
          <a:xfrm>
            <a:off x="8359526" y="3923919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26CA6821-717D-F95B-2FEC-CFDA76F8FCDB}"/>
              </a:ext>
            </a:extLst>
          </p:cNvPr>
          <p:cNvSpPr/>
          <p:nvPr/>
        </p:nvSpPr>
        <p:spPr>
          <a:xfrm>
            <a:off x="8359526" y="3923919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F96461E8-E6C1-C4C0-4E1B-1C7079B191F0}"/>
              </a:ext>
            </a:extLst>
          </p:cNvPr>
          <p:cNvSpPr/>
          <p:nvPr/>
        </p:nvSpPr>
        <p:spPr>
          <a:xfrm>
            <a:off x="8734430" y="3896487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0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68C3A4D-6434-6DA5-3F21-28F2CBE6B6CD}"/>
              </a:ext>
            </a:extLst>
          </p:cNvPr>
          <p:cNvSpPr/>
          <p:nvPr/>
        </p:nvSpPr>
        <p:spPr>
          <a:xfrm>
            <a:off x="8734430" y="4177339"/>
            <a:ext cx="317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resizeMode='cover' fills the width. height is fixed in StyleSheet.</a:t>
            </a:r>
            <a:endParaRPr lang="en-US" sz="16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082C762C-878F-D9F9-60F1-2799B4FB3C2C}"/>
              </a:ext>
            </a:extLst>
          </p:cNvPr>
          <p:cNvSpPr/>
          <p:nvPr/>
        </p:nvSpPr>
        <p:spPr>
          <a:xfrm>
            <a:off x="8359526" y="4974173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45A502C-BB14-194C-1467-44E57FFA205A}"/>
              </a:ext>
            </a:extLst>
          </p:cNvPr>
          <p:cNvSpPr/>
          <p:nvPr/>
        </p:nvSpPr>
        <p:spPr>
          <a:xfrm>
            <a:off x="8359526" y="497417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66686DF8-BD9D-5B4F-CEB5-9E492C5C7B66}"/>
              </a:ext>
            </a:extLst>
          </p:cNvPr>
          <p:cNvSpPr/>
          <p:nvPr/>
        </p:nvSpPr>
        <p:spPr>
          <a:xfrm>
            <a:off x="8734430" y="494674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nesting</a:t>
            </a:r>
            <a:endParaRPr lang="en-US" sz="200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A9ADA33D-28FF-C9D0-55C9-14651E157B87}"/>
              </a:ext>
            </a:extLst>
          </p:cNvPr>
          <p:cNvSpPr/>
          <p:nvPr/>
        </p:nvSpPr>
        <p:spPr>
          <a:xfrm>
            <a:off x="8734429" y="5214530"/>
            <a:ext cx="3317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Outer View holds all info. Inner View for the badge row uses flexDirection: row.</a:t>
            </a:r>
            <a:endParaRPr lang="en-US" sz="16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51C5BA3B-2820-1561-36D1-962ED71BB9C5}"/>
              </a:ext>
            </a:extLst>
          </p:cNvPr>
          <p:cNvSpPr/>
          <p:nvPr/>
        </p:nvSpPr>
        <p:spPr>
          <a:xfrm>
            <a:off x="8359526" y="6037496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650A925E-E3DB-8ED3-667F-7C9D1453AFA4}"/>
              </a:ext>
            </a:extLst>
          </p:cNvPr>
          <p:cNvSpPr/>
          <p:nvPr/>
        </p:nvSpPr>
        <p:spPr>
          <a:xfrm>
            <a:off x="8359526" y="60374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DFA91214-2CD5-FDC9-89F4-5491B23FAE1F}"/>
              </a:ext>
            </a:extLst>
          </p:cNvPr>
          <p:cNvSpPr/>
          <p:nvPr/>
        </p:nvSpPr>
        <p:spPr>
          <a:xfrm>
            <a:off x="8734430" y="593168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.map() for badges</a:t>
            </a:r>
            <a:endParaRPr lang="en-US" sz="20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E3918D3D-BA64-A3DA-51F0-9A139127061A}"/>
              </a:ext>
            </a:extLst>
          </p:cNvPr>
          <p:cNvSpPr/>
          <p:nvPr/>
        </p:nvSpPr>
        <p:spPr>
          <a:xfrm>
            <a:off x="8734430" y="6238664"/>
            <a:ext cx="3178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genre renders a badge View with text inside. Flex wraps them naturally.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Live Demo: </a:t>
            </a:r>
            <a:r>
              <a:rPr lang="en-US" sz="3600" b="1" i="0" dirty="0" err="1">
                <a:solidFill>
                  <a:srgbClr val="111827"/>
                </a:solidFill>
              </a:rPr>
              <a:t>Ratlet</a:t>
            </a:r>
            <a:r>
              <a:rPr lang="en-US" sz="3600" b="1" i="0" dirty="0">
                <a:solidFill>
                  <a:srgbClr val="111827"/>
                </a:solidFill>
              </a:rPr>
              <a:t> – Movie Screen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7E3BF5F7-199A-DE75-A137-C211AC2A1556}"/>
              </a:ext>
            </a:extLst>
          </p:cNvPr>
          <p:cNvSpPr/>
          <p:nvPr/>
        </p:nvSpPr>
        <p:spPr>
          <a:xfrm>
            <a:off x="960698" y="1667996"/>
            <a:ext cx="9884780" cy="312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Open RateIt_starter in the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Live_Code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folder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Show the file structure: app/, assets/, components/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index.tsx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top-to-bottom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Show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SafeAreaProvider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SafeAreaView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 action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a genre badge row —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flexDirection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row + .map()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US" sz="2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C78A4893-ED19-E8C2-11E0-16B8E361E473}"/>
              </a:ext>
            </a:extLst>
          </p:cNvPr>
          <p:cNvSpPr/>
          <p:nvPr/>
        </p:nvSpPr>
        <p:spPr>
          <a:xfrm>
            <a:off x="1828800" y="3483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9C986518-FEB8-5E05-EED6-6A2F8656D285}"/>
              </a:ext>
            </a:extLst>
          </p:cNvPr>
          <p:cNvSpPr/>
          <p:nvPr/>
        </p:nvSpPr>
        <p:spPr>
          <a:xfrm>
            <a:off x="856867" y="5294776"/>
            <a:ext cx="104750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RateIt Starter  →  Week2 / Day1 / Live_Code / RateIt_starter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Class Activity – Campus ID Card Screen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364D60D5-67F7-1BD2-6E6D-3E8E51887291}"/>
              </a:ext>
            </a:extLst>
          </p:cNvPr>
          <p:cNvSpPr/>
          <p:nvPr/>
        </p:nvSpPr>
        <p:spPr>
          <a:xfrm>
            <a:off x="834718" y="948359"/>
            <a:ext cx="11001407" cy="54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instructions in unit resources/Core_Components_Activity.docx 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A5E0AB-5928-9055-6CFC-888F623F947A}"/>
              </a:ext>
            </a:extLst>
          </p:cNvPr>
          <p:cNvGrpSpPr/>
          <p:nvPr/>
        </p:nvGrpSpPr>
        <p:grpSpPr>
          <a:xfrm>
            <a:off x="834718" y="1547949"/>
            <a:ext cx="10961041" cy="1167822"/>
            <a:chOff x="834718" y="1547949"/>
            <a:chExt cx="10961041" cy="1167822"/>
          </a:xfrm>
        </p:grpSpPr>
        <p:sp>
          <p:nvSpPr>
            <p:cNvPr id="28" name="Text 3">
              <a:extLst>
                <a:ext uri="{FF2B5EF4-FFF2-40B4-BE49-F238E27FC236}">
                  <a16:creationId xmlns:a16="http://schemas.microsoft.com/office/drawing/2014/main" id="{D7D8C7D3-C077-7E1B-D68C-8C84108526A7}"/>
                </a:ext>
              </a:extLst>
            </p:cNvPr>
            <p:cNvSpPr/>
            <p:nvPr/>
          </p:nvSpPr>
          <p:spPr>
            <a:xfrm>
              <a:off x="834718" y="1547949"/>
              <a:ext cx="10961041" cy="292608"/>
            </a:xfrm>
            <a:prstGeom prst="rect">
              <a:avLst/>
            </a:prstGeom>
            <a:solidFill>
              <a:srgbClr val="003865"/>
            </a:solidFill>
            <a:ln>
              <a:solidFill>
                <a:srgbClr val="003865"/>
              </a:solidFill>
            </a:ln>
          </p:spPr>
          <p:txBody>
            <a:bodyPr wrap="square" lIns="127000" tIns="127000" rIns="127000" bIns="12700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</a:t>
              </a:r>
              <a:endParaRPr lang="en-US" sz="2400" dirty="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57A04F7C-BE0C-6E8A-065B-0C2F37147779}"/>
                </a:ext>
              </a:extLst>
            </p:cNvPr>
            <p:cNvSpPr/>
            <p:nvPr/>
          </p:nvSpPr>
          <p:spPr>
            <a:xfrm>
              <a:off x="834718" y="1858845"/>
              <a:ext cx="10961041" cy="856926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</a:ln>
          </p:spPr>
          <p:txBody>
            <a:bodyPr wrap="square" lIns="127000" tIns="127000" rIns="127000" bIns="12700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student ID card screen using SafeAreaView, View, Text, Image, and Flexbox. The card should display the student's name, ID, program, and a profile photo placeholder.</a:t>
              </a:r>
              <a:endParaRPr lang="en-US" sz="2400" dirty="0"/>
            </a:p>
          </p:txBody>
        </p:sp>
      </p:grpSp>
      <p:sp>
        <p:nvSpPr>
          <p:cNvPr id="32" name="Shape 5">
            <a:extLst>
              <a:ext uri="{FF2B5EF4-FFF2-40B4-BE49-F238E27FC236}">
                <a16:creationId xmlns:a16="http://schemas.microsoft.com/office/drawing/2014/main" id="{03C2E7EA-537B-EBD0-27B5-B68D8B0B5736}"/>
              </a:ext>
            </a:extLst>
          </p:cNvPr>
          <p:cNvSpPr/>
          <p:nvPr/>
        </p:nvSpPr>
        <p:spPr>
          <a:xfrm>
            <a:off x="1025517" y="29548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D5FDDBF9-93C6-1FFB-2CE1-4E14EB33123D}"/>
              </a:ext>
            </a:extLst>
          </p:cNvPr>
          <p:cNvSpPr/>
          <p:nvPr/>
        </p:nvSpPr>
        <p:spPr>
          <a:xfrm>
            <a:off x="1025517" y="29548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37409BC4-389C-6A6B-8170-2AD9A88F3537}"/>
              </a:ext>
            </a:extLst>
          </p:cNvPr>
          <p:cNvSpPr/>
          <p:nvPr/>
        </p:nvSpPr>
        <p:spPr>
          <a:xfrm>
            <a:off x="1464429" y="29091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app/id-card.tsx</a:t>
            </a:r>
            <a:endParaRPr lang="en-US" sz="22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9E34ADCF-57F8-2923-27D5-152DD75A14C8}"/>
              </a:ext>
            </a:extLst>
          </p:cNvPr>
          <p:cNvSpPr/>
          <p:nvPr/>
        </p:nvSpPr>
        <p:spPr>
          <a:xfrm>
            <a:off x="1464428" y="3169051"/>
            <a:ext cx="969887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 up SafeAreaProvider + SafeAreaView wrapper and an empty Screen component.</a:t>
            </a:r>
            <a:endParaRPr lang="en-US" sz="22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A0E539DB-B413-AE08-5870-7D71D6978104}"/>
              </a:ext>
            </a:extLst>
          </p:cNvPr>
          <p:cNvSpPr/>
          <p:nvPr/>
        </p:nvSpPr>
        <p:spPr>
          <a:xfrm>
            <a:off x="1025517" y="371377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214F8B3C-F4CA-3305-ACDB-DC50F804FF30}"/>
              </a:ext>
            </a:extLst>
          </p:cNvPr>
          <p:cNvSpPr/>
          <p:nvPr/>
        </p:nvSpPr>
        <p:spPr>
          <a:xfrm>
            <a:off x="1025517" y="37137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3207D271-F95F-A75A-1664-D56A050D6B27}"/>
              </a:ext>
            </a:extLst>
          </p:cNvPr>
          <p:cNvSpPr/>
          <p:nvPr/>
        </p:nvSpPr>
        <p:spPr>
          <a:xfrm>
            <a:off x="1464429" y="36680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card View</a:t>
            </a:r>
            <a:endParaRPr lang="en-US" sz="2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0B723E4-3CB9-E8FB-75BD-6B586F6A2CA2}"/>
              </a:ext>
            </a:extLst>
          </p:cNvPr>
          <p:cNvSpPr/>
          <p:nvPr/>
        </p:nvSpPr>
        <p:spPr>
          <a:xfrm>
            <a:off x="1464429" y="3914942"/>
            <a:ext cx="937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Navy rectangle with borderRadius: 16, padding: 24. Center it horizontally with flex.</a:t>
            </a:r>
            <a:endParaRPr lang="en-US" sz="22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BB893B39-4283-FC83-9923-78D96425E8FE}"/>
              </a:ext>
            </a:extLst>
          </p:cNvPr>
          <p:cNvSpPr/>
          <p:nvPr/>
        </p:nvSpPr>
        <p:spPr>
          <a:xfrm>
            <a:off x="1025517" y="43682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C96BE31E-ADA7-0B83-27B7-9D42960FCA72}"/>
              </a:ext>
            </a:extLst>
          </p:cNvPr>
          <p:cNvSpPr/>
          <p:nvPr/>
        </p:nvSpPr>
        <p:spPr>
          <a:xfrm>
            <a:off x="1025517" y="436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2A61BD5D-307B-395B-6FAA-99C2BA438CFF}"/>
              </a:ext>
            </a:extLst>
          </p:cNvPr>
          <p:cNvSpPr/>
          <p:nvPr/>
        </p:nvSpPr>
        <p:spPr>
          <a:xfrm>
            <a:off x="1464429" y="4322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profile photo</a:t>
            </a:r>
            <a:endParaRPr lang="en-US" sz="22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371DE852-A628-D5B6-B7EE-CA17A9CA7715}"/>
              </a:ext>
            </a:extLst>
          </p:cNvPr>
          <p:cNvSpPr/>
          <p:nvPr/>
        </p:nvSpPr>
        <p:spPr>
          <a:xfrm>
            <a:off x="1464429" y="4569392"/>
            <a:ext cx="8972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Circle Image (borderRadius: 50) using a placeholder URI or local asset.</a:t>
            </a:r>
            <a:endParaRPr lang="en-US" sz="22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907CC146-D8CF-24B3-EB6A-E0A36AC8515B}"/>
              </a:ext>
            </a:extLst>
          </p:cNvPr>
          <p:cNvSpPr/>
          <p:nvPr/>
        </p:nvSpPr>
        <p:spPr>
          <a:xfrm>
            <a:off x="1025517" y="502267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8431427-5BCF-47B7-79EA-83ACA5016F3B}"/>
              </a:ext>
            </a:extLst>
          </p:cNvPr>
          <p:cNvSpPr/>
          <p:nvPr/>
        </p:nvSpPr>
        <p:spPr>
          <a:xfrm>
            <a:off x="1025517" y="5022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C189DD77-6B24-9A4F-D3C7-07CA96BA1D40}"/>
              </a:ext>
            </a:extLst>
          </p:cNvPr>
          <p:cNvSpPr/>
          <p:nvPr/>
        </p:nvSpPr>
        <p:spPr>
          <a:xfrm>
            <a:off x="1464429" y="497695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ID row</a:t>
            </a:r>
            <a:endParaRPr lang="en-US" sz="22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352AF060-CD1D-582D-4556-AA79960F6E68}"/>
              </a:ext>
            </a:extLst>
          </p:cNvPr>
          <p:cNvSpPr/>
          <p:nvPr/>
        </p:nvSpPr>
        <p:spPr>
          <a:xfrm>
            <a:off x="1464429" y="5223842"/>
            <a:ext cx="97317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in large bold text, ID number below it. Use marginTop to space them.</a:t>
            </a:r>
            <a:endParaRPr lang="en-US" sz="220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9F829F42-608C-BC45-358D-545F75427DF2}"/>
              </a:ext>
            </a:extLst>
          </p:cNvPr>
          <p:cNvSpPr/>
          <p:nvPr/>
        </p:nvSpPr>
        <p:spPr>
          <a:xfrm>
            <a:off x="1025517" y="5716313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F3B83F7-74D2-C9B4-2448-5E717DC9DB5A}"/>
              </a:ext>
            </a:extLst>
          </p:cNvPr>
          <p:cNvSpPr/>
          <p:nvPr/>
        </p:nvSpPr>
        <p:spPr>
          <a:xfrm>
            <a:off x="1025517" y="57163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65627F2D-018B-C094-01A9-9284A0F83B77}"/>
              </a:ext>
            </a:extLst>
          </p:cNvPr>
          <p:cNvSpPr/>
          <p:nvPr/>
        </p:nvSpPr>
        <p:spPr>
          <a:xfrm>
            <a:off x="1464429" y="5670593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badge</a:t>
            </a:r>
            <a:endParaRPr lang="en-US" sz="220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C85F039A-AC32-027B-53CE-8DA0E53C50FD}"/>
              </a:ext>
            </a:extLst>
          </p:cNvPr>
          <p:cNvSpPr/>
          <p:nvPr/>
        </p:nvSpPr>
        <p:spPr>
          <a:xfrm>
            <a:off x="1464429" y="5917481"/>
            <a:ext cx="9634870" cy="412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 View with a colored badge showing 'ICT' or their program. flexDirection: row.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Common Mistakes to Avoid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42DED03-1563-6EBA-D60D-763B67D32E86}"/>
              </a:ext>
            </a:extLst>
          </p:cNvPr>
          <p:cNvSpPr/>
          <p:nvPr/>
        </p:nvSpPr>
        <p:spPr>
          <a:xfrm>
            <a:off x="300445" y="1279234"/>
            <a:ext cx="3474720" cy="58941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'react-native'</a:t>
            </a:r>
            <a:endParaRPr lang="en-US" sz="16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35B3C90-0EAE-B03F-FB2E-41534217D934}"/>
              </a:ext>
            </a:extLst>
          </p:cNvPr>
          <p:cNvSpPr/>
          <p:nvPr/>
        </p:nvSpPr>
        <p:spPr>
          <a:xfrm>
            <a:off x="3866604" y="1279233"/>
            <a:ext cx="5499463" cy="569091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SafeAreaView } from 'react-native-safe-area-context'</a:t>
            </a:r>
            <a:endParaRPr lang="en-US" sz="1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455954B-41BD-2CF6-2FA4-3188DBED82E3}"/>
              </a:ext>
            </a:extLst>
          </p:cNvPr>
          <p:cNvSpPr/>
          <p:nvPr/>
        </p:nvSpPr>
        <p:spPr>
          <a:xfrm>
            <a:off x="9601202" y="1279234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react-native version is deprecated and does NOT work on Android.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00061C3C-CD00-F52C-376F-C84A74D19EC1}"/>
              </a:ext>
            </a:extLst>
          </p:cNvPr>
          <p:cNvSpPr/>
          <p:nvPr/>
        </p:nvSpPr>
        <p:spPr>
          <a:xfrm>
            <a:off x="3756877" y="1434682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E131FA8-979F-E4F9-6F61-B9ACBCDB8F9C}"/>
              </a:ext>
            </a:extLst>
          </p:cNvPr>
          <p:cNvSpPr/>
          <p:nvPr/>
        </p:nvSpPr>
        <p:spPr>
          <a:xfrm>
            <a:off x="300445" y="2273318"/>
            <a:ext cx="3474720" cy="569085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 style={{ padding: 20 }}&gt;</a:t>
            </a:r>
            <a:endParaRPr lang="en-US" sz="16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F9330C91-7AE6-837A-6AB1-0B0D722D7C45}"/>
              </a:ext>
            </a:extLst>
          </p:cNvPr>
          <p:cNvSpPr/>
          <p:nvPr/>
        </p:nvSpPr>
        <p:spPr>
          <a:xfrm>
            <a:off x="3866605" y="2273318"/>
            <a:ext cx="5499462" cy="569085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 contentContainerStyle={{ padding: 20 }}&gt;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836B9583-C1B0-1CDE-8B28-BAB5CF294A09}"/>
              </a:ext>
            </a:extLst>
          </p:cNvPr>
          <p:cNvSpPr/>
          <p:nvPr/>
        </p:nvSpPr>
        <p:spPr>
          <a:xfrm>
            <a:off x="9601202" y="2129625"/>
            <a:ext cx="2522308" cy="1005839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style on ScrollView positions the scroll window. contentContainerStyle styles the content inside.</a:t>
            </a:r>
            <a:endParaRPr lang="en-US" sz="1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B37EBB69-308B-9FA7-D376-45FDE2E5CBD8}"/>
              </a:ext>
            </a:extLst>
          </p:cNvPr>
          <p:cNvSpPr/>
          <p:nvPr/>
        </p:nvSpPr>
        <p:spPr>
          <a:xfrm>
            <a:off x="3756877" y="2285074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396E8A8-F87F-9895-45A8-2B6A280FF768}"/>
              </a:ext>
            </a:extLst>
          </p:cNvPr>
          <p:cNvSpPr/>
          <p:nvPr/>
        </p:nvSpPr>
        <p:spPr>
          <a:xfrm>
            <a:off x="300445" y="3463347"/>
            <a:ext cx="3474720" cy="448981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375  // hardcoded iPhone width</a:t>
            </a:r>
            <a:endParaRPr lang="en-US" sz="16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B20C7B5-FD3E-1675-7464-41D87FAAB8C8}"/>
              </a:ext>
            </a:extLst>
          </p:cNvPr>
          <p:cNvSpPr/>
          <p:nvPr/>
        </p:nvSpPr>
        <p:spPr>
          <a:xfrm>
            <a:off x="3866605" y="3515600"/>
            <a:ext cx="5499462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'100%'  // or  flex: 1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30CAF3D9-E4DB-F9AD-CB25-BA6D943B34F7}"/>
              </a:ext>
            </a:extLst>
          </p:cNvPr>
          <p:cNvSpPr/>
          <p:nvPr/>
        </p:nvSpPr>
        <p:spPr>
          <a:xfrm>
            <a:off x="9601201" y="3411096"/>
            <a:ext cx="2429689" cy="61226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pixel widths break on every other screen size.</a:t>
            </a:r>
            <a:endParaRPr lang="en-US" sz="14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F6CCC7F-CF3F-9B52-C2AD-8C62BA323ABD}"/>
              </a:ext>
            </a:extLst>
          </p:cNvPr>
          <p:cNvSpPr/>
          <p:nvPr/>
        </p:nvSpPr>
        <p:spPr>
          <a:xfrm>
            <a:off x="3756877" y="3135466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2F165316-830D-2A1C-F9A9-10023A84CAE3}"/>
              </a:ext>
            </a:extLst>
          </p:cNvPr>
          <p:cNvSpPr/>
          <p:nvPr/>
        </p:nvSpPr>
        <p:spPr>
          <a:xfrm>
            <a:off x="300445" y="4561937"/>
            <a:ext cx="3474720" cy="448977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flex:1 on the root SafeAreaView</a:t>
            </a:r>
            <a:endParaRPr lang="en-US" sz="16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5D1C7708-0652-8595-C77D-1FC1C68B7840}"/>
              </a:ext>
            </a:extLst>
          </p:cNvPr>
          <p:cNvSpPr/>
          <p:nvPr/>
        </p:nvSpPr>
        <p:spPr>
          <a:xfrm>
            <a:off x="3866605" y="4627253"/>
            <a:ext cx="5499462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&lt;SafeAreaView style={{ flex: 1 }}&gt;</a:t>
            </a:r>
            <a:endParaRPr lang="en-US" sz="16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C935484-915A-A0FD-7D59-1135CD578735}"/>
              </a:ext>
            </a:extLst>
          </p:cNvPr>
          <p:cNvSpPr/>
          <p:nvPr/>
        </p:nvSpPr>
        <p:spPr>
          <a:xfrm>
            <a:off x="9601202" y="4496623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 flex:1 the screen collapses to zero height. Always add it to the root.</a:t>
            </a:r>
            <a:endParaRPr lang="en-US" sz="14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F1C01677-8E25-18E2-B3EB-2F1BBE8DC0AE}"/>
              </a:ext>
            </a:extLst>
          </p:cNvPr>
          <p:cNvSpPr/>
          <p:nvPr/>
        </p:nvSpPr>
        <p:spPr>
          <a:xfrm>
            <a:off x="3756877" y="4717386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32BCF6FD-15C5-DD79-FE16-4805450B8567}"/>
              </a:ext>
            </a:extLst>
          </p:cNvPr>
          <p:cNvSpPr/>
          <p:nvPr/>
        </p:nvSpPr>
        <p:spPr>
          <a:xfrm>
            <a:off x="365760" y="5490700"/>
            <a:ext cx="3474720" cy="448975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&lt;View&gt; instead of &lt;Text&gt; for words</a:t>
            </a:r>
            <a:endParaRPr lang="en-US" sz="16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C551DD0-2D95-EBDD-759D-AB4688E1CA8B}"/>
              </a:ext>
            </a:extLst>
          </p:cNvPr>
          <p:cNvSpPr/>
          <p:nvPr/>
        </p:nvSpPr>
        <p:spPr>
          <a:xfrm>
            <a:off x="3931920" y="5490701"/>
            <a:ext cx="5499462" cy="44897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wrap text in &lt;Text&gt;. View cannot render strings.</a:t>
            </a:r>
            <a:endParaRPr lang="en-US" sz="16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6F6939BC-48AE-C571-364F-3DF88722392B}"/>
              </a:ext>
            </a:extLst>
          </p:cNvPr>
          <p:cNvSpPr/>
          <p:nvPr/>
        </p:nvSpPr>
        <p:spPr>
          <a:xfrm>
            <a:off x="9666517" y="5490701"/>
            <a:ext cx="22990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RN will throw: 'Text strings must be rendered within a &lt;Text&gt; component.'</a:t>
            </a:r>
            <a:endParaRPr lang="en-US" sz="14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62FDB47F-2B2F-1187-023F-33D55A764BF7}"/>
              </a:ext>
            </a:extLst>
          </p:cNvPr>
          <p:cNvSpPr/>
          <p:nvPr/>
        </p:nvSpPr>
        <p:spPr>
          <a:xfrm>
            <a:off x="3822192" y="5646149"/>
            <a:ext cx="91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31788967-9D14-EC4B-DFAF-008632E5B2DC}"/>
              </a:ext>
            </a:extLst>
          </p:cNvPr>
          <p:cNvSpPr/>
          <p:nvPr/>
        </p:nvSpPr>
        <p:spPr>
          <a:xfrm>
            <a:off x="300445" y="96964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(wrong)</a:t>
            </a:r>
            <a:endParaRPr lang="en-US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D7C9B41C-B6C7-D9C6-1C49-95BD1A5A6FAA}"/>
              </a:ext>
            </a:extLst>
          </p:cNvPr>
          <p:cNvSpPr/>
          <p:nvPr/>
        </p:nvSpPr>
        <p:spPr>
          <a:xfrm>
            <a:off x="3866605" y="96964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" y="215156"/>
            <a:ext cx="12188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What we Covered?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526" y="1432067"/>
            <a:ext cx="1143505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 RN rendering: JS thread → JSI → Native thread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BFDBFF"/>
                </a:solidFill>
              </a:rPr>
              <a:t>SafeAreaProvider</a:t>
            </a:r>
            <a:r>
              <a:rPr lang="en-US" sz="2800" dirty="0">
                <a:solidFill>
                  <a:srgbClr val="BFDBFF"/>
                </a:solidFill>
              </a:rPr>
              <a:t> from react-native-safe-area-context (not deprecated!)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View, </a:t>
            </a:r>
            <a:r>
              <a:rPr lang="en-US" sz="2800" dirty="0" err="1">
                <a:solidFill>
                  <a:srgbClr val="BFDBFF"/>
                </a:solidFill>
              </a:rPr>
              <a:t>ScrollView</a:t>
            </a:r>
            <a:r>
              <a:rPr lang="en-US" sz="2800" dirty="0">
                <a:solidFill>
                  <a:srgbClr val="BFDBFF"/>
                </a:solidFill>
              </a:rPr>
              <a:t>, Text, Image — the core component set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BFDBFF"/>
                </a:solidFill>
              </a:rPr>
              <a:t>StyleSheet.create</a:t>
            </a:r>
            <a:r>
              <a:rPr lang="en-US" sz="2800" dirty="0">
                <a:solidFill>
                  <a:srgbClr val="BFDBFF"/>
                </a:solidFill>
              </a:rPr>
              <a:t>() — registers styles, validates them, freezes them</a:t>
            </a: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Flexbox: default column direction, </a:t>
            </a:r>
            <a:r>
              <a:rPr lang="en-US" sz="2800" dirty="0" err="1">
                <a:solidFill>
                  <a:srgbClr val="BFDBFF"/>
                </a:solidFill>
              </a:rPr>
              <a:t>justifyContent</a:t>
            </a:r>
            <a:r>
              <a:rPr lang="en-US" sz="2800" dirty="0">
                <a:solidFill>
                  <a:srgbClr val="BFDBFF"/>
                </a:solidFill>
              </a:rPr>
              <a:t>, </a:t>
            </a:r>
            <a:r>
              <a:rPr lang="en-US" sz="2800" dirty="0" err="1">
                <a:solidFill>
                  <a:srgbClr val="BFDBFF"/>
                </a:solidFill>
              </a:rPr>
              <a:t>alignItems</a:t>
            </a:r>
            <a:endParaRPr lang="en-US" sz="2800" dirty="0">
              <a:solidFill>
                <a:srgbClr val="BFDBFF"/>
              </a:solidFill>
            </a:endParaRPr>
          </a:p>
          <a:p>
            <a:pPr marL="514350" indent="-514350">
              <a:spcAft>
                <a:spcPts val="24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BFDBFF"/>
                </a:solidFill>
              </a:rPr>
              <a:t>flex numbers split space proportionally; </a:t>
            </a:r>
            <a:r>
              <a:rPr lang="en-US" sz="2800" dirty="0" err="1">
                <a:solidFill>
                  <a:srgbClr val="BFDBFF"/>
                </a:solidFill>
              </a:rPr>
              <a:t>flexWrap</a:t>
            </a:r>
            <a:r>
              <a:rPr lang="en-US" sz="2800" dirty="0">
                <a:solidFill>
                  <a:srgbClr val="BFDBFF"/>
                </a:solidFill>
              </a:rPr>
              <a:t> wraps rows</a:t>
            </a:r>
            <a:endParaRPr sz="2800" dirty="0">
              <a:solidFill>
                <a:srgbClr val="BFDB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2720</Words>
  <Application>Microsoft Office PowerPoint</Application>
  <PresentationFormat>Custom</PresentationFormat>
  <Paragraphs>484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2026-08-31T20:57:09Z</dcterms:created>
  <dcterms:modified xsi:type="dcterms:W3CDTF">2026-08-31T20:57:59Z</dcterms:modified>
  <cp:category/>
</cp:coreProperties>
</file>