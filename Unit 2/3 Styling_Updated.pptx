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27"/>
  </p:notesMasterIdLst>
  <p:sldIdLst>
    <p:sldId id="278" r:id="rId2"/>
    <p:sldId id="257" r:id="rId3"/>
    <p:sldId id="451" r:id="rId4"/>
    <p:sldId id="456" r:id="rId5"/>
    <p:sldId id="452" r:id="rId6"/>
    <p:sldId id="457" r:id="rId7"/>
    <p:sldId id="260" r:id="rId8"/>
    <p:sldId id="454" r:id="rId9"/>
    <p:sldId id="458" r:id="rId10"/>
    <p:sldId id="459" r:id="rId11"/>
    <p:sldId id="263" r:id="rId12"/>
    <p:sldId id="264" r:id="rId13"/>
    <p:sldId id="464" r:id="rId14"/>
    <p:sldId id="465" r:id="rId15"/>
    <p:sldId id="265" r:id="rId16"/>
    <p:sldId id="266" r:id="rId17"/>
    <p:sldId id="268" r:id="rId18"/>
    <p:sldId id="269" r:id="rId19"/>
    <p:sldId id="455" r:id="rId20"/>
    <p:sldId id="460" r:id="rId21"/>
    <p:sldId id="461" r:id="rId22"/>
    <p:sldId id="272" r:id="rId23"/>
    <p:sldId id="467" r:id="rId24"/>
    <p:sldId id="466" r:id="rId25"/>
    <p:sldId id="273" r:id="rId2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08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1622" autoAdjust="0"/>
  </p:normalViewPr>
  <p:slideViewPr>
    <p:cSldViewPr snapToGrid="0" snapToObjects="1">
      <p:cViewPr varScale="1">
        <p:scale>
          <a:sx n="64" d="100"/>
          <a:sy n="64" d="100"/>
        </p:scale>
        <p:origin x="2274" y="72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F58AE4-3B94-4A76-99DF-52B8754DC799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A07999-E436-41F4-A0D0-76551AF56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21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631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54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43855-9F18-E3F2-AC2C-1AB6F8E53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DAA0D3-91F8-6906-3897-9F86C4F84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BD691-D921-1BAE-EEEE-461B464DF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B57C3-6F45-9B6F-BB4C-0886306B9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5543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0DEFE-B147-3D3A-9FEC-8D809726C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11221E-A44D-A378-CADA-F5DCF5424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66973-9C15-C55E-48F5-1DA981C17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D70F48-7CF3-F86F-8891-98B82F6AC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45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277A9-4CD6-868C-2DA1-A1B50B4E7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CCD30-3209-6B5F-1275-3707D9E0B9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182F6B-FB6B-F5EA-A408-C7D13439DD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769A9-A81D-FBA4-5A31-CD085D2AB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942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822C2-244D-FFAE-452A-F4C317E01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F60C4B-3619-BD1E-7490-76979C782C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B86417-AB69-7200-DBA2-94591501EA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fontAlgn="t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C2DC9-F47E-C2A9-EDE2-87F6628080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899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04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F4390-9522-20EC-234D-64F61AF6C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08CBE-B35C-9803-4D3D-7FCA7F2C0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FC813B-D193-5A4E-4149-C6D0B51439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7027D-D14C-ABFF-BB53-A6CEF3DA48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426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44837-E989-2EED-E8B7-378F23FEB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7430A0-6D11-0A69-81D1-B6862A3879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105115-3396-84C0-472E-29055C4D4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98188-CC75-61B5-DC6D-5DAB81D952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5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2706E-A322-C831-3A4F-47C27AE18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959BD-1CCC-AE0B-97C6-7D8096B775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6489DF-B108-C7DF-ED79-3DC5623AEA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7C0D2C-1F7D-022C-ABD6-41C9519AB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3876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7482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1316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1F4A0-2BBC-78E5-F590-6296606FA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12241F-A476-89B6-C628-5AC1B3040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4D48A7-BF75-168F-C47F-F2A7071BA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5FFBB2-2364-9FE5-63CB-1E7A5FF1E9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3060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EF88E-3C14-F0BA-35D9-4908E7A14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F0CB0-52BB-8A16-2E02-883AD5594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5F3C14-2B35-7F36-1965-6E3A1F62B5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A5385-B78A-B8A4-8159-6A01BC5099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9100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877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752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1557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5254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5282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E03F6-7F17-4639-18D5-3B7FFED4F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84EABC-88CE-783B-CE70-DCFFC2C56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E03A3A-728B-E31A-261F-0E432270D4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F7944-6B61-32DB-9B2C-2A4C703810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3286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86135-4E53-3CD8-3ED2-494FF08FF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B0618B-4CCC-8077-54CF-D95E7039C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10FF92-3D7B-61DA-F25D-5EA7A0394F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3D645-308F-0274-9201-E5554FAFA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9288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0427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E40D9-8502-3E0D-3171-3A202F170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3E6437-C464-4E94-E3AF-C33C5D3D38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5375D-E6B1-2D87-C660-507C89E61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278342-E805-9590-10A8-99BF85ADE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8334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5F379-3E40-5D6D-7864-E4C62DBF9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791ED1-CBE2-DE28-4071-C77B2A9F1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B49597-39DD-3892-42B7-7BA66C9E34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1F8006-571B-20B8-04FC-5096D1C0CC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9574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A07999-E436-41F4-A0D0-76551AF56858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6689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3A6097-D6FB-BF9C-3CFD-D30ADEB456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27054"/>
            <a:ext cx="1529541" cy="630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368CD6-059C-BDEA-4975-C6762FAA6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0BFC4D-5330-BA02-A4B9-2EC822E2A18B}"/>
              </a:ext>
            </a:extLst>
          </p:cNvPr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EAE3AF-A4B8-D87E-6F15-348280BB2285}"/>
              </a:ext>
            </a:extLst>
          </p:cNvPr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59A74F-EDDD-43EA-66DA-3A431EC8BA5B}"/>
              </a:ext>
            </a:extLst>
          </p:cNvPr>
          <p:cNvSpPr txBox="1"/>
          <p:nvPr/>
        </p:nvSpPr>
        <p:spPr>
          <a:xfrm>
            <a:off x="0" y="1783080"/>
            <a:ext cx="121889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b="1" i="0" dirty="0">
                <a:solidFill>
                  <a:srgbClr val="FFFFFF"/>
                </a:solidFill>
              </a:rPr>
              <a:t>Styling React Native Apps</a:t>
            </a:r>
            <a:endParaRPr sz="5400" b="1" i="0" dirty="0">
              <a:solidFill>
                <a:srgbClr val="FFFFFF"/>
              </a:solidFill>
            </a:endParaRP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5C8C59F1-D53D-553A-3A4D-D405D2515E69}"/>
              </a:ext>
            </a:extLst>
          </p:cNvPr>
          <p:cNvSpPr txBox="1">
            <a:spLocks/>
          </p:cNvSpPr>
          <p:nvPr/>
        </p:nvSpPr>
        <p:spPr>
          <a:xfrm>
            <a:off x="0" y="3689699"/>
            <a:ext cx="12188824" cy="16557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 defTabSz="457200">
              <a:lnSpc>
                <a:spcPct val="120000"/>
              </a:lnSpc>
              <a:spcAft>
                <a:spcPts val="600"/>
              </a:spcAft>
            </a:pPr>
            <a:r>
              <a:rPr lang="en-US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Edited By:</a:t>
            </a:r>
          </a:p>
          <a:p>
            <a:pPr algn="ctr" defTabSz="457200">
              <a:lnSpc>
                <a:spcPct val="120000"/>
              </a:lnSpc>
              <a:spcAft>
                <a:spcPts val="600"/>
              </a:spcAft>
            </a:pPr>
            <a:r>
              <a:rPr lang="en-US" sz="48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Hamdy Ibrahim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9DD5F5D-D9F7-EAEF-7160-ECAC2D736E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053033"/>
            <a:ext cx="1631852" cy="2223013"/>
          </a:xfrm>
          <a:prstGeom prst="rect">
            <a:avLst/>
          </a:prstGeom>
        </p:spPr>
      </p:pic>
      <p:sp>
        <p:nvSpPr>
          <p:cNvPr id="16" name="Subtitle 3">
            <a:extLst>
              <a:ext uri="{FF2B5EF4-FFF2-40B4-BE49-F238E27FC236}">
                <a16:creationId xmlns:a16="http://schemas.microsoft.com/office/drawing/2014/main" id="{4A819F09-A09E-C95D-E4A0-452C78500D97}"/>
              </a:ext>
            </a:extLst>
          </p:cNvPr>
          <p:cNvSpPr txBox="1">
            <a:spLocks/>
          </p:cNvSpPr>
          <p:nvPr/>
        </p:nvSpPr>
        <p:spPr>
          <a:xfrm>
            <a:off x="268573" y="581954"/>
            <a:ext cx="7904756" cy="820333"/>
          </a:xfrm>
          <a:prstGeom prst="rect">
            <a:avLst/>
          </a:prstGeom>
        </p:spPr>
        <p:txBody>
          <a:bodyPr anchor="ctr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CPRG303 – Mobile Application Development</a:t>
            </a:r>
          </a:p>
        </p:txBody>
      </p:sp>
      <p:sp>
        <p:nvSpPr>
          <p:cNvPr id="25" name="Text 4">
            <a:extLst>
              <a:ext uri="{FF2B5EF4-FFF2-40B4-BE49-F238E27FC236}">
                <a16:creationId xmlns:a16="http://schemas.microsoft.com/office/drawing/2014/main" id="{C50D2861-CE99-D5FE-52C7-0ED2A300BCCD}"/>
              </a:ext>
            </a:extLst>
          </p:cNvPr>
          <p:cNvSpPr/>
          <p:nvPr/>
        </p:nvSpPr>
        <p:spPr>
          <a:xfrm>
            <a:off x="2" y="6328750"/>
            <a:ext cx="12188950" cy="52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SADT  ·  School For Advanced Digital Technology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ADF0827-C5AC-1C7B-9789-FF63F5AB7BBD}"/>
              </a:ext>
            </a:extLst>
          </p:cNvPr>
          <p:cNvSpPr/>
          <p:nvPr/>
        </p:nvSpPr>
        <p:spPr>
          <a:xfrm>
            <a:off x="10089073" y="3547872"/>
            <a:ext cx="566928" cy="56692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5784A2D-53B0-5108-6645-D9752AA8D7AC}"/>
              </a:ext>
            </a:extLst>
          </p:cNvPr>
          <p:cNvSpPr/>
          <p:nvPr/>
        </p:nvSpPr>
        <p:spPr>
          <a:xfrm>
            <a:off x="10747441" y="3547872"/>
            <a:ext cx="56692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A0DDE50-19A7-7401-1154-E9902DEDE44C}"/>
              </a:ext>
            </a:extLst>
          </p:cNvPr>
          <p:cNvSpPr/>
          <p:nvPr/>
        </p:nvSpPr>
        <p:spPr>
          <a:xfrm>
            <a:off x="11405809" y="3547872"/>
            <a:ext cx="566928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B91F2E3A-F8A1-F64C-598E-ACC6FE40E453}"/>
              </a:ext>
            </a:extLst>
          </p:cNvPr>
          <p:cNvSpPr/>
          <p:nvPr/>
        </p:nvSpPr>
        <p:spPr>
          <a:xfrm>
            <a:off x="10089073" y="4206240"/>
            <a:ext cx="566928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29BB9A0F-E261-6FD5-1B18-673B5470186A}"/>
              </a:ext>
            </a:extLst>
          </p:cNvPr>
          <p:cNvSpPr/>
          <p:nvPr/>
        </p:nvSpPr>
        <p:spPr>
          <a:xfrm>
            <a:off x="10747441" y="4206240"/>
            <a:ext cx="566928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691F4C68-C390-8F82-8C76-A8BA61543164}"/>
              </a:ext>
            </a:extLst>
          </p:cNvPr>
          <p:cNvSpPr/>
          <p:nvPr/>
        </p:nvSpPr>
        <p:spPr>
          <a:xfrm>
            <a:off x="11405809" y="4206240"/>
            <a:ext cx="566928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BE69BE7B-04C5-9B9B-55BE-E843442824E6}"/>
              </a:ext>
            </a:extLst>
          </p:cNvPr>
          <p:cNvSpPr/>
          <p:nvPr/>
        </p:nvSpPr>
        <p:spPr>
          <a:xfrm>
            <a:off x="10089073" y="4819773"/>
            <a:ext cx="1883664" cy="11067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7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</a:p>
          <a:p>
            <a:pPr algn="ctr"/>
            <a:r>
              <a:rPr lang="en-US" sz="1507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</a:p>
          <a:p>
            <a:pPr algn="ctr"/>
            <a:r>
              <a:rPr lang="en-US" sz="1507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</a:t>
            </a:r>
          </a:p>
          <a:p>
            <a:pPr algn="ctr"/>
            <a:r>
              <a:rPr lang="en-US" sz="1507" b="1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</a:p>
        </p:txBody>
      </p:sp>
    </p:spTree>
    <p:extLst>
      <p:ext uri="{BB962C8B-B14F-4D97-AF65-F5344CB8AC3E}">
        <p14:creationId xmlns:p14="http://schemas.microsoft.com/office/powerpoint/2010/main" val="2059201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79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Part 2 - Agenda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0C12C48A-E6BC-7882-9E83-99E044CE4324}"/>
              </a:ext>
            </a:extLst>
          </p:cNvPr>
          <p:cNvSpPr/>
          <p:nvPr/>
        </p:nvSpPr>
        <p:spPr>
          <a:xfrm>
            <a:off x="1082456" y="1442584"/>
            <a:ext cx="484905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StyleSheet.create</a:t>
            </a: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() Internals</a:t>
            </a:r>
          </a:p>
        </p:txBody>
      </p:sp>
      <p:sp>
        <p:nvSpPr>
          <p:cNvPr id="49" name="Text 8">
            <a:extLst>
              <a:ext uri="{FF2B5EF4-FFF2-40B4-BE49-F238E27FC236}">
                <a16:creationId xmlns:a16="http://schemas.microsoft.com/office/drawing/2014/main" id="{AFB0709B-1EDC-33CE-0453-536D2C6ACEB1}"/>
              </a:ext>
            </a:extLst>
          </p:cNvPr>
          <p:cNvSpPr/>
          <p:nvPr/>
        </p:nvSpPr>
        <p:spPr>
          <a:xfrm>
            <a:off x="1082456" y="256807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Colors</a:t>
            </a:r>
            <a:endParaRPr lang="en-US" sz="2800" dirty="0"/>
          </a:p>
        </p:txBody>
      </p:sp>
      <p:sp>
        <p:nvSpPr>
          <p:cNvPr id="57" name="Text 12">
            <a:extLst>
              <a:ext uri="{FF2B5EF4-FFF2-40B4-BE49-F238E27FC236}">
                <a16:creationId xmlns:a16="http://schemas.microsoft.com/office/drawing/2014/main" id="{EB485BDF-59B0-9E0D-E3F9-F6BB0ECEAE4D}"/>
              </a:ext>
            </a:extLst>
          </p:cNvPr>
          <p:cNvSpPr/>
          <p:nvPr/>
        </p:nvSpPr>
        <p:spPr>
          <a:xfrm>
            <a:off x="1082456" y="3580993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2800" dirty="0"/>
          </a:p>
        </p:txBody>
      </p:sp>
      <p:sp>
        <p:nvSpPr>
          <p:cNvPr id="65" name="Text 16">
            <a:extLst>
              <a:ext uri="{FF2B5EF4-FFF2-40B4-BE49-F238E27FC236}">
                <a16:creationId xmlns:a16="http://schemas.microsoft.com/office/drawing/2014/main" id="{98F4BCD0-A0C1-E25A-98AF-AFF0BB05ADEE}"/>
              </a:ext>
            </a:extLst>
          </p:cNvPr>
          <p:cNvSpPr/>
          <p:nvPr/>
        </p:nvSpPr>
        <p:spPr>
          <a:xfrm>
            <a:off x="1082456" y="4632553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Border, Radius &amp; Shape</a:t>
            </a:r>
            <a:endParaRPr lang="en-US" sz="2800" dirty="0"/>
          </a:p>
        </p:txBody>
      </p:sp>
      <p:sp>
        <p:nvSpPr>
          <p:cNvPr id="73" name="Text 20">
            <a:extLst>
              <a:ext uri="{FF2B5EF4-FFF2-40B4-BE49-F238E27FC236}">
                <a16:creationId xmlns:a16="http://schemas.microsoft.com/office/drawing/2014/main" id="{1432F0B2-5ED5-4592-E63B-575E11B89372}"/>
              </a:ext>
            </a:extLst>
          </p:cNvPr>
          <p:cNvSpPr/>
          <p:nvPr/>
        </p:nvSpPr>
        <p:spPr>
          <a:xfrm>
            <a:off x="7724218" y="1786969"/>
            <a:ext cx="3749040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Shadows &amp; Elevation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81" name="Text 24">
            <a:extLst>
              <a:ext uri="{FF2B5EF4-FFF2-40B4-BE49-F238E27FC236}">
                <a16:creationId xmlns:a16="http://schemas.microsoft.com/office/drawing/2014/main" id="{9B4522B9-6EDA-BDD3-6EB2-14884193B97E}"/>
              </a:ext>
            </a:extLst>
          </p:cNvPr>
          <p:cNvSpPr/>
          <p:nvPr/>
        </p:nvSpPr>
        <p:spPr>
          <a:xfrm>
            <a:off x="7724218" y="354686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2800" dirty="0"/>
          </a:p>
        </p:txBody>
      </p:sp>
      <p:sp>
        <p:nvSpPr>
          <p:cNvPr id="89" name="Text 28">
            <a:extLst>
              <a:ext uri="{FF2B5EF4-FFF2-40B4-BE49-F238E27FC236}">
                <a16:creationId xmlns:a16="http://schemas.microsoft.com/office/drawing/2014/main" id="{2687E1E1-96AC-7698-F544-445467DB324A}"/>
              </a:ext>
            </a:extLst>
          </p:cNvPr>
          <p:cNvSpPr/>
          <p:nvPr/>
        </p:nvSpPr>
        <p:spPr>
          <a:xfrm>
            <a:off x="7724218" y="2563563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Box Model &amp; Spacing</a:t>
            </a:r>
            <a:endParaRPr lang="en-US" sz="2800" dirty="0"/>
          </a:p>
        </p:txBody>
      </p:sp>
      <p:sp>
        <p:nvSpPr>
          <p:cNvPr id="97" name="Text 32">
            <a:extLst>
              <a:ext uri="{FF2B5EF4-FFF2-40B4-BE49-F238E27FC236}">
                <a16:creationId xmlns:a16="http://schemas.microsoft.com/office/drawing/2014/main" id="{5B8A2320-8A4C-374F-C28B-016251F0487B}"/>
              </a:ext>
            </a:extLst>
          </p:cNvPr>
          <p:cNvSpPr/>
          <p:nvPr/>
        </p:nvSpPr>
        <p:spPr>
          <a:xfrm>
            <a:off x="7724218" y="4632553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Platform Differences</a:t>
            </a:r>
            <a:endParaRPr lang="en-US" sz="2800" dirty="0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92CA6DE5-9CDF-0824-3DED-623753785E43}"/>
              </a:ext>
            </a:extLst>
          </p:cNvPr>
          <p:cNvSpPr/>
          <p:nvPr/>
        </p:nvSpPr>
        <p:spPr>
          <a:xfrm>
            <a:off x="442376" y="1440644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3EA08BC-9993-4427-4638-6DBD1D92442C}"/>
              </a:ext>
            </a:extLst>
          </p:cNvPr>
          <p:cNvSpPr txBox="1"/>
          <p:nvPr/>
        </p:nvSpPr>
        <p:spPr>
          <a:xfrm>
            <a:off x="442376" y="1407634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7747391A-D1E0-464D-162B-511CFB5354DC}"/>
              </a:ext>
            </a:extLst>
          </p:cNvPr>
          <p:cNvSpPr/>
          <p:nvPr/>
        </p:nvSpPr>
        <p:spPr>
          <a:xfrm>
            <a:off x="7074994" y="4560526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A2F3FCC-3022-500B-3868-C5650D19A0CA}"/>
              </a:ext>
            </a:extLst>
          </p:cNvPr>
          <p:cNvSpPr txBox="1"/>
          <p:nvPr/>
        </p:nvSpPr>
        <p:spPr>
          <a:xfrm>
            <a:off x="7074994" y="4527516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</a:rPr>
              <a:t>0</a:t>
            </a:r>
            <a:r>
              <a:rPr lang="en-US" sz="2800" b="1" i="0" dirty="0">
                <a:solidFill>
                  <a:srgbClr val="FFFFFF"/>
                </a:solidFill>
              </a:rPr>
              <a:t>8</a:t>
            </a:r>
            <a:endParaRPr sz="2800" b="1" i="0" dirty="0">
              <a:solidFill>
                <a:srgbClr val="FFFFFF"/>
              </a:solidFill>
            </a:endParaRPr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4FA9FF03-40FA-FB10-FFC3-D6F1A2B2B817}"/>
              </a:ext>
            </a:extLst>
          </p:cNvPr>
          <p:cNvSpPr/>
          <p:nvPr/>
        </p:nvSpPr>
        <p:spPr>
          <a:xfrm>
            <a:off x="446700" y="3466824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CE37646-5A80-CA72-1346-6C88AF2E6D47}"/>
              </a:ext>
            </a:extLst>
          </p:cNvPr>
          <p:cNvSpPr txBox="1"/>
          <p:nvPr/>
        </p:nvSpPr>
        <p:spPr>
          <a:xfrm>
            <a:off x="446700" y="3433814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6D74A18-9F06-7CF9-F541-65BD9D15B194}"/>
              </a:ext>
            </a:extLst>
          </p:cNvPr>
          <p:cNvSpPr/>
          <p:nvPr/>
        </p:nvSpPr>
        <p:spPr>
          <a:xfrm>
            <a:off x="436195" y="4544710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786EE4F0-E4B5-AE8E-B30E-38B6CE76D377}"/>
              </a:ext>
            </a:extLst>
          </p:cNvPr>
          <p:cNvSpPr txBox="1"/>
          <p:nvPr/>
        </p:nvSpPr>
        <p:spPr>
          <a:xfrm>
            <a:off x="436195" y="4511700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99FD5C1-317C-6A0E-9905-F145035FAF26}"/>
              </a:ext>
            </a:extLst>
          </p:cNvPr>
          <p:cNvSpPr/>
          <p:nvPr/>
        </p:nvSpPr>
        <p:spPr>
          <a:xfrm>
            <a:off x="7074994" y="1390693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A47FE96-E141-BE3A-230D-10FB10631F55}"/>
              </a:ext>
            </a:extLst>
          </p:cNvPr>
          <p:cNvSpPr txBox="1"/>
          <p:nvPr/>
        </p:nvSpPr>
        <p:spPr>
          <a:xfrm>
            <a:off x="7074994" y="1357683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E7659AB-943F-C44B-596F-6095087D484D}"/>
              </a:ext>
            </a:extLst>
          </p:cNvPr>
          <p:cNvSpPr/>
          <p:nvPr/>
        </p:nvSpPr>
        <p:spPr>
          <a:xfrm>
            <a:off x="7074994" y="2472226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AA90A964-DB89-EB5F-A9FC-9B0E21962952}"/>
              </a:ext>
            </a:extLst>
          </p:cNvPr>
          <p:cNvSpPr txBox="1"/>
          <p:nvPr/>
        </p:nvSpPr>
        <p:spPr>
          <a:xfrm>
            <a:off x="7074994" y="2439216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0FFB51D2-40D5-753C-2A2C-FD3A6E3DE1F7}"/>
              </a:ext>
            </a:extLst>
          </p:cNvPr>
          <p:cNvSpPr/>
          <p:nvPr/>
        </p:nvSpPr>
        <p:spPr>
          <a:xfrm>
            <a:off x="7074994" y="3466824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F52109B-6C5A-01FB-42A8-40E84BFF7867}"/>
              </a:ext>
            </a:extLst>
          </p:cNvPr>
          <p:cNvSpPr txBox="1"/>
          <p:nvPr/>
        </p:nvSpPr>
        <p:spPr>
          <a:xfrm>
            <a:off x="7074994" y="3433814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68E79FC9-FB74-963C-50CB-A8BC9DCE9771}"/>
              </a:ext>
            </a:extLst>
          </p:cNvPr>
          <p:cNvSpPr/>
          <p:nvPr/>
        </p:nvSpPr>
        <p:spPr>
          <a:xfrm>
            <a:off x="446700" y="2460514"/>
            <a:ext cx="54864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6FF9E801-D93C-C536-D6D5-64A077DC3F68}"/>
              </a:ext>
            </a:extLst>
          </p:cNvPr>
          <p:cNvSpPr txBox="1"/>
          <p:nvPr/>
        </p:nvSpPr>
        <p:spPr>
          <a:xfrm>
            <a:off x="446700" y="2420724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</a:rPr>
              <a:t>0</a:t>
            </a:r>
            <a:r>
              <a:rPr lang="en-US" sz="2800" b="1" i="0" dirty="0">
                <a:solidFill>
                  <a:srgbClr val="FFFFFF"/>
                </a:solidFill>
              </a:rPr>
              <a:t>2</a:t>
            </a:r>
            <a:endParaRPr sz="2800" b="1" i="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C95E-369B-2E43-4B4D-E1FA269C6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58591A-52C0-F150-8D88-4063A201FC07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594834-FA57-D0BF-6241-4121383B7490}"/>
              </a:ext>
            </a:extLst>
          </p:cNvPr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 err="1">
                <a:solidFill>
                  <a:srgbClr val="111827"/>
                </a:solidFill>
              </a:rPr>
              <a:t>StyleSheet.create</a:t>
            </a:r>
            <a:r>
              <a:rPr lang="en-US" sz="3600" b="1" i="0" dirty="0">
                <a:solidFill>
                  <a:srgbClr val="111827"/>
                </a:solidFill>
              </a:rPr>
              <a:t>() - How it Works?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EBFE485-AF83-3311-A50A-EF3F834A5EC6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9066670A-8792-A906-0145-D31E019132A8}"/>
              </a:ext>
            </a:extLst>
          </p:cNvPr>
          <p:cNvSpPr/>
          <p:nvPr/>
        </p:nvSpPr>
        <p:spPr>
          <a:xfrm>
            <a:off x="263705" y="1063983"/>
            <a:ext cx="11717280" cy="5045616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you write:</a:t>
            </a:r>
            <a:endParaRPr lang="en-US" sz="2000" dirty="0"/>
          </a:p>
          <a:p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styles = </a:t>
            </a:r>
            <a:r>
              <a:rPr lang="en-US" sz="20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StyleSheet.create</a:t>
            </a: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2000" dirty="0"/>
          </a:p>
          <a:p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container: { flex: 1, padding: 16 },</a:t>
            </a:r>
            <a:endParaRPr lang="en-US" sz="2000" dirty="0"/>
          </a:p>
          <a:p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    { </a:t>
            </a:r>
            <a:r>
              <a:rPr lang="en-US" sz="20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fontSize</a:t>
            </a: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24, </a:t>
            </a:r>
            <a:r>
              <a:rPr lang="en-US" sz="20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fontWeight</a:t>
            </a: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'700', color: '#003865' },</a:t>
            </a:r>
            <a:endParaRPr lang="en-US" sz="2000" dirty="0"/>
          </a:p>
          <a:p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React Native does internally:</a:t>
            </a:r>
            <a:endParaRPr lang="en-US" sz="2000" b="1" dirty="0">
              <a:solidFill>
                <a:srgbClr val="FFFF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Validates every property name and value type at creation time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Assigns each style object a unique integer ID (e.g. container = 1, title = 2)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Registers the styles with the native layer once — not on every render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you pass </a:t>
            </a:r>
            <a:r>
              <a:rPr lang="en-US" sz="20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styles.container</a:t>
            </a: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 a component, you're passing the INTEGER 1 not the whole object — which is much faster to compare and transfer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r>
              <a:rPr lang="en-US" sz="2000" b="1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</a:t>
            </a:r>
            <a:r>
              <a:rPr lang="en-US" sz="2000" dirty="0">
                <a:solidFill>
                  <a:srgbClr val="FFF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styles.container</a:t>
            </a: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!== { flex:1, padding:16 }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It's just the number 1 — a pointer into the native style registry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41011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E4DBD-7070-0649-E057-8B47443E5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08AFDE0-54F0-2EAF-5CED-4D9701A9AF76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4F08DB-FB3A-9613-44E2-47A96858F695}"/>
              </a:ext>
            </a:extLst>
          </p:cNvPr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 err="1">
                <a:solidFill>
                  <a:srgbClr val="111827"/>
                </a:solidFill>
              </a:rPr>
              <a:t>StyleSheet.create</a:t>
            </a:r>
            <a:r>
              <a:rPr lang="en-US" sz="3600" b="1" i="0" dirty="0">
                <a:solidFill>
                  <a:srgbClr val="111827"/>
                </a:solidFill>
              </a:rPr>
              <a:t>() - How it Works?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6D4E2E-8B20-A7B3-BEB0-0A5093FD609A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DE7DAD8B-8A42-BE23-9C09-1C78387AE90C}"/>
              </a:ext>
            </a:extLst>
          </p:cNvPr>
          <p:cNvGrpSpPr/>
          <p:nvPr/>
        </p:nvGrpSpPr>
        <p:grpSpPr>
          <a:xfrm>
            <a:off x="565052" y="947636"/>
            <a:ext cx="11338560" cy="1296103"/>
            <a:chOff x="365759" y="3182111"/>
            <a:chExt cx="11338560" cy="1296103"/>
          </a:xfrm>
        </p:grpSpPr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7E97C8BA-6EAC-EDB4-8DF9-962EBEF112E3}"/>
                </a:ext>
              </a:extLst>
            </p:cNvPr>
            <p:cNvSpPr/>
            <p:nvPr/>
          </p:nvSpPr>
          <p:spPr>
            <a:xfrm>
              <a:off x="365759" y="3182111"/>
              <a:ext cx="11338560" cy="1296103"/>
            </a:xfrm>
            <a:prstGeom prst="rect">
              <a:avLst/>
            </a:prstGeom>
            <a:solidFill>
              <a:srgbClr val="1E293B"/>
            </a:solidFill>
            <a:ln w="19050">
              <a:solidFill>
                <a:srgbClr val="0EA5E9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5">
              <a:extLst>
                <a:ext uri="{FF2B5EF4-FFF2-40B4-BE49-F238E27FC236}">
                  <a16:creationId xmlns:a16="http://schemas.microsoft.com/office/drawing/2014/main" id="{A1B25C16-B200-524F-AE63-6030F8DF83D1}"/>
                </a:ext>
              </a:extLst>
            </p:cNvPr>
            <p:cNvSpPr/>
            <p:nvPr/>
          </p:nvSpPr>
          <p:spPr>
            <a:xfrm>
              <a:off x="365760" y="3182112"/>
              <a:ext cx="411480" cy="1296102"/>
            </a:xfrm>
            <a:prstGeom prst="rect">
              <a:avLst/>
            </a:prstGeom>
            <a:solidFill>
              <a:srgbClr val="0EA5E9"/>
            </a:solidFill>
            <a:ln w="12700">
              <a:solidFill>
                <a:srgbClr val="0EA5E9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1" name="Text 6">
              <a:extLst>
                <a:ext uri="{FF2B5EF4-FFF2-40B4-BE49-F238E27FC236}">
                  <a16:creationId xmlns:a16="http://schemas.microsoft.com/office/drawing/2014/main" id="{DAD7C317-8887-BF10-45CD-A69C0F353675}"/>
                </a:ext>
              </a:extLst>
            </p:cNvPr>
            <p:cNvSpPr/>
            <p:nvPr/>
          </p:nvSpPr>
          <p:spPr>
            <a:xfrm>
              <a:off x="365760" y="3404849"/>
              <a:ext cx="41148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</a:t>
              </a:r>
              <a:endParaRPr lang="en-US" sz="2400" dirty="0"/>
            </a:p>
          </p:txBody>
        </p:sp>
        <p:sp>
          <p:nvSpPr>
            <p:cNvPr id="13" name="Text 7">
              <a:extLst>
                <a:ext uri="{FF2B5EF4-FFF2-40B4-BE49-F238E27FC236}">
                  <a16:creationId xmlns:a16="http://schemas.microsoft.com/office/drawing/2014/main" id="{8A5CE1E3-5CB0-9AB0-44AE-A18B0CE1BBE5}"/>
                </a:ext>
              </a:extLst>
            </p:cNvPr>
            <p:cNvSpPr/>
            <p:nvPr/>
          </p:nvSpPr>
          <p:spPr>
            <a:xfrm>
              <a:off x="868679" y="3255264"/>
              <a:ext cx="6047935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0EA5E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Validated once at startup</a:t>
              </a:r>
              <a:endParaRPr lang="en-US" sz="2400" dirty="0"/>
            </a:p>
          </p:txBody>
        </p:sp>
        <p:sp>
          <p:nvSpPr>
            <p:cNvPr id="15" name="Text 8">
              <a:extLst>
                <a:ext uri="{FF2B5EF4-FFF2-40B4-BE49-F238E27FC236}">
                  <a16:creationId xmlns:a16="http://schemas.microsoft.com/office/drawing/2014/main" id="{E1C45FA0-08F1-9D90-961D-2B5B4EC453EF}"/>
                </a:ext>
              </a:extLst>
            </p:cNvPr>
            <p:cNvSpPr/>
            <p:nvPr/>
          </p:nvSpPr>
          <p:spPr>
            <a:xfrm>
              <a:off x="868679" y="3864393"/>
              <a:ext cx="10555800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If you typo "fontWieght" or use an invalid value, RN throws at app load — not buried in a runtime crash later.</a:t>
              </a:r>
              <a:endParaRPr lang="en-US" sz="24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4D1A567E-6490-E2D0-D52A-AB4FB666F976}"/>
              </a:ext>
            </a:extLst>
          </p:cNvPr>
          <p:cNvGrpSpPr/>
          <p:nvPr/>
        </p:nvGrpSpPr>
        <p:grpSpPr>
          <a:xfrm>
            <a:off x="565052" y="2344381"/>
            <a:ext cx="11338560" cy="1446101"/>
            <a:chOff x="565052" y="2696071"/>
            <a:chExt cx="11338560" cy="1446101"/>
          </a:xfrm>
        </p:grpSpPr>
        <p:sp>
          <p:nvSpPr>
            <p:cNvPr id="17" name="Shape 9">
              <a:extLst>
                <a:ext uri="{FF2B5EF4-FFF2-40B4-BE49-F238E27FC236}">
                  <a16:creationId xmlns:a16="http://schemas.microsoft.com/office/drawing/2014/main" id="{58B61B10-A0F4-EB4E-BFA4-E767461201DF}"/>
                </a:ext>
              </a:extLst>
            </p:cNvPr>
            <p:cNvSpPr/>
            <p:nvPr/>
          </p:nvSpPr>
          <p:spPr>
            <a:xfrm>
              <a:off x="565052" y="2696071"/>
              <a:ext cx="11338560" cy="1446101"/>
            </a:xfrm>
            <a:prstGeom prst="rect">
              <a:avLst/>
            </a:prstGeom>
            <a:solidFill>
              <a:srgbClr val="1E293B"/>
            </a:solidFill>
            <a:ln w="1905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0">
              <a:extLst>
                <a:ext uri="{FF2B5EF4-FFF2-40B4-BE49-F238E27FC236}">
                  <a16:creationId xmlns:a16="http://schemas.microsoft.com/office/drawing/2014/main" id="{536ADA03-1482-DE90-2E7E-1DBDAE668669}"/>
                </a:ext>
              </a:extLst>
            </p:cNvPr>
            <p:cNvSpPr/>
            <p:nvPr/>
          </p:nvSpPr>
          <p:spPr>
            <a:xfrm>
              <a:off x="565052" y="2696072"/>
              <a:ext cx="411482" cy="1446099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1">
              <a:extLst>
                <a:ext uri="{FF2B5EF4-FFF2-40B4-BE49-F238E27FC236}">
                  <a16:creationId xmlns:a16="http://schemas.microsoft.com/office/drawing/2014/main" id="{AD436024-3911-312B-F1C2-C0DDD9C28DC1}"/>
                </a:ext>
              </a:extLst>
            </p:cNvPr>
            <p:cNvSpPr/>
            <p:nvPr/>
          </p:nvSpPr>
          <p:spPr>
            <a:xfrm>
              <a:off x="565052" y="2989148"/>
              <a:ext cx="41148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</a:t>
              </a:r>
              <a:endParaRPr lang="en-US" sz="2400" dirty="0"/>
            </a:p>
          </p:txBody>
        </p:sp>
        <p:sp>
          <p:nvSpPr>
            <p:cNvPr id="23" name="Text 12">
              <a:extLst>
                <a:ext uri="{FF2B5EF4-FFF2-40B4-BE49-F238E27FC236}">
                  <a16:creationId xmlns:a16="http://schemas.microsoft.com/office/drawing/2014/main" id="{EB98DAFA-BBBB-A55E-1E9E-AF676D70AD0A}"/>
                </a:ext>
              </a:extLst>
            </p:cNvPr>
            <p:cNvSpPr/>
            <p:nvPr/>
          </p:nvSpPr>
          <p:spPr>
            <a:xfrm>
              <a:off x="1067972" y="2769225"/>
              <a:ext cx="7015770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Sent to native once</a:t>
              </a:r>
              <a:endParaRPr lang="en-US" sz="2400" dirty="0"/>
            </a:p>
          </p:txBody>
        </p:sp>
        <p:sp>
          <p:nvSpPr>
            <p:cNvPr id="25" name="Text 13">
              <a:extLst>
                <a:ext uri="{FF2B5EF4-FFF2-40B4-BE49-F238E27FC236}">
                  <a16:creationId xmlns:a16="http://schemas.microsoft.com/office/drawing/2014/main" id="{4C47B196-E195-5D41-1C3D-01466A929AF4}"/>
                </a:ext>
              </a:extLst>
            </p:cNvPr>
            <p:cNvSpPr/>
            <p:nvPr/>
          </p:nvSpPr>
          <p:spPr>
            <a:xfrm>
              <a:off x="1067971" y="3378354"/>
              <a:ext cx="10727789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style object is registered with the native rendering layer one time. Subsequent renders pass a tiny integer ID, not the full JS object.</a:t>
              </a:r>
              <a:endParaRPr lang="en-US" sz="240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0C652AE-4CA2-07F8-4A47-B1C08357BE94}"/>
              </a:ext>
            </a:extLst>
          </p:cNvPr>
          <p:cNvGrpSpPr/>
          <p:nvPr/>
        </p:nvGrpSpPr>
        <p:grpSpPr>
          <a:xfrm>
            <a:off x="565052" y="3903790"/>
            <a:ext cx="11338560" cy="1245460"/>
            <a:chOff x="565052" y="4419602"/>
            <a:chExt cx="11338560" cy="1245460"/>
          </a:xfrm>
        </p:grpSpPr>
        <p:sp>
          <p:nvSpPr>
            <p:cNvPr id="27" name="Shape 14">
              <a:extLst>
                <a:ext uri="{FF2B5EF4-FFF2-40B4-BE49-F238E27FC236}">
                  <a16:creationId xmlns:a16="http://schemas.microsoft.com/office/drawing/2014/main" id="{F9384FB6-7B20-9075-66DA-5DD89631ADC3}"/>
                </a:ext>
              </a:extLst>
            </p:cNvPr>
            <p:cNvSpPr/>
            <p:nvPr/>
          </p:nvSpPr>
          <p:spPr>
            <a:xfrm>
              <a:off x="565052" y="4419602"/>
              <a:ext cx="11338560" cy="1232330"/>
            </a:xfrm>
            <a:prstGeom prst="rect">
              <a:avLst/>
            </a:prstGeom>
            <a:solidFill>
              <a:srgbClr val="1E293B"/>
            </a:solidFill>
            <a:ln w="1905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Shape 15">
              <a:extLst>
                <a:ext uri="{FF2B5EF4-FFF2-40B4-BE49-F238E27FC236}">
                  <a16:creationId xmlns:a16="http://schemas.microsoft.com/office/drawing/2014/main" id="{D888EC69-F21E-3CA4-916B-98F73D1EC8DE}"/>
                </a:ext>
              </a:extLst>
            </p:cNvPr>
            <p:cNvSpPr/>
            <p:nvPr/>
          </p:nvSpPr>
          <p:spPr>
            <a:xfrm>
              <a:off x="565052" y="4419602"/>
              <a:ext cx="411480" cy="1245460"/>
            </a:xfrm>
            <a:prstGeom prst="rect">
              <a:avLst/>
            </a:prstGeom>
            <a:solidFill>
              <a:srgbClr val="8B5CF6"/>
            </a:solidFill>
            <a:ln w="12700">
              <a:solidFill>
                <a:srgbClr val="8B5CF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6">
              <a:extLst>
                <a:ext uri="{FF2B5EF4-FFF2-40B4-BE49-F238E27FC236}">
                  <a16:creationId xmlns:a16="http://schemas.microsoft.com/office/drawing/2014/main" id="{54275CC0-688D-1C04-93C3-69893E4B1573}"/>
                </a:ext>
              </a:extLst>
            </p:cNvPr>
            <p:cNvSpPr/>
            <p:nvPr/>
          </p:nvSpPr>
          <p:spPr>
            <a:xfrm>
              <a:off x="565052" y="4618893"/>
              <a:ext cx="41148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</a:t>
              </a:r>
              <a:endParaRPr lang="en-US" sz="2400" dirty="0"/>
            </a:p>
          </p:txBody>
        </p:sp>
        <p:sp>
          <p:nvSpPr>
            <p:cNvPr id="33" name="Text 17">
              <a:extLst>
                <a:ext uri="{FF2B5EF4-FFF2-40B4-BE49-F238E27FC236}">
                  <a16:creationId xmlns:a16="http://schemas.microsoft.com/office/drawing/2014/main" id="{A80946DB-AE43-9537-FDA1-135315494D52}"/>
                </a:ext>
              </a:extLst>
            </p:cNvPr>
            <p:cNvSpPr/>
            <p:nvPr/>
          </p:nvSpPr>
          <p:spPr>
            <a:xfrm>
              <a:off x="1067972" y="4492754"/>
              <a:ext cx="9668926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8B5CF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Object is frozen</a:t>
              </a:r>
              <a:endParaRPr lang="en-US" sz="2400" dirty="0"/>
            </a:p>
          </p:txBody>
        </p:sp>
        <p:sp>
          <p:nvSpPr>
            <p:cNvPr id="35" name="Text 18">
              <a:extLst>
                <a:ext uri="{FF2B5EF4-FFF2-40B4-BE49-F238E27FC236}">
                  <a16:creationId xmlns:a16="http://schemas.microsoft.com/office/drawing/2014/main" id="{AC9A2638-7950-68B1-87CF-D9786D86AA2A}"/>
                </a:ext>
              </a:extLst>
            </p:cNvPr>
            <p:cNvSpPr/>
            <p:nvPr/>
          </p:nvSpPr>
          <p:spPr>
            <a:xfrm>
              <a:off x="1067972" y="5019822"/>
              <a:ext cx="10835640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StyleSheet.create() calls Object.freeze() on your styles. Mutating styles at runtime (styles.title.color = "red") will silently fail or throw.</a:t>
              </a:r>
              <a:endParaRPr lang="en-US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AFFC988-D204-8F0E-7F0F-17E5D4309734}"/>
              </a:ext>
            </a:extLst>
          </p:cNvPr>
          <p:cNvGrpSpPr/>
          <p:nvPr/>
        </p:nvGrpSpPr>
        <p:grpSpPr>
          <a:xfrm>
            <a:off x="565052" y="5261322"/>
            <a:ext cx="11338560" cy="1132168"/>
            <a:chOff x="565052" y="5870918"/>
            <a:chExt cx="11338560" cy="1132168"/>
          </a:xfrm>
        </p:grpSpPr>
        <p:sp>
          <p:nvSpPr>
            <p:cNvPr id="37" name="Shape 19">
              <a:extLst>
                <a:ext uri="{FF2B5EF4-FFF2-40B4-BE49-F238E27FC236}">
                  <a16:creationId xmlns:a16="http://schemas.microsoft.com/office/drawing/2014/main" id="{33961E17-7192-C423-9081-B4587E458D48}"/>
                </a:ext>
              </a:extLst>
            </p:cNvPr>
            <p:cNvSpPr/>
            <p:nvPr/>
          </p:nvSpPr>
          <p:spPr>
            <a:xfrm>
              <a:off x="565052" y="5870918"/>
              <a:ext cx="11338560" cy="1104313"/>
            </a:xfrm>
            <a:prstGeom prst="rect">
              <a:avLst/>
            </a:prstGeom>
            <a:solidFill>
              <a:srgbClr val="1E293B"/>
            </a:solidFill>
            <a:ln w="1905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Shape 20">
              <a:extLst>
                <a:ext uri="{FF2B5EF4-FFF2-40B4-BE49-F238E27FC236}">
                  <a16:creationId xmlns:a16="http://schemas.microsoft.com/office/drawing/2014/main" id="{A32B5288-F4B7-7AB3-96AC-684525998A6F}"/>
                </a:ext>
              </a:extLst>
            </p:cNvPr>
            <p:cNvSpPr/>
            <p:nvPr/>
          </p:nvSpPr>
          <p:spPr>
            <a:xfrm>
              <a:off x="570090" y="5870918"/>
              <a:ext cx="411480" cy="1132168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21">
              <a:extLst>
                <a:ext uri="{FF2B5EF4-FFF2-40B4-BE49-F238E27FC236}">
                  <a16:creationId xmlns:a16="http://schemas.microsoft.com/office/drawing/2014/main" id="{7F70A5D2-850F-A03F-980F-0776843A0644}"/>
                </a:ext>
              </a:extLst>
            </p:cNvPr>
            <p:cNvSpPr/>
            <p:nvPr/>
          </p:nvSpPr>
          <p:spPr>
            <a:xfrm>
              <a:off x="581815" y="6023317"/>
              <a:ext cx="411480" cy="8229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4</a:t>
              </a:r>
              <a:endParaRPr lang="en-US" sz="2400" dirty="0"/>
            </a:p>
          </p:txBody>
        </p:sp>
        <p:sp>
          <p:nvSpPr>
            <p:cNvPr id="43" name="Text 22">
              <a:extLst>
                <a:ext uri="{FF2B5EF4-FFF2-40B4-BE49-F238E27FC236}">
                  <a16:creationId xmlns:a16="http://schemas.microsoft.com/office/drawing/2014/main" id="{B183293C-D5A6-5FC7-8CCB-3FEE00E1EF92}"/>
                </a:ext>
              </a:extLst>
            </p:cNvPr>
            <p:cNvSpPr/>
            <p:nvPr/>
          </p:nvSpPr>
          <p:spPr>
            <a:xfrm>
              <a:off x="1220624" y="5944070"/>
              <a:ext cx="9668926" cy="2560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10B98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Reference equality</a:t>
              </a:r>
              <a:endParaRPr lang="en-US" sz="2400" dirty="0"/>
            </a:p>
          </p:txBody>
        </p:sp>
        <p:sp>
          <p:nvSpPr>
            <p:cNvPr id="45" name="Text 23">
              <a:extLst>
                <a:ext uri="{FF2B5EF4-FFF2-40B4-BE49-F238E27FC236}">
                  <a16:creationId xmlns:a16="http://schemas.microsoft.com/office/drawing/2014/main" id="{07D96D76-E2A0-9524-5C3B-2DB8015DDBF9}"/>
                </a:ext>
              </a:extLst>
            </p:cNvPr>
            <p:cNvSpPr/>
            <p:nvPr/>
          </p:nvSpPr>
          <p:spPr>
            <a:xfrm>
              <a:off x="1220624" y="6365631"/>
              <a:ext cx="10682988" cy="402336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dirty="0">
                  <a:solidFill>
                    <a:srgbClr val="E2E8F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styles.container === styles.container is always true. With inline objects, {} === {} is always false — causing unnecessary re-renders.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435695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A610D-55C3-345F-A3FF-DA874427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76AEBE-0CF5-20BE-8828-A6BB4E4ACF9D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C21F92-84F9-301C-E2B7-E8D1E9F9A458}"/>
              </a:ext>
            </a:extLst>
          </p:cNvPr>
          <p:cNvSpPr txBox="1"/>
          <p:nvPr/>
        </p:nvSpPr>
        <p:spPr>
          <a:xfrm>
            <a:off x="457200" y="19607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rgbClr val="111827"/>
                </a:solidFill>
              </a:rPr>
              <a:t>Colors in React Native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F4024E-497C-6855-726A-1844CCC2EAA5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744E9B5F-432D-2A4A-7283-CFD7E355E143}"/>
              </a:ext>
            </a:extLst>
          </p:cNvPr>
          <p:cNvSpPr/>
          <p:nvPr/>
        </p:nvSpPr>
        <p:spPr>
          <a:xfrm>
            <a:off x="365759" y="916305"/>
            <a:ext cx="6006465" cy="486661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8CC987CB-D244-6581-9097-E21F50F66924}"/>
              </a:ext>
            </a:extLst>
          </p:cNvPr>
          <p:cNvSpPr/>
          <p:nvPr/>
        </p:nvSpPr>
        <p:spPr>
          <a:xfrm>
            <a:off x="502919" y="978408"/>
            <a:ext cx="5793105" cy="3392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All valid color formats in React Native: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Hex — most common</a:t>
            </a:r>
            <a:endParaRPr lang="en-US" sz="105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'#003865'           // 6-digit hex</a:t>
            </a:r>
            <a:endParaRPr lang="en-US" sz="105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'#F59E0B'           // with uppercase</a:t>
            </a:r>
            <a:endParaRPr lang="en-US" sz="105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'#FFF'              // 3-digit shorthand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rgb() and rgba()</a:t>
            </a:r>
            <a:endParaRPr lang="en-US" sz="105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'rgb(0, 56, 101)'</a:t>
            </a:r>
            <a:endParaRPr lang="en-US" sz="105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'rgba(0, 56, 101, 0.5)'   // 50% transparent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Named colors (CSS color names)</a:t>
            </a:r>
            <a:endParaRPr lang="en-US" sz="105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'white'</a:t>
            </a:r>
            <a:endParaRPr lang="en-US" sz="105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'transparent'       // fully see-through</a:t>
            </a:r>
            <a:endParaRPr lang="en-US" sz="105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'black'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HSL</a:t>
            </a:r>
            <a:endParaRPr lang="en-US" sz="105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'hsl(210, 100%, 20%)'</a:t>
            </a:r>
            <a:endParaRPr lang="en-US" sz="105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color: 'hsla(210, 100%, 20%, 0.8)'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5. In StyleSheet — always a string (never a number)</a:t>
            </a:r>
            <a:endParaRPr lang="en-US" sz="105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backgroundColor: '#F8FAFC'</a:t>
            </a:r>
            <a:endParaRPr lang="en-US" sz="105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borderColor: 'rgba(0,0,0,0.1)'</a:t>
            </a:r>
            <a:endParaRPr lang="en-US" sz="105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F928140-8026-9DB2-83B1-842BF8075C01}"/>
              </a:ext>
            </a:extLst>
          </p:cNvPr>
          <p:cNvSpPr/>
          <p:nvPr/>
        </p:nvSpPr>
        <p:spPr>
          <a:xfrm>
            <a:off x="6911340" y="935248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7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Code</a:t>
            </a:r>
            <a:endParaRPr lang="en-US" sz="1300" dirty="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40CDFEC3-60F5-2759-62E3-481DD5F0F9A9}"/>
              </a:ext>
            </a:extLst>
          </p:cNvPr>
          <p:cNvSpPr/>
          <p:nvPr/>
        </p:nvSpPr>
        <p:spPr>
          <a:xfrm>
            <a:off x="7048500" y="1280160"/>
            <a:ext cx="475488" cy="384048"/>
          </a:xfrm>
          <a:prstGeom prst="rect">
            <a:avLst/>
          </a:prstGeom>
          <a:solidFill>
            <a:srgbClr val="00386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69FC72EF-3991-002E-FBF7-DF06967B825E}"/>
              </a:ext>
            </a:extLst>
          </p:cNvPr>
          <p:cNvSpPr/>
          <p:nvPr/>
        </p:nvSpPr>
        <p:spPr>
          <a:xfrm>
            <a:off x="7578852" y="1280160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Navy (Primary)</a:t>
            </a:r>
            <a:endParaRPr lang="en-US" sz="22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F17BE817-EAC7-6E87-447B-2DCBA0028E6C}"/>
              </a:ext>
            </a:extLst>
          </p:cNvPr>
          <p:cNvSpPr/>
          <p:nvPr/>
        </p:nvSpPr>
        <p:spPr>
          <a:xfrm>
            <a:off x="10327005" y="12801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#003865</a:t>
            </a:r>
            <a:endParaRPr lang="en-US" sz="2200" dirty="0">
              <a:solidFill>
                <a:srgbClr val="C00000"/>
              </a:solidFill>
            </a:endParaRPr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C38A0906-20BF-84CD-578C-91B52C9854F0}"/>
              </a:ext>
            </a:extLst>
          </p:cNvPr>
          <p:cNvSpPr/>
          <p:nvPr/>
        </p:nvSpPr>
        <p:spPr>
          <a:xfrm>
            <a:off x="7048500" y="1860423"/>
            <a:ext cx="47548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10A387A7-FA1D-A1D8-7D7A-99366419F22C}"/>
              </a:ext>
            </a:extLst>
          </p:cNvPr>
          <p:cNvSpPr/>
          <p:nvPr/>
        </p:nvSpPr>
        <p:spPr>
          <a:xfrm>
            <a:off x="7578852" y="1860423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(Accent)</a:t>
            </a:r>
            <a:endParaRPr lang="en-US" sz="22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32262692-5D4A-DFA4-6F3A-22A38A617919}"/>
              </a:ext>
            </a:extLst>
          </p:cNvPr>
          <p:cNvSpPr/>
          <p:nvPr/>
        </p:nvSpPr>
        <p:spPr>
          <a:xfrm>
            <a:off x="10327005" y="1860423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#F59E0B</a:t>
            </a:r>
            <a:endParaRPr lang="en-US" sz="2200" dirty="0">
              <a:solidFill>
                <a:srgbClr val="C00000"/>
              </a:solidFill>
            </a:endParaRPr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0C8FED62-1BDD-66BD-04C7-30477714BC9E}"/>
              </a:ext>
            </a:extLst>
          </p:cNvPr>
          <p:cNvSpPr/>
          <p:nvPr/>
        </p:nvSpPr>
        <p:spPr>
          <a:xfrm>
            <a:off x="7048500" y="2478786"/>
            <a:ext cx="475488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CD414C2A-6A1C-7719-9BD6-40809FC625FC}"/>
              </a:ext>
            </a:extLst>
          </p:cNvPr>
          <p:cNvSpPr/>
          <p:nvPr/>
        </p:nvSpPr>
        <p:spPr>
          <a:xfrm>
            <a:off x="7578852" y="2478786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900</a:t>
            </a:r>
            <a:endParaRPr lang="en-US" sz="220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F0A7967D-A142-B9C1-6789-D9DF2DF01968}"/>
              </a:ext>
            </a:extLst>
          </p:cNvPr>
          <p:cNvSpPr/>
          <p:nvPr/>
        </p:nvSpPr>
        <p:spPr>
          <a:xfrm>
            <a:off x="10327005" y="247878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#0F172A</a:t>
            </a:r>
            <a:endParaRPr lang="en-US" sz="2200" dirty="0">
              <a:solidFill>
                <a:srgbClr val="C00000"/>
              </a:solidFill>
            </a:endParaRPr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D23A00FF-8369-31EC-F9DC-720A93ED1ED4}"/>
              </a:ext>
            </a:extLst>
          </p:cNvPr>
          <p:cNvSpPr/>
          <p:nvPr/>
        </p:nvSpPr>
        <p:spPr>
          <a:xfrm>
            <a:off x="7048500" y="3097149"/>
            <a:ext cx="475488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570E7188-D6FE-85A1-CB80-ACEFA341AD07}"/>
              </a:ext>
            </a:extLst>
          </p:cNvPr>
          <p:cNvSpPr/>
          <p:nvPr/>
        </p:nvSpPr>
        <p:spPr>
          <a:xfrm>
            <a:off x="7578852" y="3097149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800</a:t>
            </a:r>
            <a:endParaRPr lang="en-US" sz="2200" dirty="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EDFD3817-E1D2-B7EF-F679-0AEBBABA576E}"/>
              </a:ext>
            </a:extLst>
          </p:cNvPr>
          <p:cNvSpPr/>
          <p:nvPr/>
        </p:nvSpPr>
        <p:spPr>
          <a:xfrm>
            <a:off x="10327005" y="3097149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#1E293B</a:t>
            </a:r>
            <a:endParaRPr lang="en-US" sz="2200" dirty="0">
              <a:solidFill>
                <a:srgbClr val="C00000"/>
              </a:solidFill>
            </a:endParaRPr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D3D58F99-C78B-8465-555E-F9D3E904D6EE}"/>
              </a:ext>
            </a:extLst>
          </p:cNvPr>
          <p:cNvSpPr/>
          <p:nvPr/>
        </p:nvSpPr>
        <p:spPr>
          <a:xfrm>
            <a:off x="7048500" y="3677412"/>
            <a:ext cx="475488" cy="3840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9C1578DB-C137-D494-9DC2-E825D4EA568D}"/>
              </a:ext>
            </a:extLst>
          </p:cNvPr>
          <p:cNvSpPr/>
          <p:nvPr/>
        </p:nvSpPr>
        <p:spPr>
          <a:xfrm>
            <a:off x="7578852" y="367741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Slate 200</a:t>
            </a:r>
            <a:endParaRPr lang="en-US" sz="2200" dirty="0"/>
          </a:p>
        </p:txBody>
      </p:sp>
      <p:sp>
        <p:nvSpPr>
          <p:cNvPr id="46" name="Text 19">
            <a:extLst>
              <a:ext uri="{FF2B5EF4-FFF2-40B4-BE49-F238E27FC236}">
                <a16:creationId xmlns:a16="http://schemas.microsoft.com/office/drawing/2014/main" id="{EE2246D5-0921-A952-89AD-ACBA453F3551}"/>
              </a:ext>
            </a:extLst>
          </p:cNvPr>
          <p:cNvSpPr/>
          <p:nvPr/>
        </p:nvSpPr>
        <p:spPr>
          <a:xfrm>
            <a:off x="10327005" y="36774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#E2E8F0</a:t>
            </a:r>
            <a:endParaRPr lang="en-US" sz="2200" dirty="0">
              <a:solidFill>
                <a:srgbClr val="C00000"/>
              </a:solidFill>
            </a:endParaRPr>
          </a:p>
        </p:txBody>
      </p:sp>
      <p:sp>
        <p:nvSpPr>
          <p:cNvPr id="48" name="Shape 20">
            <a:extLst>
              <a:ext uri="{FF2B5EF4-FFF2-40B4-BE49-F238E27FC236}">
                <a16:creationId xmlns:a16="http://schemas.microsoft.com/office/drawing/2014/main" id="{4D953615-C1AE-4B4D-E8A1-02717F2DBDF7}"/>
              </a:ext>
            </a:extLst>
          </p:cNvPr>
          <p:cNvSpPr/>
          <p:nvPr/>
        </p:nvSpPr>
        <p:spPr>
          <a:xfrm>
            <a:off x="7048500" y="4248150"/>
            <a:ext cx="475488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5F7C8EB2-39EF-2470-F23C-C3F927A13D63}"/>
              </a:ext>
            </a:extLst>
          </p:cNvPr>
          <p:cNvSpPr/>
          <p:nvPr/>
        </p:nvSpPr>
        <p:spPr>
          <a:xfrm>
            <a:off x="7578852" y="4248150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</a:t>
            </a:r>
            <a:endParaRPr lang="en-US" sz="2200" dirty="0"/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4A57A539-E842-ECA6-5203-02240AC1E902}"/>
              </a:ext>
            </a:extLst>
          </p:cNvPr>
          <p:cNvSpPr/>
          <p:nvPr/>
        </p:nvSpPr>
        <p:spPr>
          <a:xfrm>
            <a:off x="10327005" y="424815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#FFFFFF</a:t>
            </a:r>
            <a:endParaRPr lang="en-US" sz="2200" dirty="0">
              <a:solidFill>
                <a:srgbClr val="C00000"/>
              </a:solidFill>
            </a:endParaRPr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52514D00-450E-2A80-A067-AAB777296B29}"/>
              </a:ext>
            </a:extLst>
          </p:cNvPr>
          <p:cNvSpPr/>
          <p:nvPr/>
        </p:nvSpPr>
        <p:spPr>
          <a:xfrm>
            <a:off x="7048500" y="4799838"/>
            <a:ext cx="475488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A5EB97A2-6F2D-A41A-B733-C8A4536632EF}"/>
              </a:ext>
            </a:extLst>
          </p:cNvPr>
          <p:cNvSpPr/>
          <p:nvPr/>
        </p:nvSpPr>
        <p:spPr>
          <a:xfrm>
            <a:off x="7578852" y="4799838"/>
            <a:ext cx="215569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(Success)</a:t>
            </a:r>
            <a:endParaRPr lang="en-US" sz="2200" dirty="0"/>
          </a:p>
        </p:txBody>
      </p:sp>
      <p:sp>
        <p:nvSpPr>
          <p:cNvPr id="58" name="Text 25">
            <a:extLst>
              <a:ext uri="{FF2B5EF4-FFF2-40B4-BE49-F238E27FC236}">
                <a16:creationId xmlns:a16="http://schemas.microsoft.com/office/drawing/2014/main" id="{D52085EE-D9C5-A9D6-B2A8-374C047040D0}"/>
              </a:ext>
            </a:extLst>
          </p:cNvPr>
          <p:cNvSpPr/>
          <p:nvPr/>
        </p:nvSpPr>
        <p:spPr>
          <a:xfrm>
            <a:off x="10327005" y="479983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#10B981</a:t>
            </a:r>
            <a:endParaRPr lang="en-US" sz="2200" dirty="0">
              <a:solidFill>
                <a:srgbClr val="C00000"/>
              </a:solidFill>
            </a:endParaRPr>
          </a:p>
        </p:txBody>
      </p:sp>
      <p:sp>
        <p:nvSpPr>
          <p:cNvPr id="60" name="Shape 26">
            <a:extLst>
              <a:ext uri="{FF2B5EF4-FFF2-40B4-BE49-F238E27FC236}">
                <a16:creationId xmlns:a16="http://schemas.microsoft.com/office/drawing/2014/main" id="{6CC56311-52D4-61ED-972A-7F52523699AD}"/>
              </a:ext>
            </a:extLst>
          </p:cNvPr>
          <p:cNvSpPr/>
          <p:nvPr/>
        </p:nvSpPr>
        <p:spPr>
          <a:xfrm>
            <a:off x="7048500" y="5322951"/>
            <a:ext cx="475488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E3DF2A3C-FBC4-65E2-1EA5-70C9E83F4D4F}"/>
              </a:ext>
            </a:extLst>
          </p:cNvPr>
          <p:cNvSpPr/>
          <p:nvPr/>
        </p:nvSpPr>
        <p:spPr>
          <a:xfrm>
            <a:off x="7578852" y="5322951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(Error)</a:t>
            </a:r>
            <a:endParaRPr lang="en-US" sz="2200" dirty="0"/>
          </a:p>
        </p:txBody>
      </p:sp>
      <p:sp>
        <p:nvSpPr>
          <p:cNvPr id="64" name="Text 28">
            <a:extLst>
              <a:ext uri="{FF2B5EF4-FFF2-40B4-BE49-F238E27FC236}">
                <a16:creationId xmlns:a16="http://schemas.microsoft.com/office/drawing/2014/main" id="{1040AA24-29A2-9D7F-5AA2-39E6A54EEB59}"/>
              </a:ext>
            </a:extLst>
          </p:cNvPr>
          <p:cNvSpPr/>
          <p:nvPr/>
        </p:nvSpPr>
        <p:spPr>
          <a:xfrm>
            <a:off x="10327005" y="5322951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#EF4444</a:t>
            </a:r>
            <a:endParaRPr lang="en-US" sz="2200" dirty="0">
              <a:solidFill>
                <a:srgbClr val="C00000"/>
              </a:solidFill>
            </a:endParaRPr>
          </a:p>
        </p:txBody>
      </p:sp>
      <p:sp>
        <p:nvSpPr>
          <p:cNvPr id="68" name="Text 30">
            <a:extLst>
              <a:ext uri="{FF2B5EF4-FFF2-40B4-BE49-F238E27FC236}">
                <a16:creationId xmlns:a16="http://schemas.microsoft.com/office/drawing/2014/main" id="{F8D10415-A451-26CF-AB6F-A9CB1536E090}"/>
              </a:ext>
            </a:extLst>
          </p:cNvPr>
          <p:cNvSpPr/>
          <p:nvPr/>
        </p:nvSpPr>
        <p:spPr>
          <a:xfrm>
            <a:off x="365759" y="5829299"/>
            <a:ext cx="11740515" cy="923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Define your palette in constants/Colors.ts and import it everywhere — never hardcode hex strings directly in component files</a:t>
            </a:r>
            <a:endParaRPr lang="en-US" sz="2400" dirty="0">
              <a:solidFill>
                <a:srgbClr val="3208C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595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177815-387D-5FB2-4906-EAB01898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73D075D-8FD6-ED3A-1F1D-AAF9C8D99411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C7921B-B20F-4D9F-6E47-C1624125FAD7}"/>
              </a:ext>
            </a:extLst>
          </p:cNvPr>
          <p:cNvSpPr txBox="1"/>
          <p:nvPr/>
        </p:nvSpPr>
        <p:spPr>
          <a:xfrm>
            <a:off x="457200" y="18755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Typography – Text Styling Properties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3F1388-30A1-648F-C858-9B592F884E0C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2E1FFC34-FE12-18F9-89C8-86248A005372}"/>
              </a:ext>
            </a:extLst>
          </p:cNvPr>
          <p:cNvGrpSpPr/>
          <p:nvPr/>
        </p:nvGrpSpPr>
        <p:grpSpPr>
          <a:xfrm>
            <a:off x="9361805" y="2111883"/>
            <a:ext cx="2697480" cy="3433572"/>
            <a:chOff x="9361805" y="2111883"/>
            <a:chExt cx="2697480" cy="3433572"/>
          </a:xfrm>
        </p:grpSpPr>
        <p:sp>
          <p:nvSpPr>
            <p:cNvPr id="138" name="Shape 62">
              <a:extLst>
                <a:ext uri="{FF2B5EF4-FFF2-40B4-BE49-F238E27FC236}">
                  <a16:creationId xmlns:a16="http://schemas.microsoft.com/office/drawing/2014/main" id="{67A581F4-DEA0-1A78-21D1-AF7907B45490}"/>
                </a:ext>
              </a:extLst>
            </p:cNvPr>
            <p:cNvSpPr/>
            <p:nvPr/>
          </p:nvSpPr>
          <p:spPr>
            <a:xfrm>
              <a:off x="9361805" y="2111883"/>
              <a:ext cx="2697480" cy="3433572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Text 63">
              <a:extLst>
                <a:ext uri="{FF2B5EF4-FFF2-40B4-BE49-F238E27FC236}">
                  <a16:creationId xmlns:a16="http://schemas.microsoft.com/office/drawing/2014/main" id="{1ADC46FB-389F-632C-09AA-313101557FD5}"/>
                </a:ext>
              </a:extLst>
            </p:cNvPr>
            <p:cNvSpPr/>
            <p:nvPr/>
          </p:nvSpPr>
          <p:spPr>
            <a:xfrm>
              <a:off x="9453245" y="2157603"/>
              <a:ext cx="2468880" cy="2286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C0000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Preview</a:t>
              </a:r>
              <a:endParaRPr lang="en-US" dirty="0">
                <a:solidFill>
                  <a:srgbClr val="C00000"/>
                </a:solidFill>
              </a:endParaRPr>
            </a:p>
          </p:txBody>
        </p:sp>
        <p:sp>
          <p:nvSpPr>
            <p:cNvPr id="142" name="Text 64">
              <a:extLst>
                <a:ext uri="{FF2B5EF4-FFF2-40B4-BE49-F238E27FC236}">
                  <a16:creationId xmlns:a16="http://schemas.microsoft.com/office/drawing/2014/main" id="{41CE1DCE-1250-1B44-19A1-6945B4253252}"/>
                </a:ext>
              </a:extLst>
            </p:cNvPr>
            <p:cNvSpPr/>
            <p:nvPr/>
          </p:nvSpPr>
          <p:spPr>
            <a:xfrm>
              <a:off x="9480677" y="2450211"/>
              <a:ext cx="248716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908" b="1" dirty="0">
                  <a:solidFill>
                    <a:srgbClr val="00386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Extra Bold Heading</a:t>
              </a:r>
              <a:endParaRPr lang="en-US" sz="1800" dirty="0"/>
            </a:p>
          </p:txBody>
        </p:sp>
        <p:sp>
          <p:nvSpPr>
            <p:cNvPr id="144" name="Text 65">
              <a:extLst>
                <a:ext uri="{FF2B5EF4-FFF2-40B4-BE49-F238E27FC236}">
                  <a16:creationId xmlns:a16="http://schemas.microsoft.com/office/drawing/2014/main" id="{3A257376-9C6F-13EF-8D21-29C0F90EC5F9}"/>
                </a:ext>
              </a:extLst>
            </p:cNvPr>
            <p:cNvSpPr/>
            <p:nvPr/>
          </p:nvSpPr>
          <p:spPr>
            <a:xfrm>
              <a:off x="9480677" y="2861691"/>
              <a:ext cx="248716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40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Bold Subheading 700</a:t>
              </a:r>
              <a:endParaRPr lang="en-US" sz="1400" dirty="0"/>
            </a:p>
          </p:txBody>
        </p:sp>
        <p:sp>
          <p:nvSpPr>
            <p:cNvPr id="146" name="Text 66">
              <a:extLst>
                <a:ext uri="{FF2B5EF4-FFF2-40B4-BE49-F238E27FC236}">
                  <a16:creationId xmlns:a16="http://schemas.microsoft.com/office/drawing/2014/main" id="{2C5AE7B5-45F1-FA22-1EAF-60CE9487E9E4}"/>
                </a:ext>
              </a:extLst>
            </p:cNvPr>
            <p:cNvSpPr/>
            <p:nvPr/>
          </p:nvSpPr>
          <p:spPr>
            <a:xfrm>
              <a:off x="9480677" y="3273171"/>
              <a:ext cx="2487168" cy="5943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9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Body text with lineHeight: 22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39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This is a second line.</a:t>
              </a:r>
              <a:endParaRPr lang="en-US" sz="1200" dirty="0"/>
            </a:p>
          </p:txBody>
        </p:sp>
        <p:sp>
          <p:nvSpPr>
            <p:cNvPr id="148" name="Text 67">
              <a:extLst>
                <a:ext uri="{FF2B5EF4-FFF2-40B4-BE49-F238E27FC236}">
                  <a16:creationId xmlns:a16="http://schemas.microsoft.com/office/drawing/2014/main" id="{0211A7AB-CC25-5914-9328-E739A6FCFED0}"/>
                </a:ext>
              </a:extLst>
            </p:cNvPr>
            <p:cNvSpPr/>
            <p:nvPr/>
          </p:nvSpPr>
          <p:spPr>
            <a:xfrm>
              <a:off x="9480677" y="3894963"/>
              <a:ext cx="248716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91" i="1" dirty="0">
                  <a:solidFill>
                    <a:srgbClr val="94A3B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Italic emphasis text</a:t>
              </a:r>
              <a:endParaRPr lang="en-US" sz="1200" dirty="0"/>
            </a:p>
          </p:txBody>
        </p:sp>
        <p:sp>
          <p:nvSpPr>
            <p:cNvPr id="150" name="Text 68">
              <a:extLst>
                <a:ext uri="{FF2B5EF4-FFF2-40B4-BE49-F238E27FC236}">
                  <a16:creationId xmlns:a16="http://schemas.microsoft.com/office/drawing/2014/main" id="{87399B50-1FA4-A2B4-D8F9-B1273D38B37E}"/>
                </a:ext>
              </a:extLst>
            </p:cNvPr>
            <p:cNvSpPr/>
            <p:nvPr/>
          </p:nvSpPr>
          <p:spPr>
            <a:xfrm>
              <a:off x="9480677" y="4306443"/>
              <a:ext cx="248716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6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UPPERCASE LABEL</a:t>
              </a:r>
              <a:endParaRPr lang="en-US" sz="1000" dirty="0"/>
            </a:p>
          </p:txBody>
        </p:sp>
        <p:sp>
          <p:nvSpPr>
            <p:cNvPr id="152" name="Text 69">
              <a:extLst>
                <a:ext uri="{FF2B5EF4-FFF2-40B4-BE49-F238E27FC236}">
                  <a16:creationId xmlns:a16="http://schemas.microsoft.com/office/drawing/2014/main" id="{5C0EBF0E-3641-4C2D-FEB0-B1FE57D74DEA}"/>
                </a:ext>
              </a:extLst>
            </p:cNvPr>
            <p:cNvSpPr/>
            <p:nvPr/>
          </p:nvSpPr>
          <p:spPr>
            <a:xfrm>
              <a:off x="9480677" y="4717923"/>
              <a:ext cx="248716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91" u="sng" dirty="0">
                  <a:solidFill>
                    <a:srgbClr val="0EA5E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Underlined link text</a:t>
              </a:r>
              <a:endParaRPr lang="en-US" sz="1200" dirty="0"/>
            </a:p>
          </p:txBody>
        </p:sp>
        <p:sp>
          <p:nvSpPr>
            <p:cNvPr id="154" name="Text 70">
              <a:extLst>
                <a:ext uri="{FF2B5EF4-FFF2-40B4-BE49-F238E27FC236}">
                  <a16:creationId xmlns:a16="http://schemas.microsoft.com/office/drawing/2014/main" id="{2F35E705-1BBA-69CF-A3A9-8B564A2DA76D}"/>
                </a:ext>
              </a:extLst>
            </p:cNvPr>
            <p:cNvSpPr/>
            <p:nvPr/>
          </p:nvSpPr>
          <p:spPr>
            <a:xfrm>
              <a:off x="9480677" y="5129403"/>
              <a:ext cx="2487168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9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Line-through text</a:t>
              </a:r>
              <a:endParaRPr lang="en-US" sz="1200" dirty="0"/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38DEBEA-FE6D-933A-A8B8-C6A94CE813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42861"/>
              </p:ext>
            </p:extLst>
          </p:nvPr>
        </p:nvGraphicFramePr>
        <p:xfrm>
          <a:off x="267297" y="951992"/>
          <a:ext cx="8957348" cy="579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1103">
                  <a:extLst>
                    <a:ext uri="{9D8B030D-6E8A-4147-A177-3AD203B41FA5}">
                      <a16:colId xmlns:a16="http://schemas.microsoft.com/office/drawing/2014/main" val="172592776"/>
                    </a:ext>
                  </a:extLst>
                </a:gridCol>
                <a:gridCol w="1552575">
                  <a:extLst>
                    <a:ext uri="{9D8B030D-6E8A-4147-A177-3AD203B41FA5}">
                      <a16:colId xmlns:a16="http://schemas.microsoft.com/office/drawing/2014/main" val="700684521"/>
                    </a:ext>
                  </a:extLst>
                </a:gridCol>
                <a:gridCol w="5233670">
                  <a:extLst>
                    <a:ext uri="{9D8B030D-6E8A-4147-A177-3AD203B41FA5}">
                      <a16:colId xmlns:a16="http://schemas.microsoft.com/office/drawing/2014/main" val="25127766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j-lt"/>
                        </a:rPr>
                        <a:t>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j-lt"/>
                        </a:rPr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+mj-lt"/>
                        </a:rPr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9821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solidFill>
                            <a:srgbClr val="3208CA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fontFamily</a:t>
                      </a:r>
                      <a:endParaRPr lang="en-US" sz="1400" dirty="0">
                        <a:solidFill>
                          <a:srgbClr val="3208CA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C00000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"Roboto"</a:t>
                      </a:r>
                      <a:endParaRPr lang="en-US" sz="1400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rgbClr val="1E293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Custom fonts need to be loaded via expo-font first</a:t>
                      </a:r>
                      <a:endParaRPr lang="en-US" sz="14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7201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solidFill>
                            <a:srgbClr val="3208CA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fontSize</a:t>
                      </a:r>
                      <a:endParaRPr lang="en-US" sz="1400" dirty="0">
                        <a:solidFill>
                          <a:srgbClr val="3208CA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C00000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24</a:t>
                      </a:r>
                      <a:endParaRPr lang="en-US" sz="2000" kern="1200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1E293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Size in </a:t>
                      </a:r>
                      <a:r>
                        <a:rPr lang="en-US" sz="2000" kern="1200" dirty="0" err="1">
                          <a:solidFill>
                            <a:srgbClr val="1E293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dp</a:t>
                      </a:r>
                      <a:r>
                        <a:rPr lang="en-US" sz="2000" kern="1200" dirty="0">
                          <a:solidFill>
                            <a:srgbClr val="1E293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 — 14-16 for body, 20-32 for headings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703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solidFill>
                            <a:srgbClr val="3208CA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fontWeight</a:t>
                      </a:r>
                      <a:endParaRPr lang="en-US" sz="1400" dirty="0">
                        <a:solidFill>
                          <a:srgbClr val="3208CA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C00000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"700"</a:t>
                      </a:r>
                      <a:endParaRPr lang="en-US" sz="2000" kern="1200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1E293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String: "400" normal · "600" semibold · "700" bold · "800" extra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9485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rgbClr val="3208CA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fontStyle</a:t>
                      </a:r>
                      <a:endParaRPr lang="en-US" sz="2000" kern="1200" dirty="0">
                        <a:solidFill>
                          <a:srgbClr val="3208CA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C00000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"italic"</a:t>
                      </a:r>
                      <a:endParaRPr lang="en-US" sz="2000" kern="1200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1E293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"normal" or "italic" — no oblique in 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278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rgbClr val="3208CA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lineHeight</a:t>
                      </a:r>
                      <a:endParaRPr lang="en-US" sz="2000" kern="1200" dirty="0">
                        <a:solidFill>
                          <a:srgbClr val="3208CA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C00000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28</a:t>
                      </a:r>
                      <a:endParaRPr lang="en-US" sz="2000" kern="1200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1E293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Always set for body text to avoid cramped lines (</a:t>
                      </a:r>
                      <a:r>
                        <a:rPr lang="en-US" sz="2000" kern="1200" dirty="0" err="1">
                          <a:solidFill>
                            <a:srgbClr val="1E293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fontSize</a:t>
                      </a:r>
                      <a:r>
                        <a:rPr lang="en-US" sz="2000" kern="1200" dirty="0">
                          <a:solidFill>
                            <a:srgbClr val="1E293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 × 1.4-1.6)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989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rgbClr val="3208CA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letterSpacing</a:t>
                      </a:r>
                      <a:endParaRPr lang="en-US" sz="2000" kern="1200" dirty="0">
                        <a:solidFill>
                          <a:srgbClr val="3208CA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C00000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{1.5}</a:t>
                      </a:r>
                      <a:endParaRPr lang="en-US" sz="2000" kern="1200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1E293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Tracking in </a:t>
                      </a:r>
                      <a:r>
                        <a:rPr lang="en-US" sz="2000" kern="1200" dirty="0" err="1">
                          <a:solidFill>
                            <a:srgbClr val="1E293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dp</a:t>
                      </a:r>
                      <a:r>
                        <a:rPr lang="en-US" sz="2000" kern="1200" dirty="0">
                          <a:solidFill>
                            <a:srgbClr val="1E293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 — great for uppercase labels and headings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781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rgbClr val="3208CA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textAlign</a:t>
                      </a:r>
                      <a:endParaRPr lang="en-US" sz="2000" kern="1200" dirty="0">
                        <a:solidFill>
                          <a:srgbClr val="3208CA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C00000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"center"</a:t>
                      </a:r>
                      <a:endParaRPr lang="en-US" sz="2000" kern="1200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1E293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"left" · "center" · "right" · "justify"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715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rgbClr val="3208CA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textTransform</a:t>
                      </a:r>
                      <a:endParaRPr lang="en-US" sz="2000" kern="1200" dirty="0">
                        <a:solidFill>
                          <a:srgbClr val="3208CA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C00000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"uppercase"</a:t>
                      </a:r>
                      <a:endParaRPr lang="en-US" sz="2000" kern="1200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1E293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"uppercase" · "lowercase" · "capitalize" — no need to call .</a:t>
                      </a:r>
                      <a:r>
                        <a:rPr lang="en-US" sz="2000" kern="1200" dirty="0" err="1">
                          <a:solidFill>
                            <a:srgbClr val="1E293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toUpperCase</a:t>
                      </a:r>
                      <a:r>
                        <a:rPr lang="en-US" sz="2000" kern="1200" dirty="0">
                          <a:solidFill>
                            <a:srgbClr val="1E293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581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 err="1">
                          <a:solidFill>
                            <a:srgbClr val="3208CA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textDecorationLine</a:t>
                      </a:r>
                      <a:endParaRPr lang="en-US" sz="2000" kern="1200" dirty="0">
                        <a:solidFill>
                          <a:srgbClr val="3208CA"/>
                        </a:solidFill>
                        <a:latin typeface="+mj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C00000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"underline"</a:t>
                      </a:r>
                      <a:endParaRPr lang="en-US" sz="2000" kern="1200" dirty="0">
                        <a:solidFill>
                          <a:srgbClr val="C00000"/>
                        </a:solidFill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kern="1200" dirty="0">
                          <a:solidFill>
                            <a:srgbClr val="1E293B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"none" · "underline" · "line-through" · "underline line-through"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68051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8778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985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Borders, Radius &amp; Shape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6913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C14A6C1E-EC5E-54BD-717E-EC1C3D296957}"/>
              </a:ext>
            </a:extLst>
          </p:cNvPr>
          <p:cNvSpPr/>
          <p:nvPr/>
        </p:nvSpPr>
        <p:spPr>
          <a:xfrm>
            <a:off x="365760" y="868679"/>
            <a:ext cx="7235190" cy="5893309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24EA9E8-22AF-96EA-BAED-CADAAF4D2E2E}"/>
              </a:ext>
            </a:extLst>
          </p:cNvPr>
          <p:cNvSpPr/>
          <p:nvPr/>
        </p:nvSpPr>
        <p:spPr>
          <a:xfrm>
            <a:off x="365759" y="852633"/>
            <a:ext cx="6849437" cy="41744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styles = StyleSheet.create({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Basic border ───────────────────────────────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outlined: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borderWidth:  1,               // all 4 sides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borderColor: '#E2E8F0',        // must set BOTH width + color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borderStyle: 'solid',          // 'solid' | 'dashed' | 'dotted'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Individual sides ───────────────────────────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topBorder: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borderTopWidth:    2,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borderTopColor:   '#003865',   // only top border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borderRadius ──────────────────────────────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card:         { borderRadius: 12  },   // all 4 corners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pill:         { borderRadius: 999 },   // fully rounded ends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circle: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width:        80,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height:       80,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borderRadius: 40,              // MUST equal width/2 for circle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Per-corner radius ─────────────────────────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topRounded: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borderTopLeftRadius:     16,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borderTopRightRadius:    16,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borderBottomLeftRadius:   0,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borderBottomRightRadius:  0,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42EB7994-94BE-7070-EB37-4059452A5C6E}"/>
              </a:ext>
            </a:extLst>
          </p:cNvPr>
          <p:cNvSpPr/>
          <p:nvPr/>
        </p:nvSpPr>
        <p:spPr>
          <a:xfrm>
            <a:off x="8129597" y="910971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38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Examples</a:t>
            </a:r>
            <a:endParaRPr lang="en-US" sz="2400" dirty="0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5C636FFF-6AF2-5610-BE01-72C16E68F8CD}"/>
              </a:ext>
            </a:extLst>
          </p:cNvPr>
          <p:cNvSpPr/>
          <p:nvPr/>
        </p:nvSpPr>
        <p:spPr>
          <a:xfrm>
            <a:off x="8243897" y="1334452"/>
            <a:ext cx="1554480" cy="822960"/>
          </a:xfrm>
          <a:prstGeom prst="rect">
            <a:avLst/>
          </a:prstGeom>
          <a:solidFill>
            <a:srgbClr val="003865">
              <a:alpha val="75000"/>
            </a:srgbClr>
          </a:solidFill>
          <a:ln w="25400">
            <a:solidFill>
              <a:srgbClr val="0038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B490F0AC-CCD9-297A-F5EF-33F313097F3A}"/>
              </a:ext>
            </a:extLst>
          </p:cNvPr>
          <p:cNvSpPr/>
          <p:nvPr/>
        </p:nvSpPr>
        <p:spPr>
          <a:xfrm>
            <a:off x="8088045" y="2165241"/>
            <a:ext cx="1847500" cy="2813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borderRadius: 0</a:t>
            </a:r>
            <a:endParaRPr lang="en-US" b="1" dirty="0">
              <a:solidFill>
                <a:srgbClr val="3208CA"/>
              </a:solidFill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A477757B-7402-2EEF-83FC-4030B6C6113D}"/>
              </a:ext>
            </a:extLst>
          </p:cNvPr>
          <p:cNvSpPr/>
          <p:nvPr/>
        </p:nvSpPr>
        <p:spPr>
          <a:xfrm>
            <a:off x="10392745" y="1320163"/>
            <a:ext cx="1554480" cy="822960"/>
          </a:xfrm>
          <a:prstGeom prst="rect">
            <a:avLst/>
          </a:prstGeom>
          <a:solidFill>
            <a:srgbClr val="0EA5E9">
              <a:alpha val="75000"/>
            </a:srgbClr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7D706621-E337-9944-3D47-29F23629B379}"/>
              </a:ext>
            </a:extLst>
          </p:cNvPr>
          <p:cNvSpPr/>
          <p:nvPr/>
        </p:nvSpPr>
        <p:spPr>
          <a:xfrm>
            <a:off x="10124136" y="2051103"/>
            <a:ext cx="2093269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borderRadius: 12</a:t>
            </a:r>
            <a:endParaRPr lang="en-US" b="1" dirty="0">
              <a:solidFill>
                <a:srgbClr val="3208CA"/>
              </a:solidFill>
            </a:endParaRPr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03DDE8AD-A1BB-A322-3753-32D2E5F1B27C}"/>
              </a:ext>
            </a:extLst>
          </p:cNvPr>
          <p:cNvSpPr/>
          <p:nvPr/>
        </p:nvSpPr>
        <p:spPr>
          <a:xfrm>
            <a:off x="8243897" y="2640339"/>
            <a:ext cx="1554480" cy="502920"/>
          </a:xfrm>
          <a:prstGeom prst="rect">
            <a:avLst/>
          </a:prstGeom>
          <a:solidFill>
            <a:srgbClr val="8B5CF6">
              <a:alpha val="75000"/>
            </a:srgbClr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F2862F4D-3EE6-7D8C-01F3-290F8095F1A1}"/>
              </a:ext>
            </a:extLst>
          </p:cNvPr>
          <p:cNvSpPr/>
          <p:nvPr/>
        </p:nvSpPr>
        <p:spPr>
          <a:xfrm>
            <a:off x="7859437" y="3264457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borderRadius: 999 (pill)</a:t>
            </a:r>
            <a:endParaRPr lang="en-US" b="1" dirty="0">
              <a:solidFill>
                <a:srgbClr val="3208CA"/>
              </a:solidFill>
            </a:endParaRPr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6C1A12E3-8D19-BC71-7276-A63923B32919}"/>
              </a:ext>
            </a:extLst>
          </p:cNvPr>
          <p:cNvSpPr/>
          <p:nvPr/>
        </p:nvSpPr>
        <p:spPr>
          <a:xfrm>
            <a:off x="10445481" y="2518046"/>
            <a:ext cx="731520" cy="731520"/>
          </a:xfrm>
          <a:prstGeom prst="ellipse">
            <a:avLst/>
          </a:prstGeom>
          <a:solidFill>
            <a:srgbClr val="10B981">
              <a:alpha val="75000"/>
            </a:srgbClr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86577976-F5DA-A4B1-1AF9-5C8EE8ECC100}"/>
              </a:ext>
            </a:extLst>
          </p:cNvPr>
          <p:cNvSpPr/>
          <p:nvPr/>
        </p:nvSpPr>
        <p:spPr>
          <a:xfrm>
            <a:off x="10124132" y="3185546"/>
            <a:ext cx="2093269" cy="3795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 (radius=h/2)</a:t>
            </a:r>
            <a:endParaRPr lang="en-US" b="1" dirty="0">
              <a:solidFill>
                <a:srgbClr val="3208CA"/>
              </a:solidFill>
            </a:endParaRPr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D5470B55-D5EE-63DA-581A-D11A05C2C574}"/>
              </a:ext>
            </a:extLst>
          </p:cNvPr>
          <p:cNvSpPr/>
          <p:nvPr/>
        </p:nvSpPr>
        <p:spPr>
          <a:xfrm>
            <a:off x="8243897" y="3642182"/>
            <a:ext cx="3291840" cy="548640"/>
          </a:xfrm>
          <a:prstGeom prst="rect">
            <a:avLst/>
          </a:prstGeom>
          <a:solidFill>
            <a:srgbClr val="F97316">
              <a:alpha val="75000"/>
            </a:srgbClr>
          </a:solidFill>
          <a:ln w="25400">
            <a:solidFill>
              <a:srgbClr val="F9731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94549332-8EBB-080A-397A-D4429271302C}"/>
              </a:ext>
            </a:extLst>
          </p:cNvPr>
          <p:cNvSpPr/>
          <p:nvPr/>
        </p:nvSpPr>
        <p:spPr>
          <a:xfrm>
            <a:off x="8243897" y="4227398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borderStyle: dashed</a:t>
            </a:r>
            <a:endParaRPr lang="en-US" b="1" dirty="0">
              <a:solidFill>
                <a:srgbClr val="3208CA"/>
              </a:solidFill>
            </a:endParaRPr>
          </a:p>
        </p:txBody>
      </p:sp>
      <p:sp>
        <p:nvSpPr>
          <p:cNvPr id="36" name="Shape 15">
            <a:extLst>
              <a:ext uri="{FF2B5EF4-FFF2-40B4-BE49-F238E27FC236}">
                <a16:creationId xmlns:a16="http://schemas.microsoft.com/office/drawing/2014/main" id="{416427F0-A5E9-3EAA-211A-E4659B88D0A7}"/>
              </a:ext>
            </a:extLst>
          </p:cNvPr>
          <p:cNvSpPr/>
          <p:nvPr/>
        </p:nvSpPr>
        <p:spPr>
          <a:xfrm>
            <a:off x="8243897" y="4577731"/>
            <a:ext cx="3291840" cy="658368"/>
          </a:xfrm>
          <a:prstGeom prst="rect">
            <a:avLst/>
          </a:prstGeom>
          <a:solidFill>
            <a:srgbClr val="EF4444">
              <a:alpha val="75000"/>
            </a:srgbClr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D4E5E917-DCE6-D286-4CD7-743D81F421E4}"/>
              </a:ext>
            </a:extLst>
          </p:cNvPr>
          <p:cNvSpPr/>
          <p:nvPr/>
        </p:nvSpPr>
        <p:spPr>
          <a:xfrm>
            <a:off x="8243897" y="5272667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corners only</a:t>
            </a:r>
            <a:endParaRPr lang="en-US" sz="2000" b="1" dirty="0">
              <a:solidFill>
                <a:srgbClr val="3208CA"/>
              </a:solidFill>
            </a:endParaRPr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80333952-0F46-537C-3324-AE95C523B7FE}"/>
              </a:ext>
            </a:extLst>
          </p:cNvPr>
          <p:cNvSpPr/>
          <p:nvPr/>
        </p:nvSpPr>
        <p:spPr>
          <a:xfrm>
            <a:off x="7903069" y="5604730"/>
            <a:ext cx="4064952" cy="1083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You must set BOTH borderWidth AND borderColor — setting only one has no visible effect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D4D3C9-E44C-D6C7-9690-FA233B859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1FCD326-B630-9D8C-E8F5-879ACF95E57D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3C562A-9322-0002-C1CF-C9D6765FB129}"/>
              </a:ext>
            </a:extLst>
          </p:cNvPr>
          <p:cNvSpPr txBox="1"/>
          <p:nvPr/>
        </p:nvSpPr>
        <p:spPr>
          <a:xfrm>
            <a:off x="457200" y="2097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Shadows – iOS Shadow Properties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18DF22-2391-A60E-EDC2-FB53A8D505BC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34971A6-8866-D109-D6F2-E326EA63B5CC}"/>
              </a:ext>
            </a:extLst>
          </p:cNvPr>
          <p:cNvSpPr/>
          <p:nvPr/>
        </p:nvSpPr>
        <p:spPr>
          <a:xfrm>
            <a:off x="365760" y="786383"/>
            <a:ext cx="11695048" cy="11281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 iOS, shadows are applied with five separate style props. They are silently ignored on Android.</a:t>
            </a:r>
            <a:endParaRPr lang="en-US" sz="2800" dirty="0"/>
          </a:p>
        </p:txBody>
      </p:sp>
      <p:sp>
        <p:nvSpPr>
          <p:cNvPr id="84" name="Shape 5">
            <a:extLst>
              <a:ext uri="{FF2B5EF4-FFF2-40B4-BE49-F238E27FC236}">
                <a16:creationId xmlns:a16="http://schemas.microsoft.com/office/drawing/2014/main" id="{607022DB-A57C-84DE-AA24-0F75D0AC438D}"/>
              </a:ext>
            </a:extLst>
          </p:cNvPr>
          <p:cNvSpPr/>
          <p:nvPr/>
        </p:nvSpPr>
        <p:spPr>
          <a:xfrm>
            <a:off x="584515" y="1903659"/>
            <a:ext cx="11054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6" name="Shape 6">
            <a:extLst>
              <a:ext uri="{FF2B5EF4-FFF2-40B4-BE49-F238E27FC236}">
                <a16:creationId xmlns:a16="http://schemas.microsoft.com/office/drawing/2014/main" id="{BDD410A0-E4C5-E838-6095-DB21C0D78354}"/>
              </a:ext>
            </a:extLst>
          </p:cNvPr>
          <p:cNvSpPr/>
          <p:nvPr/>
        </p:nvSpPr>
        <p:spPr>
          <a:xfrm>
            <a:off x="584515" y="1903659"/>
            <a:ext cx="64008" cy="777240"/>
          </a:xfrm>
          <a:prstGeom prst="rect">
            <a:avLst/>
          </a:prstGeom>
          <a:solidFill>
            <a:srgbClr val="003865"/>
          </a:solidFill>
          <a:ln w="12700">
            <a:solidFill>
              <a:srgbClr val="0038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7">
            <a:extLst>
              <a:ext uri="{FF2B5EF4-FFF2-40B4-BE49-F238E27FC236}">
                <a16:creationId xmlns:a16="http://schemas.microsoft.com/office/drawing/2014/main" id="{E598B901-8A5B-AFF1-45BC-E7F626BEA210}"/>
              </a:ext>
            </a:extLst>
          </p:cNvPr>
          <p:cNvSpPr/>
          <p:nvPr/>
        </p:nvSpPr>
        <p:spPr>
          <a:xfrm>
            <a:off x="785683" y="1976811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386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shadowColor</a:t>
            </a:r>
            <a:endParaRPr lang="en-US" sz="2200" dirty="0"/>
          </a:p>
        </p:txBody>
      </p:sp>
      <p:sp>
        <p:nvSpPr>
          <p:cNvPr id="90" name="Text 8">
            <a:extLst>
              <a:ext uri="{FF2B5EF4-FFF2-40B4-BE49-F238E27FC236}">
                <a16:creationId xmlns:a16="http://schemas.microsoft.com/office/drawing/2014/main" id="{1851085B-D94C-DCB8-7FFA-CFD8D4F7EB30}"/>
              </a:ext>
            </a:extLst>
          </p:cNvPr>
          <p:cNvSpPr/>
          <p:nvPr/>
        </p:nvSpPr>
        <p:spPr>
          <a:xfrm>
            <a:off x="785682" y="2287706"/>
            <a:ext cx="9558465" cy="4411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colour of the shadow. Usually '#000000'. Can be any valid color including rgba.</a:t>
            </a:r>
            <a:endParaRPr lang="en-US" sz="2200" dirty="0"/>
          </a:p>
        </p:txBody>
      </p:sp>
      <p:sp>
        <p:nvSpPr>
          <p:cNvPr id="92" name="Shape 9">
            <a:extLst>
              <a:ext uri="{FF2B5EF4-FFF2-40B4-BE49-F238E27FC236}">
                <a16:creationId xmlns:a16="http://schemas.microsoft.com/office/drawing/2014/main" id="{4212D887-6966-C665-CA8C-D38CBD1511AB}"/>
              </a:ext>
            </a:extLst>
          </p:cNvPr>
          <p:cNvSpPr/>
          <p:nvPr/>
        </p:nvSpPr>
        <p:spPr>
          <a:xfrm>
            <a:off x="584515" y="4163368"/>
            <a:ext cx="11054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4" name="Shape 10">
            <a:extLst>
              <a:ext uri="{FF2B5EF4-FFF2-40B4-BE49-F238E27FC236}">
                <a16:creationId xmlns:a16="http://schemas.microsoft.com/office/drawing/2014/main" id="{DDC52CCE-AE16-548B-BB1B-0ADA1FAE2067}"/>
              </a:ext>
            </a:extLst>
          </p:cNvPr>
          <p:cNvSpPr/>
          <p:nvPr/>
        </p:nvSpPr>
        <p:spPr>
          <a:xfrm>
            <a:off x="584515" y="4163368"/>
            <a:ext cx="64008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11">
            <a:extLst>
              <a:ext uri="{FF2B5EF4-FFF2-40B4-BE49-F238E27FC236}">
                <a16:creationId xmlns:a16="http://schemas.microsoft.com/office/drawing/2014/main" id="{B5AE591D-5B00-79AD-C5D5-8479544A027F}"/>
              </a:ext>
            </a:extLst>
          </p:cNvPr>
          <p:cNvSpPr/>
          <p:nvPr/>
        </p:nvSpPr>
        <p:spPr>
          <a:xfrm>
            <a:off x="785683" y="423652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shadowOffset</a:t>
            </a:r>
            <a:endParaRPr lang="en-US" sz="2200" dirty="0"/>
          </a:p>
        </p:txBody>
      </p:sp>
      <p:sp>
        <p:nvSpPr>
          <p:cNvPr id="98" name="Text 12">
            <a:extLst>
              <a:ext uri="{FF2B5EF4-FFF2-40B4-BE49-F238E27FC236}">
                <a16:creationId xmlns:a16="http://schemas.microsoft.com/office/drawing/2014/main" id="{262F438E-98D3-5353-9F5F-0AF5CC890EC5}"/>
              </a:ext>
            </a:extLst>
          </p:cNvPr>
          <p:cNvSpPr/>
          <p:nvPr/>
        </p:nvSpPr>
        <p:spPr>
          <a:xfrm>
            <a:off x="785683" y="4547416"/>
            <a:ext cx="10280268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{ width: x, height: y } — positive y casts shadow downward (most common). Negative y = shadow above.</a:t>
            </a:r>
            <a:endParaRPr lang="en-US" b="1" dirty="0"/>
          </a:p>
        </p:txBody>
      </p:sp>
      <p:sp>
        <p:nvSpPr>
          <p:cNvPr id="100" name="Shape 13">
            <a:extLst>
              <a:ext uri="{FF2B5EF4-FFF2-40B4-BE49-F238E27FC236}">
                <a16:creationId xmlns:a16="http://schemas.microsoft.com/office/drawing/2014/main" id="{EE38B0B0-04F0-1810-384D-EC1FCB14CFCE}"/>
              </a:ext>
            </a:extLst>
          </p:cNvPr>
          <p:cNvSpPr/>
          <p:nvPr/>
        </p:nvSpPr>
        <p:spPr>
          <a:xfrm>
            <a:off x="584515" y="3007796"/>
            <a:ext cx="11054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2" name="Shape 14">
            <a:extLst>
              <a:ext uri="{FF2B5EF4-FFF2-40B4-BE49-F238E27FC236}">
                <a16:creationId xmlns:a16="http://schemas.microsoft.com/office/drawing/2014/main" id="{E70C226E-54A0-6A69-31B2-81A63F734121}"/>
              </a:ext>
            </a:extLst>
          </p:cNvPr>
          <p:cNvSpPr/>
          <p:nvPr/>
        </p:nvSpPr>
        <p:spPr>
          <a:xfrm>
            <a:off x="584515" y="3007796"/>
            <a:ext cx="64008" cy="7772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5">
            <a:extLst>
              <a:ext uri="{FF2B5EF4-FFF2-40B4-BE49-F238E27FC236}">
                <a16:creationId xmlns:a16="http://schemas.microsoft.com/office/drawing/2014/main" id="{EFB4442E-007D-F383-2972-9E115F5EE75A}"/>
              </a:ext>
            </a:extLst>
          </p:cNvPr>
          <p:cNvSpPr/>
          <p:nvPr/>
        </p:nvSpPr>
        <p:spPr>
          <a:xfrm>
            <a:off x="785683" y="308094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shadowOpacity</a:t>
            </a:r>
            <a:endParaRPr lang="en-US" sz="2200" dirty="0"/>
          </a:p>
        </p:txBody>
      </p:sp>
      <p:sp>
        <p:nvSpPr>
          <p:cNvPr id="106" name="Text 16">
            <a:extLst>
              <a:ext uri="{FF2B5EF4-FFF2-40B4-BE49-F238E27FC236}">
                <a16:creationId xmlns:a16="http://schemas.microsoft.com/office/drawing/2014/main" id="{AC90DDB9-C3E6-7D89-0017-71F2845E7207}"/>
              </a:ext>
            </a:extLst>
          </p:cNvPr>
          <p:cNvSpPr/>
          <p:nvPr/>
        </p:nvSpPr>
        <p:spPr>
          <a:xfrm>
            <a:off x="785682" y="3391844"/>
            <a:ext cx="10504297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0.0 to 1.0. Keep between 0.08–0.20 for realistic shadows. Anything above 0.3 looks heavy.</a:t>
            </a:r>
            <a:endParaRPr lang="en-US" sz="2200" dirty="0"/>
          </a:p>
        </p:txBody>
      </p:sp>
      <p:sp>
        <p:nvSpPr>
          <p:cNvPr id="108" name="Shape 17">
            <a:extLst>
              <a:ext uri="{FF2B5EF4-FFF2-40B4-BE49-F238E27FC236}">
                <a16:creationId xmlns:a16="http://schemas.microsoft.com/office/drawing/2014/main" id="{0774FD89-9BFD-7492-329E-E5541092AB00}"/>
              </a:ext>
            </a:extLst>
          </p:cNvPr>
          <p:cNvSpPr/>
          <p:nvPr/>
        </p:nvSpPr>
        <p:spPr>
          <a:xfrm>
            <a:off x="584515" y="5332088"/>
            <a:ext cx="110540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0" name="Shape 18">
            <a:extLst>
              <a:ext uri="{FF2B5EF4-FFF2-40B4-BE49-F238E27FC236}">
                <a16:creationId xmlns:a16="http://schemas.microsoft.com/office/drawing/2014/main" id="{C4A96425-648A-9CE1-E6ED-38620D8BA5D7}"/>
              </a:ext>
            </a:extLst>
          </p:cNvPr>
          <p:cNvSpPr/>
          <p:nvPr/>
        </p:nvSpPr>
        <p:spPr>
          <a:xfrm>
            <a:off x="584515" y="5332088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9">
            <a:extLst>
              <a:ext uri="{FF2B5EF4-FFF2-40B4-BE49-F238E27FC236}">
                <a16:creationId xmlns:a16="http://schemas.microsoft.com/office/drawing/2014/main" id="{85A00A6A-B62D-FF68-7E19-ABF20B18C9B8}"/>
              </a:ext>
            </a:extLst>
          </p:cNvPr>
          <p:cNvSpPr/>
          <p:nvPr/>
        </p:nvSpPr>
        <p:spPr>
          <a:xfrm>
            <a:off x="785683" y="540524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shadowRadius</a:t>
            </a:r>
            <a:endParaRPr lang="en-US" sz="2200" dirty="0"/>
          </a:p>
        </p:txBody>
      </p:sp>
      <p:sp>
        <p:nvSpPr>
          <p:cNvPr id="114" name="Text 20">
            <a:extLst>
              <a:ext uri="{FF2B5EF4-FFF2-40B4-BE49-F238E27FC236}">
                <a16:creationId xmlns:a16="http://schemas.microsoft.com/office/drawing/2014/main" id="{BD1C6F13-487B-764E-0C97-18570C630341}"/>
              </a:ext>
            </a:extLst>
          </p:cNvPr>
          <p:cNvSpPr/>
          <p:nvPr/>
        </p:nvSpPr>
        <p:spPr>
          <a:xfrm>
            <a:off x="785683" y="5716136"/>
            <a:ext cx="10608882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 amount in dp. 4–8 for subtle cards, 12–20 for floating modals or FABs.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657649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B6E857-33A4-A111-E513-EA32924D8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C8059F-2FE7-34DC-7F9D-1D1F62C4E1E4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0CF56B-32F7-093E-BCF9-3DCC3E93C69F}"/>
              </a:ext>
            </a:extLst>
          </p:cNvPr>
          <p:cNvSpPr txBox="1"/>
          <p:nvPr/>
        </p:nvSpPr>
        <p:spPr>
          <a:xfrm>
            <a:off x="457200" y="209732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Shadows – iOS Shadow Properties - Example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D860CF8-4C2A-BFEF-AE77-AAD337D75D03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D129E193-F3CE-18D6-1DAC-67C223559F66}"/>
              </a:ext>
            </a:extLst>
          </p:cNvPr>
          <p:cNvSpPr/>
          <p:nvPr/>
        </p:nvSpPr>
        <p:spPr>
          <a:xfrm>
            <a:off x="502920" y="1280160"/>
            <a:ext cx="8138160" cy="2441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styles = StyleSheet.create({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card: {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backgroundColor: '#FFFFFF',    // ← required! shadow only shows on opaque backgrounds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── iOS shadow props ──────────────────────────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shadowColor:   '#000000',      // colour of the shadow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shadowOffset:  { width: 0, height: 4 },  // x/y offset in dp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shadowOpacity:  0.15,          // 0.0 (invisible) to 1.0 (opaque)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shadowRadius:   8,             // blur radius in dp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── Android alternative ─────────────────────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elevation: 4,                  // 0–24, controls depth + shadow shape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4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5F6ECC4-45B6-99E0-0B63-7639B0474AF1}"/>
              </a:ext>
            </a:extLst>
          </p:cNvPr>
          <p:cNvSpPr/>
          <p:nvPr/>
        </p:nvSpPr>
        <p:spPr>
          <a:xfrm>
            <a:off x="337183" y="1491622"/>
            <a:ext cx="11621454" cy="42153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76546565-C24D-5FD6-0A0B-34A15AAB61CE}"/>
              </a:ext>
            </a:extLst>
          </p:cNvPr>
          <p:cNvSpPr/>
          <p:nvPr/>
        </p:nvSpPr>
        <p:spPr>
          <a:xfrm>
            <a:off x="474343" y="1651642"/>
            <a:ext cx="11292841" cy="2441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styles = StyleSheet.create({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card: {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backgroundColor: '#FFFFFF',   // ← required! shadow only shows on opaque backgrounds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── iOS shadow props ──────────────────────────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shadowColor:   '#000000',      // colour of the shadow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shadowOffset:  { width: 0, height: 4 },  // x/y offset in dp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shadowOpacity:  0.15,          // 0.0 (invisible) to 1.0 (opaque)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shadowRadius:   8,             // blur radius in dp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── Android alternative ─────────────────────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elevation: 4,                  // 0–24, controls depth + shadow shape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761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E16643-0A13-4978-FF02-B39170868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420BECC-3D69-85F3-0E17-A196F3649E5F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2D7DD5-4DD0-AB0B-0DE3-A3719F403687}"/>
              </a:ext>
            </a:extLst>
          </p:cNvPr>
          <p:cNvSpPr txBox="1"/>
          <p:nvPr/>
        </p:nvSpPr>
        <p:spPr>
          <a:xfrm>
            <a:off x="457200" y="207386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rgbClr val="111827"/>
                </a:solidFill>
              </a:rPr>
              <a:t>Elevation – Android Shadow System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E72604-074B-7CB2-833F-100D379CA1E3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79855850-D21C-F37B-9F63-2F5635588F08}"/>
              </a:ext>
            </a:extLst>
          </p:cNvPr>
          <p:cNvSpPr/>
          <p:nvPr/>
        </p:nvSpPr>
        <p:spPr>
          <a:xfrm>
            <a:off x="457200" y="1201189"/>
            <a:ext cx="11444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Android uses a single elevation prop that controls depth, shadow shape, and color automatically. No manual shadow control.</a:t>
            </a:r>
            <a:endParaRPr lang="en-US" sz="28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AC354CF3-A5C4-8499-D987-4695A3FDC5AD}"/>
              </a:ext>
            </a:extLst>
          </p:cNvPr>
          <p:cNvSpPr/>
          <p:nvPr/>
        </p:nvSpPr>
        <p:spPr>
          <a:xfrm>
            <a:off x="1295464" y="3005454"/>
            <a:ext cx="1317312" cy="769112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03C8E037-D920-A0F7-432F-129B059B03C1}"/>
              </a:ext>
            </a:extLst>
          </p:cNvPr>
          <p:cNvSpPr/>
          <p:nvPr/>
        </p:nvSpPr>
        <p:spPr>
          <a:xfrm>
            <a:off x="1295464" y="3170739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>
              <a:solidFill>
                <a:srgbClr val="3208CA"/>
              </a:solidFill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E359C9AC-9A7F-3C21-F42B-A4CC2138C578}"/>
              </a:ext>
            </a:extLst>
          </p:cNvPr>
          <p:cNvSpPr/>
          <p:nvPr/>
        </p:nvSpPr>
        <p:spPr>
          <a:xfrm>
            <a:off x="1261176" y="3106731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shadow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CE72D64C-E499-4E88-E466-DEC0A7AD65B0}"/>
              </a:ext>
            </a:extLst>
          </p:cNvPr>
          <p:cNvSpPr/>
          <p:nvPr/>
        </p:nvSpPr>
        <p:spPr>
          <a:xfrm>
            <a:off x="1118744" y="3973644"/>
            <a:ext cx="160007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Flat backgrounds</a:t>
            </a:r>
            <a:endParaRPr lang="en-US" sz="2000" b="1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5D59EBB9-E425-DAA6-3CEC-4ACC150ACA28}"/>
              </a:ext>
            </a:extLst>
          </p:cNvPr>
          <p:cNvSpPr/>
          <p:nvPr/>
        </p:nvSpPr>
        <p:spPr>
          <a:xfrm>
            <a:off x="2868808" y="2834357"/>
            <a:ext cx="1188720" cy="921598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8E096407-577A-8620-747F-03B43F86B64D}"/>
              </a:ext>
            </a:extLst>
          </p:cNvPr>
          <p:cNvSpPr/>
          <p:nvPr/>
        </p:nvSpPr>
        <p:spPr>
          <a:xfrm>
            <a:off x="2868808" y="3024435"/>
            <a:ext cx="1188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52DEF897-E243-2278-C782-CEF054C6C8A6}"/>
              </a:ext>
            </a:extLst>
          </p:cNvPr>
          <p:cNvSpPr/>
          <p:nvPr/>
        </p:nvSpPr>
        <p:spPr>
          <a:xfrm>
            <a:off x="2777368" y="2992427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BE1B0D71-3CD6-9CA2-A992-20F43C0A84BF}"/>
              </a:ext>
            </a:extLst>
          </p:cNvPr>
          <p:cNvSpPr/>
          <p:nvPr/>
        </p:nvSpPr>
        <p:spPr>
          <a:xfrm>
            <a:off x="2818256" y="3958889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List items</a:t>
            </a:r>
            <a:endParaRPr lang="en-US" sz="2000" b="1" dirty="0"/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064308E0-2B7D-8908-EECE-ED6FAECD919D}"/>
              </a:ext>
            </a:extLst>
          </p:cNvPr>
          <p:cNvSpPr/>
          <p:nvPr/>
        </p:nvSpPr>
        <p:spPr>
          <a:xfrm>
            <a:off x="4470720" y="2663260"/>
            <a:ext cx="1188720" cy="1092695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12">
            <a:extLst>
              <a:ext uri="{FF2B5EF4-FFF2-40B4-BE49-F238E27FC236}">
                <a16:creationId xmlns:a16="http://schemas.microsoft.com/office/drawing/2014/main" id="{2532DA53-A4A0-953E-0648-4532A26AB091}"/>
              </a:ext>
            </a:extLst>
          </p:cNvPr>
          <p:cNvSpPr/>
          <p:nvPr/>
        </p:nvSpPr>
        <p:spPr>
          <a:xfrm>
            <a:off x="4470720" y="2878131"/>
            <a:ext cx="11887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630DFB46-4881-B466-0B3D-AD4F4C489090}"/>
              </a:ext>
            </a:extLst>
          </p:cNvPr>
          <p:cNvSpPr/>
          <p:nvPr/>
        </p:nvSpPr>
        <p:spPr>
          <a:xfrm>
            <a:off x="4379280" y="3106731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000" dirty="0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CC9DB6F4-DB8B-1486-2196-F3AC59E50A80}"/>
              </a:ext>
            </a:extLst>
          </p:cNvPr>
          <p:cNvSpPr/>
          <p:nvPr/>
        </p:nvSpPr>
        <p:spPr>
          <a:xfrm>
            <a:off x="4379280" y="4009705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</a:p>
        </p:txBody>
      </p:sp>
      <p:sp>
        <p:nvSpPr>
          <p:cNvPr id="38" name="Shape 15">
            <a:extLst>
              <a:ext uri="{FF2B5EF4-FFF2-40B4-BE49-F238E27FC236}">
                <a16:creationId xmlns:a16="http://schemas.microsoft.com/office/drawing/2014/main" id="{73182160-0578-80E5-6800-8AB9DE1FEBE8}"/>
              </a:ext>
            </a:extLst>
          </p:cNvPr>
          <p:cNvSpPr/>
          <p:nvPr/>
        </p:nvSpPr>
        <p:spPr>
          <a:xfrm>
            <a:off x="5915472" y="2331186"/>
            <a:ext cx="1188720" cy="1443379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C6680B7D-6122-E304-62A2-7414E0CD19EF}"/>
              </a:ext>
            </a:extLst>
          </p:cNvPr>
          <p:cNvSpPr/>
          <p:nvPr/>
        </p:nvSpPr>
        <p:spPr>
          <a:xfrm>
            <a:off x="5915472" y="2585523"/>
            <a:ext cx="1188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>
              <a:solidFill>
                <a:srgbClr val="3208CA"/>
              </a:solidFill>
            </a:endParaRPr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4FD843DA-5DA0-6AAF-FE0A-435FD233462A}"/>
              </a:ext>
            </a:extLst>
          </p:cNvPr>
          <p:cNvSpPr/>
          <p:nvPr/>
        </p:nvSpPr>
        <p:spPr>
          <a:xfrm>
            <a:off x="5824032" y="2663813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A39FC9FD-89A2-07CB-E9D9-4CC9326851E2}"/>
              </a:ext>
            </a:extLst>
          </p:cNvPr>
          <p:cNvSpPr/>
          <p:nvPr/>
        </p:nvSpPr>
        <p:spPr>
          <a:xfrm>
            <a:off x="5824032" y="3952553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Buttons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FABs</a:t>
            </a:r>
          </a:p>
        </p:txBody>
      </p:sp>
      <p:sp>
        <p:nvSpPr>
          <p:cNvPr id="46" name="Shape 19">
            <a:extLst>
              <a:ext uri="{FF2B5EF4-FFF2-40B4-BE49-F238E27FC236}">
                <a16:creationId xmlns:a16="http://schemas.microsoft.com/office/drawing/2014/main" id="{E3350952-D1C5-76E8-D71F-EFC417ED37DB}"/>
              </a:ext>
            </a:extLst>
          </p:cNvPr>
          <p:cNvSpPr/>
          <p:nvPr/>
        </p:nvSpPr>
        <p:spPr>
          <a:xfrm>
            <a:off x="7360224" y="2160643"/>
            <a:ext cx="1188720" cy="1595311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20">
            <a:extLst>
              <a:ext uri="{FF2B5EF4-FFF2-40B4-BE49-F238E27FC236}">
                <a16:creationId xmlns:a16="http://schemas.microsoft.com/office/drawing/2014/main" id="{C685868B-75FB-CE81-0480-7D22B7B03738}"/>
              </a:ext>
            </a:extLst>
          </p:cNvPr>
          <p:cNvSpPr/>
          <p:nvPr/>
        </p:nvSpPr>
        <p:spPr>
          <a:xfrm>
            <a:off x="7360224" y="2000307"/>
            <a:ext cx="1188720" cy="1609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000" dirty="0">
              <a:solidFill>
                <a:srgbClr val="3208CA"/>
              </a:solidFill>
            </a:endParaRPr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3F0B18C4-F44C-0F8A-F69C-BAC0B8C12DCB}"/>
              </a:ext>
            </a:extLst>
          </p:cNvPr>
          <p:cNvSpPr/>
          <p:nvPr/>
        </p:nvSpPr>
        <p:spPr>
          <a:xfrm>
            <a:off x="7268784" y="2278047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</a:t>
            </a:r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3EEC1363-B3E3-4C04-D367-6162E0BCB977}"/>
              </a:ext>
            </a:extLst>
          </p:cNvPr>
          <p:cNvSpPr/>
          <p:nvPr/>
        </p:nvSpPr>
        <p:spPr>
          <a:xfrm>
            <a:off x="7268784" y="3952555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Bottom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sheets</a:t>
            </a:r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05164E34-A257-F411-877E-32A90E5CDBC6}"/>
              </a:ext>
            </a:extLst>
          </p:cNvPr>
          <p:cNvSpPr/>
          <p:nvPr/>
        </p:nvSpPr>
        <p:spPr>
          <a:xfrm>
            <a:off x="8804976" y="1717854"/>
            <a:ext cx="1188720" cy="2038100"/>
          </a:xfrm>
          <a:prstGeom prst="rect">
            <a:avLst/>
          </a:prstGeom>
          <a:solidFill>
            <a:srgbClr val="FFFFFF">
              <a:alpha val="90000"/>
            </a:srgbClr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7CF74355-FA10-0844-F251-21DD2DB88FA4}"/>
              </a:ext>
            </a:extLst>
          </p:cNvPr>
          <p:cNvSpPr/>
          <p:nvPr/>
        </p:nvSpPr>
        <p:spPr>
          <a:xfrm>
            <a:off x="8790688" y="1729424"/>
            <a:ext cx="1188720" cy="2048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2000" dirty="0">
              <a:solidFill>
                <a:srgbClr val="3208CA"/>
              </a:solidFill>
            </a:endParaRPr>
          </a:p>
        </p:txBody>
      </p:sp>
      <p:sp>
        <p:nvSpPr>
          <p:cNvPr id="58" name="Text 25">
            <a:extLst>
              <a:ext uri="{FF2B5EF4-FFF2-40B4-BE49-F238E27FC236}">
                <a16:creationId xmlns:a16="http://schemas.microsoft.com/office/drawing/2014/main" id="{38D993CD-CF78-3E4C-9087-0324A2CFBD06}"/>
              </a:ext>
            </a:extLst>
          </p:cNvPr>
          <p:cNvSpPr/>
          <p:nvPr/>
        </p:nvSpPr>
        <p:spPr>
          <a:xfrm>
            <a:off x="8713536" y="1849419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</a:p>
        </p:txBody>
      </p:sp>
      <p:sp>
        <p:nvSpPr>
          <p:cNvPr id="60" name="Text 26">
            <a:extLst>
              <a:ext uri="{FF2B5EF4-FFF2-40B4-BE49-F238E27FC236}">
                <a16:creationId xmlns:a16="http://schemas.microsoft.com/office/drawing/2014/main" id="{3107693F-0AE9-0D48-B111-075D0ADB811B}"/>
              </a:ext>
            </a:extLst>
          </p:cNvPr>
          <p:cNvSpPr/>
          <p:nvPr/>
        </p:nvSpPr>
        <p:spPr>
          <a:xfrm>
            <a:off x="8641525" y="3738292"/>
            <a:ext cx="1836801" cy="3903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Dialogs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</a:p>
        </p:txBody>
      </p:sp>
      <p:sp>
        <p:nvSpPr>
          <p:cNvPr id="68" name="Text 30">
            <a:extLst>
              <a:ext uri="{FF2B5EF4-FFF2-40B4-BE49-F238E27FC236}">
                <a16:creationId xmlns:a16="http://schemas.microsoft.com/office/drawing/2014/main" id="{BAC9CDDF-CA98-7AEF-9927-7DD487519CA8}"/>
              </a:ext>
            </a:extLst>
          </p:cNvPr>
          <p:cNvSpPr/>
          <p:nvPr/>
        </p:nvSpPr>
        <p:spPr>
          <a:xfrm>
            <a:off x="584782" y="5352741"/>
            <a:ext cx="661085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59763567-7791-84DC-AEBE-63B5B1A4F5DB}"/>
              </a:ext>
            </a:extLst>
          </p:cNvPr>
          <p:cNvSpPr/>
          <p:nvPr/>
        </p:nvSpPr>
        <p:spPr>
          <a:xfrm>
            <a:off x="3382846" y="5199728"/>
            <a:ext cx="661085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iOS: full control over color, blur, opacity, offset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Android: elevation only — no color/blur control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iOS shadow props are ignored on Android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elevation is ignored on iOS</a:t>
            </a:r>
            <a:endParaRPr lang="en-US" sz="2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Always write BOTH in your cross-platform code</a:t>
            </a:r>
            <a:endParaRPr lang="en-US" sz="2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B65522A-9AD7-1D5E-D7E7-336351675825}"/>
              </a:ext>
            </a:extLst>
          </p:cNvPr>
          <p:cNvSpPr/>
          <p:nvPr/>
        </p:nvSpPr>
        <p:spPr>
          <a:xfrm>
            <a:off x="4379280" y="283435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6824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7386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rgbClr val="111827"/>
                </a:solidFill>
              </a:rPr>
              <a:t>Elevation – Android Shadow System - Example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Shape 27">
            <a:extLst>
              <a:ext uri="{FF2B5EF4-FFF2-40B4-BE49-F238E27FC236}">
                <a16:creationId xmlns:a16="http://schemas.microsoft.com/office/drawing/2014/main" id="{495B8C21-33B0-9560-151B-3A0E4C58E1DA}"/>
              </a:ext>
            </a:extLst>
          </p:cNvPr>
          <p:cNvSpPr/>
          <p:nvPr/>
        </p:nvSpPr>
        <p:spPr>
          <a:xfrm>
            <a:off x="1569339" y="1213295"/>
            <a:ext cx="9317736" cy="520236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64" name="Text 28">
            <a:extLst>
              <a:ext uri="{FF2B5EF4-FFF2-40B4-BE49-F238E27FC236}">
                <a16:creationId xmlns:a16="http://schemas.microsoft.com/office/drawing/2014/main" id="{E97BD29A-3070-352D-5652-61EE96410976}"/>
              </a:ext>
            </a:extLst>
          </p:cNvPr>
          <p:cNvSpPr/>
          <p:nvPr/>
        </p:nvSpPr>
        <p:spPr>
          <a:xfrm>
            <a:off x="1706498" y="1323023"/>
            <a:ext cx="8637651" cy="11978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Cross-platform shadow pattern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styles = StyleSheet.create({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card: {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backgroundColor: '#FFFFFF',   // required for both platforms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iOS — 4 separate props: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shadowColor:   '#000000',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shadowOffset:  { width: 0, height: 4 },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shadowOpacity:  0.12,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shadowRadius:   8,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Android — 1 prop: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elevation: 4,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Both platforms need an opaque backgroundColor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to render their shadows correctly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95029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Platform Differences – </a:t>
            </a:r>
            <a:r>
              <a:rPr lang="en-US" sz="3600" b="1" i="0" dirty="0" err="1">
                <a:solidFill>
                  <a:srgbClr val="111827"/>
                </a:solidFill>
              </a:rPr>
              <a:t>Platform.OS</a:t>
            </a:r>
            <a:r>
              <a:rPr lang="en-US" sz="3600" b="1" i="0" dirty="0">
                <a:solidFill>
                  <a:srgbClr val="111827"/>
                </a:solidFill>
              </a:rPr>
              <a:t> &amp; </a:t>
            </a:r>
            <a:r>
              <a:rPr lang="en-US" sz="3600" b="1" i="0" dirty="0" err="1">
                <a:solidFill>
                  <a:srgbClr val="111827"/>
                </a:solidFill>
              </a:rPr>
              <a:t>Platform.select</a:t>
            </a:r>
            <a:r>
              <a:rPr lang="en-US" sz="3600" b="1" i="0" dirty="0">
                <a:solidFill>
                  <a:srgbClr val="111827"/>
                </a:solidFill>
              </a:rPr>
              <a:t>()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97390142-B464-E2EB-1579-33B043C6BB5A}"/>
              </a:ext>
            </a:extLst>
          </p:cNvPr>
          <p:cNvSpPr/>
          <p:nvPr/>
        </p:nvSpPr>
        <p:spPr>
          <a:xfrm>
            <a:off x="686310" y="4973346"/>
            <a:ext cx="4297680" cy="388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Platform-Specific Files</a:t>
            </a:r>
            <a:endParaRPr lang="en-US" sz="2400" dirty="0">
              <a:solidFill>
                <a:srgbClr val="3208CA"/>
              </a:solidFill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B7B1183B-3C8A-8F78-875F-79E58D4F1D98}"/>
              </a:ext>
            </a:extLst>
          </p:cNvPr>
          <p:cNvSpPr/>
          <p:nvPr/>
        </p:nvSpPr>
        <p:spPr>
          <a:xfrm>
            <a:off x="5141979" y="4023084"/>
            <a:ext cx="4884392" cy="24977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992DCF0C-ED6F-C25E-6E45-F7118DCA5D7D}"/>
              </a:ext>
            </a:extLst>
          </p:cNvPr>
          <p:cNvSpPr/>
          <p:nvPr/>
        </p:nvSpPr>
        <p:spPr>
          <a:xfrm>
            <a:off x="5249927" y="4132812"/>
            <a:ext cx="4659211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You can create platform-specific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files automatically: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Button.ios.tsx     // loaded on iOS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Button.android.tsx // loaded on Android</a:t>
            </a:r>
            <a:endParaRPr lang="en-US" sz="1600" dirty="0"/>
          </a:p>
          <a:p>
            <a:pPr marL="0" indent="0" algn="l">
              <a:buNone/>
            </a:pP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Import looks the same on both: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Button from './Button';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React Native picks the right one</a:t>
            </a:r>
            <a:endParaRPr lang="en-US" sz="16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31318A3E-59F7-8F2F-8306-473236AF1900}"/>
              </a:ext>
            </a:extLst>
          </p:cNvPr>
          <p:cNvSpPr/>
          <p:nvPr/>
        </p:nvSpPr>
        <p:spPr>
          <a:xfrm>
            <a:off x="681836" y="989318"/>
            <a:ext cx="6902339" cy="80448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1040E5C0-6DF4-6F4D-FAE8-4AD8F2F56800}"/>
              </a:ext>
            </a:extLst>
          </p:cNvPr>
          <p:cNvSpPr/>
          <p:nvPr/>
        </p:nvSpPr>
        <p:spPr>
          <a:xfrm>
            <a:off x="742950" y="1044183"/>
            <a:ext cx="4712946" cy="251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Platform.OS values</a:t>
            </a:r>
            <a:endParaRPr lang="en-US" sz="2000" dirty="0">
              <a:solidFill>
                <a:srgbClr val="3208CA"/>
              </a:solidFill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7F9BA9E7-CD2F-F52A-827B-8AF508321536}"/>
              </a:ext>
            </a:extLst>
          </p:cNvPr>
          <p:cNvSpPr/>
          <p:nvPr/>
        </p:nvSpPr>
        <p:spPr>
          <a:xfrm>
            <a:off x="741473" y="1492246"/>
            <a:ext cx="6902340" cy="269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"ios" | "android" | "web" | "macos" | "windows"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15ED8352-7A46-9450-C081-5D6E62628DC4}"/>
              </a:ext>
            </a:extLst>
          </p:cNvPr>
          <p:cNvSpPr/>
          <p:nvPr/>
        </p:nvSpPr>
        <p:spPr>
          <a:xfrm>
            <a:off x="676592" y="1964800"/>
            <a:ext cx="7772400" cy="92160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1">
            <a:extLst>
              <a:ext uri="{FF2B5EF4-FFF2-40B4-BE49-F238E27FC236}">
                <a16:creationId xmlns:a16="http://schemas.microsoft.com/office/drawing/2014/main" id="{22E589F2-881A-F961-A753-1A2EF55DCB06}"/>
              </a:ext>
            </a:extLst>
          </p:cNvPr>
          <p:cNvSpPr/>
          <p:nvPr/>
        </p:nvSpPr>
        <p:spPr>
          <a:xfrm>
            <a:off x="742950" y="2036599"/>
            <a:ext cx="5295696" cy="266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check</a:t>
            </a:r>
            <a:endParaRPr lang="en-US" sz="2000" dirty="0">
              <a:solidFill>
                <a:srgbClr val="3208CA"/>
              </a:solidFill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6303CD84-5AFB-7E42-679F-99C4C5FCB483}"/>
              </a:ext>
            </a:extLst>
          </p:cNvPr>
          <p:cNvSpPr/>
          <p:nvPr/>
        </p:nvSpPr>
        <p:spPr>
          <a:xfrm>
            <a:off x="742950" y="2321737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Platform.Version (iOS: float, Android: int API level)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8C7DEE0F-9D90-183A-22F8-9FB4EAFFD416}"/>
              </a:ext>
            </a:extLst>
          </p:cNvPr>
          <p:cNvSpPr/>
          <p:nvPr/>
        </p:nvSpPr>
        <p:spPr>
          <a:xfrm>
            <a:off x="681835" y="2996130"/>
            <a:ext cx="5876127" cy="847201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34" name="Text 14">
            <a:extLst>
              <a:ext uri="{FF2B5EF4-FFF2-40B4-BE49-F238E27FC236}">
                <a16:creationId xmlns:a16="http://schemas.microsoft.com/office/drawing/2014/main" id="{0A71A203-D9F5-F1BA-0E4C-09BB96131CA6}"/>
              </a:ext>
            </a:extLst>
          </p:cNvPr>
          <p:cNvSpPr/>
          <p:nvPr/>
        </p:nvSpPr>
        <p:spPr>
          <a:xfrm>
            <a:off x="697958" y="3092443"/>
            <a:ext cx="30906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isPad</a:t>
            </a:r>
            <a:endParaRPr lang="en-US" sz="2000" dirty="0">
              <a:solidFill>
                <a:srgbClr val="3208CA"/>
              </a:solidFill>
            </a:endParaRPr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75C64E4A-BE5A-89B7-9899-EC7D238C76A1}"/>
              </a:ext>
            </a:extLst>
          </p:cNvPr>
          <p:cNvSpPr/>
          <p:nvPr/>
        </p:nvSpPr>
        <p:spPr>
          <a:xfrm>
            <a:off x="697957" y="3340475"/>
            <a:ext cx="6032045" cy="385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Platform.isPad (iOS only — true on iPad)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203F70-0925-78D5-B504-FA3B7CA5F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9EC55A-0337-3705-E3D7-3D21A34423D3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961B7E-C7C6-32EC-4CC4-A7D6D2EE2C10}"/>
              </a:ext>
            </a:extLst>
          </p:cNvPr>
          <p:cNvSpPr txBox="1"/>
          <p:nvPr/>
        </p:nvSpPr>
        <p:spPr>
          <a:xfrm>
            <a:off x="457200" y="195029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Platform Differences – </a:t>
            </a:r>
            <a:r>
              <a:rPr lang="en-US" sz="3600" b="1" i="0" dirty="0" err="1">
                <a:solidFill>
                  <a:srgbClr val="111827"/>
                </a:solidFill>
              </a:rPr>
              <a:t>Platform.OS</a:t>
            </a:r>
            <a:r>
              <a:rPr lang="en-US" sz="3600" b="1" i="0" dirty="0">
                <a:solidFill>
                  <a:srgbClr val="111827"/>
                </a:solidFill>
              </a:rPr>
              <a:t> &amp; </a:t>
            </a:r>
            <a:r>
              <a:rPr lang="en-US" sz="3600" b="1" i="0" dirty="0" err="1">
                <a:solidFill>
                  <a:srgbClr val="111827"/>
                </a:solidFill>
              </a:rPr>
              <a:t>Platform.select</a:t>
            </a:r>
            <a:r>
              <a:rPr lang="en-US" sz="3600" b="1" i="0" dirty="0">
                <a:solidFill>
                  <a:srgbClr val="111827"/>
                </a:solidFill>
              </a:rPr>
              <a:t>()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B1E8F62-2906-E9D5-9338-81D3FB75787D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DFA79697-4B22-D200-246D-662A6753E923}"/>
              </a:ext>
            </a:extLst>
          </p:cNvPr>
          <p:cNvSpPr/>
          <p:nvPr/>
        </p:nvSpPr>
        <p:spPr>
          <a:xfrm>
            <a:off x="1257299" y="1003481"/>
            <a:ext cx="10258426" cy="5484721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48F07D8A-20EC-DB66-6F23-7A04296E42E6}"/>
              </a:ext>
            </a:extLst>
          </p:cNvPr>
          <p:cNvSpPr/>
          <p:nvPr/>
        </p:nvSpPr>
        <p:spPr>
          <a:xfrm>
            <a:off x="1466277" y="1113210"/>
            <a:ext cx="9698876" cy="51889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Platform, StyleSheet } from 'react-native';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1. Platform.OS — check at runtime ─────────────────────────────────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(Platform.OS === 'ios') {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console.log('Running on iPhone/iPad');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(Platform.OS === 'android') {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console.log('Running on Android device');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2. Platform.select() — inline branching ───────────────────────────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styles = StyleSheet.create({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container: {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paddingTop: Platform.select({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ios:     20,    // iOS needs extra top padding for status bar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android: 0,     // Android handles it differently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default: 8,     // web or other platforms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}),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dirty="0"/>
          </a:p>
          <a:p>
            <a:pPr marL="0" indent="0" algn="l">
              <a:buNone/>
            </a:pPr>
            <a:endParaRPr lang="en-US" dirty="0"/>
          </a:p>
          <a:p>
            <a:pPr marL="0" indent="0" algn="l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2911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16FD2F-DC61-4A66-DF7A-E7E288C07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8C0150-EBF9-BF7C-208C-EC9F852285BC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AA0B94-FC88-E931-2A05-B2FFE4B096F1}"/>
              </a:ext>
            </a:extLst>
          </p:cNvPr>
          <p:cNvSpPr txBox="1"/>
          <p:nvPr/>
        </p:nvSpPr>
        <p:spPr>
          <a:xfrm>
            <a:off x="457200" y="195029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111827"/>
                </a:solidFill>
              </a:rPr>
              <a:t>Platform Differences – </a:t>
            </a:r>
            <a:r>
              <a:rPr lang="en-US" sz="3600" b="1" i="0" dirty="0" err="1">
                <a:solidFill>
                  <a:srgbClr val="111827"/>
                </a:solidFill>
              </a:rPr>
              <a:t>Platform.OS</a:t>
            </a:r>
            <a:r>
              <a:rPr lang="en-US" sz="3600" b="1" i="0" dirty="0">
                <a:solidFill>
                  <a:srgbClr val="111827"/>
                </a:solidFill>
              </a:rPr>
              <a:t> &amp; </a:t>
            </a:r>
            <a:r>
              <a:rPr lang="en-US" sz="3600" b="1" i="0" dirty="0" err="1">
                <a:solidFill>
                  <a:srgbClr val="111827"/>
                </a:solidFill>
              </a:rPr>
              <a:t>Platform.select</a:t>
            </a:r>
            <a:r>
              <a:rPr lang="en-US" sz="3600" b="1" i="0" dirty="0">
                <a:solidFill>
                  <a:srgbClr val="111827"/>
                </a:solidFill>
              </a:rPr>
              <a:t>()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AD9959-2861-9A54-1A19-16B0CE01B7DB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DEA993A-3D0E-77EA-5CE4-95BD90A8873F}"/>
              </a:ext>
            </a:extLst>
          </p:cNvPr>
          <p:cNvSpPr/>
          <p:nvPr/>
        </p:nvSpPr>
        <p:spPr>
          <a:xfrm>
            <a:off x="2093911" y="1127498"/>
            <a:ext cx="8001001" cy="468462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 sz="160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2F99C66-870E-258B-BF7C-C2864D18A58D}"/>
              </a:ext>
            </a:extLst>
          </p:cNvPr>
          <p:cNvSpPr/>
          <p:nvPr/>
        </p:nvSpPr>
        <p:spPr>
          <a:xfrm>
            <a:off x="2302889" y="1237226"/>
            <a:ext cx="7792023" cy="45748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shadow: {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Clean cross-platform shadow using Platform.select: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...Platform.select({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ios: {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shadowColor:   '#000',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shadowOffset:  { width: 0, height: 4 },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shadowOpacity:  0.12,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shadowRadius:   8,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android: {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elevation: 4,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}),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backgroundColor: '#FFFFFF',  // required for both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2239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7386"/>
            <a:ext cx="11338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111827"/>
                </a:solidFill>
              </a:rPr>
              <a:t>Box Model – Padding vs Margin</a:t>
            </a:r>
            <a:endParaRPr sz="3200" b="1" i="0" dirty="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AD84D36C-4C9D-065D-F38A-026AFCB5BCBF}"/>
              </a:ext>
            </a:extLst>
          </p:cNvPr>
          <p:cNvSpPr/>
          <p:nvPr/>
        </p:nvSpPr>
        <p:spPr>
          <a:xfrm>
            <a:off x="872044" y="1040130"/>
            <a:ext cx="4572000" cy="4229100"/>
          </a:xfrm>
          <a:prstGeom prst="rect">
            <a:avLst/>
          </a:prstGeom>
          <a:solidFill>
            <a:srgbClr val="1E3A5F"/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496BB9D6-98E5-7D03-BA85-A957A454D78E}"/>
              </a:ext>
            </a:extLst>
          </p:cNvPr>
          <p:cNvSpPr/>
          <p:nvPr/>
        </p:nvSpPr>
        <p:spPr>
          <a:xfrm>
            <a:off x="872044" y="104013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DB6A794C-EB33-A0FD-156C-7D29D213FA6F}"/>
              </a:ext>
            </a:extLst>
          </p:cNvPr>
          <p:cNvSpPr/>
          <p:nvPr/>
        </p:nvSpPr>
        <p:spPr>
          <a:xfrm>
            <a:off x="1192084" y="1424178"/>
            <a:ext cx="3931920" cy="3154680"/>
          </a:xfrm>
          <a:prstGeom prst="rect">
            <a:avLst/>
          </a:prstGeom>
          <a:solidFill>
            <a:srgbClr val="2D4A6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BD74CCBF-6943-0C81-1AEE-7BE5CE35C1ED}"/>
              </a:ext>
            </a:extLst>
          </p:cNvPr>
          <p:cNvSpPr/>
          <p:nvPr/>
        </p:nvSpPr>
        <p:spPr>
          <a:xfrm>
            <a:off x="1192084" y="148133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47AA7411-7D7B-6A57-9F80-D9A776E2E6B8}"/>
              </a:ext>
            </a:extLst>
          </p:cNvPr>
          <p:cNvSpPr/>
          <p:nvPr/>
        </p:nvSpPr>
        <p:spPr>
          <a:xfrm>
            <a:off x="1649284" y="1863090"/>
            <a:ext cx="3017520" cy="2377440"/>
          </a:xfrm>
          <a:prstGeom prst="rect">
            <a:avLst/>
          </a:prstGeom>
          <a:solidFill>
            <a:srgbClr val="003865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40752D3B-50CD-8A57-1B7B-9CC21501FF4B}"/>
              </a:ext>
            </a:extLst>
          </p:cNvPr>
          <p:cNvSpPr/>
          <p:nvPr/>
        </p:nvSpPr>
        <p:spPr>
          <a:xfrm>
            <a:off x="1649284" y="282321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6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161236F6-CD78-4C10-73D2-8825D079FE9A}"/>
              </a:ext>
            </a:extLst>
          </p:cNvPr>
          <p:cNvSpPr/>
          <p:nvPr/>
        </p:nvSpPr>
        <p:spPr>
          <a:xfrm>
            <a:off x="872044" y="4723456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— space OUTSIDE the border</a:t>
            </a: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(pushes other elements away)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7513B5FC-3CB5-05B8-8180-B04330599BDC}"/>
              </a:ext>
            </a:extLst>
          </p:cNvPr>
          <p:cNvSpPr/>
          <p:nvPr/>
        </p:nvSpPr>
        <p:spPr>
          <a:xfrm>
            <a:off x="6600827" y="226882"/>
            <a:ext cx="5466395" cy="595960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5FDF31B9-CDBA-0B0D-5A4C-63F344CC05B6}"/>
              </a:ext>
            </a:extLst>
          </p:cNvPr>
          <p:cNvSpPr/>
          <p:nvPr/>
        </p:nvSpPr>
        <p:spPr>
          <a:xfrm>
            <a:off x="6707701" y="226882"/>
            <a:ext cx="5267515" cy="3136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Padding — space INSIDE the border</a:t>
            </a:r>
            <a:endParaRPr lang="en-US" sz="12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Grows the clickable/visible area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card: {</a:t>
            </a:r>
            <a:endParaRPr lang="en-US" sz="12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          16,  // all sides</a:t>
            </a:r>
            <a:endParaRPr lang="en-US" sz="12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paddingHorizontal: 20,  // left + right</a:t>
            </a:r>
            <a:endParaRPr lang="en-US" sz="12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paddingVertical:   12,  // top + bottom</a:t>
            </a:r>
            <a:endParaRPr lang="en-US" sz="12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paddingTop:         8,  // single side</a:t>
            </a:r>
            <a:endParaRPr lang="en-US" sz="12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Margin — space OUTSIDE the border</a:t>
            </a:r>
            <a:endParaRPr lang="en-US" sz="12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Creates gaps between elements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item: {</a:t>
            </a:r>
            <a:endParaRPr lang="en-US" sz="12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margin:           12,</a:t>
            </a:r>
            <a:endParaRPr lang="en-US" sz="12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marginBottom:     16,   // space below each card</a:t>
            </a:r>
            <a:endParaRPr lang="en-US" sz="12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marginHorizontal: 20,   // page gutters</a:t>
            </a:r>
            <a:endParaRPr lang="en-US" sz="12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Key difference:</a:t>
            </a:r>
            <a:endParaRPr lang="en-US" sz="12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Padding: tap area grows with the element</a:t>
            </a:r>
            <a:endParaRPr lang="en-US" sz="12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Margin:  gap between elements, not tappable</a:t>
            </a:r>
            <a:endParaRPr lang="en-US" sz="1200" dirty="0"/>
          </a:p>
        </p:txBody>
      </p:sp>
      <p:sp>
        <p:nvSpPr>
          <p:cNvPr id="27" name="Shape 11">
            <a:extLst>
              <a:ext uri="{FF2B5EF4-FFF2-40B4-BE49-F238E27FC236}">
                <a16:creationId xmlns:a16="http://schemas.microsoft.com/office/drawing/2014/main" id="{AF6BF34B-9064-AE7B-861C-FE47DB6340B7}"/>
              </a:ext>
            </a:extLst>
          </p:cNvPr>
          <p:cNvSpPr/>
          <p:nvPr/>
        </p:nvSpPr>
        <p:spPr>
          <a:xfrm>
            <a:off x="119941" y="5512118"/>
            <a:ext cx="1950149" cy="828102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8B309810-37EF-C527-7214-BF68C4ECF488}"/>
              </a:ext>
            </a:extLst>
          </p:cNvPr>
          <p:cNvSpPr/>
          <p:nvPr/>
        </p:nvSpPr>
        <p:spPr>
          <a:xfrm>
            <a:off x="165661" y="5557838"/>
            <a:ext cx="18345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gutters</a:t>
            </a:r>
            <a:endParaRPr lang="en-US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7F6390F3-BE84-4BFB-BFBA-72C762214A79}"/>
              </a:ext>
            </a:extLst>
          </p:cNvPr>
          <p:cNvSpPr/>
          <p:nvPr/>
        </p:nvSpPr>
        <p:spPr>
          <a:xfrm>
            <a:off x="165661" y="5832158"/>
            <a:ext cx="18345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paddingHorizontal: 20</a:t>
            </a:r>
            <a:endParaRPr lang="en-US" dirty="0"/>
          </a:p>
        </p:txBody>
      </p:sp>
      <p:sp>
        <p:nvSpPr>
          <p:cNvPr id="39" name="Shape 14">
            <a:extLst>
              <a:ext uri="{FF2B5EF4-FFF2-40B4-BE49-F238E27FC236}">
                <a16:creationId xmlns:a16="http://schemas.microsoft.com/office/drawing/2014/main" id="{9F710FB2-4D89-83EB-A65B-71C7D2A5BB9D}"/>
              </a:ext>
            </a:extLst>
          </p:cNvPr>
          <p:cNvSpPr/>
          <p:nvPr/>
        </p:nvSpPr>
        <p:spPr>
          <a:xfrm>
            <a:off x="2161344" y="5512118"/>
            <a:ext cx="1950149" cy="828102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68545FAF-7983-D52E-439C-F7478C6923A6}"/>
              </a:ext>
            </a:extLst>
          </p:cNvPr>
          <p:cNvSpPr/>
          <p:nvPr/>
        </p:nvSpPr>
        <p:spPr>
          <a:xfrm>
            <a:off x="2207064" y="5557838"/>
            <a:ext cx="183458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inner space</a:t>
            </a:r>
            <a:endParaRPr lang="en-US" dirty="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1E5931E8-6D47-BADC-6236-BCAC2AC2CD0D}"/>
              </a:ext>
            </a:extLst>
          </p:cNvPr>
          <p:cNvSpPr/>
          <p:nvPr/>
        </p:nvSpPr>
        <p:spPr>
          <a:xfrm>
            <a:off x="2207064" y="5832158"/>
            <a:ext cx="183458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16</a:t>
            </a:r>
            <a:endParaRPr lang="en-US" dirty="0"/>
          </a:p>
        </p:txBody>
      </p:sp>
      <p:sp>
        <p:nvSpPr>
          <p:cNvPr id="51" name="Shape 17">
            <a:extLst>
              <a:ext uri="{FF2B5EF4-FFF2-40B4-BE49-F238E27FC236}">
                <a16:creationId xmlns:a16="http://schemas.microsoft.com/office/drawing/2014/main" id="{1F3D5515-3034-B8E9-C1C3-B3A4268F732F}"/>
              </a:ext>
            </a:extLst>
          </p:cNvPr>
          <p:cNvSpPr/>
          <p:nvPr/>
        </p:nvSpPr>
        <p:spPr>
          <a:xfrm>
            <a:off x="4221327" y="5512118"/>
            <a:ext cx="2303046" cy="828102"/>
          </a:xfrm>
          <a:prstGeom prst="rect">
            <a:avLst/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BB485535-750D-226C-E921-5504A13C40D9}"/>
              </a:ext>
            </a:extLst>
          </p:cNvPr>
          <p:cNvSpPr/>
          <p:nvPr/>
        </p:nvSpPr>
        <p:spPr>
          <a:xfrm>
            <a:off x="4287959" y="5643566"/>
            <a:ext cx="216657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between items</a:t>
            </a:r>
            <a:endParaRPr lang="en-US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BCAE8468-3C42-C46E-12D2-D3A04C07C4F4}"/>
              </a:ext>
            </a:extLst>
          </p:cNvPr>
          <p:cNvSpPr/>
          <p:nvPr/>
        </p:nvSpPr>
        <p:spPr>
          <a:xfrm>
            <a:off x="4287959" y="5832158"/>
            <a:ext cx="216657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marginBottom: 12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7386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Width &amp; Height — All the Ways to Size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6DF130FD-2213-DBE9-7ECD-EB941975F996}"/>
              </a:ext>
            </a:extLst>
          </p:cNvPr>
          <p:cNvSpPr/>
          <p:nvPr/>
        </p:nvSpPr>
        <p:spPr>
          <a:xfrm>
            <a:off x="565879" y="943629"/>
            <a:ext cx="6843714" cy="5781935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C8420569-A204-11C3-FCCA-A7E39A96B915}"/>
              </a:ext>
            </a:extLst>
          </p:cNvPr>
          <p:cNvSpPr/>
          <p:nvPr/>
        </p:nvSpPr>
        <p:spPr>
          <a:xfrm>
            <a:off x="703040" y="1053358"/>
            <a:ext cx="6435090" cy="3785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styles = StyleSheet.create({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Fixed size (dp) ──────────────────────────────────────────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avatar:  { width: 80, height: 80 },       // always 80×80 dp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Percentage strings ───────────────────────────────────────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halfWidth:  { width: '50%' },              // 50% of parent width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fullWidth:  { width: '100%' },             // spans entire parent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banner:     { width: '100%', height: 200 }, // full-width, fixed height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flex — fill available space ──────────────────────────────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fill:       { flex: 1 },                   // takes ALL remaining space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twoThirds:  { flex: 2 },                   // flex: 2 is twice flex: 1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oneThird:   { flex: 1 },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(above two in same row — 2/3 and 1/3 split)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Dimension utilities ──────────────────────────────────────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import { Dimensions } from 'react-native';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const { width, height } = Dimensions.get('window');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heroImage: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width: Dimensions.get('window').width,   // exact screen width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height: Dimensions.get('window').height * 0.4, // 40% of screen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minWidth / maxWidth ───────────────────────────────────────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button: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minWidth: 120,      // never smaller than 120dp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maxWidth: 400,      // never wider than 400dp (tablet safety)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81A034F5-6DFC-C923-1D77-125778997CF3}"/>
              </a:ext>
            </a:extLst>
          </p:cNvPr>
          <p:cNvSpPr/>
          <p:nvPr/>
        </p:nvSpPr>
        <p:spPr>
          <a:xfrm>
            <a:off x="8121023" y="1012587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Sizing Patterns</a:t>
            </a:r>
            <a:endParaRPr lang="en-US" sz="2400" dirty="0">
              <a:solidFill>
                <a:srgbClr val="3208CA"/>
              </a:solidFill>
            </a:endParaRPr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764134BD-ABF5-FF15-9901-7A0559678052}"/>
              </a:ext>
            </a:extLst>
          </p:cNvPr>
          <p:cNvSpPr/>
          <p:nvPr/>
        </p:nvSpPr>
        <p:spPr>
          <a:xfrm>
            <a:off x="8121023" y="1438310"/>
            <a:ext cx="3200400" cy="811189"/>
          </a:xfrm>
          <a:prstGeom prst="rect">
            <a:avLst/>
          </a:prstGeom>
          <a:solidFill>
            <a:srgbClr val="0EA5E9">
              <a:alpha val="60000"/>
            </a:srgbClr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ED833450-1517-AC20-67B2-C409A764A8E1}"/>
              </a:ext>
            </a:extLst>
          </p:cNvPr>
          <p:cNvSpPr/>
          <p:nvPr/>
        </p:nvSpPr>
        <p:spPr>
          <a:xfrm>
            <a:off x="8121023" y="1393340"/>
            <a:ext cx="320040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1 — fills ALL space</a:t>
            </a:r>
            <a:endParaRPr lang="en-US" sz="2400" dirty="0">
              <a:solidFill>
                <a:srgbClr val="3208CA"/>
              </a:solidFill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97A481E5-7940-790B-B611-6A62D1BBBDC1}"/>
              </a:ext>
            </a:extLst>
          </p:cNvPr>
          <p:cNvSpPr/>
          <p:nvPr/>
        </p:nvSpPr>
        <p:spPr>
          <a:xfrm>
            <a:off x="8121022" y="2663154"/>
            <a:ext cx="4067803" cy="331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 row split — flex:2 + flex:1</a:t>
            </a:r>
            <a:endParaRPr lang="en-US" sz="2400" b="1" dirty="0">
              <a:solidFill>
                <a:srgbClr val="3208CA"/>
              </a:solidFill>
            </a:endParaRPr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61B00F03-FB70-54AA-5129-0E4E2DEA86A6}"/>
              </a:ext>
            </a:extLst>
          </p:cNvPr>
          <p:cNvSpPr/>
          <p:nvPr/>
        </p:nvSpPr>
        <p:spPr>
          <a:xfrm>
            <a:off x="8074554" y="3156779"/>
            <a:ext cx="3674738" cy="566928"/>
          </a:xfrm>
          <a:prstGeom prst="rect">
            <a:avLst/>
          </a:prstGeom>
          <a:solidFill>
            <a:srgbClr val="8B5CF6">
              <a:alpha val="60000"/>
            </a:srgbClr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 sz="2800">
              <a:solidFill>
                <a:srgbClr val="3208C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6EBBF275-3082-1449-D72A-6B62B2002F83}"/>
              </a:ext>
            </a:extLst>
          </p:cNvPr>
          <p:cNvSpPr/>
          <p:nvPr/>
        </p:nvSpPr>
        <p:spPr>
          <a:xfrm>
            <a:off x="9156090" y="3137891"/>
            <a:ext cx="1412925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2</a:t>
            </a:r>
            <a:endParaRPr lang="en-US" sz="2000" dirty="0">
              <a:solidFill>
                <a:srgbClr val="3208CA"/>
              </a:solidFill>
            </a:endParaRPr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5B0BA302-7CFD-17A2-246C-735FC7BCE1B5}"/>
              </a:ext>
            </a:extLst>
          </p:cNvPr>
          <p:cNvSpPr/>
          <p:nvPr/>
        </p:nvSpPr>
        <p:spPr>
          <a:xfrm>
            <a:off x="8037752" y="312132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1</a:t>
            </a:r>
            <a:endParaRPr lang="en-US" sz="2000" dirty="0">
              <a:solidFill>
                <a:srgbClr val="3208CA"/>
              </a:solidFill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8B7DA29-CA55-87D0-795B-6CE003676841}"/>
              </a:ext>
            </a:extLst>
          </p:cNvPr>
          <p:cNvSpPr/>
          <p:nvPr/>
        </p:nvSpPr>
        <p:spPr>
          <a:xfrm>
            <a:off x="8074554" y="339677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width: '100%' — full parent width</a:t>
            </a:r>
            <a:endParaRPr lang="en-US" sz="10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ECCEAD-A69B-0B51-0D2A-A1A624876352}"/>
              </a:ext>
            </a:extLst>
          </p:cNvPr>
          <p:cNvCxnSpPr/>
          <p:nvPr/>
        </p:nvCxnSpPr>
        <p:spPr>
          <a:xfrm>
            <a:off x="9112517" y="3156779"/>
            <a:ext cx="0" cy="4960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DD65BA-055D-BA68-0192-A55AFF8CA510}"/>
              </a:ext>
            </a:extLst>
          </p:cNvPr>
          <p:cNvCxnSpPr/>
          <p:nvPr/>
        </p:nvCxnSpPr>
        <p:spPr>
          <a:xfrm>
            <a:off x="10658999" y="3156779"/>
            <a:ext cx="0" cy="4960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11">
            <a:extLst>
              <a:ext uri="{FF2B5EF4-FFF2-40B4-BE49-F238E27FC236}">
                <a16:creationId xmlns:a16="http://schemas.microsoft.com/office/drawing/2014/main" id="{BD5318B0-D7E3-2759-9657-573A93B31C51}"/>
              </a:ext>
            </a:extLst>
          </p:cNvPr>
          <p:cNvSpPr/>
          <p:nvPr/>
        </p:nvSpPr>
        <p:spPr>
          <a:xfrm>
            <a:off x="10744201" y="3121326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flex: 1</a:t>
            </a:r>
            <a:endParaRPr lang="en-US" sz="2000" dirty="0">
              <a:solidFill>
                <a:srgbClr val="3208CA"/>
              </a:solidFill>
            </a:endParaRPr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7803A15D-C711-7986-281D-A10EA2BFE82F}"/>
              </a:ext>
            </a:extLst>
          </p:cNvPr>
          <p:cNvSpPr/>
          <p:nvPr/>
        </p:nvSpPr>
        <p:spPr>
          <a:xfrm>
            <a:off x="7546755" y="4138711"/>
            <a:ext cx="4642070" cy="1965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width: '100%' — full parent width</a:t>
            </a:r>
            <a:endParaRPr lang="en-US" sz="2400" b="1" dirty="0">
              <a:solidFill>
                <a:srgbClr val="3208CA"/>
              </a:solidFill>
            </a:endParaRPr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E8286AAF-392D-8689-0A94-6F17FC2DCFDA}"/>
              </a:ext>
            </a:extLst>
          </p:cNvPr>
          <p:cNvSpPr/>
          <p:nvPr/>
        </p:nvSpPr>
        <p:spPr>
          <a:xfrm>
            <a:off x="8121023" y="4512639"/>
            <a:ext cx="3200399" cy="475488"/>
          </a:xfrm>
          <a:prstGeom prst="rect">
            <a:avLst/>
          </a:prstGeom>
          <a:solidFill>
            <a:srgbClr val="F59E0B">
              <a:alpha val="60000"/>
            </a:srgbClr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A36B2DBE-BEE3-0E79-0101-A7BE6FF7C55D}"/>
              </a:ext>
            </a:extLst>
          </p:cNvPr>
          <p:cNvSpPr/>
          <p:nvPr/>
        </p:nvSpPr>
        <p:spPr>
          <a:xfrm>
            <a:off x="8037752" y="4512639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width</a:t>
            </a:r>
            <a:endParaRPr lang="en-US" sz="2400" dirty="0">
              <a:solidFill>
                <a:srgbClr val="3208CA"/>
              </a:solidFill>
            </a:endParaRPr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83FCF28D-9336-19D0-238F-B4DFA884CBAB}"/>
              </a:ext>
            </a:extLst>
          </p:cNvPr>
          <p:cNvSpPr/>
          <p:nvPr/>
        </p:nvSpPr>
        <p:spPr>
          <a:xfrm>
            <a:off x="8308513" y="5284103"/>
            <a:ext cx="3711540" cy="3611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80×80 circle</a:t>
            </a:r>
            <a:endParaRPr lang="en-US" sz="2400" b="1" dirty="0">
              <a:solidFill>
                <a:srgbClr val="3208CA"/>
              </a:solidFill>
            </a:endParaRPr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CB2C8230-40C7-86D7-CE0C-A7A2A7FC51BE}"/>
              </a:ext>
            </a:extLst>
          </p:cNvPr>
          <p:cNvSpPr/>
          <p:nvPr/>
        </p:nvSpPr>
        <p:spPr>
          <a:xfrm>
            <a:off x="9097292" y="5690034"/>
            <a:ext cx="1007013" cy="910283"/>
          </a:xfrm>
          <a:prstGeom prst="ellipse">
            <a:avLst/>
          </a:prstGeom>
          <a:solidFill>
            <a:srgbClr val="EF4444">
              <a:alpha val="70000"/>
            </a:srgbClr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E717A012-AE74-4224-ADAA-4380EB48E0A9}"/>
              </a:ext>
            </a:extLst>
          </p:cNvPr>
          <p:cNvSpPr/>
          <p:nvPr/>
        </p:nvSpPr>
        <p:spPr>
          <a:xfrm>
            <a:off x="9097292" y="5690034"/>
            <a:ext cx="1007013" cy="91028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80×80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2516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Positioning — Relative vs Absolute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2AA52D32-E02F-F0C4-CCAE-203E01EE8F45}"/>
              </a:ext>
            </a:extLst>
          </p:cNvPr>
          <p:cNvSpPr/>
          <p:nvPr/>
        </p:nvSpPr>
        <p:spPr>
          <a:xfrm>
            <a:off x="365760" y="808719"/>
            <a:ext cx="7374884" cy="5989321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00917E6F-3B8E-7679-8EA0-5E738419C7BA}"/>
              </a:ext>
            </a:extLst>
          </p:cNvPr>
          <p:cNvSpPr/>
          <p:nvPr/>
        </p:nvSpPr>
        <p:spPr>
          <a:xfrm>
            <a:off x="502920" y="918448"/>
            <a:ext cx="7711690" cy="3822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position: 'relative' (DEFAULT) ─────────────────────────────────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element stays in normal flow.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top/left/right/bottom OFFSET from its normal position — doesn't affect siblings.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relativeBox: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'relative',  // default — can omit this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top: 10,               // nudge 10dp DOWN from where it would normally be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left: 5,               // nudge 5dp RIGHT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position: 'absolute' ────────────────────────────────────────────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Removed from normal flow — positioned relative to NEAREST PARENT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that has position:'relative' (or the screen if none).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overlay: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'absolute',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top:    0,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right:  0,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bottom: 0,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left:   0,           // stretch to fill parent completely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Shorthand for the above: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...StyleSheet.absoluteFillObject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badge: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'absolute',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top:   -8,           // hang above the parent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right: -8,           // hang to the right of the parent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zIndex: 10,          // stack above siblings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endParaRPr lang="en-US" sz="12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CAF08DCF-F55E-DBA1-0A3F-6F94F300B84F}"/>
              </a:ext>
            </a:extLst>
          </p:cNvPr>
          <p:cNvSpPr/>
          <p:nvPr/>
        </p:nvSpPr>
        <p:spPr>
          <a:xfrm>
            <a:off x="8572748" y="80467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Examples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C0A7DDC1-909D-1E8A-5FFB-FC3E195F908B}"/>
              </a:ext>
            </a:extLst>
          </p:cNvPr>
          <p:cNvSpPr/>
          <p:nvPr/>
        </p:nvSpPr>
        <p:spPr>
          <a:xfrm>
            <a:off x="8572748" y="1275367"/>
            <a:ext cx="3246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(absoluteFill)</a:t>
            </a:r>
            <a:endParaRPr lang="en-US" sz="2000" b="1" dirty="0">
              <a:solidFill>
                <a:srgbClr val="3208CA"/>
              </a:solidFill>
            </a:endParaRPr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F1F092D4-E6F6-7210-70DE-AB26CC85E5E1}"/>
              </a:ext>
            </a:extLst>
          </p:cNvPr>
          <p:cNvSpPr/>
          <p:nvPr/>
        </p:nvSpPr>
        <p:spPr>
          <a:xfrm>
            <a:off x="8214610" y="1714576"/>
            <a:ext cx="3776472" cy="1084059"/>
          </a:xfrm>
          <a:prstGeom prst="rect">
            <a:avLst/>
          </a:prstGeom>
          <a:solidFill>
            <a:schemeClr val="accent1">
              <a:lumMod val="75000"/>
              <a:alpha val="40000"/>
            </a:schemeClr>
          </a:solidFill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7DB82C99-E5FF-5F3A-E39F-BEC617A946FF}"/>
              </a:ext>
            </a:extLst>
          </p:cNvPr>
          <p:cNvSpPr/>
          <p:nvPr/>
        </p:nvSpPr>
        <p:spPr>
          <a:xfrm>
            <a:off x="8214610" y="1714577"/>
            <a:ext cx="3776472" cy="275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2000" dirty="0">
              <a:solidFill>
                <a:srgbClr val="3208CA"/>
              </a:solidFill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E47E330D-73EB-44A5-F41B-E53465E71518}"/>
              </a:ext>
            </a:extLst>
          </p:cNvPr>
          <p:cNvSpPr/>
          <p:nvPr/>
        </p:nvSpPr>
        <p:spPr>
          <a:xfrm>
            <a:off x="8214610" y="1897457"/>
            <a:ext cx="3776472" cy="7095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position: absolute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top:0 left:0 right:0 bottom:0</a:t>
            </a:r>
            <a:endParaRPr lang="en-US" sz="20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0C84F126-BEC8-7C7D-8F70-A600260E5887}"/>
              </a:ext>
            </a:extLst>
          </p:cNvPr>
          <p:cNvSpPr/>
          <p:nvPr/>
        </p:nvSpPr>
        <p:spPr>
          <a:xfrm>
            <a:off x="8042396" y="3034166"/>
            <a:ext cx="3776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(absolute top-right corner)</a:t>
            </a:r>
            <a:endParaRPr lang="en-US" sz="2000" b="1" dirty="0">
              <a:solidFill>
                <a:srgbClr val="3208CA"/>
              </a:solidFill>
            </a:endParaRPr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F1281133-B42F-6525-A2AE-CE70F41A09FF}"/>
              </a:ext>
            </a:extLst>
          </p:cNvPr>
          <p:cNvSpPr/>
          <p:nvPr/>
        </p:nvSpPr>
        <p:spPr>
          <a:xfrm>
            <a:off x="8938508" y="3464983"/>
            <a:ext cx="1828800" cy="1188720"/>
          </a:xfrm>
          <a:prstGeom prst="rect">
            <a:avLst/>
          </a:prstGeom>
          <a:solidFill>
            <a:srgbClr val="E2E8F0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AEFE4250-4263-6577-7B2C-44EFD23586B6}"/>
              </a:ext>
            </a:extLst>
          </p:cNvPr>
          <p:cNvSpPr/>
          <p:nvPr/>
        </p:nvSpPr>
        <p:spPr>
          <a:xfrm>
            <a:off x="8938508" y="3464983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Parent Card</a:t>
            </a:r>
            <a:endParaRPr lang="en-US" sz="2000" b="1" dirty="0"/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F6D84605-3AFE-20A5-CCA4-2DCB074AE28F}"/>
              </a:ext>
            </a:extLst>
          </p:cNvPr>
          <p:cNvSpPr/>
          <p:nvPr/>
        </p:nvSpPr>
        <p:spPr>
          <a:xfrm>
            <a:off x="10556996" y="3355255"/>
            <a:ext cx="384048" cy="38404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8252B389-161A-4A10-79B8-5A8B34CCBE11}"/>
              </a:ext>
            </a:extLst>
          </p:cNvPr>
          <p:cNvSpPr/>
          <p:nvPr/>
        </p:nvSpPr>
        <p:spPr>
          <a:xfrm>
            <a:off x="10556996" y="3355255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9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C5C5E4F7-1FE7-88E7-2D5B-09430EE50B0B}"/>
              </a:ext>
            </a:extLst>
          </p:cNvPr>
          <p:cNvSpPr/>
          <p:nvPr/>
        </p:nvSpPr>
        <p:spPr>
          <a:xfrm>
            <a:off x="10749020" y="3556423"/>
            <a:ext cx="1" cy="365760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16">
            <a:extLst>
              <a:ext uri="{FF2B5EF4-FFF2-40B4-BE49-F238E27FC236}">
                <a16:creationId xmlns:a16="http://schemas.microsoft.com/office/drawing/2014/main" id="{432E83C8-BFF1-B74E-315D-528E3BDA8CFC}"/>
              </a:ext>
            </a:extLst>
          </p:cNvPr>
          <p:cNvSpPr/>
          <p:nvPr/>
        </p:nvSpPr>
        <p:spPr>
          <a:xfrm>
            <a:off x="10374116" y="3739303"/>
            <a:ext cx="365760" cy="1"/>
          </a:xfrm>
          <a:prstGeom prst="line">
            <a:avLst/>
          </a:prstGeom>
          <a:noFill/>
          <a:ln w="19050">
            <a:solidFill>
              <a:srgbClr val="EF444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08BCB4F2-BC78-C937-3606-CD018A838362}"/>
              </a:ext>
            </a:extLst>
          </p:cNvPr>
          <p:cNvSpPr/>
          <p:nvPr/>
        </p:nvSpPr>
        <p:spPr>
          <a:xfrm>
            <a:off x="10767308" y="3699727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top:-8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right:-8</a:t>
            </a:r>
            <a:endParaRPr lang="en-US" sz="2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C491DDFE-8725-0311-C660-36D1318A0787}"/>
              </a:ext>
            </a:extLst>
          </p:cNvPr>
          <p:cNvSpPr/>
          <p:nvPr/>
        </p:nvSpPr>
        <p:spPr>
          <a:xfrm>
            <a:off x="7914807" y="5249381"/>
            <a:ext cx="4260677" cy="9023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StyleSheet.absoluteFillObject</a:t>
            </a: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= { position:'absolute', top:0, left:0, right:0, bottom:0 } 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 it for overlays</a:t>
            </a: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B829F8-DCB7-CD6E-6EBC-7DCD8CAD1511}"/>
              </a:ext>
            </a:extLst>
          </p:cNvPr>
          <p:cNvSpPr/>
          <p:nvPr/>
        </p:nvSpPr>
        <p:spPr>
          <a:xfrm>
            <a:off x="457200" y="61639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0139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Opacity &amp; Transparency  </a:t>
            </a: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CE1DE4A8-F15D-F050-F386-0C814D08AC17}"/>
              </a:ext>
            </a:extLst>
          </p:cNvPr>
          <p:cNvSpPr/>
          <p:nvPr/>
        </p:nvSpPr>
        <p:spPr>
          <a:xfrm>
            <a:off x="365759" y="793730"/>
            <a:ext cx="7609007" cy="570997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1FDC3ADF-B8AA-F0C7-9AED-540EC10B78CA}"/>
              </a:ext>
            </a:extLst>
          </p:cNvPr>
          <p:cNvSpPr/>
          <p:nvPr/>
        </p:nvSpPr>
        <p:spPr>
          <a:xfrm>
            <a:off x="502920" y="903458"/>
            <a:ext cx="7187034" cy="3822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1. opacity style prop ──────────────────────────────────────────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Affects the WHOLE element — including children and text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view: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opacity: 0.5,   // 0.0 = fully transparent, 1.0 = fully opaque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⚠️  Children inherit opacity — you can't make a child more opaque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than its parent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2. rgba() in backgroundColor ───────────────────────────────────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Only the background is transparent — children are unaffected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overlay: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backgroundColor: 'rgba(0, 56, 101, 0.7)',  // 70% navy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3. transparent keyword ──────────────────────────────────────────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Fully invisible background — useful for removing default bg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noBackground: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backgroundColor: 'transparent',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── Common pattern: semi-transparent overlay ────────────────────────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photoOverlay: {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position: 'absolute',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bottom: 0, left: 0, right: 0,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backgroundColor: 'rgba(0, 0, 0, 0.5)',  // dark gradient effect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padding: 16,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80D2DB65-F38E-F819-2738-B21BB7C83BD4}"/>
              </a:ext>
            </a:extLst>
          </p:cNvPr>
          <p:cNvSpPr/>
          <p:nvPr/>
        </p:nvSpPr>
        <p:spPr>
          <a:xfrm>
            <a:off x="8360017" y="840421"/>
            <a:ext cx="380150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Opacity Scale</a:t>
            </a:r>
            <a:endParaRPr lang="en-US" sz="2000" dirty="0">
              <a:solidFill>
                <a:srgbClr val="3208CA"/>
              </a:solidFill>
            </a:endParaRPr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A48BA0B1-2472-713A-D531-1967ADAADE10}"/>
              </a:ext>
            </a:extLst>
          </p:cNvPr>
          <p:cNvSpPr/>
          <p:nvPr/>
        </p:nvSpPr>
        <p:spPr>
          <a:xfrm>
            <a:off x="8360017" y="1266141"/>
            <a:ext cx="1280160" cy="530352"/>
          </a:xfrm>
          <a:prstGeom prst="rect">
            <a:avLst/>
          </a:prstGeom>
          <a:solidFill>
            <a:srgbClr val="003865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EA6AF154-B0D3-3123-C570-3B2A1DEF75B8}"/>
              </a:ext>
            </a:extLst>
          </p:cNvPr>
          <p:cNvSpPr/>
          <p:nvPr/>
        </p:nvSpPr>
        <p:spPr>
          <a:xfrm>
            <a:off x="9713328" y="1311861"/>
            <a:ext cx="22638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opacity: 1.0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B30B7C11-0AA3-CA3D-15F7-7836A0EABF51}"/>
              </a:ext>
            </a:extLst>
          </p:cNvPr>
          <p:cNvSpPr/>
          <p:nvPr/>
        </p:nvSpPr>
        <p:spPr>
          <a:xfrm>
            <a:off x="9713328" y="1558749"/>
            <a:ext cx="22638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Fully opaque</a:t>
            </a:r>
            <a:endParaRPr lang="en-US" sz="2000" dirty="0"/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5A612E80-C084-AD33-89BD-5D553DB9C832}"/>
              </a:ext>
            </a:extLst>
          </p:cNvPr>
          <p:cNvSpPr/>
          <p:nvPr/>
        </p:nvSpPr>
        <p:spPr>
          <a:xfrm>
            <a:off x="8360017" y="1924509"/>
            <a:ext cx="1280160" cy="530352"/>
          </a:xfrm>
          <a:prstGeom prst="rect">
            <a:avLst/>
          </a:prstGeom>
          <a:solidFill>
            <a:srgbClr val="003865">
              <a:alpha val="75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05C85793-B55E-E1C2-E724-229642AF83CA}"/>
              </a:ext>
            </a:extLst>
          </p:cNvPr>
          <p:cNvSpPr/>
          <p:nvPr/>
        </p:nvSpPr>
        <p:spPr>
          <a:xfrm>
            <a:off x="9713328" y="1970229"/>
            <a:ext cx="22638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opacity: 0.75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C4BD7EE2-46B7-057E-F820-E3C10EC0ED04}"/>
              </a:ext>
            </a:extLst>
          </p:cNvPr>
          <p:cNvSpPr/>
          <p:nvPr/>
        </p:nvSpPr>
        <p:spPr>
          <a:xfrm>
            <a:off x="9713328" y="2217117"/>
            <a:ext cx="22638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Slightly transparent</a:t>
            </a:r>
            <a:endParaRPr lang="en-US" sz="2000" dirty="0"/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90A321EA-B18C-88D5-77DA-86A4E54CE275}"/>
              </a:ext>
            </a:extLst>
          </p:cNvPr>
          <p:cNvSpPr/>
          <p:nvPr/>
        </p:nvSpPr>
        <p:spPr>
          <a:xfrm>
            <a:off x="8360017" y="2582877"/>
            <a:ext cx="1280160" cy="530352"/>
          </a:xfrm>
          <a:prstGeom prst="rect">
            <a:avLst/>
          </a:prstGeom>
          <a:solidFill>
            <a:srgbClr val="003865">
              <a:alpha val="50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C1F95F7D-3166-B476-36E0-DFFC5E09BACE}"/>
              </a:ext>
            </a:extLst>
          </p:cNvPr>
          <p:cNvSpPr/>
          <p:nvPr/>
        </p:nvSpPr>
        <p:spPr>
          <a:xfrm>
            <a:off x="9713328" y="2628597"/>
            <a:ext cx="22638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opacity: 0.5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EFA1CBCD-688F-F359-B915-A1AF7A5BE10C}"/>
              </a:ext>
            </a:extLst>
          </p:cNvPr>
          <p:cNvSpPr/>
          <p:nvPr/>
        </p:nvSpPr>
        <p:spPr>
          <a:xfrm>
            <a:off x="9713328" y="2875485"/>
            <a:ext cx="22638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Half transparent</a:t>
            </a:r>
            <a:endParaRPr lang="en-US" sz="2000" dirty="0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76583368-C5C9-A057-A51B-B9D845B3B7E8}"/>
              </a:ext>
            </a:extLst>
          </p:cNvPr>
          <p:cNvSpPr/>
          <p:nvPr/>
        </p:nvSpPr>
        <p:spPr>
          <a:xfrm>
            <a:off x="8360017" y="3241245"/>
            <a:ext cx="1280160" cy="530352"/>
          </a:xfrm>
          <a:prstGeom prst="rect">
            <a:avLst/>
          </a:prstGeom>
          <a:solidFill>
            <a:srgbClr val="003865">
              <a:alpha val="2500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15">
            <a:extLst>
              <a:ext uri="{FF2B5EF4-FFF2-40B4-BE49-F238E27FC236}">
                <a16:creationId xmlns:a16="http://schemas.microsoft.com/office/drawing/2014/main" id="{3C473EC6-4724-F86F-FE16-E44910A376A7}"/>
              </a:ext>
            </a:extLst>
          </p:cNvPr>
          <p:cNvSpPr/>
          <p:nvPr/>
        </p:nvSpPr>
        <p:spPr>
          <a:xfrm>
            <a:off x="9713328" y="3286965"/>
            <a:ext cx="22638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opacity: 0.25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66" name="Text 16">
            <a:extLst>
              <a:ext uri="{FF2B5EF4-FFF2-40B4-BE49-F238E27FC236}">
                <a16:creationId xmlns:a16="http://schemas.microsoft.com/office/drawing/2014/main" id="{A85E1A59-C163-0C27-ECF6-EBB3528640B6}"/>
              </a:ext>
            </a:extLst>
          </p:cNvPr>
          <p:cNvSpPr/>
          <p:nvPr/>
        </p:nvSpPr>
        <p:spPr>
          <a:xfrm>
            <a:off x="9713328" y="3533853"/>
            <a:ext cx="22638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Mostly transparent</a:t>
            </a:r>
            <a:endParaRPr lang="en-US" sz="2000" dirty="0"/>
          </a:p>
        </p:txBody>
      </p:sp>
      <p:sp>
        <p:nvSpPr>
          <p:cNvPr id="68" name="Shape 17">
            <a:extLst>
              <a:ext uri="{FF2B5EF4-FFF2-40B4-BE49-F238E27FC236}">
                <a16:creationId xmlns:a16="http://schemas.microsoft.com/office/drawing/2014/main" id="{F3BA0733-B041-53A1-1F72-45EB6743AD2F}"/>
              </a:ext>
            </a:extLst>
          </p:cNvPr>
          <p:cNvSpPr/>
          <p:nvPr/>
        </p:nvSpPr>
        <p:spPr>
          <a:xfrm>
            <a:off x="8360017" y="3899613"/>
            <a:ext cx="1280160" cy="530352"/>
          </a:xfrm>
          <a:prstGeom prst="rect">
            <a:avLst/>
          </a:prstGeom>
          <a:solidFill>
            <a:srgbClr val="003865">
              <a:alpha val="0"/>
            </a:srgbClr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18">
            <a:extLst>
              <a:ext uri="{FF2B5EF4-FFF2-40B4-BE49-F238E27FC236}">
                <a16:creationId xmlns:a16="http://schemas.microsoft.com/office/drawing/2014/main" id="{915D9FB9-C031-5C68-A261-94EBBCFA7E16}"/>
              </a:ext>
            </a:extLst>
          </p:cNvPr>
          <p:cNvSpPr/>
          <p:nvPr/>
        </p:nvSpPr>
        <p:spPr>
          <a:xfrm>
            <a:off x="9713328" y="3945333"/>
            <a:ext cx="22638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opacity: 0.0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9E3C3EDE-A1A8-9569-2229-C6975338B8AA}"/>
              </a:ext>
            </a:extLst>
          </p:cNvPr>
          <p:cNvSpPr/>
          <p:nvPr/>
        </p:nvSpPr>
        <p:spPr>
          <a:xfrm>
            <a:off x="9713328" y="4192221"/>
            <a:ext cx="226381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Invisible</a:t>
            </a:r>
            <a:endParaRPr lang="en-US" sz="2000" dirty="0"/>
          </a:p>
        </p:txBody>
      </p:sp>
      <p:sp>
        <p:nvSpPr>
          <p:cNvPr id="76" name="Text 21">
            <a:extLst>
              <a:ext uri="{FF2B5EF4-FFF2-40B4-BE49-F238E27FC236}">
                <a16:creationId xmlns:a16="http://schemas.microsoft.com/office/drawing/2014/main" id="{4992A578-08D6-A3F4-02BC-8E985D4D2C90}"/>
              </a:ext>
            </a:extLst>
          </p:cNvPr>
          <p:cNvSpPr/>
          <p:nvPr/>
        </p:nvSpPr>
        <p:spPr>
          <a:xfrm>
            <a:off x="7974766" y="4844609"/>
            <a:ext cx="4186754" cy="9930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⚠️  Avoid animating opacity on Android via the style prop — use Animated.Value or Reanimated for performance</a:t>
            </a:r>
            <a:endParaRPr lang="en-US" sz="2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E9B2CC-88EC-E2AA-98B9-06E91F74A411}"/>
              </a:ext>
            </a:extLst>
          </p:cNvPr>
          <p:cNvSpPr/>
          <p:nvPr/>
        </p:nvSpPr>
        <p:spPr>
          <a:xfrm>
            <a:off x="457200" y="67635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6C1106-6ECC-7535-A64C-1145F6E79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3FB869-0F95-BCBB-27B2-E3EFF470CBB4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21F730-C3DE-3798-8773-6301B8489D77}"/>
              </a:ext>
            </a:extLst>
          </p:cNvPr>
          <p:cNvSpPr txBox="1"/>
          <p:nvPr/>
        </p:nvSpPr>
        <p:spPr>
          <a:xfrm>
            <a:off x="457200" y="195029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Complete </a:t>
            </a:r>
            <a:r>
              <a:rPr lang="en-US" sz="3600" b="1" dirty="0" err="1">
                <a:solidFill>
                  <a:srgbClr val="111827"/>
                </a:solidFill>
              </a:rPr>
              <a:t>StyleSheet</a:t>
            </a:r>
            <a:r>
              <a:rPr lang="en-US" sz="3600" b="1" dirty="0">
                <a:solidFill>
                  <a:srgbClr val="111827"/>
                </a:solidFill>
              </a:rPr>
              <a:t> — Putting It All Together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7EC395-95DC-27FF-0580-94C763155346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A9AB19-28BB-49A5-34D1-8B1691D143E0}"/>
              </a:ext>
            </a:extLst>
          </p:cNvPr>
          <p:cNvGrpSpPr/>
          <p:nvPr/>
        </p:nvGrpSpPr>
        <p:grpSpPr>
          <a:xfrm>
            <a:off x="2419413" y="1038521"/>
            <a:ext cx="9540338" cy="5501683"/>
            <a:chOff x="1505013" y="1161288"/>
            <a:chExt cx="9540338" cy="5501683"/>
          </a:xfrm>
        </p:grpSpPr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A2E5DB7B-9147-54D2-8B37-B6BD1C1C9642}"/>
                </a:ext>
              </a:extLst>
            </p:cNvPr>
            <p:cNvSpPr/>
            <p:nvPr/>
          </p:nvSpPr>
          <p:spPr>
            <a:xfrm>
              <a:off x="1505013" y="1161288"/>
              <a:ext cx="9540338" cy="5501683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21B96648-F040-F826-EF96-3A947C2674C3}"/>
                </a:ext>
              </a:extLst>
            </p:cNvPr>
            <p:cNvSpPr/>
            <p:nvPr/>
          </p:nvSpPr>
          <p:spPr>
            <a:xfrm>
              <a:off x="1567219" y="1280160"/>
              <a:ext cx="9229240" cy="3639312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const styles = StyleSheet.create({</a:t>
              </a:r>
              <a:endParaRPr lang="en-US" sz="1400" dirty="0"/>
            </a:p>
            <a:p>
              <a:pPr marL="0" indent="0" algn="l">
                <a:buNone/>
              </a:pP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── The card container ─────────────────────────────────────────────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card: {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backgroundColor:  '#FFFFFF',        // opaque bg (required for shadow)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borderRadius:     16,               // rounded corners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marginHorizontal: 16,               // page gutters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marginBottom:     12,               // space between cards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overflow:         'hidden',         // clips children to borderRadius</a:t>
              </a:r>
              <a:endParaRPr lang="en-US" sz="1400" dirty="0"/>
            </a:p>
            <a:p>
              <a:pPr marL="0" indent="0" algn="l">
                <a:buNone/>
              </a:pP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// iOS shadow: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shadowColor:      '#000000',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shadowOffset:     { width: 0, height: 4 },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shadowOpacity:    0.10,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shadowRadius:     8,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// Android shadow: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elevation:        4,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},</a:t>
              </a:r>
              <a:endParaRPr lang="en-US" sz="1400" dirty="0"/>
            </a:p>
            <a:p>
              <a:pPr marL="0" indent="0" algn="l">
                <a:buNone/>
              </a:pP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── The image inside the card ──────────────────────────────────────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poster: {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width:            '100%',           // fills card width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height:           220,              // fixed height</a:t>
              </a:r>
              <a:endParaRPr lang="en-US" sz="1400" dirty="0"/>
            </a:p>
            <a:p>
              <a:pPr marL="0" indent="0" algn="l">
                <a:buNone/>
              </a:pPr>
              <a:r>
                <a:rPr lang="en-US" sz="14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},</a:t>
              </a:r>
            </a:p>
            <a:p>
              <a:pPr marL="0" indent="0" algn="l">
                <a:buNone/>
              </a:pPr>
              <a:endParaRPr lang="en-US" sz="1400" dirty="0"/>
            </a:p>
          </p:txBody>
        </p:sp>
      </p:grpSp>
      <p:sp>
        <p:nvSpPr>
          <p:cNvPr id="8" name="Text 2">
            <a:extLst>
              <a:ext uri="{FF2B5EF4-FFF2-40B4-BE49-F238E27FC236}">
                <a16:creationId xmlns:a16="http://schemas.microsoft.com/office/drawing/2014/main" id="{4CF38D2A-E80D-5E41-9513-76365154A35C}"/>
              </a:ext>
            </a:extLst>
          </p:cNvPr>
          <p:cNvSpPr/>
          <p:nvPr/>
        </p:nvSpPr>
        <p:spPr>
          <a:xfrm>
            <a:off x="201168" y="3256913"/>
            <a:ext cx="2280451" cy="1057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production card component using everything covered today.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55619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3A7A37-0432-9F39-DEB6-4885F3872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E5AEF1-D99F-4F16-1CC5-D243C49DA796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C55507-9CF1-945D-238C-455781A41208}"/>
              </a:ext>
            </a:extLst>
          </p:cNvPr>
          <p:cNvSpPr txBox="1"/>
          <p:nvPr/>
        </p:nvSpPr>
        <p:spPr>
          <a:xfrm>
            <a:off x="457200" y="30139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Complete </a:t>
            </a:r>
            <a:r>
              <a:rPr lang="en-US" sz="3600" b="1" dirty="0" err="1">
                <a:solidFill>
                  <a:srgbClr val="111827"/>
                </a:solidFill>
              </a:rPr>
              <a:t>StyleSheet</a:t>
            </a:r>
            <a:r>
              <a:rPr lang="en-US" sz="3600" b="1" dirty="0">
                <a:solidFill>
                  <a:srgbClr val="111827"/>
                </a:solidFill>
              </a:rPr>
              <a:t> — Putting It All Together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8AE393-2D98-4FFF-2948-B7B670C1B0BD}"/>
              </a:ext>
            </a:extLst>
          </p:cNvPr>
          <p:cNvSpPr/>
          <p:nvPr/>
        </p:nvSpPr>
        <p:spPr>
          <a:xfrm>
            <a:off x="457200" y="6913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53C66E20-35D5-C47F-21A2-746073913E97}"/>
              </a:ext>
            </a:extLst>
          </p:cNvPr>
          <p:cNvSpPr/>
          <p:nvPr/>
        </p:nvSpPr>
        <p:spPr>
          <a:xfrm>
            <a:off x="201168" y="3256913"/>
            <a:ext cx="2858774" cy="1057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production card component using everything covered today.</a:t>
            </a:r>
            <a:endParaRPr lang="en-US" sz="24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27737F51-CFA7-6833-AB66-F468F02785DE}"/>
              </a:ext>
            </a:extLst>
          </p:cNvPr>
          <p:cNvSpPr/>
          <p:nvPr/>
        </p:nvSpPr>
        <p:spPr>
          <a:xfrm>
            <a:off x="3019020" y="821387"/>
            <a:ext cx="8939084" cy="591789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DFA81D79-717B-4028-8B7F-38C32490AAA6}"/>
              </a:ext>
            </a:extLst>
          </p:cNvPr>
          <p:cNvSpPr/>
          <p:nvPr/>
        </p:nvSpPr>
        <p:spPr>
          <a:xfrm>
            <a:off x="3156180" y="931115"/>
            <a:ext cx="8275320" cy="3639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Info section below the image ──────────────────────────────────</a:t>
            </a:r>
            <a:endParaRPr lang="en-US" sz="11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info: {</a:t>
            </a:r>
            <a:endParaRPr lang="en-US" sz="11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padding:          16,</a:t>
            </a:r>
            <a:endParaRPr lang="en-US" sz="11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Title text ────────────────────────────────────────────────────</a:t>
            </a:r>
            <a:endParaRPr lang="en-US" sz="11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{</a:t>
            </a:r>
            <a:endParaRPr lang="en-US" sz="11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fontSize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 18,</a:t>
            </a:r>
            <a:endParaRPr lang="en-US" sz="11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fontWeight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'700',</a:t>
            </a:r>
            <a:endParaRPr lang="en-US" sz="11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color:            '#0F172A',</a:t>
            </a:r>
            <a:endParaRPr lang="en-US" sz="11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lineHeight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26,</a:t>
            </a:r>
            <a:endParaRPr lang="en-US" sz="11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marginBottom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4,</a:t>
            </a:r>
            <a:endParaRPr lang="en-US" sz="11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── Genre badge ───────────────────────────────────────────────────</a:t>
            </a:r>
            <a:endParaRPr lang="en-US" sz="11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badge: {</a:t>
            </a:r>
            <a:endParaRPr lang="en-US" sz="11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alignSelf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 'flex-start',     // shrink to text width</a:t>
            </a:r>
            <a:endParaRPr lang="en-US" sz="11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backgroundColor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'#F1F5F9',</a:t>
            </a:r>
            <a:endParaRPr lang="en-US" sz="11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borderRadius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999,              // pill shape</a:t>
            </a:r>
            <a:endParaRPr lang="en-US" sz="11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paddingHorizontal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10,</a:t>
            </a:r>
            <a:endParaRPr lang="en-US" sz="11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paddingVertical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3,</a:t>
            </a:r>
            <a:endParaRPr lang="en-US" sz="11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borderWidth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 1,</a:t>
            </a:r>
            <a:endParaRPr lang="en-US" sz="11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borderColor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'#E2E8F0',</a:t>
            </a:r>
            <a:endParaRPr lang="en-US" sz="11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878907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C22E43-71C3-7F7C-819E-8618A4CD5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E55A38-D164-9C97-232D-4CDC9F8223B3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8BDB74-3D6C-39A1-AA63-129B1D76E2C0}"/>
              </a:ext>
            </a:extLst>
          </p:cNvPr>
          <p:cNvSpPr txBox="1"/>
          <p:nvPr/>
        </p:nvSpPr>
        <p:spPr>
          <a:xfrm>
            <a:off x="457200" y="45129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Complete </a:t>
            </a:r>
            <a:r>
              <a:rPr lang="en-US" sz="3600" b="1" dirty="0" err="1">
                <a:solidFill>
                  <a:srgbClr val="111827"/>
                </a:solidFill>
              </a:rPr>
              <a:t>StyleSheet</a:t>
            </a:r>
            <a:r>
              <a:rPr lang="en-US" sz="3600" b="1" dirty="0">
                <a:solidFill>
                  <a:srgbClr val="111827"/>
                </a:solidFill>
              </a:rPr>
              <a:t> — Putting It All Together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E8345AE-DD2C-9C83-6067-09067609CE60}"/>
              </a:ext>
            </a:extLst>
          </p:cNvPr>
          <p:cNvSpPr/>
          <p:nvPr/>
        </p:nvSpPr>
        <p:spPr>
          <a:xfrm>
            <a:off x="425132" y="750417"/>
            <a:ext cx="11338559" cy="863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real production card component using everything covered today.</a:t>
            </a:r>
            <a:endParaRPr lang="en-US" sz="24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729AE27-F2CF-C37E-7C68-1FC1F5495364}"/>
              </a:ext>
            </a:extLst>
          </p:cNvPr>
          <p:cNvGrpSpPr/>
          <p:nvPr/>
        </p:nvGrpSpPr>
        <p:grpSpPr>
          <a:xfrm>
            <a:off x="1579963" y="1944871"/>
            <a:ext cx="8275320" cy="2968258"/>
            <a:chOff x="365760" y="1199008"/>
            <a:chExt cx="8275320" cy="2968258"/>
          </a:xfrm>
        </p:grpSpPr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B493BC85-EA5C-9B9A-7288-C104115D93FA}"/>
                </a:ext>
              </a:extLst>
            </p:cNvPr>
            <p:cNvSpPr/>
            <p:nvPr/>
          </p:nvSpPr>
          <p:spPr>
            <a:xfrm>
              <a:off x="365760" y="1199008"/>
              <a:ext cx="8275320" cy="2968258"/>
            </a:xfrm>
            <a:prstGeom prst="rect">
              <a:avLst/>
            </a:prstGeom>
            <a:solidFill>
              <a:srgbClr val="1E293B"/>
            </a:solidFill>
            <a:ln w="12700">
              <a:solidFill>
                <a:srgbClr val="334155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5000"/>
                </a:srgbClr>
              </a:outerShdw>
            </a:effectLst>
          </p:spPr>
          <p:txBody>
            <a:bodyPr/>
            <a:lstStyle/>
            <a:p>
              <a:endParaRPr lang="en-US" sz="2800"/>
            </a:p>
          </p:txBody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2B47352A-CDF3-03D9-4360-57437C1B08DA}"/>
                </a:ext>
              </a:extLst>
            </p:cNvPr>
            <p:cNvSpPr/>
            <p:nvPr/>
          </p:nvSpPr>
          <p:spPr>
            <a:xfrm>
              <a:off x="502920" y="1308736"/>
              <a:ext cx="8138160" cy="285853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l">
                <a:buNone/>
              </a:pPr>
              <a:endParaRPr lang="en-US" sz="1100" dirty="0"/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// ── Rating text ───────────────────────────────────────────────────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rating: {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</a:t>
              </a:r>
              <a:r>
                <a:rPr lang="en-US" sz="1600" dirty="0" err="1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fontSize</a:t>
              </a:r>
              <a:r>
                <a:rPr lang="en-US" sz="16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        14,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</a:t>
              </a:r>
              <a:r>
                <a:rPr lang="en-US" sz="1600" dirty="0" err="1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fontWeight</a:t>
              </a:r>
              <a:r>
                <a:rPr lang="en-US" sz="16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:       '700',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color:            '#F59E0B',        // amber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position:         'absolute',       // top-right corner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top:              16,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  right:            16,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  },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1600" dirty="0">
                  <a:solidFill>
                    <a:srgbClr val="E2E8F0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});</a:t>
              </a:r>
              <a:endParaRPr lang="en-US" sz="1100" dirty="0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015D35D7-D447-E1DB-5896-98566E443AA4}"/>
              </a:ext>
            </a:extLst>
          </p:cNvPr>
          <p:cNvSpPr/>
          <p:nvPr/>
        </p:nvSpPr>
        <p:spPr>
          <a:xfrm>
            <a:off x="457200" y="76629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50090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18961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dirty="0">
                <a:solidFill>
                  <a:srgbClr val="111827"/>
                </a:solidFill>
              </a:rPr>
              <a:t>Activity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C78A4893-ED19-E8C2-11E0-16B8E361E473}"/>
              </a:ext>
            </a:extLst>
          </p:cNvPr>
          <p:cNvSpPr/>
          <p:nvPr/>
        </p:nvSpPr>
        <p:spPr>
          <a:xfrm>
            <a:off x="1828799" y="3498151"/>
            <a:ext cx="7400925" cy="2374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DC01B73-D2EB-4266-BC0F-D4959B3C1032}"/>
              </a:ext>
            </a:extLst>
          </p:cNvPr>
          <p:cNvSpPr/>
          <p:nvPr/>
        </p:nvSpPr>
        <p:spPr>
          <a:xfrm>
            <a:off x="0" y="1008511"/>
            <a:ext cx="1218882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20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the Movie Detail Screen — From Bare to Beautiful</a:t>
            </a:r>
            <a:endParaRPr lang="en-US" sz="3200" b="1" dirty="0">
              <a:solidFill>
                <a:srgbClr val="3208CA"/>
              </a:solidFill>
            </a:endParaRP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5C12B86A-2880-56F2-45C2-B9370F9718DE}"/>
              </a:ext>
            </a:extLst>
          </p:cNvPr>
          <p:cNvSpPr/>
          <p:nvPr/>
        </p:nvSpPr>
        <p:spPr>
          <a:xfrm>
            <a:off x="457201" y="2726354"/>
            <a:ext cx="1114518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1.  Open RateIt final — look at the existing styles</a:t>
            </a:r>
            <a:endParaRPr lang="en-US" sz="32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2.  Identify every StyleSheet.create() prop in use</a:t>
            </a:r>
            <a:endParaRPr lang="en-US" sz="32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3.  Walk through shadow: iOS props + elevation side-by-side</a:t>
            </a:r>
            <a:endParaRPr lang="en-US" sz="32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4.  Change the palette — swap hex values in one place</a:t>
            </a:r>
            <a:endParaRPr lang="en-US" sz="32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5.  Add platform-specific padding with Platform.select()</a:t>
            </a:r>
            <a:endParaRPr lang="en-US" sz="32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6.  Add a semi-transparent overlay on the poster using rgba()</a:t>
            </a:r>
            <a:endParaRPr lang="en-US" sz="3200" dirty="0"/>
          </a:p>
          <a:p>
            <a:pPr marL="0" indent="0" algn="l">
              <a:spcAft>
                <a:spcPts val="1200"/>
              </a:spcAft>
              <a:buNone/>
            </a:pPr>
            <a:r>
              <a:rPr lang="en-US" sz="3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7.  Test: iOS simulator vs Android emulator — spot the differences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00F10-9EEA-255C-EA82-F439D20F4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201786-CBF9-03B9-325D-FA5D73BC6E74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0E44F4-3802-9C3E-F077-222144EF3E58}"/>
              </a:ext>
            </a:extLst>
          </p:cNvPr>
          <p:cNvSpPr txBox="1"/>
          <p:nvPr/>
        </p:nvSpPr>
        <p:spPr>
          <a:xfrm>
            <a:off x="457200" y="54071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111827"/>
                </a:solidFill>
              </a:rPr>
              <a:t>Common Styling Mistakes — and How to Fix Them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FEC313-7013-4113-79CA-EC1E22290547}"/>
              </a:ext>
            </a:extLst>
          </p:cNvPr>
          <p:cNvSpPr/>
          <p:nvPr/>
        </p:nvSpPr>
        <p:spPr>
          <a:xfrm>
            <a:off x="457200" y="6913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97653E7-3E55-D304-AD25-23C47B8E1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98" y="886443"/>
            <a:ext cx="11926964" cy="5971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8775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2139D6-28C2-B43E-192D-A536F657C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88BFCD-6107-9908-B17A-024084F446CE}"/>
              </a:ext>
            </a:extLst>
          </p:cNvPr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70F8D-73C3-2B55-8CA5-4BB81D3590D5}"/>
              </a:ext>
            </a:extLst>
          </p:cNvPr>
          <p:cNvSpPr txBox="1"/>
          <p:nvPr/>
        </p:nvSpPr>
        <p:spPr>
          <a:xfrm>
            <a:off x="457200" y="218961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Quick </a:t>
            </a:r>
            <a:r>
              <a:rPr lang="en-US" sz="3600" b="1" dirty="0"/>
              <a:t>Reference — Style Properties Cheat Sheet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281AAA-BB82-6B3C-F585-4C8BEF76FACA}"/>
              </a:ext>
            </a:extLst>
          </p:cNvPr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3" name="Text 16">
            <a:extLst>
              <a:ext uri="{FF2B5EF4-FFF2-40B4-BE49-F238E27FC236}">
                <a16:creationId xmlns:a16="http://schemas.microsoft.com/office/drawing/2014/main" id="{C3306042-C82E-2319-2E47-B7B77EF109CB}"/>
              </a:ext>
            </a:extLst>
          </p:cNvPr>
          <p:cNvSpPr/>
          <p:nvPr/>
        </p:nvSpPr>
        <p:spPr>
          <a:xfrm>
            <a:off x="9166483" y="4616791"/>
            <a:ext cx="280068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7931339-8EC2-C9F0-1EB4-96C530A4FD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996747"/>
              </p:ext>
            </p:extLst>
          </p:nvPr>
        </p:nvGraphicFramePr>
        <p:xfrm>
          <a:off x="647459" y="1078992"/>
          <a:ext cx="10958041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7513">
                  <a:extLst>
                    <a:ext uri="{9D8B030D-6E8A-4147-A177-3AD203B41FA5}">
                      <a16:colId xmlns:a16="http://schemas.microsoft.com/office/drawing/2014/main" val="323329287"/>
                    </a:ext>
                  </a:extLst>
                </a:gridCol>
                <a:gridCol w="9270528">
                  <a:extLst>
                    <a:ext uri="{9D8B030D-6E8A-4147-A177-3AD203B41FA5}">
                      <a16:colId xmlns:a16="http://schemas.microsoft.com/office/drawing/2014/main" val="2395920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2400" b="1" kern="1200" dirty="0">
                          <a:solidFill>
                            <a:schemeClr val="bg1"/>
                          </a:solidFill>
                          <a:latin typeface="+mj-lt"/>
                          <a:ea typeface="+mn-ea"/>
                          <a:cs typeface="+mn-cs"/>
                        </a:rPr>
                        <a:t>Color &amp; BG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SzPct val="100000"/>
                        <a:buNone/>
                      </a:pP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backgroundColor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, Color, , opacity,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tintColor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 (Image)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9258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+mj-lt"/>
                        </a:rPr>
                        <a:t>Border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SzPct val="100000"/>
                        <a:buNone/>
                      </a:pP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borderWidth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,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borderColor,borderRadius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,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borderStyle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,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borderTopWidth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…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382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+mj-lt"/>
                        </a:rPr>
                        <a:t>Typography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SzPct val="100000"/>
                        <a:buNone/>
                      </a:pP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fontSize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,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fontWeight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,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fontFamily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,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fontStyle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,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indent="0">
                        <a:buSzPct val="100000"/>
                        <a:buNone/>
                      </a:pP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lineHeight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,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letterSpacing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,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textAlign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,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textTransform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,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textDecorationLine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235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+mj-lt"/>
                          <a:ea typeface="Calibri" pitchFamily="34" charset="-122"/>
                          <a:cs typeface="Calibri" pitchFamily="34" charset="-120"/>
                        </a:rPr>
                        <a:t>Box Model</a:t>
                      </a:r>
                      <a:endParaRPr lang="en-US" sz="2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2400" b="1" dirty="0">
                        <a:solidFill>
                          <a:schemeClr val="bg1"/>
                        </a:solidFill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SzPct val="100000"/>
                        <a:buNone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Width (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minWidth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,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maxWidth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),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height,padding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 ( padding, padding), margin (margin, margin)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0" indent="0">
                        <a:buSzPct val="100000"/>
                        <a:buNone/>
                      </a:pP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Flex,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flexGrow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,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flexShrink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611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+mj-lt"/>
                        </a:rPr>
                        <a:t>Shadow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defTabSz="457200" rtl="0" eaLnBrk="1" latinLnBrk="0" hangingPunct="1"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(iOS) </a:t>
                      </a:r>
                      <a:r>
                        <a:rPr lang="en-US" sz="2400" b="0" kern="120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shadowColor</a:t>
                      </a: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, </a:t>
                      </a:r>
                      <a:r>
                        <a:rPr lang="en-US" sz="2400" b="0" kern="120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shadowOffset</a:t>
                      </a: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, </a:t>
                      </a:r>
                      <a:r>
                        <a:rPr lang="en-US" sz="2400" b="0" kern="120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shadowOpacity</a:t>
                      </a: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, </a:t>
                      </a:r>
                      <a:r>
                        <a:rPr lang="en-US" sz="2400" b="0" kern="120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shadowRadius</a:t>
                      </a: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 (iOS)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342900" indent="-342900" algn="l" defTabSz="457200" rtl="0" eaLnBrk="1" latinLnBrk="0" hangingPunct="1">
                        <a:buSzPct val="100000"/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(Android) elevation</a:t>
                      </a:r>
                      <a:endParaRPr lang="en-US" sz="2400" b="0" kern="120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5541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</a:t>
                      </a:r>
                      <a:endParaRPr 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SzPct val="100000"/>
                        <a:buNone/>
                      </a:pP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flexDirection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,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justifyContent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,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alignItems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,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flexWrap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, gap, position (top, left, right, bottom), </a:t>
                      </a:r>
                      <a:r>
                        <a:rPr lang="en-US" sz="2400" b="0" dirty="0" err="1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zIndex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  <a:latin typeface="+mj-lt"/>
                          <a:ea typeface="Consolas" pitchFamily="34" charset="-122"/>
                          <a:cs typeface="Consolas" pitchFamily="34" charset="-120"/>
                        </a:rPr>
                        <a:t>, overflow</a:t>
                      </a:r>
                      <a:endParaRPr lang="en-US" sz="2400" b="0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490555"/>
                  </a:ext>
                </a:extLst>
              </a:tr>
            </a:tbl>
          </a:graphicData>
        </a:graphic>
      </p:graphicFrame>
      <p:sp>
        <p:nvSpPr>
          <p:cNvPr id="15" name="Text 9">
            <a:extLst>
              <a:ext uri="{FF2B5EF4-FFF2-40B4-BE49-F238E27FC236}">
                <a16:creationId xmlns:a16="http://schemas.microsoft.com/office/drawing/2014/main" id="{B758773E-4EF3-E598-D2B4-0689E1DCF418}"/>
              </a:ext>
            </a:extLst>
          </p:cNvPr>
          <p:cNvSpPr/>
          <p:nvPr/>
        </p:nvSpPr>
        <p:spPr>
          <a:xfrm>
            <a:off x="3809977" y="5173825"/>
            <a:ext cx="2862072" cy="21153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60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FEEEA9F9-9F37-9031-68F6-A33AF8BE0728}"/>
              </a:ext>
            </a:extLst>
          </p:cNvPr>
          <p:cNvSpPr/>
          <p:nvPr/>
        </p:nvSpPr>
        <p:spPr>
          <a:xfrm>
            <a:off x="7934521" y="4744808"/>
            <a:ext cx="32457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11D4838A-33A4-D996-827C-51EF2988D1BA}"/>
              </a:ext>
            </a:extLst>
          </p:cNvPr>
          <p:cNvSpPr/>
          <p:nvPr/>
        </p:nvSpPr>
        <p:spPr>
          <a:xfrm>
            <a:off x="7934520" y="5128856"/>
            <a:ext cx="3188813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10900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06604"/>
            <a:ext cx="11338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111827"/>
                </a:solidFill>
              </a:rPr>
              <a:t>Summary</a:t>
            </a:r>
            <a:endParaRPr sz="3600" b="1" i="0" dirty="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841248"/>
            <a:ext cx="11338560" cy="320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Shape 1">
            <a:extLst>
              <a:ext uri="{FF2B5EF4-FFF2-40B4-BE49-F238E27FC236}">
                <a16:creationId xmlns:a16="http://schemas.microsoft.com/office/drawing/2014/main" id="{5EFF17C1-025F-005F-568F-95C47C2AFCE8}"/>
              </a:ext>
            </a:extLst>
          </p:cNvPr>
          <p:cNvSpPr/>
          <p:nvPr/>
        </p:nvSpPr>
        <p:spPr>
          <a:xfrm>
            <a:off x="8995550" y="792749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D1B32A4B-51BA-D76A-ABAD-E8C7F75B799C}"/>
              </a:ext>
            </a:extLst>
          </p:cNvPr>
          <p:cNvSpPr/>
          <p:nvPr/>
        </p:nvSpPr>
        <p:spPr>
          <a:xfrm>
            <a:off x="318842" y="1472293"/>
            <a:ext cx="8645275" cy="38585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StyleSheet.create() validates props at build time and sends style IDs — not objects — to the native layer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rgba() for transparent backgrounds without affecting children · opacity for the whole element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iOS: shadowColor + shadowOffset + shadowOpacity + shadowRadius · Android: elevation — write both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borderRadius: 999 for pills · = half of width for circles · per-corner for custom shapes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Platform.select() for platform-specific values inline — no if/else needed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Padding = space inside · Margin = space outside · never confuse them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position: absolute removes from flow — positioned relative to nearest ancestor · zIndex controls stacking</a:t>
            </a:r>
            <a:endParaRPr lang="en-US" sz="2200" dirty="0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DBF05074-0235-775E-1254-122CD84F53B6}"/>
              </a:ext>
            </a:extLst>
          </p:cNvPr>
          <p:cNvSpPr/>
          <p:nvPr/>
        </p:nvSpPr>
        <p:spPr>
          <a:xfrm>
            <a:off x="1649419" y="6219117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next:  →</a:t>
            </a:r>
            <a:endParaRPr lang="en-US" sz="3600" dirty="0"/>
          </a:p>
        </p:txBody>
      </p:sp>
      <p:sp>
        <p:nvSpPr>
          <p:cNvPr id="51" name="Text 5">
            <a:extLst>
              <a:ext uri="{FF2B5EF4-FFF2-40B4-BE49-F238E27FC236}">
                <a16:creationId xmlns:a16="http://schemas.microsoft.com/office/drawing/2014/main" id="{A15F3DED-95FE-A183-24D7-DB6EFDC9B11B}"/>
              </a:ext>
            </a:extLst>
          </p:cNvPr>
          <p:cNvSpPr/>
          <p:nvPr/>
        </p:nvSpPr>
        <p:spPr>
          <a:xfrm>
            <a:off x="4119521" y="6165329"/>
            <a:ext cx="6581235" cy="454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interfaces · Reusable components · Pressable · TextInput · Switch</a:t>
            </a:r>
            <a:endParaRPr lang="en-US" sz="2800" dirty="0"/>
          </a:p>
        </p:txBody>
      </p:sp>
      <p:sp>
        <p:nvSpPr>
          <p:cNvPr id="55" name="Text 6">
            <a:extLst>
              <a:ext uri="{FF2B5EF4-FFF2-40B4-BE49-F238E27FC236}">
                <a16:creationId xmlns:a16="http://schemas.microsoft.com/office/drawing/2014/main" id="{27327E97-8290-D750-F4BD-5DADBB035A71}"/>
              </a:ext>
            </a:extLst>
          </p:cNvPr>
          <p:cNvSpPr/>
          <p:nvPr/>
        </p:nvSpPr>
        <p:spPr>
          <a:xfrm>
            <a:off x="9246439" y="2069092"/>
            <a:ext cx="284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59" name="Shape 7">
            <a:extLst>
              <a:ext uri="{FF2B5EF4-FFF2-40B4-BE49-F238E27FC236}">
                <a16:creationId xmlns:a16="http://schemas.microsoft.com/office/drawing/2014/main" id="{403111C7-47D9-84F1-5F93-0BFF0100D761}"/>
              </a:ext>
            </a:extLst>
          </p:cNvPr>
          <p:cNvSpPr/>
          <p:nvPr/>
        </p:nvSpPr>
        <p:spPr>
          <a:xfrm>
            <a:off x="9246439" y="2480572"/>
            <a:ext cx="284704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63" name="Text 8">
            <a:extLst>
              <a:ext uri="{FF2B5EF4-FFF2-40B4-BE49-F238E27FC236}">
                <a16:creationId xmlns:a16="http://schemas.microsoft.com/office/drawing/2014/main" id="{8A755BC2-BCB5-9973-D752-0D593EA2578E}"/>
              </a:ext>
            </a:extLst>
          </p:cNvPr>
          <p:cNvSpPr/>
          <p:nvPr/>
        </p:nvSpPr>
        <p:spPr>
          <a:xfrm>
            <a:off x="9308890" y="2480572"/>
            <a:ext cx="2748013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 Docs: Style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67" name="Shape 9">
            <a:extLst>
              <a:ext uri="{FF2B5EF4-FFF2-40B4-BE49-F238E27FC236}">
                <a16:creationId xmlns:a16="http://schemas.microsoft.com/office/drawing/2014/main" id="{B1AAF302-E70F-8A40-28E0-E2D4A45D2FE7}"/>
              </a:ext>
            </a:extLst>
          </p:cNvPr>
          <p:cNvSpPr/>
          <p:nvPr/>
        </p:nvSpPr>
        <p:spPr>
          <a:xfrm>
            <a:off x="9246439" y="3138940"/>
            <a:ext cx="284704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50218334-6D45-0CA5-05B9-B3939C5479B7}"/>
              </a:ext>
            </a:extLst>
          </p:cNvPr>
          <p:cNvSpPr/>
          <p:nvPr/>
        </p:nvSpPr>
        <p:spPr>
          <a:xfrm>
            <a:off x="9308890" y="3138940"/>
            <a:ext cx="2748013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StyleSheet API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CE3626B2-C703-AF9E-DC4B-5CA2E764C5CA}"/>
              </a:ext>
            </a:extLst>
          </p:cNvPr>
          <p:cNvSpPr/>
          <p:nvPr/>
        </p:nvSpPr>
        <p:spPr>
          <a:xfrm>
            <a:off x="9246439" y="3797308"/>
            <a:ext cx="284704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75" name="Text 12">
            <a:extLst>
              <a:ext uri="{FF2B5EF4-FFF2-40B4-BE49-F238E27FC236}">
                <a16:creationId xmlns:a16="http://schemas.microsoft.com/office/drawing/2014/main" id="{E92D0B21-71AB-F515-1695-8887A5A00021}"/>
              </a:ext>
            </a:extLst>
          </p:cNvPr>
          <p:cNvSpPr/>
          <p:nvPr/>
        </p:nvSpPr>
        <p:spPr>
          <a:xfrm>
            <a:off x="9308890" y="3797308"/>
            <a:ext cx="2748013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module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7" name="Shape 13">
            <a:extLst>
              <a:ext uri="{FF2B5EF4-FFF2-40B4-BE49-F238E27FC236}">
                <a16:creationId xmlns:a16="http://schemas.microsoft.com/office/drawing/2014/main" id="{8EC1894D-83B0-CA48-6CCA-861CA6A155BC}"/>
              </a:ext>
            </a:extLst>
          </p:cNvPr>
          <p:cNvSpPr/>
          <p:nvPr/>
        </p:nvSpPr>
        <p:spPr>
          <a:xfrm>
            <a:off x="9246439" y="4455676"/>
            <a:ext cx="2847040" cy="53035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79" name="Text 14">
            <a:extLst>
              <a:ext uri="{FF2B5EF4-FFF2-40B4-BE49-F238E27FC236}">
                <a16:creationId xmlns:a16="http://schemas.microsoft.com/office/drawing/2014/main" id="{5F986FC1-A6BD-ECB4-429E-8F451E1FE29F}"/>
              </a:ext>
            </a:extLst>
          </p:cNvPr>
          <p:cNvSpPr/>
          <p:nvPr/>
        </p:nvSpPr>
        <p:spPr>
          <a:xfrm>
            <a:off x="9308890" y="4455676"/>
            <a:ext cx="2748013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API</a:t>
            </a:r>
            <a:endParaRPr lang="en-US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3567</Words>
  <Application>Microsoft Office PowerPoint</Application>
  <PresentationFormat>Custom</PresentationFormat>
  <Paragraphs>611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2026-08-31T21:03:37Z</dcterms:created>
  <dcterms:modified xsi:type="dcterms:W3CDTF">2026-08-31T21:03:47Z</dcterms:modified>
  <cp:category/>
</cp:coreProperties>
</file>