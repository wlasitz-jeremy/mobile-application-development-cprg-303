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 autoCompressPictures="0">
  <p:sldMasterIdLst>
    <p:sldMasterId id="2147483648" r:id="rId1"/>
  </p:sldMasterIdLst>
  <p:notesMasterIdLst>
    <p:notesMasterId r:id="rId23"/>
  </p:notesMasterIdLst>
  <p:sldIdLst>
    <p:sldId id="278" r:id="rId2"/>
    <p:sldId id="257" r:id="rId3"/>
    <p:sldId id="446" r:id="rId4"/>
    <p:sldId id="259" r:id="rId5"/>
    <p:sldId id="260" r:id="rId6"/>
    <p:sldId id="261" r:id="rId7"/>
    <p:sldId id="447" r:id="rId8"/>
    <p:sldId id="263" r:id="rId9"/>
    <p:sldId id="264" r:id="rId10"/>
    <p:sldId id="265" r:id="rId11"/>
    <p:sldId id="266" r:id="rId12"/>
    <p:sldId id="268" r:id="rId13"/>
    <p:sldId id="269" r:id="rId14"/>
    <p:sldId id="449" r:id="rId15"/>
    <p:sldId id="271" r:id="rId16"/>
    <p:sldId id="272" r:id="rId17"/>
    <p:sldId id="273" r:id="rId18"/>
    <p:sldId id="450" r:id="rId19"/>
    <p:sldId id="275" r:id="rId20"/>
    <p:sldId id="276" r:id="rId21"/>
    <p:sldId id="277" r:id="rId22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208C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58232" autoAdjust="0"/>
  </p:normalViewPr>
  <p:slideViewPr>
    <p:cSldViewPr snapToGrid="0" snapToObjects="1">
      <p:cViewPr varScale="1">
        <p:scale>
          <a:sx n="33" d="100"/>
          <a:sy n="33" d="100"/>
        </p:scale>
        <p:origin x="1856" y="44"/>
      </p:cViewPr>
      <p:guideLst>
        <p:guide orient="horz" pos="2160"/>
        <p:guide pos="2880"/>
      </p:guideLst>
    </p:cSldViewPr>
  </p:slideViewPr>
  <p:notesTextViewPr>
    <p:cViewPr>
      <p:scale>
        <a:sx n="200" d="100"/>
        <a:sy n="2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BF58AE4-3B94-4A76-99DF-52B8754DC799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EA07999-E436-41F4-A0D0-76551AF568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121034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EA07999-E436-41F4-A0D0-76551AF56858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056318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EA07999-E436-41F4-A0D0-76551AF56858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525454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EA07999-E436-41F4-A0D0-76551AF56858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869767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EA07999-E436-41F4-A0D0-76551AF56858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84041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EA07999-E436-41F4-A0D0-76551AF56858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100498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016406-E93B-F63F-3FE6-D8FBA253C6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22E6E24-9071-7A61-7A73-B169D1DE54B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A0F91C0-AD97-6D25-88FE-650CC7EA595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36EE535-0640-C0AC-0846-6F811626FCD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068840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EA07999-E436-41F4-A0D0-76551AF56858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174822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EA07999-E436-41F4-A0D0-76551AF56858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013163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EA07999-E436-41F4-A0D0-76551AF56858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148778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EA07999-E436-41F4-A0D0-76551AF56858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277525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EA07999-E436-41F4-A0D0-76551AF56858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315572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EA07999-E436-41F4-A0D0-76551AF56858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313412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0693EE-E0B3-C9F8-13DE-DC797CA12D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2A5679C-5C96-AD12-6C26-9F938793D9E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8F8C967-1B60-E445-7DC6-41547D0CB8F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marR="0" lvl="0" indent="-171450" algn="l" defTabSz="914400" rtl="0" eaLnBrk="1" fontAlgn="t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30F29C4-AB72-018F-3E24-C1BED3BE7CE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75840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EA07999-E436-41F4-A0D0-76551AF56858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790377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EA07999-E436-41F4-A0D0-76551AF56858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3042799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fontAlgn="t"/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EA07999-E436-41F4-A0D0-76551AF56858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2668929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ABDA32-1334-825B-6EDA-D7619FD7FE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0D81E93-2D8C-4FE3-395E-5F96E09549C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2EBE632-6C82-E143-C3B0-AD043173894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0518188-3548-6D71-7E8D-923685DA6F7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739967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EA07999-E436-41F4-A0D0-76551AF56858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204071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B3A6097-D6FB-BF9C-3CFD-D30ADEB456F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227054"/>
            <a:ext cx="1529541" cy="6309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SAIT-Purple-Secondary-Title-Slide-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2FE87770-D3D9-4C5C-92CD-924C0A0FC4F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8000"/>
          </a:xfrm>
          <a:prstGeom prst="rect">
            <a:avLst/>
          </a:prstGeom>
        </p:spPr>
      </p:pic>
      <p:sp>
        <p:nvSpPr>
          <p:cNvPr id="8" name="Text Placeholder 9">
            <a:extLst>
              <a:ext uri="{FF2B5EF4-FFF2-40B4-BE49-F238E27FC236}">
                <a16:creationId xmlns:a16="http://schemas.microsoft.com/office/drawing/2014/main" id="{388B7614-7E88-4C6B-BB37-5515B79672F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33749" y="2448100"/>
            <a:ext cx="7056187" cy="98090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4399">
                <a:latin typeface="Titillium" panose="00000500000000000000" pitchFamily="50" charset="0"/>
                <a:ea typeface="Verdana" panose="020B060403050404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Secondary title</a:t>
            </a:r>
          </a:p>
        </p:txBody>
      </p:sp>
      <p:sp>
        <p:nvSpPr>
          <p:cNvPr id="9" name="Text Placeholder 9">
            <a:extLst>
              <a:ext uri="{FF2B5EF4-FFF2-40B4-BE49-F238E27FC236}">
                <a16:creationId xmlns:a16="http://schemas.microsoft.com/office/drawing/2014/main" id="{864E6C8B-87F6-4C99-AC96-643D30EB235D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833748" y="3589715"/>
            <a:ext cx="7056187" cy="98090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799">
                <a:latin typeface="Titillium" panose="00000500000000000000" pitchFamily="50" charset="0"/>
                <a:ea typeface="Verdana" panose="020B060403050404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Sub-title</a:t>
            </a:r>
          </a:p>
        </p:txBody>
      </p:sp>
    </p:spTree>
    <p:extLst>
      <p:ext uri="{BB962C8B-B14F-4D97-AF65-F5344CB8AC3E}">
        <p14:creationId xmlns:p14="http://schemas.microsoft.com/office/powerpoint/2010/main" val="7544122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827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A368CD6-059C-BDEA-4975-C6762FAA6C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CA0BFC4D-5330-BA02-A4B9-2EC822E2A18B}"/>
              </a:ext>
            </a:extLst>
          </p:cNvPr>
          <p:cNvSpPr/>
          <p:nvPr/>
        </p:nvSpPr>
        <p:spPr>
          <a:xfrm>
            <a:off x="0" y="0"/>
            <a:ext cx="12188952" cy="54864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3EAE3AF-A4B8-D87E-6F15-348280BB2285}"/>
              </a:ext>
            </a:extLst>
          </p:cNvPr>
          <p:cNvSpPr/>
          <p:nvPr/>
        </p:nvSpPr>
        <p:spPr>
          <a:xfrm>
            <a:off x="0" y="6309360"/>
            <a:ext cx="12188952" cy="54864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A59A74F-EDDD-43EA-66DA-3A431EC8BA5B}"/>
              </a:ext>
            </a:extLst>
          </p:cNvPr>
          <p:cNvSpPr txBox="1"/>
          <p:nvPr/>
        </p:nvSpPr>
        <p:spPr>
          <a:xfrm>
            <a:off x="0" y="1783080"/>
            <a:ext cx="12188952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5400" b="1" i="0" dirty="0">
                <a:solidFill>
                  <a:srgbClr val="FFFFFF"/>
                </a:solidFill>
              </a:rPr>
              <a:t>Getting Started with Expo</a:t>
            </a:r>
            <a:endParaRPr sz="5400" b="1" i="0" dirty="0">
              <a:solidFill>
                <a:srgbClr val="FFFFFF"/>
              </a:solidFill>
            </a:endParaRPr>
          </a:p>
        </p:txBody>
      </p:sp>
      <p:sp>
        <p:nvSpPr>
          <p:cNvPr id="12" name="Title 2">
            <a:extLst>
              <a:ext uri="{FF2B5EF4-FFF2-40B4-BE49-F238E27FC236}">
                <a16:creationId xmlns:a16="http://schemas.microsoft.com/office/drawing/2014/main" id="{5C8C59F1-D53D-553A-3A4D-D405D2515E69}"/>
              </a:ext>
            </a:extLst>
          </p:cNvPr>
          <p:cNvSpPr txBox="1">
            <a:spLocks/>
          </p:cNvSpPr>
          <p:nvPr/>
        </p:nvSpPr>
        <p:spPr>
          <a:xfrm>
            <a:off x="0" y="3689699"/>
            <a:ext cx="12188824" cy="165576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bg1"/>
                </a:solidFill>
                <a:latin typeface="Titillium" panose="00000500000000000000" pitchFamily="50" charset="0"/>
                <a:ea typeface="Verdana" panose="020B0604030504040204" pitchFamily="34" charset="0"/>
                <a:cs typeface="Arial" panose="020B0604020202020204" pitchFamily="34" charset="0"/>
              </a:defRPr>
            </a:lvl1pPr>
          </a:lstStyle>
          <a:p>
            <a:pPr algn="ctr" defTabSz="457200">
              <a:lnSpc>
                <a:spcPct val="120000"/>
              </a:lnSpc>
              <a:spcAft>
                <a:spcPts val="600"/>
              </a:spcAft>
            </a:pPr>
            <a:r>
              <a:rPr lang="en-US" sz="4800" b="1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Edited By:</a:t>
            </a:r>
          </a:p>
          <a:p>
            <a:pPr algn="ctr" defTabSz="457200">
              <a:lnSpc>
                <a:spcPct val="120000"/>
              </a:lnSpc>
              <a:spcAft>
                <a:spcPts val="600"/>
              </a:spcAft>
            </a:pPr>
            <a:r>
              <a:rPr lang="en-US" sz="4800" b="1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Dr. Hamdy Ibrahim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89DD5F5D-D9F7-EAEF-7160-ECAC2D736E9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4053033"/>
            <a:ext cx="1631852" cy="2223013"/>
          </a:xfrm>
          <a:prstGeom prst="rect">
            <a:avLst/>
          </a:prstGeom>
        </p:spPr>
      </p:pic>
      <p:sp>
        <p:nvSpPr>
          <p:cNvPr id="16" name="Subtitle 3">
            <a:extLst>
              <a:ext uri="{FF2B5EF4-FFF2-40B4-BE49-F238E27FC236}">
                <a16:creationId xmlns:a16="http://schemas.microsoft.com/office/drawing/2014/main" id="{4A819F09-A09E-C95D-E4A0-452C78500D97}"/>
              </a:ext>
            </a:extLst>
          </p:cNvPr>
          <p:cNvSpPr txBox="1">
            <a:spLocks/>
          </p:cNvSpPr>
          <p:nvPr/>
        </p:nvSpPr>
        <p:spPr>
          <a:xfrm>
            <a:off x="268573" y="581954"/>
            <a:ext cx="7904756" cy="820333"/>
          </a:xfrm>
          <a:prstGeom prst="rect">
            <a:avLst/>
          </a:prstGeom>
        </p:spPr>
        <p:txBody>
          <a:bodyPr anchor="ctr"/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800" dirty="0">
                <a:solidFill>
                  <a:schemeClr val="bg1">
                    <a:lumMod val="95000"/>
                  </a:schemeClr>
                </a:solidFill>
              </a:rPr>
              <a:t>CPRG303 – Mobile Application Development</a:t>
            </a:r>
          </a:p>
        </p:txBody>
      </p:sp>
      <p:sp>
        <p:nvSpPr>
          <p:cNvPr id="5" name="Text 4">
            <a:extLst>
              <a:ext uri="{FF2B5EF4-FFF2-40B4-BE49-F238E27FC236}">
                <a16:creationId xmlns:a16="http://schemas.microsoft.com/office/drawing/2014/main" id="{B763962D-6F66-2AAB-2870-1112AE61BB11}"/>
              </a:ext>
            </a:extLst>
          </p:cNvPr>
          <p:cNvSpPr/>
          <p:nvPr/>
        </p:nvSpPr>
        <p:spPr>
          <a:xfrm>
            <a:off x="2" y="6328750"/>
            <a:ext cx="12188950" cy="52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SADT  ·  School For Advanced Digital Technology</a:t>
            </a:r>
            <a:endParaRPr lang="en-US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5920118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17932"/>
            <a:ext cx="1133856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3600" b="1" i="0" dirty="0">
                <a:solidFill>
                  <a:srgbClr val="111827"/>
                </a:solidFill>
              </a:rPr>
              <a:t>Agenda</a:t>
            </a:r>
            <a:endParaRPr sz="3600" b="1" i="0" dirty="0">
              <a:solidFill>
                <a:srgbClr val="111827"/>
              </a:solidFill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457200" y="841248"/>
            <a:ext cx="11338560" cy="32004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02920" y="1371600"/>
            <a:ext cx="548640" cy="4572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7" name="TextBox 6"/>
          <p:cNvSpPr txBox="1"/>
          <p:nvPr/>
        </p:nvSpPr>
        <p:spPr>
          <a:xfrm>
            <a:off x="502920" y="1338590"/>
            <a:ext cx="548640" cy="5232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353312"/>
            <a:ext cx="59436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 dirty="0">
                <a:solidFill>
                  <a:srgbClr val="111827"/>
                </a:solidFill>
              </a:rPr>
              <a:t>Create a project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2029967"/>
            <a:ext cx="548640" cy="4572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11" name="TextBox 10"/>
          <p:cNvSpPr txBox="1"/>
          <p:nvPr/>
        </p:nvSpPr>
        <p:spPr>
          <a:xfrm>
            <a:off x="502920" y="1996957"/>
            <a:ext cx="548640" cy="5232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34440" y="2011679"/>
            <a:ext cx="59436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 dirty="0">
                <a:solidFill>
                  <a:srgbClr val="111827"/>
                </a:solidFill>
              </a:rPr>
              <a:t>The folder structure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" y="2688336"/>
            <a:ext cx="548640" cy="4572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15" name="TextBox 14"/>
          <p:cNvSpPr txBox="1"/>
          <p:nvPr/>
        </p:nvSpPr>
        <p:spPr>
          <a:xfrm>
            <a:off x="502920" y="2655326"/>
            <a:ext cx="548640" cy="5232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34440" y="2670048"/>
            <a:ext cx="59436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 dirty="0">
                <a:solidFill>
                  <a:srgbClr val="111827"/>
                </a:solidFill>
              </a:rPr>
              <a:t>File-based routing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2920" y="3346704"/>
            <a:ext cx="548640" cy="4572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19" name="TextBox 18"/>
          <p:cNvSpPr txBox="1"/>
          <p:nvPr/>
        </p:nvSpPr>
        <p:spPr>
          <a:xfrm>
            <a:off x="502920" y="3313694"/>
            <a:ext cx="548640" cy="5232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</a:rPr>
              <a:t>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34440" y="3328416"/>
            <a:ext cx="59436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 dirty="0" err="1">
                <a:solidFill>
                  <a:srgbClr val="111827"/>
                </a:solidFill>
              </a:rPr>
              <a:t>package.json</a:t>
            </a:r>
            <a:endParaRPr sz="2800" b="1" i="0" dirty="0">
              <a:solidFill>
                <a:srgbClr val="111827"/>
              </a:solidFill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502920" y="4005072"/>
            <a:ext cx="548640" cy="4572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23" name="TextBox 22"/>
          <p:cNvSpPr txBox="1"/>
          <p:nvPr/>
        </p:nvSpPr>
        <p:spPr>
          <a:xfrm>
            <a:off x="502920" y="3972062"/>
            <a:ext cx="548640" cy="5232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</a:rPr>
              <a:t>05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234440" y="3986784"/>
            <a:ext cx="59436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 dirty="0">
                <a:solidFill>
                  <a:srgbClr val="111827"/>
                </a:solidFill>
              </a:rPr>
              <a:t>Running the app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02920" y="4663440"/>
            <a:ext cx="548640" cy="4572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27" name="TextBox 26"/>
          <p:cNvSpPr txBox="1"/>
          <p:nvPr/>
        </p:nvSpPr>
        <p:spPr>
          <a:xfrm>
            <a:off x="502920" y="4630430"/>
            <a:ext cx="548640" cy="5232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</a:rPr>
              <a:t>06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34440" y="4645152"/>
            <a:ext cx="59436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 dirty="0">
                <a:solidFill>
                  <a:srgbClr val="111827"/>
                </a:solidFill>
              </a:rPr>
              <a:t>Three preview targets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02920" y="5321808"/>
            <a:ext cx="548640" cy="4572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31" name="TextBox 30"/>
          <p:cNvSpPr txBox="1"/>
          <p:nvPr/>
        </p:nvSpPr>
        <p:spPr>
          <a:xfrm>
            <a:off x="502920" y="5288798"/>
            <a:ext cx="548640" cy="5232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</a:rPr>
              <a:t>07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234440" y="5303520"/>
            <a:ext cx="59436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 dirty="0">
                <a:solidFill>
                  <a:srgbClr val="111827"/>
                </a:solidFill>
              </a:rPr>
              <a:t>Resetting the project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1586777-D436-D87E-7573-0035F5587DA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84739" y="2448355"/>
            <a:ext cx="7605197" cy="980646"/>
          </a:xfrm>
        </p:spPr>
        <p:txBody>
          <a:bodyPr>
            <a:noAutofit/>
          </a:bodyPr>
          <a:lstStyle/>
          <a:p>
            <a:pPr algn="ctr"/>
            <a:r>
              <a:rPr lang="en-CA" b="1" dirty="0"/>
              <a:t>Creating Expo Project</a:t>
            </a:r>
          </a:p>
        </p:txBody>
      </p:sp>
    </p:spTree>
    <p:extLst>
      <p:ext uri="{BB962C8B-B14F-4D97-AF65-F5344CB8AC3E}">
        <p14:creationId xmlns:p14="http://schemas.microsoft.com/office/powerpoint/2010/main" val="416318164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06604"/>
            <a:ext cx="1133856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b="1" dirty="0">
                <a:solidFill>
                  <a:srgbClr val="111827"/>
                </a:solidFill>
              </a:rPr>
              <a:t>Creating Your First Expo Project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841248"/>
            <a:ext cx="11338560" cy="32004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Rectangle 71">
            <a:extLst>
              <a:ext uri="{FF2B5EF4-FFF2-40B4-BE49-F238E27FC236}">
                <a16:creationId xmlns:a16="http://schemas.microsoft.com/office/drawing/2014/main" id="{73442EEC-CBD2-E246-2C96-8B1CEC33D3F6}"/>
              </a:ext>
            </a:extLst>
          </p:cNvPr>
          <p:cNvSpPr/>
          <p:nvPr/>
        </p:nvSpPr>
        <p:spPr>
          <a:xfrm>
            <a:off x="457200" y="1059782"/>
            <a:ext cx="11247120" cy="777240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09728" rIns="109728" bIns="91440" rtlCol="0" anchor="ctr"/>
          <a:lstStyle/>
          <a:p>
            <a:pPr algn="l"/>
            <a:r>
              <a:rPr sz="2800" dirty="0" err="1">
                <a:solidFill>
                  <a:srgbClr val="FFFFFF"/>
                </a:solidFill>
                <a:latin typeface="Consolas"/>
              </a:rPr>
              <a:t>npx</a:t>
            </a:r>
            <a:r>
              <a:rPr sz="2800" dirty="0">
                <a:solidFill>
                  <a:srgbClr val="FFFFFF"/>
                </a:solidFill>
                <a:latin typeface="Consolas"/>
              </a:rPr>
              <a:t> </a:t>
            </a:r>
            <a:r>
              <a:rPr sz="2800" dirty="0" err="1">
                <a:solidFill>
                  <a:srgbClr val="FFFFFF"/>
                </a:solidFill>
                <a:latin typeface="Consolas"/>
              </a:rPr>
              <a:t>create-expo-app@latest</a:t>
            </a:r>
            <a:r>
              <a:rPr sz="2800" dirty="0">
                <a:solidFill>
                  <a:srgbClr val="FFFFFF"/>
                </a:solidFill>
                <a:latin typeface="Consolas"/>
              </a:rPr>
              <a:t> </a:t>
            </a:r>
            <a:r>
              <a:rPr sz="2800" dirty="0" err="1">
                <a:solidFill>
                  <a:srgbClr val="FFFFFF"/>
                </a:solidFill>
                <a:latin typeface="Consolas"/>
              </a:rPr>
              <a:t>MyFirstApp</a:t>
            </a:r>
            <a:r>
              <a:rPr lang="en-US" sz="2800" dirty="0">
                <a:solidFill>
                  <a:srgbClr val="FFFFFF"/>
                </a:solidFill>
                <a:latin typeface="Consolas"/>
              </a:rPr>
              <a:t>  --template  tabs</a:t>
            </a:r>
            <a:endParaRPr sz="2800" dirty="0">
              <a:solidFill>
                <a:srgbClr val="FFFFFF"/>
              </a:solidFill>
              <a:latin typeface="Consolas"/>
            </a:endParaRPr>
          </a:p>
        </p:txBody>
      </p:sp>
      <p:sp>
        <p:nvSpPr>
          <p:cNvPr id="76" name="Rectangle 75">
            <a:extLst>
              <a:ext uri="{FF2B5EF4-FFF2-40B4-BE49-F238E27FC236}">
                <a16:creationId xmlns:a16="http://schemas.microsoft.com/office/drawing/2014/main" id="{9CB0AFB4-5C7E-553B-9537-E31EFB0B1A92}"/>
              </a:ext>
            </a:extLst>
          </p:cNvPr>
          <p:cNvSpPr/>
          <p:nvPr/>
        </p:nvSpPr>
        <p:spPr>
          <a:xfrm>
            <a:off x="457200" y="2049190"/>
            <a:ext cx="128016" cy="65836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75133E51-8FE9-2A03-38C2-6BCBB4A82065}"/>
              </a:ext>
            </a:extLst>
          </p:cNvPr>
          <p:cNvSpPr txBox="1"/>
          <p:nvPr/>
        </p:nvSpPr>
        <p:spPr>
          <a:xfrm>
            <a:off x="731520" y="2089332"/>
            <a:ext cx="3108960" cy="5232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 i="0">
                <a:solidFill>
                  <a:srgbClr val="7C3AED"/>
                </a:solidFill>
                <a:latin typeface="Consolas"/>
              </a:rPr>
              <a:t>npx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C9495EA0-5986-E4F6-E038-1DE4C5C7E897}"/>
              </a:ext>
            </a:extLst>
          </p:cNvPr>
          <p:cNvSpPr txBox="1"/>
          <p:nvPr/>
        </p:nvSpPr>
        <p:spPr>
          <a:xfrm>
            <a:off x="3931920" y="2116764"/>
            <a:ext cx="7772400" cy="5232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0" i="0" dirty="0">
                <a:solidFill>
                  <a:srgbClr val="111827"/>
                </a:solidFill>
              </a:rPr>
              <a:t>Runs a tool once without installing it permanently</a:t>
            </a:r>
          </a:p>
        </p:txBody>
      </p:sp>
      <p:sp>
        <p:nvSpPr>
          <p:cNvPr id="82" name="Rectangle 81">
            <a:extLst>
              <a:ext uri="{FF2B5EF4-FFF2-40B4-BE49-F238E27FC236}">
                <a16:creationId xmlns:a16="http://schemas.microsoft.com/office/drawing/2014/main" id="{24B617A3-C465-4B5B-1C1A-0C89DF97E75C}"/>
              </a:ext>
            </a:extLst>
          </p:cNvPr>
          <p:cNvSpPr/>
          <p:nvPr/>
        </p:nvSpPr>
        <p:spPr>
          <a:xfrm>
            <a:off x="457200" y="3208934"/>
            <a:ext cx="128016" cy="658368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C13FC3B6-62A9-0F44-4382-9CB998E02073}"/>
              </a:ext>
            </a:extLst>
          </p:cNvPr>
          <p:cNvSpPr txBox="1"/>
          <p:nvPr/>
        </p:nvSpPr>
        <p:spPr>
          <a:xfrm>
            <a:off x="731520" y="3249075"/>
            <a:ext cx="3200400" cy="5232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 i="0" dirty="0">
                <a:solidFill>
                  <a:srgbClr val="2563EB"/>
                </a:solidFill>
                <a:latin typeface="Consolas"/>
              </a:rPr>
              <a:t>create-expo-app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DF315282-ADAD-A526-4F7F-83572D9823B6}"/>
              </a:ext>
            </a:extLst>
          </p:cNvPr>
          <p:cNvSpPr txBox="1"/>
          <p:nvPr/>
        </p:nvSpPr>
        <p:spPr>
          <a:xfrm>
            <a:off x="3931920" y="3276508"/>
            <a:ext cx="7772400" cy="5232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0" i="0">
                <a:solidFill>
                  <a:srgbClr val="111827"/>
                </a:solidFill>
              </a:rPr>
              <a:t>The official tool that scaffolds a new Expo project</a:t>
            </a:r>
          </a:p>
        </p:txBody>
      </p:sp>
      <p:sp>
        <p:nvSpPr>
          <p:cNvPr id="88" name="Rectangle 87">
            <a:extLst>
              <a:ext uri="{FF2B5EF4-FFF2-40B4-BE49-F238E27FC236}">
                <a16:creationId xmlns:a16="http://schemas.microsoft.com/office/drawing/2014/main" id="{CC4781A7-5C69-4BA0-B9E9-276D0F271323}"/>
              </a:ext>
            </a:extLst>
          </p:cNvPr>
          <p:cNvSpPr/>
          <p:nvPr/>
        </p:nvSpPr>
        <p:spPr>
          <a:xfrm>
            <a:off x="457200" y="4348128"/>
            <a:ext cx="128016" cy="658368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5C3C7556-8B9C-C7F2-D856-4CBF96F25353}"/>
              </a:ext>
            </a:extLst>
          </p:cNvPr>
          <p:cNvSpPr txBox="1"/>
          <p:nvPr/>
        </p:nvSpPr>
        <p:spPr>
          <a:xfrm>
            <a:off x="731520" y="4388270"/>
            <a:ext cx="3108960" cy="5232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 i="0">
                <a:solidFill>
                  <a:srgbClr val="16A34A"/>
                </a:solidFill>
                <a:latin typeface="Consolas"/>
              </a:rPr>
              <a:t>@latest</a:t>
            </a: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71E7A100-61EE-FEFB-C299-5044D7DB65D6}"/>
              </a:ext>
            </a:extLst>
          </p:cNvPr>
          <p:cNvSpPr txBox="1"/>
          <p:nvPr/>
        </p:nvSpPr>
        <p:spPr>
          <a:xfrm>
            <a:off x="3931920" y="4415702"/>
            <a:ext cx="7772400" cy="5232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0" i="0">
                <a:solidFill>
                  <a:srgbClr val="111827"/>
                </a:solidFill>
              </a:rPr>
              <a:t>Use the newest version of that tool (targets SDK 57)</a:t>
            </a:r>
          </a:p>
        </p:txBody>
      </p:sp>
      <p:sp>
        <p:nvSpPr>
          <p:cNvPr id="94" name="Rectangle 93">
            <a:extLst>
              <a:ext uri="{FF2B5EF4-FFF2-40B4-BE49-F238E27FC236}">
                <a16:creationId xmlns:a16="http://schemas.microsoft.com/office/drawing/2014/main" id="{9ADE7DB6-34BA-48C6-1C0C-3600AB9544A0}"/>
              </a:ext>
            </a:extLst>
          </p:cNvPr>
          <p:cNvSpPr/>
          <p:nvPr/>
        </p:nvSpPr>
        <p:spPr>
          <a:xfrm>
            <a:off x="457200" y="5559241"/>
            <a:ext cx="128016" cy="658368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F3C5D4CF-F3D2-D6B1-6442-343166204FDB}"/>
              </a:ext>
            </a:extLst>
          </p:cNvPr>
          <p:cNvSpPr txBox="1"/>
          <p:nvPr/>
        </p:nvSpPr>
        <p:spPr>
          <a:xfrm>
            <a:off x="731520" y="5599383"/>
            <a:ext cx="3108960" cy="5232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 i="0">
                <a:solidFill>
                  <a:srgbClr val="D97706"/>
                </a:solidFill>
                <a:latin typeface="Consolas"/>
              </a:rPr>
              <a:t>MyFirstApp</a:t>
            </a:r>
          </a:p>
        </p:txBody>
      </p:sp>
      <p:sp>
        <p:nvSpPr>
          <p:cNvPr id="98" name="TextBox 97">
            <a:extLst>
              <a:ext uri="{FF2B5EF4-FFF2-40B4-BE49-F238E27FC236}">
                <a16:creationId xmlns:a16="http://schemas.microsoft.com/office/drawing/2014/main" id="{19F4F8A3-94BF-AA28-ABB9-48BBB4D60A75}"/>
              </a:ext>
            </a:extLst>
          </p:cNvPr>
          <p:cNvSpPr txBox="1"/>
          <p:nvPr/>
        </p:nvSpPr>
        <p:spPr>
          <a:xfrm>
            <a:off x="3931920" y="5626815"/>
            <a:ext cx="7772400" cy="5232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0" i="0">
                <a:solidFill>
                  <a:srgbClr val="111827"/>
                </a:solidFill>
              </a:rPr>
              <a:t>The folder name for your new project (your choice)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92968"/>
            <a:ext cx="1133856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b="1" dirty="0">
                <a:solidFill>
                  <a:srgbClr val="111827"/>
                </a:solidFill>
              </a:rPr>
              <a:t>Project Creation Process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841248"/>
            <a:ext cx="11338560" cy="32004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0E109C8D-E0ED-EEE1-4FE8-211B20DF7CCC}"/>
              </a:ext>
            </a:extLst>
          </p:cNvPr>
          <p:cNvSpPr/>
          <p:nvPr/>
        </p:nvSpPr>
        <p:spPr>
          <a:xfrm>
            <a:off x="296389" y="1144498"/>
            <a:ext cx="685800" cy="6858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4747BACC-733F-B961-F1C5-57135685BDB0}"/>
              </a:ext>
            </a:extLst>
          </p:cNvPr>
          <p:cNvSpPr txBox="1"/>
          <p:nvPr/>
        </p:nvSpPr>
        <p:spPr>
          <a:xfrm>
            <a:off x="296389" y="1225788"/>
            <a:ext cx="685800" cy="5232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847E5A11-70BD-0CA6-7C68-25B7664B2A14}"/>
              </a:ext>
            </a:extLst>
          </p:cNvPr>
          <p:cNvSpPr/>
          <p:nvPr/>
        </p:nvSpPr>
        <p:spPr>
          <a:xfrm>
            <a:off x="1305382" y="1053058"/>
            <a:ext cx="10627538" cy="868680"/>
          </a:xfrm>
          <a:prstGeom prst="rect">
            <a:avLst/>
          </a:prstGeom>
          <a:solidFill>
            <a:srgbClr val="FFFFFF"/>
          </a:solidFill>
          <a:ln w="15875">
            <a:solidFill>
              <a:srgbClr val="FF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6820736F-59EB-F89B-00BA-A77043F10490}"/>
              </a:ext>
            </a:extLst>
          </p:cNvPr>
          <p:cNvSpPr txBox="1"/>
          <p:nvPr/>
        </p:nvSpPr>
        <p:spPr>
          <a:xfrm>
            <a:off x="1463040" y="1222250"/>
            <a:ext cx="2647979" cy="5232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 i="0" dirty="0">
                <a:solidFill>
                  <a:srgbClr val="111827"/>
                </a:solidFill>
              </a:rPr>
              <a:t>Creates a folder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6490EC49-6A51-403A-06C5-7DADA0009BF9}"/>
              </a:ext>
            </a:extLst>
          </p:cNvPr>
          <p:cNvSpPr txBox="1"/>
          <p:nvPr/>
        </p:nvSpPr>
        <p:spPr>
          <a:xfrm>
            <a:off x="4268677" y="1222250"/>
            <a:ext cx="7120327" cy="5232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 i="0" dirty="0">
                <a:solidFill>
                  <a:srgbClr val="3208CA"/>
                </a:solidFill>
              </a:rPr>
              <a:t>A new </a:t>
            </a:r>
            <a:r>
              <a:rPr sz="2800" b="1" i="0" dirty="0" err="1">
                <a:solidFill>
                  <a:srgbClr val="FF0000"/>
                </a:solidFill>
              </a:rPr>
              <a:t>MyFirstApp</a:t>
            </a:r>
            <a:r>
              <a:rPr sz="2800" b="1" i="0" dirty="0">
                <a:solidFill>
                  <a:srgbClr val="3208CA"/>
                </a:solidFill>
              </a:rPr>
              <a:t> folder with all starter files</a:t>
            </a: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339D8E96-6665-90D1-8C1D-8FE389EA83F8}"/>
              </a:ext>
            </a:extLst>
          </p:cNvPr>
          <p:cNvSpPr/>
          <p:nvPr/>
        </p:nvSpPr>
        <p:spPr>
          <a:xfrm>
            <a:off x="296389" y="2463662"/>
            <a:ext cx="685800" cy="6858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474BD6C0-4167-28D5-15AB-3117D6E88A59}"/>
              </a:ext>
            </a:extLst>
          </p:cNvPr>
          <p:cNvSpPr txBox="1"/>
          <p:nvPr/>
        </p:nvSpPr>
        <p:spPr>
          <a:xfrm>
            <a:off x="296389" y="2544952"/>
            <a:ext cx="685800" cy="5232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A1464900-38FD-82EA-D02B-1BD2039F1409}"/>
              </a:ext>
            </a:extLst>
          </p:cNvPr>
          <p:cNvSpPr/>
          <p:nvPr/>
        </p:nvSpPr>
        <p:spPr>
          <a:xfrm>
            <a:off x="1305382" y="2416531"/>
            <a:ext cx="10627538" cy="868680"/>
          </a:xfrm>
          <a:prstGeom prst="rect">
            <a:avLst/>
          </a:prstGeom>
          <a:solidFill>
            <a:srgbClr val="FFFFFF"/>
          </a:solidFill>
          <a:ln w="15875">
            <a:solidFill>
              <a:srgbClr val="FF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EB99FD21-412D-C4FC-6093-BF1D395BE767}"/>
              </a:ext>
            </a:extLst>
          </p:cNvPr>
          <p:cNvSpPr txBox="1"/>
          <p:nvPr/>
        </p:nvSpPr>
        <p:spPr>
          <a:xfrm>
            <a:off x="1463040" y="2589261"/>
            <a:ext cx="4185742" cy="5232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 i="0" dirty="0">
                <a:solidFill>
                  <a:srgbClr val="111827"/>
                </a:solidFill>
              </a:rPr>
              <a:t>Installs packages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484B2B55-6CAE-C655-B701-9A0EF9A3C403}"/>
              </a:ext>
            </a:extLst>
          </p:cNvPr>
          <p:cNvSpPr txBox="1"/>
          <p:nvPr/>
        </p:nvSpPr>
        <p:spPr>
          <a:xfrm>
            <a:off x="4871541" y="2373817"/>
            <a:ext cx="6517463" cy="95410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 i="0" dirty="0">
                <a:solidFill>
                  <a:srgbClr val="3208CA"/>
                </a:solidFill>
              </a:rPr>
              <a:t>Downloads Expo, React Native &amp; friends into </a:t>
            </a:r>
            <a:r>
              <a:rPr sz="2800" b="1" i="0" dirty="0" err="1">
                <a:solidFill>
                  <a:srgbClr val="FF0000"/>
                </a:solidFill>
              </a:rPr>
              <a:t>node_modules</a:t>
            </a:r>
            <a:endParaRPr sz="2800" b="1" i="0" dirty="0">
              <a:solidFill>
                <a:srgbClr val="3208CA"/>
              </a:solidFill>
            </a:endParaRPr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F5A3CEC4-FCD8-5D4F-66CE-28E249C4E8B3}"/>
              </a:ext>
            </a:extLst>
          </p:cNvPr>
          <p:cNvSpPr/>
          <p:nvPr/>
        </p:nvSpPr>
        <p:spPr>
          <a:xfrm>
            <a:off x="296389" y="3767903"/>
            <a:ext cx="685800" cy="6858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E3A8F174-4CD4-B811-2336-D4B5C1F7B8DA}"/>
              </a:ext>
            </a:extLst>
          </p:cNvPr>
          <p:cNvSpPr txBox="1"/>
          <p:nvPr/>
        </p:nvSpPr>
        <p:spPr>
          <a:xfrm>
            <a:off x="296389" y="3849193"/>
            <a:ext cx="685800" cy="5232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4BC02637-6126-69AB-1234-C09B0CE7DE9E}"/>
              </a:ext>
            </a:extLst>
          </p:cNvPr>
          <p:cNvSpPr/>
          <p:nvPr/>
        </p:nvSpPr>
        <p:spPr>
          <a:xfrm>
            <a:off x="1305382" y="3752120"/>
            <a:ext cx="10627538" cy="868680"/>
          </a:xfrm>
          <a:prstGeom prst="rect">
            <a:avLst/>
          </a:prstGeom>
          <a:solidFill>
            <a:srgbClr val="FFFFFF"/>
          </a:solidFill>
          <a:ln w="15875">
            <a:solidFill>
              <a:srgbClr val="FF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911C8C63-2045-518E-113E-5C6F2EFE5349}"/>
              </a:ext>
            </a:extLst>
          </p:cNvPr>
          <p:cNvSpPr txBox="1"/>
          <p:nvPr/>
        </p:nvSpPr>
        <p:spPr>
          <a:xfrm>
            <a:off x="1463040" y="3924850"/>
            <a:ext cx="4343400" cy="5232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 i="0" dirty="0">
                <a:solidFill>
                  <a:srgbClr val="111827"/>
                </a:solidFill>
              </a:rPr>
              <a:t>Sets up TypeScript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D15B873D-44B6-8591-8427-E2D515E29642}"/>
              </a:ext>
            </a:extLst>
          </p:cNvPr>
          <p:cNvSpPr txBox="1"/>
          <p:nvPr/>
        </p:nvSpPr>
        <p:spPr>
          <a:xfrm>
            <a:off x="5029200" y="3924850"/>
            <a:ext cx="6903720" cy="5232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 i="0">
                <a:solidFill>
                  <a:srgbClr val="3208CA"/>
                </a:solidFill>
              </a:rPr>
              <a:t>The project uses .tsx files, configured for you</a:t>
            </a:r>
          </a:p>
        </p:txBody>
      </p:sp>
      <p:sp>
        <p:nvSpPr>
          <p:cNvPr id="72" name="Rectangle 71">
            <a:extLst>
              <a:ext uri="{FF2B5EF4-FFF2-40B4-BE49-F238E27FC236}">
                <a16:creationId xmlns:a16="http://schemas.microsoft.com/office/drawing/2014/main" id="{28E2D080-8DC2-9DF2-DD58-C2EDC723C5E3}"/>
              </a:ext>
            </a:extLst>
          </p:cNvPr>
          <p:cNvSpPr/>
          <p:nvPr/>
        </p:nvSpPr>
        <p:spPr>
          <a:xfrm>
            <a:off x="292608" y="5067849"/>
            <a:ext cx="685800" cy="6858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8A6570DF-9035-A1FA-6E97-B829806860AD}"/>
              </a:ext>
            </a:extLst>
          </p:cNvPr>
          <p:cNvSpPr txBox="1"/>
          <p:nvPr/>
        </p:nvSpPr>
        <p:spPr>
          <a:xfrm>
            <a:off x="292608" y="5149139"/>
            <a:ext cx="685800" cy="5232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76" name="Rectangle 75">
            <a:extLst>
              <a:ext uri="{FF2B5EF4-FFF2-40B4-BE49-F238E27FC236}">
                <a16:creationId xmlns:a16="http://schemas.microsoft.com/office/drawing/2014/main" id="{13F50F61-6C03-E2AC-5660-86417B4A0CAF}"/>
              </a:ext>
            </a:extLst>
          </p:cNvPr>
          <p:cNvSpPr/>
          <p:nvPr/>
        </p:nvSpPr>
        <p:spPr>
          <a:xfrm>
            <a:off x="1305382" y="5007175"/>
            <a:ext cx="10627538" cy="868680"/>
          </a:xfrm>
          <a:prstGeom prst="rect">
            <a:avLst/>
          </a:prstGeom>
          <a:solidFill>
            <a:srgbClr val="FFFFFF"/>
          </a:solidFill>
          <a:ln w="15875">
            <a:solidFill>
              <a:srgbClr val="FF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63A9B1CA-441E-A79F-066A-51FF60E13288}"/>
              </a:ext>
            </a:extLst>
          </p:cNvPr>
          <p:cNvSpPr txBox="1"/>
          <p:nvPr/>
        </p:nvSpPr>
        <p:spPr>
          <a:xfrm>
            <a:off x="1463040" y="5179905"/>
            <a:ext cx="4185742" cy="5232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 i="0" dirty="0">
                <a:solidFill>
                  <a:srgbClr val="111827"/>
                </a:solidFill>
              </a:rPr>
              <a:t>Ready to run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C1D5CB58-A8C8-2B86-7DD5-A16BFF00E234}"/>
              </a:ext>
            </a:extLst>
          </p:cNvPr>
          <p:cNvSpPr txBox="1"/>
          <p:nvPr/>
        </p:nvSpPr>
        <p:spPr>
          <a:xfrm>
            <a:off x="4871542" y="5179905"/>
            <a:ext cx="6903720" cy="5232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 i="0" dirty="0">
                <a:solidFill>
                  <a:srgbClr val="3208CA"/>
                </a:solidFill>
              </a:rPr>
              <a:t>Ends with "cd </a:t>
            </a:r>
            <a:r>
              <a:rPr sz="2800" b="1" i="0" dirty="0" err="1">
                <a:solidFill>
                  <a:srgbClr val="3208CA"/>
                </a:solidFill>
              </a:rPr>
              <a:t>MyFirstApp</a:t>
            </a:r>
            <a:r>
              <a:rPr sz="2800" b="1" i="0" dirty="0">
                <a:solidFill>
                  <a:srgbClr val="3208CA"/>
                </a:solidFill>
              </a:rPr>
              <a:t>" then "</a:t>
            </a:r>
            <a:r>
              <a:rPr sz="2800" b="1" i="0" dirty="0" err="1">
                <a:solidFill>
                  <a:srgbClr val="FF0000"/>
                </a:solidFill>
              </a:rPr>
              <a:t>npm</a:t>
            </a:r>
            <a:r>
              <a:rPr sz="2800" b="1" i="0" dirty="0">
                <a:solidFill>
                  <a:srgbClr val="FF0000"/>
                </a:solidFill>
              </a:rPr>
              <a:t> start</a:t>
            </a:r>
            <a:r>
              <a:rPr sz="2800" b="1" i="0" dirty="0">
                <a:solidFill>
                  <a:srgbClr val="3208CA"/>
                </a:solidFill>
              </a:rPr>
              <a:t>"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92968"/>
            <a:ext cx="1133856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 dirty="0">
                <a:solidFill>
                  <a:srgbClr val="111827"/>
                </a:solidFill>
              </a:rPr>
              <a:t>Open the Project in VS Code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841248"/>
            <a:ext cx="11338560" cy="32004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1040436"/>
            <a:ext cx="1124712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US" sz="2800" b="0" i="0" dirty="0">
                <a:solidFill>
                  <a:srgbClr val="111827"/>
                </a:solidFill>
              </a:rPr>
              <a:t>Using </a:t>
            </a:r>
            <a:r>
              <a:rPr sz="2800" b="0" i="0" dirty="0">
                <a:solidFill>
                  <a:srgbClr val="111827"/>
                </a:solidFill>
              </a:rPr>
              <a:t>the terminal</a:t>
            </a:r>
            <a:r>
              <a:rPr lang="en-US" sz="2800" b="0" i="0" dirty="0">
                <a:solidFill>
                  <a:srgbClr val="111827"/>
                </a:solidFill>
              </a:rPr>
              <a:t>:</a:t>
            </a:r>
            <a:r>
              <a:rPr sz="2800" b="0" i="0" dirty="0">
                <a:solidFill>
                  <a:srgbClr val="111827"/>
                </a:solidFill>
              </a:rPr>
              <a:t> move into the new folder and open it: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844863"/>
            <a:ext cx="11247120" cy="1097280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09728" rIns="109728" bIns="91440" rtlCol="0" anchor="ctr"/>
          <a:lstStyle/>
          <a:p>
            <a:pPr algn="l"/>
            <a:r>
              <a:rPr sz="2800">
                <a:solidFill>
                  <a:srgbClr val="FFFFFF"/>
                </a:solidFill>
                <a:latin typeface="Consolas"/>
              </a:rPr>
              <a:t>cd MyFirstApp</a:t>
            </a:r>
          </a:p>
          <a:p>
            <a:pPr algn="l"/>
            <a:r>
              <a:rPr sz="2800">
                <a:solidFill>
                  <a:srgbClr val="FFFFFF"/>
                </a:solidFill>
                <a:latin typeface="Consolas"/>
              </a:rPr>
              <a:t>code 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034812"/>
            <a:ext cx="1124712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 i="0" dirty="0">
                <a:solidFill>
                  <a:srgbClr val="6B7280"/>
                </a:solidFill>
              </a:rPr>
              <a:t>The "." means "open the current folder". You now see the whole project on the left.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268025"/>
            <a:ext cx="11454714" cy="11849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 algn="l">
              <a:spcAft>
                <a:spcPts val="1800"/>
              </a:spcAft>
              <a:buFont typeface="Arial" panose="020B0604020202020204" pitchFamily="34" charset="0"/>
              <a:buChar char="•"/>
            </a:pPr>
            <a:r>
              <a:rPr lang="en-US" sz="2800" b="0" i="0" dirty="0">
                <a:solidFill>
                  <a:srgbClr val="111827"/>
                </a:solidFill>
              </a:rPr>
              <a:t>Using VSC: </a:t>
            </a:r>
            <a:r>
              <a:rPr sz="2800" b="0" i="0" dirty="0">
                <a:solidFill>
                  <a:srgbClr val="111827"/>
                </a:solidFill>
              </a:rPr>
              <a:t>Open VS Code → File → Open Folder → pick </a:t>
            </a:r>
            <a:r>
              <a:rPr sz="2800" b="0" i="0" dirty="0" err="1">
                <a:solidFill>
                  <a:srgbClr val="111827"/>
                </a:solidFill>
              </a:rPr>
              <a:t>MyFirstApp</a:t>
            </a:r>
            <a:r>
              <a:rPr sz="2800" b="0" i="0" dirty="0">
                <a:solidFill>
                  <a:srgbClr val="111827"/>
                </a:solidFill>
              </a:rPr>
              <a:t>.</a:t>
            </a:r>
            <a:endParaRPr lang="en-US" sz="2800" b="0" i="0" dirty="0">
              <a:solidFill>
                <a:srgbClr val="111827"/>
              </a:solidFill>
            </a:endParaRPr>
          </a:p>
          <a:p>
            <a:pPr marL="914400" lvl="1" indent="-457200">
              <a:spcAft>
                <a:spcPts val="1800"/>
              </a:spcAft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rgbClr val="111827"/>
                </a:solidFill>
              </a:rPr>
              <a:t>Open the built-in terminal with  View → Terminal  (or Ctrl+`).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498DBF-2F20-F5E1-4D63-CC9324B6E905}"/>
            </a:ext>
          </a:extLst>
        </p:cNvPr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3E7DB45-75B5-C7B2-065A-3C366565FA7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84739" y="2448355"/>
            <a:ext cx="7605197" cy="980646"/>
          </a:xfrm>
        </p:spPr>
        <p:txBody>
          <a:bodyPr>
            <a:noAutofit/>
          </a:bodyPr>
          <a:lstStyle/>
          <a:p>
            <a:pPr algn="ctr"/>
            <a:r>
              <a:rPr lang="en-CA" b="1" dirty="0"/>
              <a:t>Project Folder Structure</a:t>
            </a:r>
          </a:p>
        </p:txBody>
      </p:sp>
    </p:spTree>
    <p:extLst>
      <p:ext uri="{BB962C8B-B14F-4D97-AF65-F5344CB8AC3E}">
        <p14:creationId xmlns:p14="http://schemas.microsoft.com/office/powerpoint/2010/main" val="81320170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18961"/>
            <a:ext cx="1133856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 dirty="0">
                <a:solidFill>
                  <a:srgbClr val="111827"/>
                </a:solidFill>
              </a:rPr>
              <a:t>Project</a:t>
            </a:r>
            <a:r>
              <a:rPr lang="en-US" sz="3600" b="1" i="0" dirty="0">
                <a:solidFill>
                  <a:srgbClr val="111827"/>
                </a:solidFill>
              </a:rPr>
              <a:t> Folder Structure – app Folder</a:t>
            </a:r>
            <a:endParaRPr sz="3600" b="1" i="0" dirty="0">
              <a:solidFill>
                <a:srgbClr val="111827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457200" y="841248"/>
            <a:ext cx="11338560" cy="32004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304173" y="1073799"/>
            <a:ext cx="5733782" cy="506751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7" name="Rectangle 6"/>
          <p:cNvSpPr/>
          <p:nvPr/>
        </p:nvSpPr>
        <p:spPr>
          <a:xfrm>
            <a:off x="6304173" y="1073799"/>
            <a:ext cx="5733782" cy="96012"/>
          </a:xfrm>
          <a:prstGeom prst="rect">
            <a:avLst/>
          </a:prstGeom>
          <a:solidFill>
            <a:srgbClr val="FF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8" name="TextBox 7"/>
          <p:cNvSpPr txBox="1"/>
          <p:nvPr/>
        </p:nvSpPr>
        <p:spPr>
          <a:xfrm>
            <a:off x="6398769" y="1302399"/>
            <a:ext cx="539324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>
                <a:solidFill>
                  <a:srgbClr val="3208CA"/>
                </a:solidFill>
                <a:latin typeface="+mj-lt"/>
              </a:rPr>
              <a:t>App</a:t>
            </a:r>
            <a:r>
              <a:rPr lang="en-US" sz="2800" b="1" dirty="0">
                <a:solidFill>
                  <a:srgbClr val="2563EB"/>
                </a:solidFill>
                <a:latin typeface="+mj-lt"/>
              </a:rPr>
              <a:t>: </a:t>
            </a:r>
            <a:r>
              <a:rPr sz="2800" b="1" i="0" dirty="0">
                <a:solidFill>
                  <a:srgbClr val="6B7280"/>
                </a:solidFill>
                <a:latin typeface="+mj-lt"/>
              </a:rPr>
              <a:t>The one that matters most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98769" y="1921470"/>
            <a:ext cx="5733782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l">
              <a:buFont typeface="Arial" panose="020B0604020202020204" pitchFamily="34" charset="0"/>
              <a:buChar char="•"/>
            </a:pPr>
            <a:r>
              <a:rPr sz="2800" b="0" i="0" dirty="0">
                <a:solidFill>
                  <a:srgbClr val="111827"/>
                </a:solidFill>
                <a:latin typeface="+mj-lt"/>
              </a:rPr>
              <a:t>Every file you put in app/ becomes</a:t>
            </a:r>
            <a:r>
              <a:rPr lang="en-US" sz="2800" b="0" i="0" dirty="0">
                <a:solidFill>
                  <a:srgbClr val="111827"/>
                </a:solidFill>
                <a:latin typeface="+mj-lt"/>
              </a:rPr>
              <a:t> a </a:t>
            </a:r>
            <a:r>
              <a:rPr sz="2800" b="0" i="0" dirty="0">
                <a:solidFill>
                  <a:srgbClr val="111827"/>
                </a:solidFill>
                <a:latin typeface="+mj-lt"/>
              </a:rPr>
              <a:t>screen automatically. This is called</a:t>
            </a:r>
            <a:r>
              <a:rPr lang="en-US" sz="2800" b="0" i="0" dirty="0">
                <a:solidFill>
                  <a:srgbClr val="111827"/>
                </a:solidFill>
                <a:latin typeface="+mj-lt"/>
              </a:rPr>
              <a:t> </a:t>
            </a:r>
            <a:r>
              <a:rPr sz="2800" b="0" i="0" dirty="0">
                <a:solidFill>
                  <a:srgbClr val="111827"/>
                </a:solidFill>
                <a:latin typeface="+mj-lt"/>
              </a:rPr>
              <a:t>file-based routing.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sz="2800" b="0" i="0" dirty="0">
              <a:solidFill>
                <a:srgbClr val="111827"/>
              </a:solidFill>
              <a:latin typeface="+mj-lt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16C20BAC-D30E-F052-609B-493DCF08FCD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2838" y="1100611"/>
            <a:ext cx="6116292" cy="5235646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A6391CFC-9A86-B91F-9956-16900031273A}"/>
              </a:ext>
            </a:extLst>
          </p:cNvPr>
          <p:cNvSpPr txBox="1"/>
          <p:nvPr/>
        </p:nvSpPr>
        <p:spPr>
          <a:xfrm>
            <a:off x="6522643" y="3633956"/>
            <a:ext cx="5512112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</a:pPr>
            <a:r>
              <a:rPr lang="en-US" sz="2800" b="1" dirty="0">
                <a:solidFill>
                  <a:srgbClr val="3208CA"/>
                </a:solidFill>
                <a:latin typeface="+mj-lt"/>
              </a:rPr>
              <a:t>O</a:t>
            </a:r>
            <a:r>
              <a:rPr sz="2800" b="1" dirty="0">
                <a:solidFill>
                  <a:srgbClr val="3208CA"/>
                </a:solidFill>
                <a:latin typeface="+mj-lt"/>
              </a:rPr>
              <a:t>ther folders:</a:t>
            </a:r>
          </a:p>
          <a:p>
            <a:pPr algn="l">
              <a:spcAft>
                <a:spcPts val="1200"/>
              </a:spcAft>
            </a:pPr>
            <a:r>
              <a:rPr sz="2800" b="0" i="0" dirty="0">
                <a:solidFill>
                  <a:srgbClr val="111827"/>
                </a:solidFill>
                <a:latin typeface="+mj-lt"/>
              </a:rPr>
              <a:t>• components — buttons, cards, etc.</a:t>
            </a:r>
          </a:p>
          <a:p>
            <a:pPr algn="l">
              <a:spcAft>
                <a:spcPts val="1200"/>
              </a:spcAft>
            </a:pPr>
            <a:r>
              <a:rPr sz="2800" b="0" i="0" dirty="0">
                <a:solidFill>
                  <a:srgbClr val="111827"/>
                </a:solidFill>
                <a:latin typeface="+mj-lt"/>
              </a:rPr>
              <a:t>• constants — shared values</a:t>
            </a:r>
          </a:p>
          <a:p>
            <a:pPr algn="l">
              <a:spcAft>
                <a:spcPts val="1200"/>
              </a:spcAft>
            </a:pPr>
            <a:r>
              <a:rPr sz="2800" b="0" i="0" dirty="0">
                <a:solidFill>
                  <a:srgbClr val="111827"/>
                </a:solidFill>
                <a:latin typeface="+mj-lt"/>
              </a:rPr>
              <a:t>• hooks — shared behavior</a:t>
            </a:r>
          </a:p>
          <a:p>
            <a:pPr algn="l">
              <a:spcAft>
                <a:spcPts val="1200"/>
              </a:spcAft>
            </a:pPr>
            <a:r>
              <a:rPr sz="2800" b="0" i="0" dirty="0">
                <a:solidFill>
                  <a:srgbClr val="111827"/>
                </a:solidFill>
                <a:latin typeface="+mj-lt"/>
              </a:rPr>
              <a:t>• assets — pictures &amp; fonts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06604"/>
            <a:ext cx="1133856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 dirty="0">
                <a:solidFill>
                  <a:srgbClr val="111827"/>
                </a:solidFill>
              </a:rPr>
              <a:t>File-Based Routing — Files Become Screens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841248"/>
            <a:ext cx="11338560" cy="32004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834081"/>
            <a:ext cx="11501916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 i="0" dirty="0">
                <a:solidFill>
                  <a:srgbClr val="111827"/>
                </a:solidFill>
              </a:rPr>
              <a:t>In Expo Router, the file's location IS the screen's address. No manual</a:t>
            </a:r>
            <a:r>
              <a:rPr lang="en-US" sz="2800" b="0" i="0" dirty="0">
                <a:solidFill>
                  <a:srgbClr val="111827"/>
                </a:solidFill>
              </a:rPr>
              <a:t> </a:t>
            </a:r>
            <a:r>
              <a:rPr sz="2800" b="0" i="0" dirty="0">
                <a:solidFill>
                  <a:srgbClr val="111827"/>
                </a:solidFill>
              </a:rPr>
              <a:t>navigation setup —</a:t>
            </a:r>
            <a:r>
              <a:rPr lang="en-US" sz="2800" b="0" i="0" dirty="0">
                <a:solidFill>
                  <a:srgbClr val="111827"/>
                </a:solidFill>
              </a:rPr>
              <a:t> </a:t>
            </a:r>
            <a:r>
              <a:rPr sz="2800" b="0" i="0" dirty="0">
                <a:solidFill>
                  <a:srgbClr val="111827"/>
                </a:solidFill>
              </a:rPr>
              <a:t>create a file, get a screen. The (tabs) folder groups screens into the bottom tab bar.</a:t>
            </a:r>
          </a:p>
        </p:txBody>
      </p:sp>
      <p:sp>
        <p:nvSpPr>
          <p:cNvPr id="6" name="Rectangle 5"/>
          <p:cNvSpPr/>
          <p:nvPr/>
        </p:nvSpPr>
        <p:spPr>
          <a:xfrm>
            <a:off x="1210970" y="2466411"/>
            <a:ext cx="4599302" cy="658368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09728" rIns="109728" bIns="91440" rtlCol="0" anchor="ctr"/>
          <a:lstStyle/>
          <a:p>
            <a:pPr algn="l"/>
            <a:r>
              <a:rPr sz="2400">
                <a:solidFill>
                  <a:srgbClr val="FFFFFF"/>
                </a:solidFill>
                <a:latin typeface="Consolas"/>
              </a:rPr>
              <a:t>app/(tabs)/index.tsx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07609" y="2564763"/>
            <a:ext cx="3370919" cy="46166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400" b="1" i="0" dirty="0">
                <a:solidFill>
                  <a:srgbClr val="16A34A"/>
                </a:solidFill>
              </a:rPr>
              <a:t>Home tab</a:t>
            </a:r>
          </a:p>
        </p:txBody>
      </p:sp>
      <p:sp>
        <p:nvSpPr>
          <p:cNvPr id="9" name="Rectangle 8"/>
          <p:cNvSpPr/>
          <p:nvPr/>
        </p:nvSpPr>
        <p:spPr>
          <a:xfrm>
            <a:off x="1210970" y="3335090"/>
            <a:ext cx="4599302" cy="658368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09728" rIns="109728" bIns="91440" rtlCol="0" anchor="ctr"/>
          <a:lstStyle/>
          <a:p>
            <a:pPr algn="l"/>
            <a:r>
              <a:rPr sz="2400">
                <a:solidFill>
                  <a:srgbClr val="FFFFFF"/>
                </a:solidFill>
                <a:latin typeface="Consolas"/>
              </a:rPr>
              <a:t>app/(tabs)/explore.tsx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07610" y="3447537"/>
            <a:ext cx="3917146" cy="46166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400" b="1" i="0" dirty="0">
                <a:solidFill>
                  <a:srgbClr val="16A34A"/>
                </a:solidFill>
              </a:rPr>
              <a:t>Explore tab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210970" y="4203771"/>
            <a:ext cx="4599302" cy="658368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09728" rIns="109728" bIns="91440" rtlCol="0" anchor="ctr"/>
          <a:lstStyle/>
          <a:p>
            <a:pPr algn="l"/>
            <a:r>
              <a:rPr sz="2400">
                <a:solidFill>
                  <a:srgbClr val="FFFFFF"/>
                </a:solidFill>
                <a:latin typeface="Consolas"/>
              </a:rPr>
              <a:t>app/(tabs)/_layout.tsx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107610" y="4307856"/>
            <a:ext cx="3954162" cy="46166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lang="en-US" sz="2400" b="1" i="0" dirty="0">
                <a:solidFill>
                  <a:srgbClr val="2563EB"/>
                </a:solidFill>
              </a:rPr>
              <a:t>D</a:t>
            </a:r>
            <a:r>
              <a:rPr sz="2400" b="1" i="0" dirty="0">
                <a:solidFill>
                  <a:srgbClr val="2563EB"/>
                </a:solidFill>
              </a:rPr>
              <a:t>efines the tabs themselves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210970" y="5072451"/>
            <a:ext cx="4599302" cy="658368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09728" rIns="109728" bIns="91440" rtlCol="0" anchor="ctr"/>
          <a:lstStyle/>
          <a:p>
            <a:pPr algn="l"/>
            <a:r>
              <a:rPr sz="2400">
                <a:solidFill>
                  <a:srgbClr val="FFFFFF"/>
                </a:solidFill>
                <a:latin typeface="Consolas"/>
              </a:rPr>
              <a:t>app/_layout.tsx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07610" y="5180459"/>
            <a:ext cx="3741622" cy="46166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lang="en-US" sz="2400" b="1" i="0" dirty="0">
                <a:solidFill>
                  <a:srgbClr val="7C3AED"/>
                </a:solidFill>
              </a:rPr>
              <a:t>W</a:t>
            </a:r>
            <a:r>
              <a:rPr sz="2400" b="1" i="0" dirty="0">
                <a:solidFill>
                  <a:srgbClr val="7C3AED"/>
                </a:solidFill>
              </a:rPr>
              <a:t>raps the whole app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5806440"/>
            <a:ext cx="1124712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 i="1" dirty="0">
                <a:solidFill>
                  <a:srgbClr val="6B7280"/>
                </a:solidFill>
              </a:rPr>
              <a:t>Parentheses like (tabs) group screens without adding to the URL path.</a:t>
            </a:r>
          </a:p>
        </p:txBody>
      </p:sp>
      <p:sp>
        <p:nvSpPr>
          <p:cNvPr id="19" name="Arrow: Right 18">
            <a:extLst>
              <a:ext uri="{FF2B5EF4-FFF2-40B4-BE49-F238E27FC236}">
                <a16:creationId xmlns:a16="http://schemas.microsoft.com/office/drawing/2014/main" id="{7C6FD213-72E1-37D3-D4BE-A075A607256D}"/>
              </a:ext>
            </a:extLst>
          </p:cNvPr>
          <p:cNvSpPr/>
          <p:nvPr/>
        </p:nvSpPr>
        <p:spPr>
          <a:xfrm>
            <a:off x="6134203" y="2606401"/>
            <a:ext cx="889687" cy="345009"/>
          </a:xfrm>
          <a:prstGeom prst="rightArrow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Arrow: Right 20">
            <a:extLst>
              <a:ext uri="{FF2B5EF4-FFF2-40B4-BE49-F238E27FC236}">
                <a16:creationId xmlns:a16="http://schemas.microsoft.com/office/drawing/2014/main" id="{8090EFC6-9B54-77C0-1F8D-702E70D3425F}"/>
              </a:ext>
            </a:extLst>
          </p:cNvPr>
          <p:cNvSpPr/>
          <p:nvPr/>
        </p:nvSpPr>
        <p:spPr>
          <a:xfrm>
            <a:off x="6134203" y="3490683"/>
            <a:ext cx="889687" cy="345009"/>
          </a:xfrm>
          <a:prstGeom prst="rightArrow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Arrow: Right 22">
            <a:extLst>
              <a:ext uri="{FF2B5EF4-FFF2-40B4-BE49-F238E27FC236}">
                <a16:creationId xmlns:a16="http://schemas.microsoft.com/office/drawing/2014/main" id="{798EE3B4-F955-987B-BAFD-1C2B1F40A3DF}"/>
              </a:ext>
            </a:extLst>
          </p:cNvPr>
          <p:cNvSpPr/>
          <p:nvPr/>
        </p:nvSpPr>
        <p:spPr>
          <a:xfrm>
            <a:off x="6164789" y="4350220"/>
            <a:ext cx="889687" cy="345009"/>
          </a:xfrm>
          <a:prstGeom prst="rightArrow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Arrow: Right 24">
            <a:extLst>
              <a:ext uri="{FF2B5EF4-FFF2-40B4-BE49-F238E27FC236}">
                <a16:creationId xmlns:a16="http://schemas.microsoft.com/office/drawing/2014/main" id="{FAE3B9FD-5900-2C35-6A8B-3C4462FEFFE3}"/>
              </a:ext>
            </a:extLst>
          </p:cNvPr>
          <p:cNvSpPr/>
          <p:nvPr/>
        </p:nvSpPr>
        <p:spPr>
          <a:xfrm>
            <a:off x="6167320" y="5229018"/>
            <a:ext cx="889687" cy="345009"/>
          </a:xfrm>
          <a:prstGeom prst="rightArrow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18961"/>
            <a:ext cx="1133856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b="1" dirty="0">
                <a:solidFill>
                  <a:srgbClr val="111827"/>
                </a:solidFill>
              </a:rPr>
              <a:t>Project Folder Structure - </a:t>
            </a:r>
            <a:r>
              <a:rPr sz="3600" b="1" i="0" dirty="0">
                <a:solidFill>
                  <a:srgbClr val="111827"/>
                </a:solidFill>
              </a:rPr>
              <a:t>Supporting Folders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841248"/>
            <a:ext cx="11338560" cy="32004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249361" y="1371600"/>
            <a:ext cx="5783206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6" name="Rectangle 5"/>
          <p:cNvSpPr/>
          <p:nvPr/>
        </p:nvSpPr>
        <p:spPr>
          <a:xfrm>
            <a:off x="338327" y="1363640"/>
            <a:ext cx="5605273" cy="994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7" name="TextBox 6"/>
          <p:cNvSpPr txBox="1"/>
          <p:nvPr/>
        </p:nvSpPr>
        <p:spPr>
          <a:xfrm>
            <a:off x="731520" y="164592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2563EB"/>
                </a:solidFill>
                <a:latin typeface="Consolas"/>
              </a:rPr>
              <a:t>components/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8327" y="2286000"/>
            <a:ext cx="5422393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 i="0" dirty="0">
                <a:solidFill>
                  <a:srgbClr val="111827"/>
                </a:solidFill>
              </a:rPr>
              <a:t>Reusable UI pieces you build once and use everywhere — a themed button, a card.</a:t>
            </a:r>
          </a:p>
        </p:txBody>
      </p:sp>
      <p:sp>
        <p:nvSpPr>
          <p:cNvPr id="9" name="Rectangle 8"/>
          <p:cNvSpPr/>
          <p:nvPr/>
        </p:nvSpPr>
        <p:spPr>
          <a:xfrm>
            <a:off x="6263640" y="1371600"/>
            <a:ext cx="548640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10" name="Rectangle 9"/>
          <p:cNvSpPr/>
          <p:nvPr/>
        </p:nvSpPr>
        <p:spPr>
          <a:xfrm>
            <a:off x="6263640" y="1371600"/>
            <a:ext cx="5486400" cy="91440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11" name="TextBox 10"/>
          <p:cNvSpPr txBox="1"/>
          <p:nvPr/>
        </p:nvSpPr>
        <p:spPr>
          <a:xfrm>
            <a:off x="6537959" y="164592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16A34A"/>
                </a:solidFill>
                <a:latin typeface="Consolas"/>
              </a:rPr>
              <a:t>constants/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37959" y="2286000"/>
            <a:ext cx="502920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 i="0">
                <a:solidFill>
                  <a:srgbClr val="111827"/>
                </a:solidFill>
              </a:rPr>
              <a:t>Shared values like your color palette, so you don't repeat them in every file.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49361" y="3818241"/>
            <a:ext cx="5783206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14" name="Rectangle 13"/>
          <p:cNvSpPr/>
          <p:nvPr/>
        </p:nvSpPr>
        <p:spPr>
          <a:xfrm>
            <a:off x="295081" y="3818241"/>
            <a:ext cx="5648519" cy="914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15" name="TextBox 14"/>
          <p:cNvSpPr txBox="1"/>
          <p:nvPr/>
        </p:nvSpPr>
        <p:spPr>
          <a:xfrm>
            <a:off x="731520" y="4092561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7C3AED"/>
                </a:solidFill>
                <a:latin typeface="Consolas"/>
              </a:rPr>
              <a:t>hooks/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4732641"/>
            <a:ext cx="530352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 i="0" dirty="0">
                <a:solidFill>
                  <a:srgbClr val="111827"/>
                </a:solidFill>
              </a:rPr>
              <a:t>Reusable logic — e.g. detecting light vs dark mode. You'll learn these in Week 4.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63640" y="3818241"/>
            <a:ext cx="548640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18" name="Rectangle 17"/>
          <p:cNvSpPr/>
          <p:nvPr/>
        </p:nvSpPr>
        <p:spPr>
          <a:xfrm>
            <a:off x="6263640" y="3818241"/>
            <a:ext cx="5486400" cy="9144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19" name="TextBox 18"/>
          <p:cNvSpPr txBox="1"/>
          <p:nvPr/>
        </p:nvSpPr>
        <p:spPr>
          <a:xfrm>
            <a:off x="6537959" y="4092561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D97706"/>
                </a:solidFill>
                <a:latin typeface="Consolas"/>
              </a:rPr>
              <a:t>assets/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37959" y="4732641"/>
            <a:ext cx="502920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 i="0">
                <a:solidFill>
                  <a:srgbClr val="111827"/>
                </a:solidFill>
              </a:rPr>
              <a:t>Static files: images, icons, and fonts your app displays.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18961"/>
            <a:ext cx="1133856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b="1" dirty="0">
                <a:solidFill>
                  <a:srgbClr val="111827"/>
                </a:solidFill>
              </a:rPr>
              <a:t>Project Folder Structure - </a:t>
            </a:r>
            <a:r>
              <a:rPr sz="3600" b="1" i="0" dirty="0">
                <a:solidFill>
                  <a:srgbClr val="111827"/>
                </a:solidFill>
              </a:rPr>
              <a:t>The </a:t>
            </a:r>
            <a:r>
              <a:rPr lang="en-US" sz="3600" b="1" i="0" dirty="0">
                <a:solidFill>
                  <a:srgbClr val="111827"/>
                </a:solidFill>
              </a:rPr>
              <a:t>3</a:t>
            </a:r>
            <a:r>
              <a:rPr sz="3600" b="1" i="0" dirty="0">
                <a:solidFill>
                  <a:srgbClr val="111827"/>
                </a:solidFill>
              </a:rPr>
              <a:t> Config Files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841248"/>
            <a:ext cx="11338560" cy="32004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457200" y="1371600"/>
            <a:ext cx="1124712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6" name="Rectangle 5"/>
          <p:cNvSpPr/>
          <p:nvPr/>
        </p:nvSpPr>
        <p:spPr>
          <a:xfrm>
            <a:off x="457200" y="1371600"/>
            <a:ext cx="109728" cy="123444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7" name="TextBox 6"/>
          <p:cNvSpPr txBox="1"/>
          <p:nvPr/>
        </p:nvSpPr>
        <p:spPr>
          <a:xfrm>
            <a:off x="777240" y="1727209"/>
            <a:ext cx="36576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 dirty="0" err="1">
                <a:solidFill>
                  <a:srgbClr val="2563EB"/>
                </a:solidFill>
                <a:latin typeface="Consolas"/>
              </a:rPr>
              <a:t>app.json</a:t>
            </a:r>
            <a:endParaRPr sz="2800" b="1" i="0" dirty="0">
              <a:solidFill>
                <a:srgbClr val="2563EB"/>
              </a:solidFill>
              <a:latin typeface="Consolas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4297680" y="1511766"/>
            <a:ext cx="7223760" cy="95410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0" i="0">
                <a:solidFill>
                  <a:srgbClr val="111827"/>
                </a:solidFill>
              </a:rPr>
              <a:t>Your app's identity: display name, icon, splash screen, orientation.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2834640"/>
            <a:ext cx="1124712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10" name="Rectangle 9"/>
          <p:cNvSpPr/>
          <p:nvPr/>
        </p:nvSpPr>
        <p:spPr>
          <a:xfrm>
            <a:off x="457200" y="2834640"/>
            <a:ext cx="109728" cy="1234440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11" name="TextBox 10"/>
          <p:cNvSpPr txBox="1"/>
          <p:nvPr/>
        </p:nvSpPr>
        <p:spPr>
          <a:xfrm>
            <a:off x="777240" y="3192104"/>
            <a:ext cx="36576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 dirty="0" err="1">
                <a:solidFill>
                  <a:srgbClr val="16A34A"/>
                </a:solidFill>
                <a:latin typeface="Consolas"/>
              </a:rPr>
              <a:t>package.json</a:t>
            </a:r>
            <a:endParaRPr sz="2800" b="1" i="0" dirty="0">
              <a:solidFill>
                <a:srgbClr val="16A34A"/>
              </a:solidFill>
              <a:latin typeface="Consolas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4297680" y="2974806"/>
            <a:ext cx="7223760" cy="95410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0" i="0">
                <a:solidFill>
                  <a:srgbClr val="111827"/>
                </a:solidFill>
              </a:rPr>
              <a:t>The project's ID card: its scripts and its list of dependencies.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4297680"/>
            <a:ext cx="1124712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14" name="Rectangle 13"/>
          <p:cNvSpPr/>
          <p:nvPr/>
        </p:nvSpPr>
        <p:spPr>
          <a:xfrm>
            <a:off x="457200" y="4297680"/>
            <a:ext cx="109728" cy="12344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15" name="TextBox 14"/>
          <p:cNvSpPr txBox="1"/>
          <p:nvPr/>
        </p:nvSpPr>
        <p:spPr>
          <a:xfrm>
            <a:off x="777240" y="4653289"/>
            <a:ext cx="36576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 dirty="0" err="1">
                <a:solidFill>
                  <a:srgbClr val="7C3AED"/>
                </a:solidFill>
                <a:latin typeface="Consolas"/>
              </a:rPr>
              <a:t>tsconfig.json</a:t>
            </a:r>
            <a:endParaRPr sz="2800" b="1" i="0" dirty="0">
              <a:solidFill>
                <a:srgbClr val="7C3AED"/>
              </a:solidFill>
              <a:latin typeface="Consolas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4297680" y="4437846"/>
            <a:ext cx="7223760" cy="95410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0" i="0">
                <a:solidFill>
                  <a:srgbClr val="111827"/>
                </a:solidFill>
              </a:rPr>
              <a:t>TypeScript settings — usually left exactly as generated.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18961"/>
            <a:ext cx="1133856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 dirty="0">
                <a:solidFill>
                  <a:srgbClr val="111827"/>
                </a:solidFill>
              </a:rPr>
              <a:t>What Is </a:t>
            </a:r>
            <a:r>
              <a:rPr sz="3600" b="1" i="0" dirty="0" err="1">
                <a:solidFill>
                  <a:srgbClr val="111827"/>
                </a:solidFill>
              </a:rPr>
              <a:t>package.json</a:t>
            </a:r>
            <a:r>
              <a:rPr sz="3600" b="1" i="0" dirty="0">
                <a:solidFill>
                  <a:srgbClr val="111827"/>
                </a:solidFill>
              </a:rPr>
              <a:t>?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841248"/>
            <a:ext cx="11338560" cy="32004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973710"/>
            <a:ext cx="1124712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l">
              <a:buFont typeface="Arial" panose="020B0604020202020204" pitchFamily="34" charset="0"/>
              <a:buChar char="•"/>
            </a:pPr>
            <a:r>
              <a:rPr sz="2400" b="0" i="0" dirty="0">
                <a:solidFill>
                  <a:srgbClr val="111827"/>
                </a:solidFill>
              </a:rPr>
              <a:t>Every Node project has one. </a:t>
            </a:r>
            <a:endParaRPr lang="en-US" sz="2400" b="0" i="0" dirty="0">
              <a:solidFill>
                <a:srgbClr val="111827"/>
              </a:solidFill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sz="2400" b="0" i="0" dirty="0">
                <a:solidFill>
                  <a:srgbClr val="111827"/>
                </a:solidFill>
              </a:rPr>
              <a:t>It records the project's name, the commands you can run,</a:t>
            </a:r>
            <a:r>
              <a:rPr lang="en-US" sz="2400" b="0" i="0" dirty="0">
                <a:solidFill>
                  <a:srgbClr val="111827"/>
                </a:solidFill>
              </a:rPr>
              <a:t> </a:t>
            </a:r>
            <a:r>
              <a:rPr sz="2400" b="0" i="0" dirty="0">
                <a:solidFill>
                  <a:srgbClr val="111827"/>
                </a:solidFill>
              </a:rPr>
              <a:t>and every package the project depends on. </a:t>
            </a:r>
            <a:r>
              <a:rPr sz="2400" b="0" i="0" dirty="0" err="1">
                <a:solidFill>
                  <a:srgbClr val="111827"/>
                </a:solidFill>
              </a:rPr>
              <a:t>npm</a:t>
            </a:r>
            <a:r>
              <a:rPr sz="2400" b="0" i="0" dirty="0">
                <a:solidFill>
                  <a:srgbClr val="111827"/>
                </a:solidFill>
              </a:rPr>
              <a:t> reads it constantly.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0" y="1920240"/>
            <a:ext cx="438912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8" name="Rectangle 7"/>
          <p:cNvSpPr/>
          <p:nvPr/>
        </p:nvSpPr>
        <p:spPr>
          <a:xfrm>
            <a:off x="7315200" y="1920240"/>
            <a:ext cx="91440" cy="86868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9" name="TextBox 8"/>
          <p:cNvSpPr txBox="1"/>
          <p:nvPr/>
        </p:nvSpPr>
        <p:spPr>
          <a:xfrm>
            <a:off x="7543800" y="1955826"/>
            <a:ext cx="402336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 dirty="0">
                <a:solidFill>
                  <a:srgbClr val="2563EB"/>
                </a:solidFill>
                <a:latin typeface="Consolas"/>
              </a:rPr>
              <a:t>name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43800" y="2321586"/>
            <a:ext cx="41148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 i="0">
                <a:solidFill>
                  <a:srgbClr val="6B7280"/>
                </a:solidFill>
              </a:rPr>
              <a:t>The project's name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0" y="2926080"/>
            <a:ext cx="438912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12" name="Rectangle 11"/>
          <p:cNvSpPr/>
          <p:nvPr/>
        </p:nvSpPr>
        <p:spPr>
          <a:xfrm>
            <a:off x="7315200" y="2926080"/>
            <a:ext cx="91440" cy="868680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13" name="TextBox 12"/>
          <p:cNvSpPr txBox="1"/>
          <p:nvPr/>
        </p:nvSpPr>
        <p:spPr>
          <a:xfrm>
            <a:off x="7543800" y="2912238"/>
            <a:ext cx="402336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 dirty="0">
                <a:solidFill>
                  <a:srgbClr val="16A34A"/>
                </a:solidFill>
                <a:latin typeface="Consolas"/>
              </a:rPr>
              <a:t>scripts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543800" y="3277998"/>
            <a:ext cx="416052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 i="0" dirty="0">
                <a:solidFill>
                  <a:srgbClr val="6B7280"/>
                </a:solidFill>
              </a:rPr>
              <a:t>Shortcuts you run with </a:t>
            </a:r>
            <a:r>
              <a:rPr sz="2400" b="0" i="0" dirty="0" err="1">
                <a:solidFill>
                  <a:srgbClr val="6B7280"/>
                </a:solidFill>
              </a:rPr>
              <a:t>npm</a:t>
            </a:r>
            <a:r>
              <a:rPr sz="2400" b="0" i="0" dirty="0">
                <a:solidFill>
                  <a:srgbClr val="6B7280"/>
                </a:solidFill>
              </a:rPr>
              <a:t> run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315200" y="3931920"/>
            <a:ext cx="438912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16" name="Rectangle 15"/>
          <p:cNvSpPr/>
          <p:nvPr/>
        </p:nvSpPr>
        <p:spPr>
          <a:xfrm>
            <a:off x="7315200" y="3931920"/>
            <a:ext cx="91440" cy="86868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17" name="TextBox 16"/>
          <p:cNvSpPr txBox="1"/>
          <p:nvPr/>
        </p:nvSpPr>
        <p:spPr>
          <a:xfrm>
            <a:off x="7543800" y="3955149"/>
            <a:ext cx="402336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 dirty="0">
                <a:solidFill>
                  <a:srgbClr val="7C3AED"/>
                </a:solidFill>
                <a:latin typeface="Consolas"/>
              </a:rPr>
              <a:t>dependencies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543800" y="4320909"/>
            <a:ext cx="41148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 i="0" dirty="0">
                <a:solidFill>
                  <a:srgbClr val="6B7280"/>
                </a:solidFill>
              </a:rPr>
              <a:t>Packages the app needs to run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315200" y="4937760"/>
            <a:ext cx="438912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20" name="Rectangle 19"/>
          <p:cNvSpPr/>
          <p:nvPr/>
        </p:nvSpPr>
        <p:spPr>
          <a:xfrm>
            <a:off x="7315200" y="4937760"/>
            <a:ext cx="91440" cy="86868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21" name="TextBox 20"/>
          <p:cNvSpPr txBox="1"/>
          <p:nvPr/>
        </p:nvSpPr>
        <p:spPr>
          <a:xfrm>
            <a:off x="7543800" y="4960989"/>
            <a:ext cx="402336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 dirty="0" err="1">
                <a:solidFill>
                  <a:srgbClr val="D97706"/>
                </a:solidFill>
                <a:latin typeface="Consolas"/>
              </a:rPr>
              <a:t>devDependencies</a:t>
            </a:r>
            <a:endParaRPr sz="2400" b="1" i="0" dirty="0">
              <a:solidFill>
                <a:srgbClr val="D97706"/>
              </a:solidFill>
              <a:latin typeface="Consolas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7543800" y="5326749"/>
            <a:ext cx="425196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 i="0" dirty="0">
                <a:solidFill>
                  <a:srgbClr val="6B7280"/>
                </a:solidFill>
              </a:rPr>
              <a:t>Tools only needed while building</a:t>
            </a:r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8D8DBF6B-B190-5F07-3F4B-86728E54C09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5488" y="2174039"/>
            <a:ext cx="6178505" cy="4189691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06604"/>
            <a:ext cx="1133856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 dirty="0">
                <a:solidFill>
                  <a:srgbClr val="111827"/>
                </a:solidFill>
              </a:rPr>
              <a:t>The scripts — Your Shortcuts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16836"/>
            <a:ext cx="1133856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 algn="l">
              <a:buFont typeface="Arial" panose="020B0604020202020204" pitchFamily="34" charset="0"/>
              <a:buChar char="•"/>
            </a:pPr>
            <a:r>
              <a:rPr sz="2800" dirty="0"/>
              <a:t>You run these with "</a:t>
            </a:r>
            <a:r>
              <a:rPr sz="2800" b="1" dirty="0" err="1"/>
              <a:t>npm</a:t>
            </a:r>
            <a:r>
              <a:rPr sz="2800" b="1" dirty="0"/>
              <a:t> run &lt;name&gt;</a:t>
            </a:r>
            <a:r>
              <a:rPr sz="2800" dirty="0"/>
              <a:t>"  (start has a shortcut: </a:t>
            </a:r>
            <a:r>
              <a:rPr sz="2800" dirty="0" err="1"/>
              <a:t>npm</a:t>
            </a:r>
            <a:r>
              <a:rPr sz="2800" dirty="0"/>
              <a:t> start)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841248"/>
            <a:ext cx="11338560" cy="32004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457200" y="2057402"/>
            <a:ext cx="3291840" cy="50292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200"/>
          </a:p>
        </p:txBody>
      </p:sp>
      <p:sp>
        <p:nvSpPr>
          <p:cNvPr id="7" name="TextBox 6"/>
          <p:cNvSpPr txBox="1"/>
          <p:nvPr/>
        </p:nvSpPr>
        <p:spPr>
          <a:xfrm>
            <a:off x="457200" y="2093419"/>
            <a:ext cx="3291840" cy="43088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200" b="1" i="0" dirty="0">
                <a:solidFill>
                  <a:srgbClr val="FFFFFF"/>
                </a:solidFill>
              </a:rPr>
              <a:t>YOU TYPE</a:t>
            </a:r>
          </a:p>
        </p:txBody>
      </p:sp>
      <p:sp>
        <p:nvSpPr>
          <p:cNvPr id="8" name="Rectangle 7"/>
          <p:cNvSpPr/>
          <p:nvPr/>
        </p:nvSpPr>
        <p:spPr>
          <a:xfrm>
            <a:off x="3840480" y="2057402"/>
            <a:ext cx="3474720" cy="502920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200"/>
          </a:p>
        </p:txBody>
      </p:sp>
      <p:sp>
        <p:nvSpPr>
          <p:cNvPr id="9" name="TextBox 8"/>
          <p:cNvSpPr txBox="1"/>
          <p:nvPr/>
        </p:nvSpPr>
        <p:spPr>
          <a:xfrm>
            <a:off x="3840480" y="2093419"/>
            <a:ext cx="3474720" cy="43088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IT RUNS</a:t>
            </a:r>
          </a:p>
        </p:txBody>
      </p:sp>
      <p:sp>
        <p:nvSpPr>
          <p:cNvPr id="10" name="Rectangle 9"/>
          <p:cNvSpPr/>
          <p:nvPr/>
        </p:nvSpPr>
        <p:spPr>
          <a:xfrm>
            <a:off x="7406640" y="2057402"/>
            <a:ext cx="4297680" cy="502920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200"/>
          </a:p>
        </p:txBody>
      </p:sp>
      <p:sp>
        <p:nvSpPr>
          <p:cNvPr id="11" name="TextBox 10"/>
          <p:cNvSpPr txBox="1"/>
          <p:nvPr/>
        </p:nvSpPr>
        <p:spPr>
          <a:xfrm>
            <a:off x="7406640" y="2093419"/>
            <a:ext cx="4389120" cy="43088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WHAT IT DOES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2606042"/>
            <a:ext cx="11247120" cy="585216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200"/>
          </a:p>
        </p:txBody>
      </p:sp>
      <p:sp>
        <p:nvSpPr>
          <p:cNvPr id="13" name="TextBox 12"/>
          <p:cNvSpPr txBox="1"/>
          <p:nvPr/>
        </p:nvSpPr>
        <p:spPr>
          <a:xfrm>
            <a:off x="594360" y="2683207"/>
            <a:ext cx="3200400" cy="43088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200" b="1" i="0" dirty="0" err="1">
                <a:solidFill>
                  <a:srgbClr val="2563EB"/>
                </a:solidFill>
                <a:latin typeface="Consolas"/>
              </a:rPr>
              <a:t>npm</a:t>
            </a:r>
            <a:r>
              <a:rPr sz="2200" b="1" i="0" dirty="0">
                <a:solidFill>
                  <a:srgbClr val="2563EB"/>
                </a:solidFill>
                <a:latin typeface="Consolas"/>
              </a:rPr>
              <a:t> start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977639" y="2683207"/>
            <a:ext cx="3383280" cy="43088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200" b="0" i="0" dirty="0">
                <a:solidFill>
                  <a:srgbClr val="FF0000"/>
                </a:solidFill>
                <a:latin typeface="Consolas"/>
              </a:rPr>
              <a:t>expo start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543799" y="2513930"/>
            <a:ext cx="4202349" cy="76944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200" b="0" i="0" dirty="0"/>
              <a:t>Starts the dev server + shows the QR code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3264410"/>
            <a:ext cx="11247120" cy="585216"/>
          </a:xfrm>
          <a:prstGeom prst="rect">
            <a:avLst/>
          </a:prstGeom>
          <a:solidFill>
            <a:srgbClr val="F8FAFC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200"/>
          </a:p>
        </p:txBody>
      </p:sp>
      <p:sp>
        <p:nvSpPr>
          <p:cNvPr id="17" name="TextBox 16"/>
          <p:cNvSpPr txBox="1"/>
          <p:nvPr/>
        </p:nvSpPr>
        <p:spPr>
          <a:xfrm>
            <a:off x="594360" y="3341575"/>
            <a:ext cx="3200400" cy="43088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200" b="1" i="0">
                <a:solidFill>
                  <a:srgbClr val="2563EB"/>
                </a:solidFill>
                <a:latin typeface="Consolas"/>
              </a:rPr>
              <a:t>npm run android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977639" y="3341575"/>
            <a:ext cx="3383280" cy="43088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200" b="0" i="0">
                <a:solidFill>
                  <a:srgbClr val="FF0000"/>
                </a:solidFill>
                <a:latin typeface="Consolas"/>
              </a:rPr>
              <a:t>expo start --android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543799" y="3172298"/>
            <a:ext cx="4202349" cy="76944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200" b="0" i="0"/>
              <a:t>Starts, then opens the Android emulator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3922778"/>
            <a:ext cx="11247120" cy="585216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200"/>
          </a:p>
        </p:txBody>
      </p:sp>
      <p:sp>
        <p:nvSpPr>
          <p:cNvPr id="21" name="TextBox 20"/>
          <p:cNvSpPr txBox="1"/>
          <p:nvPr/>
        </p:nvSpPr>
        <p:spPr>
          <a:xfrm>
            <a:off x="594360" y="3999943"/>
            <a:ext cx="3200400" cy="43088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200" b="1" i="0">
                <a:solidFill>
                  <a:srgbClr val="2563EB"/>
                </a:solidFill>
                <a:latin typeface="Consolas"/>
              </a:rPr>
              <a:t>npm run ios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977639" y="3999943"/>
            <a:ext cx="3383280" cy="43088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200" b="0" i="0">
                <a:solidFill>
                  <a:srgbClr val="FF0000"/>
                </a:solidFill>
                <a:latin typeface="Consolas"/>
              </a:rPr>
              <a:t>expo start --ios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543799" y="3830666"/>
            <a:ext cx="4202349" cy="76944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200" b="0" i="0"/>
              <a:t>Starts, then opens the iOS simulator (Mac)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4581146"/>
            <a:ext cx="11247120" cy="585216"/>
          </a:xfrm>
          <a:prstGeom prst="rect">
            <a:avLst/>
          </a:prstGeom>
          <a:solidFill>
            <a:srgbClr val="F8FAFC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200"/>
          </a:p>
        </p:txBody>
      </p:sp>
      <p:sp>
        <p:nvSpPr>
          <p:cNvPr id="25" name="TextBox 24"/>
          <p:cNvSpPr txBox="1"/>
          <p:nvPr/>
        </p:nvSpPr>
        <p:spPr>
          <a:xfrm>
            <a:off x="594360" y="4658311"/>
            <a:ext cx="3200400" cy="43088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200" b="1" i="0">
                <a:solidFill>
                  <a:srgbClr val="2563EB"/>
                </a:solidFill>
                <a:latin typeface="Consolas"/>
              </a:rPr>
              <a:t>npm run web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977639" y="4658311"/>
            <a:ext cx="3383280" cy="43088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200" b="0" i="0">
                <a:solidFill>
                  <a:srgbClr val="FF0000"/>
                </a:solidFill>
                <a:latin typeface="Consolas"/>
              </a:rPr>
              <a:t>expo start --web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543799" y="4489034"/>
            <a:ext cx="4202349" cy="76944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200" b="0" i="0"/>
              <a:t>Starts, then opens the app in a browser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57200" y="5239514"/>
            <a:ext cx="11247120" cy="585216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200"/>
          </a:p>
        </p:txBody>
      </p:sp>
      <p:sp>
        <p:nvSpPr>
          <p:cNvPr id="29" name="TextBox 28"/>
          <p:cNvSpPr txBox="1"/>
          <p:nvPr/>
        </p:nvSpPr>
        <p:spPr>
          <a:xfrm>
            <a:off x="594360" y="5316679"/>
            <a:ext cx="3557510" cy="43088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200" b="1" i="0" dirty="0" err="1">
                <a:solidFill>
                  <a:srgbClr val="2563EB"/>
                </a:solidFill>
                <a:latin typeface="Consolas"/>
              </a:rPr>
              <a:t>npm</a:t>
            </a:r>
            <a:r>
              <a:rPr sz="2200" b="1" i="0" dirty="0">
                <a:solidFill>
                  <a:srgbClr val="2563EB"/>
                </a:solidFill>
                <a:latin typeface="Consolas"/>
              </a:rPr>
              <a:t> run reset-project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977639" y="5316679"/>
            <a:ext cx="3383280" cy="43088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200" b="0" i="0">
                <a:solidFill>
                  <a:srgbClr val="FF0000"/>
                </a:solidFill>
                <a:latin typeface="Consolas"/>
              </a:rPr>
              <a:t>node scripts/…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543799" y="5147402"/>
            <a:ext cx="4202349" cy="76944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200" b="0" i="0"/>
              <a:t>Clears the demo code for a fresh start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5AE63A-7385-AA90-397C-C2A9BEA5BCB2}"/>
            </a:ext>
          </a:extLst>
        </p:cNvPr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A874A9B-C32B-29C5-EE25-BD099BBFC86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84739" y="2448355"/>
            <a:ext cx="7605197" cy="980646"/>
          </a:xfrm>
        </p:spPr>
        <p:txBody>
          <a:bodyPr>
            <a:noAutofit/>
          </a:bodyPr>
          <a:lstStyle/>
          <a:p>
            <a:pPr algn="ctr"/>
            <a:r>
              <a:rPr lang="en-CA" b="1" dirty="0"/>
              <a:t>Running Apps</a:t>
            </a:r>
          </a:p>
        </p:txBody>
      </p:sp>
    </p:spTree>
    <p:extLst>
      <p:ext uri="{BB962C8B-B14F-4D97-AF65-F5344CB8AC3E}">
        <p14:creationId xmlns:p14="http://schemas.microsoft.com/office/powerpoint/2010/main" val="209304190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06604"/>
            <a:ext cx="1133856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 dirty="0" err="1">
                <a:solidFill>
                  <a:srgbClr val="111827"/>
                </a:solidFill>
              </a:rPr>
              <a:t>npm</a:t>
            </a:r>
            <a:r>
              <a:rPr sz="3600" b="1" i="0" dirty="0">
                <a:solidFill>
                  <a:srgbClr val="111827"/>
                </a:solidFill>
              </a:rPr>
              <a:t> start — Launch the Dev Server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841248"/>
            <a:ext cx="11338560" cy="32004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457200" y="1036731"/>
            <a:ext cx="11247120" cy="731520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09728" rIns="109728" bIns="91440" rtlCol="0" anchor="ctr"/>
          <a:lstStyle/>
          <a:p>
            <a:pPr algn="l"/>
            <a:r>
              <a:rPr sz="2800">
                <a:solidFill>
                  <a:srgbClr val="FFFFFF"/>
                </a:solidFill>
                <a:latin typeface="Consolas"/>
              </a:rPr>
              <a:t>npm start          # same as: npx expo start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991316"/>
            <a:ext cx="11475720" cy="32932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lang="en-US" sz="2800" b="1" dirty="0">
                <a:solidFill>
                  <a:srgbClr val="111827"/>
                </a:solidFill>
              </a:rPr>
              <a:t>This starts the Metro bundler, which:</a:t>
            </a:r>
          </a:p>
          <a:p>
            <a:pPr marL="285750" indent="-285750" algn="l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sz="2800" b="0" i="0" dirty="0">
                <a:solidFill>
                  <a:srgbClr val="111827"/>
                </a:solidFill>
              </a:rPr>
              <a:t>Bundles your code and serves it to any device that connects.</a:t>
            </a:r>
            <a:endParaRPr lang="en-US" sz="2800" b="0" i="0" dirty="0">
              <a:solidFill>
                <a:srgbClr val="111827"/>
              </a:solidFill>
            </a:endParaRPr>
          </a:p>
          <a:p>
            <a:pPr marL="285750" indent="-28575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rgbClr val="111827"/>
                </a:solidFill>
              </a:rPr>
              <a:t>Prints a QR code — scan it with Expo Go to open the app on your phone.</a:t>
            </a:r>
          </a:p>
          <a:p>
            <a:pPr marL="285750" indent="-28575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rgbClr val="111827"/>
                </a:solidFill>
              </a:rPr>
              <a:t>Shows a menu of keyboard shortcuts (next slide).</a:t>
            </a:r>
          </a:p>
          <a:p>
            <a:pPr marL="285750" indent="-28575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rgbClr val="111827"/>
                </a:solidFill>
              </a:rPr>
              <a:t>Keeps running and watches your files — save a change and the app refreshes instantly.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303177" y="5549428"/>
            <a:ext cx="7646606" cy="1031051"/>
          </a:xfrm>
          <a:prstGeom prst="rect">
            <a:avLst/>
          </a:prstGeom>
          <a:solidFill>
            <a:schemeClr val="tx1"/>
          </a:solidFill>
        </p:spPr>
        <p:txBody>
          <a:bodyPr wrap="square" anchor="ctr">
            <a:spAutoFit/>
          </a:bodyPr>
          <a:lstStyle/>
          <a:p>
            <a:pPr marL="457200" indent="-457200" algn="l">
              <a:spcAft>
                <a:spcPts val="600"/>
              </a:spcAft>
              <a:buFont typeface="Wingdings" panose="05000000000000000000" pitchFamily="2" charset="2"/>
              <a:buChar char="ü"/>
            </a:pPr>
            <a:r>
              <a:rPr sz="2800" b="1" i="0" dirty="0">
                <a:solidFill>
                  <a:schemeClr val="bg1"/>
                </a:solidFill>
              </a:rPr>
              <a:t>Leave this terminal running </a:t>
            </a:r>
            <a:r>
              <a:rPr lang="en-US" sz="2800" b="1" i="0" dirty="0">
                <a:solidFill>
                  <a:schemeClr val="bg1"/>
                </a:solidFill>
              </a:rPr>
              <a:t>all</a:t>
            </a:r>
            <a:r>
              <a:rPr sz="2800" b="1" i="0" dirty="0">
                <a:solidFill>
                  <a:schemeClr val="bg1"/>
                </a:solidFill>
              </a:rPr>
              <a:t> time you work. </a:t>
            </a:r>
            <a:endParaRPr lang="en-US" sz="2800" b="1" i="0" dirty="0">
              <a:solidFill>
                <a:schemeClr val="bg1"/>
              </a:solidFill>
            </a:endParaRPr>
          </a:p>
          <a:p>
            <a:pPr marL="457200" indent="-457200" algn="l">
              <a:buFont typeface="Wingdings" panose="05000000000000000000" pitchFamily="2" charset="2"/>
              <a:buChar char="ü"/>
            </a:pPr>
            <a:r>
              <a:rPr sz="2800" b="1" i="0" dirty="0">
                <a:solidFill>
                  <a:schemeClr val="bg1"/>
                </a:solidFill>
              </a:rPr>
              <a:t>Press  Ctrl + C  to stop the server.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18961"/>
            <a:ext cx="1133856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 dirty="0">
                <a:solidFill>
                  <a:srgbClr val="111827"/>
                </a:solidFill>
              </a:rPr>
              <a:t>The Terminal Menu — Keyboard Shortcuts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96112"/>
            <a:ext cx="1133856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 algn="l">
              <a:buFont typeface="Arial" panose="020B0604020202020204" pitchFamily="34" charset="0"/>
              <a:buChar char="•"/>
            </a:pPr>
            <a:r>
              <a:rPr sz="2800" b="0" dirty="0"/>
              <a:t>After </a:t>
            </a:r>
            <a:r>
              <a:rPr sz="2800" b="0" dirty="0" err="1"/>
              <a:t>npm</a:t>
            </a:r>
            <a:r>
              <a:rPr sz="2800" b="0" dirty="0"/>
              <a:t> start, press a key to choose a target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841248"/>
            <a:ext cx="11338560" cy="32004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6" name="Rectangle 5"/>
          <p:cNvSpPr/>
          <p:nvPr/>
        </p:nvSpPr>
        <p:spPr>
          <a:xfrm>
            <a:off x="457200" y="1563129"/>
            <a:ext cx="356616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7" name="Rectangle 6"/>
          <p:cNvSpPr/>
          <p:nvPr/>
        </p:nvSpPr>
        <p:spPr>
          <a:xfrm>
            <a:off x="457200" y="1563129"/>
            <a:ext cx="3566160" cy="82296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8" name="Rectangle 7"/>
          <p:cNvSpPr/>
          <p:nvPr/>
        </p:nvSpPr>
        <p:spPr>
          <a:xfrm>
            <a:off x="685800" y="1855736"/>
            <a:ext cx="640080" cy="548640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9" name="TextBox 8"/>
          <p:cNvSpPr txBox="1"/>
          <p:nvPr/>
        </p:nvSpPr>
        <p:spPr>
          <a:xfrm>
            <a:off x="685800" y="1899223"/>
            <a:ext cx="640080" cy="46166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</a:rPr>
              <a:t>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08760" y="1719130"/>
            <a:ext cx="2468880" cy="83099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400" b="0" i="0">
                <a:solidFill>
                  <a:srgbClr val="111827"/>
                </a:solidFill>
              </a:rPr>
              <a:t>Open in a web browser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43400" y="1563129"/>
            <a:ext cx="356616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12" name="Rectangle 11"/>
          <p:cNvSpPr/>
          <p:nvPr/>
        </p:nvSpPr>
        <p:spPr>
          <a:xfrm>
            <a:off x="4343400" y="1563129"/>
            <a:ext cx="3566160" cy="82296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13" name="Rectangle 12"/>
          <p:cNvSpPr/>
          <p:nvPr/>
        </p:nvSpPr>
        <p:spPr>
          <a:xfrm>
            <a:off x="4572000" y="1855736"/>
            <a:ext cx="640080" cy="548640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14" name="TextBox 13"/>
          <p:cNvSpPr txBox="1"/>
          <p:nvPr/>
        </p:nvSpPr>
        <p:spPr>
          <a:xfrm>
            <a:off x="4572000" y="1899223"/>
            <a:ext cx="640080" cy="46166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</a:rPr>
              <a:t>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94960" y="1719130"/>
            <a:ext cx="2468880" cy="83099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400" b="0" i="0">
                <a:solidFill>
                  <a:srgbClr val="111827"/>
                </a:solidFill>
              </a:rPr>
              <a:t>Open on Android (emulator/device)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229600" y="1563129"/>
            <a:ext cx="356616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17" name="Rectangle 16"/>
          <p:cNvSpPr/>
          <p:nvPr/>
        </p:nvSpPr>
        <p:spPr>
          <a:xfrm>
            <a:off x="8229600" y="1563129"/>
            <a:ext cx="3566160" cy="82296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18" name="Rectangle 17"/>
          <p:cNvSpPr/>
          <p:nvPr/>
        </p:nvSpPr>
        <p:spPr>
          <a:xfrm>
            <a:off x="8458200" y="1855736"/>
            <a:ext cx="640080" cy="54864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19" name="TextBox 18"/>
          <p:cNvSpPr txBox="1"/>
          <p:nvPr/>
        </p:nvSpPr>
        <p:spPr>
          <a:xfrm>
            <a:off x="8458200" y="1899223"/>
            <a:ext cx="640080" cy="46166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</a:rPr>
              <a:t>i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81160" y="1719130"/>
            <a:ext cx="2468880" cy="83099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400" b="0" i="0">
                <a:solidFill>
                  <a:srgbClr val="111827"/>
                </a:solidFill>
              </a:rPr>
              <a:t>Open in iOS Simulator (Mac)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3049650"/>
            <a:ext cx="356616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22" name="Rectangle 21"/>
          <p:cNvSpPr/>
          <p:nvPr/>
        </p:nvSpPr>
        <p:spPr>
          <a:xfrm>
            <a:off x="457200" y="3012579"/>
            <a:ext cx="3566160" cy="82296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23" name="Rectangle 22"/>
          <p:cNvSpPr/>
          <p:nvPr/>
        </p:nvSpPr>
        <p:spPr>
          <a:xfrm>
            <a:off x="685800" y="3342258"/>
            <a:ext cx="640080" cy="54864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24" name="TextBox 23"/>
          <p:cNvSpPr txBox="1"/>
          <p:nvPr/>
        </p:nvSpPr>
        <p:spPr>
          <a:xfrm>
            <a:off x="685800" y="3385745"/>
            <a:ext cx="640080" cy="46166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</a:rPr>
              <a:t>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508760" y="3390317"/>
            <a:ext cx="2468880" cy="46166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400" b="0" i="0">
                <a:solidFill>
                  <a:srgbClr val="111827"/>
                </a:solidFill>
              </a:rPr>
              <a:t>Reload the app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343400" y="3049650"/>
            <a:ext cx="356616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27" name="Rectangle 26"/>
          <p:cNvSpPr/>
          <p:nvPr/>
        </p:nvSpPr>
        <p:spPr>
          <a:xfrm>
            <a:off x="4343400" y="3012579"/>
            <a:ext cx="3566160" cy="82296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28" name="Rectangle 27"/>
          <p:cNvSpPr/>
          <p:nvPr/>
        </p:nvSpPr>
        <p:spPr>
          <a:xfrm>
            <a:off x="4572000" y="3342258"/>
            <a:ext cx="640080" cy="54864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29" name="TextBox 28"/>
          <p:cNvSpPr txBox="1"/>
          <p:nvPr/>
        </p:nvSpPr>
        <p:spPr>
          <a:xfrm>
            <a:off x="4572000" y="3385745"/>
            <a:ext cx="640080" cy="46166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</a:rPr>
              <a:t>j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394960" y="3205651"/>
            <a:ext cx="2468880" cy="83099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400" b="0" i="0">
                <a:solidFill>
                  <a:srgbClr val="111827"/>
                </a:solidFill>
              </a:rPr>
              <a:t>Open React Native DevTools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229600" y="3049650"/>
            <a:ext cx="356616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32" name="Rectangle 31"/>
          <p:cNvSpPr/>
          <p:nvPr/>
        </p:nvSpPr>
        <p:spPr>
          <a:xfrm>
            <a:off x="8229600" y="3012579"/>
            <a:ext cx="3566160" cy="82296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33" name="Rectangle 32"/>
          <p:cNvSpPr/>
          <p:nvPr/>
        </p:nvSpPr>
        <p:spPr>
          <a:xfrm>
            <a:off x="8458200" y="3342258"/>
            <a:ext cx="640080" cy="54864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34" name="TextBox 33"/>
          <p:cNvSpPr txBox="1"/>
          <p:nvPr/>
        </p:nvSpPr>
        <p:spPr>
          <a:xfrm>
            <a:off x="8458200" y="3385745"/>
            <a:ext cx="640080" cy="46166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</a:rPr>
              <a:t>m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281160" y="3205651"/>
            <a:ext cx="2468880" cy="83099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400" b="0" i="0">
                <a:solidFill>
                  <a:srgbClr val="111827"/>
                </a:solidFill>
              </a:rPr>
              <a:t>Toggle the dev menu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57200" y="4573242"/>
            <a:ext cx="356616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37" name="Rectangle 36"/>
          <p:cNvSpPr/>
          <p:nvPr/>
        </p:nvSpPr>
        <p:spPr>
          <a:xfrm>
            <a:off x="457200" y="4573242"/>
            <a:ext cx="3566160" cy="82296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38" name="Rectangle 37"/>
          <p:cNvSpPr/>
          <p:nvPr/>
        </p:nvSpPr>
        <p:spPr>
          <a:xfrm>
            <a:off x="685800" y="4865850"/>
            <a:ext cx="640080" cy="5486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39" name="TextBox 38"/>
          <p:cNvSpPr txBox="1"/>
          <p:nvPr/>
        </p:nvSpPr>
        <p:spPr>
          <a:xfrm>
            <a:off x="685800" y="4909337"/>
            <a:ext cx="640080" cy="46166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</a:rPr>
              <a:t>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508760" y="4729243"/>
            <a:ext cx="2468880" cy="83099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400" b="0" i="0">
                <a:solidFill>
                  <a:srgbClr val="111827"/>
                </a:solidFill>
              </a:rPr>
              <a:t>Switch Expo Go ↔ dev build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343400" y="4573242"/>
            <a:ext cx="356616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42" name="Rectangle 41"/>
          <p:cNvSpPr/>
          <p:nvPr/>
        </p:nvSpPr>
        <p:spPr>
          <a:xfrm>
            <a:off x="4343400" y="4573242"/>
            <a:ext cx="3566160" cy="82296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43" name="Rectangle 42"/>
          <p:cNvSpPr/>
          <p:nvPr/>
        </p:nvSpPr>
        <p:spPr>
          <a:xfrm>
            <a:off x="4572000" y="4865850"/>
            <a:ext cx="640080" cy="5486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44" name="TextBox 43"/>
          <p:cNvSpPr txBox="1"/>
          <p:nvPr/>
        </p:nvSpPr>
        <p:spPr>
          <a:xfrm>
            <a:off x="4572000" y="4909337"/>
            <a:ext cx="640080" cy="46166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</a:rPr>
              <a:t>o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394960" y="4729243"/>
            <a:ext cx="2468880" cy="83099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400" b="0" i="0">
                <a:solidFill>
                  <a:srgbClr val="111827"/>
                </a:solidFill>
              </a:rPr>
              <a:t>Open the code in your editor</a:t>
            </a:r>
          </a:p>
        </p:txBody>
      </p:sp>
      <p:sp>
        <p:nvSpPr>
          <p:cNvPr id="46" name="Rectangle 45"/>
          <p:cNvSpPr/>
          <p:nvPr/>
        </p:nvSpPr>
        <p:spPr>
          <a:xfrm>
            <a:off x="8229600" y="4573242"/>
            <a:ext cx="356616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47" name="Rectangle 46"/>
          <p:cNvSpPr/>
          <p:nvPr/>
        </p:nvSpPr>
        <p:spPr>
          <a:xfrm>
            <a:off x="8229600" y="4573242"/>
            <a:ext cx="3566160" cy="82296"/>
          </a:xfrm>
          <a:prstGeom prst="rect">
            <a:avLst/>
          </a:prstGeom>
          <a:solidFill>
            <a:srgbClr val="6B72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48" name="Rectangle 47"/>
          <p:cNvSpPr/>
          <p:nvPr/>
        </p:nvSpPr>
        <p:spPr>
          <a:xfrm>
            <a:off x="8458200" y="4865850"/>
            <a:ext cx="640080" cy="548640"/>
          </a:xfrm>
          <a:prstGeom prst="rect">
            <a:avLst/>
          </a:prstGeom>
          <a:solidFill>
            <a:srgbClr val="6B72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49" name="TextBox 48"/>
          <p:cNvSpPr txBox="1"/>
          <p:nvPr/>
        </p:nvSpPr>
        <p:spPr>
          <a:xfrm>
            <a:off x="8458200" y="4909337"/>
            <a:ext cx="640080" cy="46166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</a:rPr>
              <a:t>?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281160" y="4729243"/>
            <a:ext cx="2468880" cy="83099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400" b="0" i="0">
                <a:solidFill>
                  <a:srgbClr val="111827"/>
                </a:solidFill>
              </a:rPr>
              <a:t>Show all commands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57200" y="5902821"/>
            <a:ext cx="1124712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 algn="l">
              <a:buFont typeface="Arial" panose="020B0604020202020204" pitchFamily="34" charset="0"/>
              <a:buChar char="•"/>
            </a:pPr>
            <a:r>
              <a:rPr sz="2800" b="0" dirty="0" err="1"/>
              <a:t>Shift+A</a:t>
            </a:r>
            <a:r>
              <a:rPr sz="2800" b="0" dirty="0"/>
              <a:t> / </a:t>
            </a:r>
            <a:r>
              <a:rPr sz="2800" b="0" dirty="0" err="1"/>
              <a:t>Shift+I</a:t>
            </a:r>
            <a:r>
              <a:rPr sz="2800" b="0" dirty="0"/>
              <a:t> let you pick a specific emulator or simulator.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06604"/>
            <a:ext cx="1133856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 i="0" dirty="0">
                <a:solidFill>
                  <a:srgbClr val="111827"/>
                </a:solidFill>
              </a:rPr>
              <a:t>Three </a:t>
            </a:r>
            <a:r>
              <a:rPr lang="en-US" sz="3600" b="1" i="0" dirty="0">
                <a:solidFill>
                  <a:srgbClr val="111827"/>
                </a:solidFill>
              </a:rPr>
              <a:t>Ways</a:t>
            </a:r>
            <a:r>
              <a:rPr lang="en-US" sz="3600" b="1" dirty="0">
                <a:solidFill>
                  <a:srgbClr val="111827"/>
                </a:solidFill>
              </a:rPr>
              <a:t> to Run Same App</a:t>
            </a:r>
            <a:endParaRPr sz="3600" b="1" i="0" dirty="0">
              <a:solidFill>
                <a:srgbClr val="111827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457200" y="896112"/>
            <a:ext cx="11338560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 i="1">
                <a:solidFill>
                  <a:srgbClr val="6B7280"/>
                </a:solidFill>
              </a:rPr>
              <a:t>Pick whichever is easiest for you today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841248"/>
            <a:ext cx="11338560" cy="32004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30225" y="1621482"/>
            <a:ext cx="3566160" cy="2630233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600"/>
          </a:p>
        </p:txBody>
      </p:sp>
      <p:sp>
        <p:nvSpPr>
          <p:cNvPr id="7" name="Rectangle 6"/>
          <p:cNvSpPr/>
          <p:nvPr/>
        </p:nvSpPr>
        <p:spPr>
          <a:xfrm>
            <a:off x="457200" y="1764548"/>
            <a:ext cx="3566160" cy="109728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600"/>
          </a:p>
        </p:txBody>
      </p:sp>
      <p:sp>
        <p:nvSpPr>
          <p:cNvPr id="8" name="TextBox 7"/>
          <p:cNvSpPr txBox="1"/>
          <p:nvPr/>
        </p:nvSpPr>
        <p:spPr>
          <a:xfrm>
            <a:off x="685800" y="2084587"/>
            <a:ext cx="3108960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2563EB"/>
                </a:solidFill>
              </a:rPr>
              <a:t>Web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2724668"/>
            <a:ext cx="1737360" cy="50292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600"/>
          </a:p>
        </p:txBody>
      </p:sp>
      <p:sp>
        <p:nvSpPr>
          <p:cNvPr id="10" name="TextBox 9"/>
          <p:cNvSpPr txBox="1"/>
          <p:nvPr/>
        </p:nvSpPr>
        <p:spPr>
          <a:xfrm>
            <a:off x="685800" y="2724668"/>
            <a:ext cx="173736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</a:rPr>
              <a:t>press  w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3547628"/>
            <a:ext cx="3200400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 i="0">
                <a:solidFill>
                  <a:srgbClr val="111827"/>
                </a:solidFill>
              </a:rPr>
              <a:t>Instant, in Chrome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416425" y="1621482"/>
            <a:ext cx="3566160" cy="2630233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600"/>
          </a:p>
        </p:txBody>
      </p:sp>
      <p:sp>
        <p:nvSpPr>
          <p:cNvPr id="13" name="Rectangle 12"/>
          <p:cNvSpPr/>
          <p:nvPr/>
        </p:nvSpPr>
        <p:spPr>
          <a:xfrm>
            <a:off x="4343400" y="1764548"/>
            <a:ext cx="3566160" cy="109728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600"/>
          </a:p>
        </p:txBody>
      </p:sp>
      <p:sp>
        <p:nvSpPr>
          <p:cNvPr id="14" name="TextBox 13"/>
          <p:cNvSpPr txBox="1"/>
          <p:nvPr/>
        </p:nvSpPr>
        <p:spPr>
          <a:xfrm>
            <a:off x="4572000" y="2084587"/>
            <a:ext cx="3108960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16A34A"/>
                </a:solidFill>
              </a:rPr>
              <a:t>Expo Go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0" y="2724668"/>
            <a:ext cx="1737360" cy="502920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600"/>
          </a:p>
        </p:txBody>
      </p:sp>
      <p:sp>
        <p:nvSpPr>
          <p:cNvPr id="16" name="TextBox 15"/>
          <p:cNvSpPr txBox="1"/>
          <p:nvPr/>
        </p:nvSpPr>
        <p:spPr>
          <a:xfrm>
            <a:off x="4572000" y="2724668"/>
            <a:ext cx="173736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</a:rPr>
              <a:t>scan QR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3547628"/>
            <a:ext cx="3200400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 i="0">
                <a:solidFill>
                  <a:srgbClr val="111827"/>
                </a:solidFill>
              </a:rPr>
              <a:t>On your real phone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302625" y="1621482"/>
            <a:ext cx="3566160" cy="2630233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600"/>
          </a:p>
        </p:txBody>
      </p:sp>
      <p:sp>
        <p:nvSpPr>
          <p:cNvPr id="19" name="Rectangle 18"/>
          <p:cNvSpPr/>
          <p:nvPr/>
        </p:nvSpPr>
        <p:spPr>
          <a:xfrm>
            <a:off x="8229600" y="1764548"/>
            <a:ext cx="3566160" cy="10972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600"/>
          </a:p>
        </p:txBody>
      </p:sp>
      <p:sp>
        <p:nvSpPr>
          <p:cNvPr id="20" name="TextBox 19"/>
          <p:cNvSpPr txBox="1"/>
          <p:nvPr/>
        </p:nvSpPr>
        <p:spPr>
          <a:xfrm>
            <a:off x="8458200" y="2084587"/>
            <a:ext cx="3108960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7C3AED"/>
                </a:solidFill>
              </a:rPr>
              <a:t>Emulator / Sim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458200" y="2724668"/>
            <a:ext cx="1737360" cy="50292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600"/>
          </a:p>
        </p:txBody>
      </p:sp>
      <p:sp>
        <p:nvSpPr>
          <p:cNvPr id="22" name="TextBox 21"/>
          <p:cNvSpPr txBox="1"/>
          <p:nvPr/>
        </p:nvSpPr>
        <p:spPr>
          <a:xfrm>
            <a:off x="8458200" y="2724668"/>
            <a:ext cx="173736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</a:rPr>
              <a:t>press a / i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58200" y="3547628"/>
            <a:ext cx="3200400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 i="0">
                <a:solidFill>
                  <a:srgbClr val="111827"/>
                </a:solidFill>
              </a:rPr>
              <a:t>A phone on screen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4399724"/>
            <a:ext cx="11590638" cy="16158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lvl="0" indent="-457200" fontAlgn="t">
              <a:spcAft>
                <a:spcPts val="1800"/>
              </a:spcAft>
              <a:buFont typeface="Arial" panose="020B0604020202020204" pitchFamily="34" charset="0"/>
              <a:buChar char="•"/>
            </a:pPr>
            <a:r>
              <a:rPr lang="en-US" sz="2800" dirty="0"/>
              <a:t>All 3 options run </a:t>
            </a:r>
            <a:r>
              <a:rPr lang="en-US" sz="2800" b="1" dirty="0"/>
              <a:t>the same app and </a:t>
            </a:r>
            <a:r>
              <a:rPr lang="en-US" sz="2800" dirty="0"/>
              <a:t>connected to the </a:t>
            </a:r>
            <a:r>
              <a:rPr lang="en-US" sz="2800" b="1" dirty="0"/>
              <a:t>same dev server</a:t>
            </a:r>
            <a:r>
              <a:rPr lang="en-US" sz="2800" dirty="0"/>
              <a:t>.</a:t>
            </a:r>
          </a:p>
          <a:p>
            <a:pPr marL="457200" lvl="0" indent="-457200" fontAlgn="t">
              <a:spcAft>
                <a:spcPts val="1800"/>
              </a:spcAft>
              <a:buFont typeface="Arial" panose="020B0604020202020204" pitchFamily="34" charset="0"/>
              <a:buChar char="•"/>
            </a:pPr>
            <a:r>
              <a:rPr lang="en-US" sz="2800" dirty="0"/>
              <a:t>Any code changes are automatically reflected everywhere through </a:t>
            </a:r>
            <a:r>
              <a:rPr lang="en-US" sz="2800" b="1" dirty="0"/>
              <a:t>Fast Refresh</a:t>
            </a:r>
            <a:r>
              <a:rPr lang="en-US" sz="2800" dirty="0"/>
              <a:t>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C60CCB-744E-53C6-A96D-3ABC990E3249}"/>
            </a:ext>
          </a:extLst>
        </p:cNvPr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C626BCA-F845-BB3F-A799-755FECA9CF6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84739" y="2448355"/>
            <a:ext cx="7605197" cy="980646"/>
          </a:xfrm>
        </p:spPr>
        <p:txBody>
          <a:bodyPr>
            <a:noAutofit/>
          </a:bodyPr>
          <a:lstStyle/>
          <a:p>
            <a:pPr algn="ctr"/>
            <a:r>
              <a:rPr lang="en-CA" b="1" dirty="0"/>
              <a:t>Resetting Expo Project</a:t>
            </a:r>
          </a:p>
        </p:txBody>
      </p:sp>
    </p:spTree>
    <p:extLst>
      <p:ext uri="{BB962C8B-B14F-4D97-AF65-F5344CB8AC3E}">
        <p14:creationId xmlns:p14="http://schemas.microsoft.com/office/powerpoint/2010/main" val="389466784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06604"/>
            <a:ext cx="1133856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3600" b="1" i="0" dirty="0">
                <a:solidFill>
                  <a:srgbClr val="111827"/>
                </a:solidFill>
              </a:rPr>
              <a:t>Reset Expo Project - </a:t>
            </a:r>
            <a:r>
              <a:rPr sz="3600" b="1" i="0" dirty="0" err="1">
                <a:solidFill>
                  <a:srgbClr val="111827"/>
                </a:solidFill>
              </a:rPr>
              <a:t>npm</a:t>
            </a:r>
            <a:r>
              <a:rPr sz="3600" b="1" i="0" dirty="0">
                <a:solidFill>
                  <a:srgbClr val="111827"/>
                </a:solidFill>
              </a:rPr>
              <a:t> run reset-project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841248"/>
            <a:ext cx="11338560" cy="32004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199" y="1006893"/>
            <a:ext cx="11516497" cy="4078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fontAlgn="t">
              <a:buFont typeface="Arial" panose="020B0604020202020204" pitchFamily="34" charset="0"/>
              <a:buChar char="•"/>
            </a:pPr>
            <a:r>
              <a:rPr lang="en-US" sz="2800" dirty="0"/>
              <a:t>It removes the starter demo screens and code, giving you a clean app folder to start building your own application.</a:t>
            </a:r>
          </a:p>
          <a:p>
            <a:pPr marL="342900" indent="-342900" fontAlgn="t">
              <a:spcBef>
                <a:spcPts val="24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800" b="1" dirty="0">
                <a:solidFill>
                  <a:srgbClr val="111827"/>
                </a:solidFill>
              </a:rPr>
              <a:t>It does two things:</a:t>
            </a:r>
          </a:p>
          <a:p>
            <a:pPr marL="971550" lvl="1" indent="-514350">
              <a:spcAft>
                <a:spcPts val="600"/>
              </a:spcAft>
              <a:buFont typeface="+mj-lt"/>
              <a:buAutoNum type="arabicPeriod"/>
            </a:pPr>
            <a:r>
              <a:rPr lang="en-US" sz="2800" dirty="0">
                <a:solidFill>
                  <a:srgbClr val="111827"/>
                </a:solidFill>
              </a:rPr>
              <a:t>Moves the demo code (the old app/ and its helpers) into a new app-example/ folder — kept for reference.</a:t>
            </a:r>
          </a:p>
          <a:p>
            <a:pPr marL="971550" lvl="1" indent="-514350">
              <a:spcAft>
                <a:spcPts val="600"/>
              </a:spcAft>
              <a:buFont typeface="+mj-lt"/>
              <a:buAutoNum type="arabicPeriod"/>
            </a:pPr>
            <a:r>
              <a:rPr lang="en-US" sz="2800" dirty="0">
                <a:solidFill>
                  <a:srgbClr val="111827"/>
                </a:solidFill>
              </a:rPr>
              <a:t>Creates a fresh app/ with just two files: </a:t>
            </a:r>
            <a:r>
              <a:rPr lang="en-US" sz="2800" dirty="0" err="1">
                <a:solidFill>
                  <a:srgbClr val="111827"/>
                </a:solidFill>
              </a:rPr>
              <a:t>index.tsx</a:t>
            </a:r>
            <a:r>
              <a:rPr lang="en-US" sz="2800" dirty="0">
                <a:solidFill>
                  <a:srgbClr val="111827"/>
                </a:solidFill>
              </a:rPr>
              <a:t> (your home screen) and _</a:t>
            </a:r>
            <a:r>
              <a:rPr lang="en-US" sz="2800" dirty="0" err="1">
                <a:solidFill>
                  <a:srgbClr val="111827"/>
                </a:solidFill>
              </a:rPr>
              <a:t>layout.tsx</a:t>
            </a:r>
            <a:r>
              <a:rPr lang="en-US" sz="2800" dirty="0">
                <a:solidFill>
                  <a:srgbClr val="111827"/>
                </a:solidFill>
              </a:rPr>
              <a:t>.</a:t>
            </a:r>
          </a:p>
          <a:p>
            <a:pPr marL="342900" indent="-342900" fontAlgn="t">
              <a:buFont typeface="Arial" panose="020B0604020202020204" pitchFamily="34" charset="0"/>
              <a:buChar char="•"/>
            </a:pPr>
            <a:endParaRPr lang="en-US" sz="2800" dirty="0"/>
          </a:p>
        </p:txBody>
      </p:sp>
      <p:sp>
        <p:nvSpPr>
          <p:cNvPr id="13" name="TextBox 12"/>
          <p:cNvSpPr txBox="1"/>
          <p:nvPr/>
        </p:nvSpPr>
        <p:spPr>
          <a:xfrm>
            <a:off x="685800" y="4775365"/>
            <a:ext cx="10972800" cy="1384995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txBody>
          <a:bodyPr wrap="square" anchor="ctr">
            <a:spAutoFit/>
          </a:bodyPr>
          <a:lstStyle/>
          <a:p>
            <a:pPr marL="342900" indent="-342900" algn="l">
              <a:buFont typeface="Arial" panose="020B0604020202020204" pitchFamily="34" charset="0"/>
              <a:buChar char="•"/>
            </a:pPr>
            <a:r>
              <a:rPr sz="2800" b="0" i="0" dirty="0"/>
              <a:t>It may ask whether to delete or keep app-example. Keeping it is safe — it's just reference code you</a:t>
            </a:r>
            <a:r>
              <a:rPr lang="en-US" sz="2800" b="0" i="0" dirty="0"/>
              <a:t> </a:t>
            </a:r>
            <a:r>
              <a:rPr sz="2800" b="0" i="0" dirty="0"/>
              <a:t>can browse or delete later. Nothing you need is lost.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06604"/>
            <a:ext cx="1133856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 dirty="0">
                <a:solidFill>
                  <a:srgbClr val="111827"/>
                </a:solidFill>
              </a:rPr>
              <a:t>Before and After Reset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94968"/>
            <a:ext cx="1133856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 algn="l">
              <a:buFont typeface="Arial" panose="020B0604020202020204" pitchFamily="34" charset="0"/>
              <a:buChar char="•"/>
            </a:pPr>
            <a:r>
              <a:rPr sz="3200" dirty="0"/>
              <a:t>The app/ folder, simplified to a blank slate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841248"/>
            <a:ext cx="11338560" cy="32004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6" name="Rectangle 5"/>
          <p:cNvSpPr/>
          <p:nvPr/>
        </p:nvSpPr>
        <p:spPr>
          <a:xfrm>
            <a:off x="457200" y="1742302"/>
            <a:ext cx="5486400" cy="4485502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457200" y="1742302"/>
            <a:ext cx="5486400" cy="457200"/>
          </a:xfrm>
          <a:prstGeom prst="rect">
            <a:avLst/>
          </a:prstGeom>
          <a:solidFill>
            <a:srgbClr val="6B72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8" name="TextBox 7"/>
          <p:cNvSpPr txBox="1"/>
          <p:nvPr/>
        </p:nvSpPr>
        <p:spPr>
          <a:xfrm>
            <a:off x="457200" y="1709292"/>
            <a:ext cx="5486400" cy="5232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</a:rPr>
              <a:t>BEFORE  —  app/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63640" y="1742301"/>
            <a:ext cx="5486400" cy="4485503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263640" y="1742302"/>
            <a:ext cx="5486400" cy="457200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12" name="TextBox 11"/>
          <p:cNvSpPr txBox="1"/>
          <p:nvPr/>
        </p:nvSpPr>
        <p:spPr>
          <a:xfrm>
            <a:off x="6263640" y="1709292"/>
            <a:ext cx="5486400" cy="5232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</a:rPr>
              <a:t>AFTER  —  app/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92240" y="4116034"/>
            <a:ext cx="5135468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 i="0" dirty="0">
                <a:solidFill>
                  <a:srgbClr val="111827"/>
                </a:solidFill>
              </a:rPr>
              <a:t>Plus a new app-example/</a:t>
            </a:r>
            <a:r>
              <a:rPr lang="en-US" sz="2400" b="0" i="0" dirty="0">
                <a:solidFill>
                  <a:srgbClr val="111827"/>
                </a:solidFill>
              </a:rPr>
              <a:t> </a:t>
            </a:r>
            <a:r>
              <a:rPr sz="2400" b="0" i="0" dirty="0">
                <a:solidFill>
                  <a:srgbClr val="111827"/>
                </a:solidFill>
              </a:rPr>
              <a:t>folder holding the old demo</a:t>
            </a:r>
            <a:r>
              <a:rPr lang="en-US" sz="2400" b="0" i="0" dirty="0">
                <a:solidFill>
                  <a:srgbClr val="111827"/>
                </a:solidFill>
              </a:rPr>
              <a:t> </a:t>
            </a:r>
            <a:r>
              <a:rPr sz="2400" b="0" i="0" dirty="0">
                <a:solidFill>
                  <a:srgbClr val="111827"/>
                </a:solidFill>
              </a:rPr>
              <a:t>code for reference.</a:t>
            </a:r>
          </a:p>
          <a:p>
            <a:pPr algn="l"/>
            <a:endParaRPr sz="2400" b="0" i="0" dirty="0">
              <a:solidFill>
                <a:srgbClr val="111827"/>
              </a:solidFill>
            </a:endParaRPr>
          </a:p>
          <a:p>
            <a:pPr algn="l"/>
            <a:r>
              <a:rPr sz="2400" b="0" i="0" dirty="0">
                <a:solidFill>
                  <a:srgbClr val="111827"/>
                </a:solidFill>
              </a:rPr>
              <a:t>Now app/</a:t>
            </a:r>
            <a:r>
              <a:rPr sz="2400" b="0" i="0" dirty="0" err="1">
                <a:solidFill>
                  <a:srgbClr val="111827"/>
                </a:solidFill>
              </a:rPr>
              <a:t>index.tsx</a:t>
            </a:r>
            <a:r>
              <a:rPr sz="2400" b="0" i="0" dirty="0">
                <a:solidFill>
                  <a:srgbClr val="111827"/>
                </a:solidFill>
              </a:rPr>
              <a:t> is your</a:t>
            </a:r>
            <a:r>
              <a:rPr lang="en-US" sz="2400" b="0" i="0" dirty="0">
                <a:solidFill>
                  <a:srgbClr val="111827"/>
                </a:solidFill>
              </a:rPr>
              <a:t> </a:t>
            </a:r>
            <a:r>
              <a:rPr sz="2400" b="0" i="0" dirty="0">
                <a:solidFill>
                  <a:srgbClr val="111827"/>
                </a:solidFill>
              </a:rPr>
              <a:t>home screen to build on.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CEFE8F70-F162-3D01-2AAA-A22005AEB8F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4530" y="2439243"/>
            <a:ext cx="3669956" cy="2984157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0931B79F-1F67-350D-75E5-DE5CF30E7C0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65967" y="2439243"/>
            <a:ext cx="3137276" cy="1490206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8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28016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" y="400352"/>
            <a:ext cx="12188824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400" b="1" i="0" dirty="0">
                <a:solidFill>
                  <a:srgbClr val="FFFFFF"/>
                </a:solidFill>
              </a:rPr>
              <a:t>Activity: Create Your First App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13253" y="1724412"/>
            <a:ext cx="10861589" cy="31700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800"/>
              </a:spcAft>
            </a:pPr>
            <a:r>
              <a:rPr sz="2800" b="0" i="0" dirty="0">
                <a:solidFill>
                  <a:srgbClr val="BFDBFF"/>
                </a:solidFill>
              </a:rPr>
              <a:t>Follow the Day 2 handout:</a:t>
            </a:r>
          </a:p>
          <a:p>
            <a:pPr algn="l">
              <a:spcAft>
                <a:spcPts val="1800"/>
              </a:spcAft>
            </a:pPr>
            <a:r>
              <a:rPr sz="2800" b="0" i="0" dirty="0">
                <a:solidFill>
                  <a:srgbClr val="BFDBFF"/>
                </a:solidFill>
              </a:rPr>
              <a:t>1.  Create a new project with create-expo-app</a:t>
            </a:r>
          </a:p>
          <a:p>
            <a:pPr algn="l">
              <a:spcAft>
                <a:spcPts val="1800"/>
              </a:spcAft>
            </a:pPr>
            <a:r>
              <a:rPr sz="2800" b="0" i="0" dirty="0">
                <a:solidFill>
                  <a:srgbClr val="BFDBFF"/>
                </a:solidFill>
              </a:rPr>
              <a:t>2.  Run it and preview in web, Expo Go, and your emulator / simulator</a:t>
            </a:r>
          </a:p>
          <a:p>
            <a:pPr algn="l">
              <a:spcAft>
                <a:spcPts val="1800"/>
              </a:spcAft>
            </a:pPr>
            <a:r>
              <a:rPr sz="2800" b="0" i="0" dirty="0">
                <a:solidFill>
                  <a:srgbClr val="BFDBFF"/>
                </a:solidFill>
              </a:rPr>
              <a:t>3.  Put your name in the Home tab — watch all three update</a:t>
            </a:r>
          </a:p>
          <a:p>
            <a:pPr algn="l">
              <a:spcAft>
                <a:spcPts val="1800"/>
              </a:spcAft>
            </a:pPr>
            <a:r>
              <a:rPr sz="2800" b="0" i="0" dirty="0">
                <a:solidFill>
                  <a:srgbClr val="BFDBFF"/>
                </a:solidFill>
              </a:rPr>
              <a:t>4.  Reset the project, write your own text in </a:t>
            </a:r>
            <a:r>
              <a:rPr sz="2800" b="0" i="0" dirty="0" err="1">
                <a:solidFill>
                  <a:srgbClr val="BFDBFF"/>
                </a:solidFill>
              </a:rPr>
              <a:t>index.tsx</a:t>
            </a:r>
            <a:r>
              <a:rPr sz="2800" b="0" i="0" dirty="0">
                <a:solidFill>
                  <a:srgbClr val="BFDBFF"/>
                </a:solidFill>
              </a:rPr>
              <a:t>, and preview again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91988" y="5295241"/>
            <a:ext cx="9604848" cy="523220"/>
          </a:xfrm>
          <a:prstGeom prst="rect">
            <a:avLst/>
          </a:prstGeom>
          <a:solidFill>
            <a:srgbClr val="92D050"/>
          </a:solidFill>
        </p:spPr>
        <p:txBody>
          <a:bodyPr wrap="square" anchor="ctr">
            <a:spAutoFit/>
          </a:bodyPr>
          <a:lstStyle/>
          <a:p>
            <a:pPr algn="ctr"/>
            <a:r>
              <a:rPr sz="2800" b="1" i="0" dirty="0">
                <a:solidFill>
                  <a:srgbClr val="3208CA"/>
                </a:solidFill>
              </a:rPr>
              <a:t>Goal: one app running in three places, edited and reset by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1221</Words>
  <Application>Microsoft Office PowerPoint</Application>
  <PresentationFormat>Custom</PresentationFormat>
  <Paragraphs>202</Paragraphs>
  <Slides>21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8" baseType="lpstr">
      <vt:lpstr>Aptos</vt:lpstr>
      <vt:lpstr>Arial</vt:lpstr>
      <vt:lpstr>Calibri</vt:lpstr>
      <vt:lpstr>Consolas</vt:lpstr>
      <vt:lpstr>Titillium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cp:lastModifiedBy/>
  <cp:revision>1</cp:revision>
  <dcterms:created xsi:type="dcterms:W3CDTF">2026-08-31T20:54:04Z</dcterms:created>
  <dcterms:modified xsi:type="dcterms:W3CDTF">2026-08-31T20:54:11Z</dcterms:modified>
  <cp:category/>
</cp:coreProperties>
</file>