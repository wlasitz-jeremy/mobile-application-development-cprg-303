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5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6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28" r:id="rId1"/>
    <p:sldMasterId id="2147483744" r:id="rId2"/>
    <p:sldMasterId id="2147483770" r:id="rId3"/>
    <p:sldMasterId id="2147483785" r:id="rId4"/>
    <p:sldMasterId id="2147483800" r:id="rId5"/>
    <p:sldMasterId id="2147483815" r:id="rId6"/>
    <p:sldMasterId id="2147483831" r:id="rId7"/>
  </p:sldMasterIdLst>
  <p:notesMasterIdLst>
    <p:notesMasterId r:id="rId55"/>
  </p:notesMasterIdLst>
  <p:sldIdLst>
    <p:sldId id="284" r:id="rId8"/>
    <p:sldId id="472" r:id="rId9"/>
    <p:sldId id="291" r:id="rId10"/>
    <p:sldId id="427" r:id="rId11"/>
    <p:sldId id="470" r:id="rId12"/>
    <p:sldId id="292" r:id="rId13"/>
    <p:sldId id="293" r:id="rId14"/>
    <p:sldId id="295" r:id="rId15"/>
    <p:sldId id="425" r:id="rId16"/>
    <p:sldId id="428" r:id="rId17"/>
    <p:sldId id="429" r:id="rId18"/>
    <p:sldId id="469" r:id="rId19"/>
    <p:sldId id="439" r:id="rId20"/>
    <p:sldId id="440" r:id="rId21"/>
    <p:sldId id="441" r:id="rId22"/>
    <p:sldId id="445" r:id="rId23"/>
    <p:sldId id="325" r:id="rId24"/>
    <p:sldId id="442" r:id="rId25"/>
    <p:sldId id="329" r:id="rId26"/>
    <p:sldId id="289" r:id="rId27"/>
    <p:sldId id="426" r:id="rId28"/>
    <p:sldId id="430" r:id="rId29"/>
    <p:sldId id="431" r:id="rId30"/>
    <p:sldId id="432" r:id="rId31"/>
    <p:sldId id="433" r:id="rId32"/>
    <p:sldId id="434" r:id="rId33"/>
    <p:sldId id="435" r:id="rId34"/>
    <p:sldId id="436" r:id="rId35"/>
    <p:sldId id="438" r:id="rId36"/>
    <p:sldId id="450" r:id="rId37"/>
    <p:sldId id="451" r:id="rId38"/>
    <p:sldId id="452" r:id="rId39"/>
    <p:sldId id="453" r:id="rId40"/>
    <p:sldId id="454" r:id="rId41"/>
    <p:sldId id="464" r:id="rId42"/>
    <p:sldId id="465" r:id="rId43"/>
    <p:sldId id="466" r:id="rId44"/>
    <p:sldId id="467" r:id="rId45"/>
    <p:sldId id="468" r:id="rId46"/>
    <p:sldId id="455" r:id="rId47"/>
    <p:sldId id="456" r:id="rId48"/>
    <p:sldId id="457" r:id="rId49"/>
    <p:sldId id="461" r:id="rId50"/>
    <p:sldId id="459" r:id="rId51"/>
    <p:sldId id="460" r:id="rId52"/>
    <p:sldId id="463" r:id="rId53"/>
    <p:sldId id="471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73245" autoAdjust="0"/>
  </p:normalViewPr>
  <p:slideViewPr>
    <p:cSldViewPr snapToGrid="0">
      <p:cViewPr varScale="1">
        <p:scale>
          <a:sx n="40" d="100"/>
          <a:sy n="40" d="100"/>
        </p:scale>
        <p:origin x="1880" y="3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68E4E-AEF3-F47A-5B97-1DDC38285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73556-E56A-B6CB-A55F-99AB4AF2A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1FF07-EB73-B43C-A5F8-D7649BC2E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EC3FB-07F8-B5A8-CBD2-55FB24D8F9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76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263C5-A9D9-8282-D753-9824CF3A7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B35AD-ED90-16D4-3AEA-25D216EE7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F52A0-B901-791B-1E2E-41B2FB6F0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9FBBA-D04F-4C63-7668-6428E3DCC3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67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8EB5-3ACE-FB2A-5E28-CC09548F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AC0F6-C7C4-0D60-D538-7455CDE95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DA121-BA17-E84E-677B-2260EB2B2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fontAlgn="t">
              <a:buFont typeface="Arial" panose="020B0604020202020204" pitchFamily="34" charset="0"/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4341F-3E36-E5CC-E0AD-4182FCDD2B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75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fontAlgn="t">
              <a:buFont typeface="Arial" panose="020B0604020202020204" pitchFamily="34" charset="0"/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 fontAlgn="t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 fontAlgn="t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6BC3C-6884-E132-193C-C3C2D450B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7F972-D842-F849-6FDE-39355061A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5CC23-90B8-BB16-5A6E-668B8C3EF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b="0" i="0" dirty="0">
              <a:solidFill>
                <a:srgbClr val="BFDB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E0784-5B61-890C-0396-60F29A8F2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43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2.png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AIT-Red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D35191-9485-424B-9326-20551B06F4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1ADDC6-2475-4BFD-8241-30BD6099A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2151036"/>
            <a:ext cx="7482840" cy="165576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D14D2-E431-4AF0-88D5-FEDFAA5DB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0" y="3917922"/>
            <a:ext cx="7482840" cy="82033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173F8A-E5E1-40E5-893A-3CE0C3BE7A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4" y="1551795"/>
            <a:ext cx="25241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39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Red-Secondar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3587FC-2BD1-4A56-A69A-CC51FDF4A7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4044" cy="6898525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88B7614-7E88-4C6B-BB37-5515B7967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966" y="2448099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Secondary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64E6C8B-87F6-4C99-AC96-643D30EB23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3965" y="3589714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50783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AIT-Red-Single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DC56F8-4636-44E7-9A7B-9926BC6E8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2" cy="68532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2E43EA-90D1-4B8C-BC44-A295B9D96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F19D-A0A1-4FB5-812F-E5648859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18A0F8-F889-4A17-8469-A5B58D2FF4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57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Red-Two-Column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BA1C07-C40C-4458-A842-3ECCEA89D9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2" cy="685323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>
                <a:latin typeface="Titillium" panose="00000500000000000000" pitchFamily="50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FF2BCF1-EBFA-413E-8EF0-F941196B1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3966" y="1828395"/>
            <a:ext cx="5101697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86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Red-Two-Group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146FA9-9771-410F-8309-941F3DE729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2" cy="685323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BB4CE-64A1-4305-97DA-2AE568A60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>
                <a:latin typeface="Titillium" panose="00000500000000000000" pitchFamily="50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0D48EB-F833-4677-914B-7C054D2A01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CB99687-60E8-4FBE-B446-B606E56ED3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965" y="2498726"/>
            <a:ext cx="5101697" cy="3503208"/>
          </a:xfr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D6DD069-1FC5-4C4E-A966-9F114F87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338" y="2511454"/>
            <a:ext cx="5101697" cy="3503209"/>
          </a:xfr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FCB40-8727-484C-B158-62865914B910}"/>
              </a:ext>
            </a:extLst>
          </p:cNvPr>
          <p:cNvCxnSpPr/>
          <p:nvPr userDrawn="1"/>
        </p:nvCxnSpPr>
        <p:spPr>
          <a:xfrm>
            <a:off x="6091766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819FEA-CBC9-4308-B1AE-B0CC01FA60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965" y="1820082"/>
            <a:ext cx="5102225" cy="515937"/>
          </a:xfr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Content group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957841C-7D4D-45DC-816A-AE969625F7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338" y="1828395"/>
            <a:ext cx="5102225" cy="515937"/>
          </a:xfr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Content group 2</a:t>
            </a:r>
          </a:p>
        </p:txBody>
      </p:sp>
    </p:spTree>
    <p:extLst>
      <p:ext uri="{BB962C8B-B14F-4D97-AF65-F5344CB8AC3E}">
        <p14:creationId xmlns:p14="http://schemas.microsoft.com/office/powerpoint/2010/main" val="605514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Red-Pic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BA1C07-C40C-4458-A842-3ECCEA89D9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2" cy="685323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B93D1-5589-49A5-9152-A60140308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216" y="1828395"/>
            <a:ext cx="5089525" cy="41735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5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Red-Single-Pic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CE18A3-C2E1-4ECF-94C4-2C39FD1975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2" cy="685323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A01D9-937C-49AC-B6D0-8CBDC2460F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46C3C-A2E9-42A4-9114-B1DA6015E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E7B9163-40E2-4AFD-A1FD-3D5EA32499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966" y="1862138"/>
            <a:ext cx="10515600" cy="412273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14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Red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01F5F4-DA4D-48FD-9AB2-87DC53A944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2" cy="685323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D40EB4-2A48-4505-BF5C-979DFEB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E8DD8-1679-464B-94BB-BF93D99539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2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AIT-Red-WM-Single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21EF3F-AD24-48E8-8A96-340C3890A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59" y="-8098"/>
            <a:ext cx="12206396" cy="68660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2E43EA-90D1-4B8C-BC44-A295B9D96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F19D-A0A1-4FB5-812F-E5648859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18A0F8-F889-4A17-8469-A5B58D2FF4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51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Red-WM-Two-Column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88650D8-76DB-4A36-B085-20CD8D8464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59" y="-8098"/>
            <a:ext cx="12206396" cy="686609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>
                <a:latin typeface="Titillium" panose="00000500000000000000" pitchFamily="50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FF2BCF1-EBFA-413E-8EF0-F941196B1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3966" y="1828395"/>
            <a:ext cx="5101697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56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Red-WM-Two-Group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12B5688-BBBB-4F7C-8BC6-FBDA9160F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59" y="-8098"/>
            <a:ext cx="12206396" cy="686609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BB4CE-64A1-4305-97DA-2AE568A60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0D48EB-F833-4677-914B-7C054D2A01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CB99687-60E8-4FBE-B446-B606E56ED3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965" y="2498726"/>
            <a:ext cx="5101697" cy="3503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D6DD069-1FC5-4C4E-A966-9F114F87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338" y="2511454"/>
            <a:ext cx="5101697" cy="350320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FCB40-8727-484C-B158-62865914B910}"/>
              </a:ext>
            </a:extLst>
          </p:cNvPr>
          <p:cNvCxnSpPr/>
          <p:nvPr userDrawn="1"/>
        </p:nvCxnSpPr>
        <p:spPr>
          <a:xfrm>
            <a:off x="6091766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819FEA-CBC9-4308-B1AE-B0CC01FA60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965" y="1820082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957841C-7D4D-45DC-816A-AE969625F7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338" y="1828395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2</a:t>
            </a:r>
          </a:p>
        </p:txBody>
      </p:sp>
    </p:spTree>
    <p:extLst>
      <p:ext uri="{BB962C8B-B14F-4D97-AF65-F5344CB8AC3E}">
        <p14:creationId xmlns:p14="http://schemas.microsoft.com/office/powerpoint/2010/main" val="2970469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Red-WM-Pic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7B879C1-E658-4B70-B357-F8BC841F8F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59" y="-8098"/>
            <a:ext cx="12206396" cy="686609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B93D1-5589-49A5-9152-A60140308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216" y="1828395"/>
            <a:ext cx="5089525" cy="41735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73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Red-WM-Single-Pic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13C0257-8FC9-4107-8C64-4AAF7EC194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59" y="-8098"/>
            <a:ext cx="12206396" cy="686609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A01D9-937C-49AC-B6D0-8CBDC2460F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46C3C-A2E9-42A4-9114-B1DA6015E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E7B9163-40E2-4AFD-A1FD-3D5EA32499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966" y="1862138"/>
            <a:ext cx="10515600" cy="41227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11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Red-WM-Blank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30F671-051E-4430-9CEB-2F83CCAD59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59" y="-8098"/>
            <a:ext cx="12206396" cy="686609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D40EB4-2A48-4505-BF5C-979DFEB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E8DD8-1679-464B-94BB-BF93D99539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46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AIT-Burgund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A95465-F37A-4A69-9108-74952E2E6F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1ADDC6-2475-4BFD-8241-30BD6099A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2151036"/>
            <a:ext cx="7482840" cy="165576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D14D2-E431-4AF0-88D5-FEDFAA5DB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0" y="3917922"/>
            <a:ext cx="7482840" cy="82033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173F8A-E5E1-40E5-893A-3CE0C3BE7A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4" y="1551795"/>
            <a:ext cx="25241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51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Burgundy-Secondar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B1F64-52CE-4111-9B36-762812772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1"/>
            <a:ext cx="12255731" cy="6893849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88B7614-7E88-4C6B-BB37-5515B7967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966" y="2448099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Secondary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64E6C8B-87F6-4C99-AC96-643D30EB23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3965" y="3589714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1291811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AIT-Burgundy-Single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634C4C-0BA8-4797-BFAD-3BDDBC48CF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2E43EA-90D1-4B8C-BC44-A295B9D96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F19D-A0A1-4FB5-812F-E5648859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18A0F8-F889-4A17-8469-A5B58D2FF4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64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Burgundy-Two-Column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37C7B11-9B09-47EC-99B1-345E2AB19C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>
                <a:latin typeface="Titillium" panose="00000500000000000000" pitchFamily="50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FF2BCF1-EBFA-413E-8EF0-F941196B1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3966" y="1828395"/>
            <a:ext cx="5101697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7291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Burgundy-Two-Group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E81DED8-E645-4FC0-B197-3CF611BFBC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BB4CE-64A1-4305-97DA-2AE568A60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0D48EB-F833-4677-914B-7C054D2A01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CB99687-60E8-4FBE-B446-B606E56ED3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965" y="2498726"/>
            <a:ext cx="5101697" cy="3503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D6DD069-1FC5-4C4E-A966-9F114F87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338" y="2511454"/>
            <a:ext cx="5101697" cy="350320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FCB40-8727-484C-B158-62865914B910}"/>
              </a:ext>
            </a:extLst>
          </p:cNvPr>
          <p:cNvCxnSpPr/>
          <p:nvPr userDrawn="1"/>
        </p:nvCxnSpPr>
        <p:spPr>
          <a:xfrm>
            <a:off x="6091766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819FEA-CBC9-4308-B1AE-B0CC01FA60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965" y="1820082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957841C-7D4D-45DC-816A-AE969625F7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338" y="1828395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2</a:t>
            </a:r>
          </a:p>
        </p:txBody>
      </p:sp>
    </p:spTree>
    <p:extLst>
      <p:ext uri="{BB962C8B-B14F-4D97-AF65-F5344CB8AC3E}">
        <p14:creationId xmlns:p14="http://schemas.microsoft.com/office/powerpoint/2010/main" val="2497255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Burgundy-Pic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5331A9A-5127-4AE9-A475-5837001426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B93D1-5589-49A5-9152-A60140308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216" y="1828395"/>
            <a:ext cx="5089525" cy="41735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988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Burgundy-Single-Pic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665066-F7DF-42C8-B036-E3C06E363D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A01D9-937C-49AC-B6D0-8CBDC2460F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46C3C-A2E9-42A4-9114-B1DA6015E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E7B9163-40E2-4AFD-A1FD-3D5EA32499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966" y="1862138"/>
            <a:ext cx="10515600" cy="41227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610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Burgundy-Blank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574F53-BB10-45DA-AB6C-DD7968C651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D40EB4-2A48-4505-BF5C-979DFEB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E8DD8-1679-464B-94BB-BF93D99539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975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AIT-Burgundy-WM-Single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48FA5D-609A-4F29-B1E1-FF1B68605E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5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2E43EA-90D1-4B8C-BC44-A295B9D96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F19D-A0A1-4FB5-812F-E5648859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18A0F8-F889-4A17-8469-A5B58D2FF4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733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Burgundy-WM-Two-Column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1D383F2-8EBD-479F-B020-454FB8660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5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FF2BCF1-EBFA-413E-8EF0-F941196B1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3966" y="1828395"/>
            <a:ext cx="5101697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152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Burgundy-WM-Two-Group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B9E73C3-42D3-427E-9EB9-7D2211BE7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5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BB4CE-64A1-4305-97DA-2AE568A60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0D48EB-F833-4677-914B-7C054D2A01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CB99687-60E8-4FBE-B446-B606E56ED3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965" y="2498726"/>
            <a:ext cx="5101697" cy="3503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D6DD069-1FC5-4C4E-A966-9F114F87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338" y="2511454"/>
            <a:ext cx="5101697" cy="350320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FCB40-8727-484C-B158-62865914B910}"/>
              </a:ext>
            </a:extLst>
          </p:cNvPr>
          <p:cNvCxnSpPr/>
          <p:nvPr userDrawn="1"/>
        </p:nvCxnSpPr>
        <p:spPr>
          <a:xfrm>
            <a:off x="6091766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819FEA-CBC9-4308-B1AE-B0CC01FA60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965" y="1820082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957841C-7D4D-45DC-816A-AE969625F7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338" y="1828395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2</a:t>
            </a:r>
          </a:p>
        </p:txBody>
      </p:sp>
    </p:spTree>
    <p:extLst>
      <p:ext uri="{BB962C8B-B14F-4D97-AF65-F5344CB8AC3E}">
        <p14:creationId xmlns:p14="http://schemas.microsoft.com/office/powerpoint/2010/main" val="26280824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Burgundy-WM-Pic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89B4FBC-C156-4FAF-8D80-4E0032D1B7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5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B93D1-5589-49A5-9152-A60140308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216" y="1828395"/>
            <a:ext cx="5089525" cy="41735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788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Burgundy-WM-Single-Pic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FD0130-E879-46EA-8573-FE79E8656F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5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A01D9-937C-49AC-B6D0-8CBDC2460F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46C3C-A2E9-42A4-9114-B1DA6015E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E7B9163-40E2-4AFD-A1FD-3D5EA32499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966" y="1862138"/>
            <a:ext cx="10515600" cy="41227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266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Burgundy-WM-Blank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E25325-BE64-41E9-975A-21D0C5C817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5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D40EB4-2A48-4505-BF5C-979DFEB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E8DD8-1679-464B-94BB-BF93D99539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037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AIT-Purple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041094-FDEB-4AF0-A31D-5EE830E1B4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1ADDC6-2475-4BFD-8241-30BD6099A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2151036"/>
            <a:ext cx="7482840" cy="165576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D14D2-E431-4AF0-88D5-FEDFAA5DB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0" y="3917922"/>
            <a:ext cx="7482840" cy="82033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173F8A-E5E1-40E5-893A-3CE0C3BE7A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4" y="1551795"/>
            <a:ext cx="25241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13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Purple-Secondar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87770-D3D9-4C5C-92CD-924C0A0FC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88B7614-7E88-4C6B-BB37-5515B7967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966" y="2448099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Secondary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64E6C8B-87F6-4C99-AC96-643D30EB23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3965" y="3589714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21409699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AIT-Purple-Single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48B1885-BC0B-4576-AF7F-CFFBA163E6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2E43EA-90D1-4B8C-BC44-A295B9D96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F19D-A0A1-4FB5-812F-E5648859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18A0F8-F889-4A17-8469-A5B58D2FF4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983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Purple-Two-Column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5AD0653-E67F-4760-BE82-76C99A9F7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FF2BCF1-EBFA-413E-8EF0-F941196B1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3966" y="1828395"/>
            <a:ext cx="5101697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334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Purple-Two-Group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FBAE8C5-6434-402D-A235-8C7742E4D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BB4CE-64A1-4305-97DA-2AE568A60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0D48EB-F833-4677-914B-7C054D2A01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CB99687-60E8-4FBE-B446-B606E56ED3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965" y="2498726"/>
            <a:ext cx="5101697" cy="3503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D6DD069-1FC5-4C4E-A966-9F114F87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338" y="2511454"/>
            <a:ext cx="5101697" cy="350320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FCB40-8727-484C-B158-62865914B910}"/>
              </a:ext>
            </a:extLst>
          </p:cNvPr>
          <p:cNvCxnSpPr/>
          <p:nvPr userDrawn="1"/>
        </p:nvCxnSpPr>
        <p:spPr>
          <a:xfrm>
            <a:off x="6091766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819FEA-CBC9-4308-B1AE-B0CC01FA60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965" y="1820082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957841C-7D4D-45DC-816A-AE969625F7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338" y="1828395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2</a:t>
            </a:r>
          </a:p>
        </p:txBody>
      </p:sp>
    </p:spTree>
    <p:extLst>
      <p:ext uri="{BB962C8B-B14F-4D97-AF65-F5344CB8AC3E}">
        <p14:creationId xmlns:p14="http://schemas.microsoft.com/office/powerpoint/2010/main" val="39906972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Purple-Pic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C9B3D1-381B-48BA-8703-602E47BC90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B93D1-5589-49A5-9152-A60140308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216" y="1828395"/>
            <a:ext cx="5089525" cy="41735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54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Purple-Single-Pic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56D27B-1063-4386-9B70-2B328B6A86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A01D9-937C-49AC-B6D0-8CBDC2460F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46C3C-A2E9-42A4-9114-B1DA6015E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E7B9163-40E2-4AFD-A1FD-3D5EA32499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966" y="1862138"/>
            <a:ext cx="10515600" cy="41227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466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Purple-Blank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3F55AA-2329-42EA-8814-EE437D5AC2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D40EB4-2A48-4505-BF5C-979DFEB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E8DD8-1679-464B-94BB-BF93D99539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635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AIT-Purple-WM-Single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3152E4-F9FA-46A5-965A-4B99F53CA9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2E43EA-90D1-4B8C-BC44-A295B9D96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F19D-A0A1-4FB5-812F-E5648859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18A0F8-F889-4A17-8469-A5B58D2FF4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185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Purple-WM-Two-Column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625F2A-C41B-44ED-AB18-2B1E9F84B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FF2BCF1-EBFA-413E-8EF0-F941196B1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3966" y="1828395"/>
            <a:ext cx="5101697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884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Purple-WM-Two-Group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65A7FAC-3187-441F-849E-ED115EAFD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BB4CE-64A1-4305-97DA-2AE568A60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0D48EB-F833-4677-914B-7C054D2A01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CB99687-60E8-4FBE-B446-B606E56ED3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965" y="2498726"/>
            <a:ext cx="5101697" cy="3503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D6DD069-1FC5-4C4E-A966-9F114F87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338" y="2511454"/>
            <a:ext cx="5101697" cy="350320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FCB40-8727-484C-B158-62865914B910}"/>
              </a:ext>
            </a:extLst>
          </p:cNvPr>
          <p:cNvCxnSpPr/>
          <p:nvPr userDrawn="1"/>
        </p:nvCxnSpPr>
        <p:spPr>
          <a:xfrm>
            <a:off x="6091766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819FEA-CBC9-4308-B1AE-B0CC01FA60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965" y="1820082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957841C-7D4D-45DC-816A-AE969625F7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338" y="1828395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2</a:t>
            </a:r>
          </a:p>
        </p:txBody>
      </p:sp>
    </p:spTree>
    <p:extLst>
      <p:ext uri="{BB962C8B-B14F-4D97-AF65-F5344CB8AC3E}">
        <p14:creationId xmlns:p14="http://schemas.microsoft.com/office/powerpoint/2010/main" val="3779331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Purple-WM-Pic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12A739-4C49-4E6D-955B-82A9214B8E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B93D1-5589-49A5-9152-A60140308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216" y="1828395"/>
            <a:ext cx="5089525" cy="41735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087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Purple-WM-Single-Pic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882F5DE-F57D-44C3-844D-88C873E28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A01D9-937C-49AC-B6D0-8CBDC2460F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46C3C-A2E9-42A4-9114-B1DA6015E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E7B9163-40E2-4AFD-A1FD-3D5EA32499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966" y="1862138"/>
            <a:ext cx="10515600" cy="41227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983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Purple-WM-Blank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A440F4-37F5-41DD-81B0-BBA7864F2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D40EB4-2A48-4505-BF5C-979DFEB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E8DD8-1679-464B-94BB-BF93D99539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811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8A39B7-CE2C-39CA-5EDE-5E5F28018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27054"/>
            <a:ext cx="1529939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026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AIT-Lt.Blue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D21E05-1781-436E-A79F-A5BEBF6BAF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1ADDC6-2475-4BFD-8241-30BD6099A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2151036"/>
            <a:ext cx="7482840" cy="165576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D14D2-E431-4AF0-88D5-FEDFAA5DB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0" y="3917922"/>
            <a:ext cx="7482840" cy="82033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173F8A-E5E1-40E5-893A-3CE0C3BE7A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4" y="1551795"/>
            <a:ext cx="25241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112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Lt.Blue-Secondar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4948FB-C624-4207-93E5-46300DD232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88B7614-7E88-4C6B-BB37-5515B7967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966" y="2448099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Secondary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64E6C8B-87F6-4C99-AC96-643D30EB23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3965" y="3589714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42876928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AIT-Lt.Blue-Single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415D08-E93F-478B-91A6-6A4B5C92BE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2E43EA-90D1-4B8C-BC44-A295B9D96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F19D-A0A1-4FB5-812F-E5648859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18A0F8-F889-4A17-8469-A5B58D2FF4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35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Lt.Blue-Two-Column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44D38D-DBF6-4F81-B3DA-CEC99F6F8D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FF2BCF1-EBFA-413E-8EF0-F941196B1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3966" y="1828395"/>
            <a:ext cx="5101697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4454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Lt.Blue-Two-Group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FFF9E0-CAA2-45A4-9E2E-BDE0EBD253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BB4CE-64A1-4305-97DA-2AE568A60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0D48EB-F833-4677-914B-7C054D2A01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CB99687-60E8-4FBE-B446-B606E56ED3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965" y="2498726"/>
            <a:ext cx="5101697" cy="3503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D6DD069-1FC5-4C4E-A966-9F114F87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338" y="2511454"/>
            <a:ext cx="5101697" cy="350320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FCB40-8727-484C-B158-62865914B910}"/>
              </a:ext>
            </a:extLst>
          </p:cNvPr>
          <p:cNvCxnSpPr/>
          <p:nvPr userDrawn="1"/>
        </p:nvCxnSpPr>
        <p:spPr>
          <a:xfrm>
            <a:off x="6091766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819FEA-CBC9-4308-B1AE-B0CC01FA60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965" y="1820082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957841C-7D4D-45DC-816A-AE969625F7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338" y="1828395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2</a:t>
            </a:r>
          </a:p>
        </p:txBody>
      </p:sp>
    </p:spTree>
    <p:extLst>
      <p:ext uri="{BB962C8B-B14F-4D97-AF65-F5344CB8AC3E}">
        <p14:creationId xmlns:p14="http://schemas.microsoft.com/office/powerpoint/2010/main" val="23600983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Lt.Blue-Pic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E80CF86-5389-4ADE-82C3-DCD83CC94D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B93D1-5589-49A5-9152-A60140308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216" y="1828395"/>
            <a:ext cx="5089525" cy="41735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160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Lt.Blue-Single-Pic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0329D25-C424-4857-9D39-A343BF710D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A01D9-937C-49AC-B6D0-8CBDC2460F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46C3C-A2E9-42A4-9114-B1DA6015E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E7B9163-40E2-4AFD-A1FD-3D5EA32499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966" y="1862138"/>
            <a:ext cx="10515600" cy="41227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072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Lt.Blue-Blank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78DAFA-F44C-438A-8935-F251AAD680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D40EB4-2A48-4505-BF5C-979DFEB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E8DD8-1679-464B-94BB-BF93D99539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585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AIT-Lt.Blue-WM-Single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824E63-79CC-4E57-BEAD-2C63ED5398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2E43EA-90D1-4B8C-BC44-A295B9D96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F19D-A0A1-4FB5-812F-E5648859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18A0F8-F889-4A17-8469-A5B58D2FF4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4883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Lt.Blue-WM-Two-Column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94A7C41-9BEA-4480-B327-7F2F29D64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FF2BCF1-EBFA-413E-8EF0-F941196B1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3966" y="1828395"/>
            <a:ext cx="5101697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8905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Lt.Blue-WM-Two-Group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E838B4-8164-42E9-93AC-B495896F07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BB4CE-64A1-4305-97DA-2AE568A60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0D48EB-F833-4677-914B-7C054D2A01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CB99687-60E8-4FBE-B446-B606E56ED3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965" y="2498726"/>
            <a:ext cx="5101697" cy="3503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D6DD069-1FC5-4C4E-A966-9F114F87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338" y="2511454"/>
            <a:ext cx="5101697" cy="350320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FCB40-8727-484C-B158-62865914B910}"/>
              </a:ext>
            </a:extLst>
          </p:cNvPr>
          <p:cNvCxnSpPr/>
          <p:nvPr userDrawn="1"/>
        </p:nvCxnSpPr>
        <p:spPr>
          <a:xfrm>
            <a:off x="6091766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819FEA-CBC9-4308-B1AE-B0CC01FA60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965" y="1820082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957841C-7D4D-45DC-816A-AE969625F7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338" y="1828395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2</a:t>
            </a:r>
          </a:p>
        </p:txBody>
      </p:sp>
    </p:spTree>
    <p:extLst>
      <p:ext uri="{BB962C8B-B14F-4D97-AF65-F5344CB8AC3E}">
        <p14:creationId xmlns:p14="http://schemas.microsoft.com/office/powerpoint/2010/main" val="238957035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Lt.Blue-WM-Pic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8BE289C-3A85-42A0-B936-046D7814F7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B93D1-5589-49A5-9152-A60140308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216" y="1828395"/>
            <a:ext cx="5089525" cy="41735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616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Lt.Blue-WM-Single-Pic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FDF4B3-8435-4CB2-A9AF-1CAADF79A0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A01D9-937C-49AC-B6D0-8CBDC2460F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46C3C-A2E9-42A4-9114-B1DA6015E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E7B9163-40E2-4AFD-A1FD-3D5EA32499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966" y="1862138"/>
            <a:ext cx="10515600" cy="41227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830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Lt.Blue-WM-Blank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F15451-A5FE-4BDF-9FAD-F93C16D1A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D40EB4-2A48-4505-BF5C-979DFEB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E8DD8-1679-464B-94BB-BF93D99539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774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AIT-Dk.Blue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D26BC1-13C3-4D6B-9D66-0069E51D55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1ADDC6-2475-4BFD-8241-30BD6099A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2151036"/>
            <a:ext cx="7482840" cy="165576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D14D2-E431-4AF0-88D5-FEDFAA5DB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0" y="3917922"/>
            <a:ext cx="7482840" cy="82033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173F8A-E5E1-40E5-893A-3CE0C3BE7A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4" y="1551795"/>
            <a:ext cx="25241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0662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Dk.Blue-Secondar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DD661B-44AA-42C5-9565-C2E911F5AF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88B7614-7E88-4C6B-BB37-5515B7967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966" y="2448099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Secondary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64E6C8B-87F6-4C99-AC96-643D30EB23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3965" y="3589714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37663403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AIT-Dk.Blue-Single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ED7E7E-1D4A-471D-8810-CA5F541781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2E43EA-90D1-4B8C-BC44-A295B9D96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F19D-A0A1-4FB5-812F-E5648859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18A0F8-F889-4A17-8469-A5B58D2FF4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405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Dk.Blue-Two-Column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A875B92-2005-404D-97F5-6057BE7FE8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3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FF2BCF1-EBFA-413E-8EF0-F941196B1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3966" y="1828395"/>
            <a:ext cx="5101697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99551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Dk.Blue-Two-Group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C252F61-3C12-451E-8106-5494823BC3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3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BB4CE-64A1-4305-97DA-2AE568A60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0D48EB-F833-4677-914B-7C054D2A01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CB99687-60E8-4FBE-B446-B606E56ED3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965" y="2498726"/>
            <a:ext cx="5101697" cy="3503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D6DD069-1FC5-4C4E-A966-9F114F87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338" y="2511454"/>
            <a:ext cx="5101697" cy="350320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FCB40-8727-484C-B158-62865914B910}"/>
              </a:ext>
            </a:extLst>
          </p:cNvPr>
          <p:cNvCxnSpPr/>
          <p:nvPr userDrawn="1"/>
        </p:nvCxnSpPr>
        <p:spPr>
          <a:xfrm>
            <a:off x="6091766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819FEA-CBC9-4308-B1AE-B0CC01FA60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965" y="1820082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957841C-7D4D-45DC-816A-AE969625F7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338" y="1828395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2</a:t>
            </a:r>
          </a:p>
        </p:txBody>
      </p:sp>
    </p:spTree>
    <p:extLst>
      <p:ext uri="{BB962C8B-B14F-4D97-AF65-F5344CB8AC3E}">
        <p14:creationId xmlns:p14="http://schemas.microsoft.com/office/powerpoint/2010/main" val="9356846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Dk.Blue-Pic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66813F0-73E9-4FDF-9DDD-FBD60118FE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3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B93D1-5589-49A5-9152-A60140308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216" y="1828395"/>
            <a:ext cx="5089525" cy="41735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848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Dk.Blue-Single-Pic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4A5E30-2D3B-43EB-8A09-FCA2905E25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3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A01D9-937C-49AC-B6D0-8CBDC2460F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46C3C-A2E9-42A4-9114-B1DA6015E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E7B9163-40E2-4AFD-A1FD-3D5EA32499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966" y="1862138"/>
            <a:ext cx="10515600" cy="41227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908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Dk.Blue-Blank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244031-EE0D-4CFE-8198-B3E7F260A1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3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D40EB4-2A48-4505-BF5C-979DFEB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E8DD8-1679-464B-94BB-BF93D99539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7211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AIT-Dk.Blue-WM-Single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1A0721-D716-40E5-9D25-050341759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2E43EA-90D1-4B8C-BC44-A295B9D96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F19D-A0A1-4FB5-812F-E5648859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18A0F8-F889-4A17-8469-A5B58D2FF4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5514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Dk.Blue-WM-Two-Column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E7AA127-7615-4589-A410-FAAFA6002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FF2BCF1-EBFA-413E-8EF0-F941196B1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3966" y="1828395"/>
            <a:ext cx="5101697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5312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Dk.Blue-WM-Two-Group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2E7A59-75E5-4CCB-AFAC-07A21527E3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BB4CE-64A1-4305-97DA-2AE568A60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0D48EB-F833-4677-914B-7C054D2A01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CB99687-60E8-4FBE-B446-B606E56ED3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965" y="2498726"/>
            <a:ext cx="5101697" cy="3503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D6DD069-1FC5-4C4E-A966-9F114F87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338" y="2511454"/>
            <a:ext cx="5101697" cy="350320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FCB40-8727-484C-B158-62865914B910}"/>
              </a:ext>
            </a:extLst>
          </p:cNvPr>
          <p:cNvCxnSpPr/>
          <p:nvPr userDrawn="1"/>
        </p:nvCxnSpPr>
        <p:spPr>
          <a:xfrm>
            <a:off x="6091766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819FEA-CBC9-4308-B1AE-B0CC01FA60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965" y="1820082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957841C-7D4D-45DC-816A-AE969625F7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338" y="1828395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2</a:t>
            </a:r>
          </a:p>
        </p:txBody>
      </p:sp>
    </p:spTree>
    <p:extLst>
      <p:ext uri="{BB962C8B-B14F-4D97-AF65-F5344CB8AC3E}">
        <p14:creationId xmlns:p14="http://schemas.microsoft.com/office/powerpoint/2010/main" val="21132693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Dk.Blue-WM-Pic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486206E-0EEB-4074-9D55-FDC7641191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0BA98-C637-482F-B10E-F5A3A19B2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B93D1-5589-49A5-9152-A60140308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216" y="1828395"/>
            <a:ext cx="5089525" cy="41735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3591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Dk.Blue-WM-Single-Pic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2DDD743-1E69-43CE-BB7E-A001DBE59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A01D9-937C-49AC-B6D0-8CBDC2460F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46C3C-A2E9-42A4-9114-B1DA6015E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E7B9163-40E2-4AFD-A1FD-3D5EA32499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966" y="1862138"/>
            <a:ext cx="10515600" cy="41227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1842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Dk.Blue-WM-Blank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932113-E471-4FB3-B06D-BF6DC3EE23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D40EB4-2A48-4505-BF5C-979DFEB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E8DD8-1679-464B-94BB-BF93D99539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76963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45813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AIT-Gre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DC1E58F-81E6-428F-AA2B-753D5F45C1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1ADDC6-2475-4BFD-8241-30BD6099A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2151036"/>
            <a:ext cx="7482840" cy="165576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D14D2-E431-4AF0-88D5-FEDFAA5DB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0" y="3917922"/>
            <a:ext cx="7482840" cy="82033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173F8A-E5E1-40E5-893A-3CE0C3BE7A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4" y="1551795"/>
            <a:ext cx="25241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2277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Grey-Secondar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5426E4-2923-489A-8C62-6F2D420739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88B7614-7E88-4C6B-BB37-5515B7967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966" y="2448099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Secondary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64E6C8B-87F6-4C99-AC96-643D30EB23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3965" y="3589714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102492770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AIT-Grey-Single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28DAD4-CDE7-4C87-8339-F69FBD556C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2E43EA-90D1-4B8C-BC44-A295B9D96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F19D-A0A1-4FB5-812F-E5648859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103A7-C9E4-4580-A6E0-C3E3701C0F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6" y="6228476"/>
            <a:ext cx="1385034" cy="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18206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Grey-Two-Column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4C224D0-3225-49C2-A5F9-38911A69DE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FF2BCF1-EBFA-413E-8EF0-F941196B1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3966" y="1828395"/>
            <a:ext cx="5101697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AEC1EE8C-4A04-456F-9957-722DF975EC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6" y="6228476"/>
            <a:ext cx="1385034" cy="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45564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Grey-Two-Group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D4905C5-2751-45CE-A3B5-EBAA9989A4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BB4CE-64A1-4305-97DA-2AE568A60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CB99687-60E8-4FBE-B446-B606E56ED3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965" y="2498726"/>
            <a:ext cx="5101697" cy="3503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D6DD069-1FC5-4C4E-A966-9F114F87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338" y="2511454"/>
            <a:ext cx="5101697" cy="350320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FCB40-8727-484C-B158-62865914B910}"/>
              </a:ext>
            </a:extLst>
          </p:cNvPr>
          <p:cNvCxnSpPr/>
          <p:nvPr userDrawn="1"/>
        </p:nvCxnSpPr>
        <p:spPr>
          <a:xfrm>
            <a:off x="6091766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819FEA-CBC9-4308-B1AE-B0CC01FA60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965" y="1820082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957841C-7D4D-45DC-816A-AE969625F7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338" y="1828395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DFC9E0-85DB-41CC-83BD-1A171D3B28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6" y="6228476"/>
            <a:ext cx="1385034" cy="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7102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Grey-Pic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2D0899C-F530-473D-8190-BEE0B200BA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B93D1-5589-49A5-9152-A60140308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216" y="1828395"/>
            <a:ext cx="5089525" cy="4173538"/>
          </a:xfrm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C38614-2A78-4876-BA67-40E777C5F8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6" y="6228476"/>
            <a:ext cx="1385034" cy="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7880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Grey-Single-Pic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3C252E1-8E8B-44B7-ACD9-9764F0BF29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A01D9-937C-49AC-B6D0-8CBDC2460F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E7B9163-40E2-4AFD-A1FD-3D5EA32499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966" y="1862138"/>
            <a:ext cx="10515600" cy="4122737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373AE0-46EF-428D-A58E-D88999D766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6" y="6228476"/>
            <a:ext cx="1385034" cy="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628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Grey-Blank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85140C-7FAC-4040-964D-4A9539F8D8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053E28-D9E8-4449-8401-21320596C1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6" y="6205955"/>
            <a:ext cx="1604118" cy="66170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D40EB4-2A48-4505-BF5C-979DFEB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26112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AIT-Grey-WM-Single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4C2050-6A46-44AE-8B57-B6AC139D96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6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2E43EA-90D1-4B8C-BC44-A295B9D96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F19D-A0A1-4FB5-812F-E5648859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647844-6346-433D-A9DD-D2E82F056A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6" y="6228476"/>
            <a:ext cx="1385034" cy="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2032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Grey-WM-Two-Column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B97431D-4C1E-4425-8A89-700F1B2632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63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FF2BCF1-EBFA-413E-8EF0-F941196B1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3966" y="1828395"/>
            <a:ext cx="5101697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>
            <a:lvl1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1pPr>
            <a:lvl2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2pPr>
            <a:lvl3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3pPr>
            <a:lvl4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4pPr>
            <a:lvl5pPr>
              <a:defRPr>
                <a:latin typeface="Titillium" panose="00000500000000000000" pitchFamily="50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07EB8FD-4A08-4801-A511-6D54746361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6" y="6228476"/>
            <a:ext cx="1385034" cy="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8243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Grey-WM-Two-Group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327DB6F-12B4-4205-851E-F55DBD9D82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63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BB4CE-64A1-4305-97DA-2AE568A60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CB99687-60E8-4FBE-B446-B606E56ED3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965" y="2498726"/>
            <a:ext cx="5101697" cy="3503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D6DD069-1FC5-4C4E-A966-9F114F87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338" y="2511454"/>
            <a:ext cx="5101697" cy="350320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FCB40-8727-484C-B158-62865914B910}"/>
              </a:ext>
            </a:extLst>
          </p:cNvPr>
          <p:cNvCxnSpPr/>
          <p:nvPr userDrawn="1"/>
        </p:nvCxnSpPr>
        <p:spPr>
          <a:xfrm>
            <a:off x="6091766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819FEA-CBC9-4308-B1AE-B0CC01FA60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965" y="1820082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957841C-7D4D-45DC-816A-AE969625F7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338" y="1828395"/>
            <a:ext cx="5102225" cy="5159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group 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B512DB-D6DD-4222-B22F-A46A0E699D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6" y="6228476"/>
            <a:ext cx="1385034" cy="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6885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Grey-WM-Pic-Content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D5378DD-27AC-4DA9-AC31-F3DED4874B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63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C2CF88-EEBB-4468-A0E2-28F3F93B7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FC256B5-943C-489B-B97A-DED864BD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3922" y="1828395"/>
            <a:ext cx="4995076" cy="4173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0CFC-77E0-494F-B6D1-B5AAD092720C}"/>
              </a:ext>
            </a:extLst>
          </p:cNvPr>
          <p:cNvCxnSpPr/>
          <p:nvPr userDrawn="1"/>
        </p:nvCxnSpPr>
        <p:spPr>
          <a:xfrm>
            <a:off x="6133331" y="1828395"/>
            <a:ext cx="0" cy="41735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B93D1-5589-49A5-9152-A60140308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216" y="1828395"/>
            <a:ext cx="5089525" cy="4173538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7D3AE9-CAD6-4046-8A18-6460979E02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6" y="6228476"/>
            <a:ext cx="1385034" cy="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2705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Grey-WM-Single-Pic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B6F0360-2F07-4369-A1F9-F596107F5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63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A01D9-937C-49AC-B6D0-8CBDC2460F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E7B9163-40E2-4AFD-A1FD-3D5EA32499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966" y="1862138"/>
            <a:ext cx="10515600" cy="4122737"/>
          </a:xfrm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F60970-0FED-491C-9E5B-105706330A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6" y="6228476"/>
            <a:ext cx="1385034" cy="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2757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IT-Grey-WM-Blank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CF570DB-2163-4563-B9CD-18B1B7D165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63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D40EB4-2A48-4505-BF5C-979DFEBE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66" y="681037"/>
            <a:ext cx="10515600" cy="82616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A617E3-7642-4D18-BD3E-E7894EEA81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6" y="6228476"/>
            <a:ext cx="1385034" cy="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6713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54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145D55-F394-ACDE-C060-955C05A7B8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7054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9321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69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91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10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424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8313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1473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4439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1636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598210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35705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0318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490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350267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880199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8120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6237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3413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0025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8601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601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593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3683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99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76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IT-Purple-Secondar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87770-D3D9-4C5C-92CD-924C0A0FC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88B7614-7E88-4C6B-BB37-5515B7967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966" y="2448099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Secondary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64E6C8B-87F6-4C99-AC96-643D30EB23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3965" y="3589714"/>
            <a:ext cx="7058025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60575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8.xml"/><Relationship Id="rId18" Type="http://schemas.openxmlformats.org/officeDocument/2006/relationships/slideLayout" Target="../slideLayouts/slideLayout103.xml"/><Relationship Id="rId26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7.xml"/><Relationship Id="rId17" Type="http://schemas.openxmlformats.org/officeDocument/2006/relationships/slideLayout" Target="../slideLayouts/slideLayout102.xml"/><Relationship Id="rId25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105.xml"/><Relationship Id="rId29" Type="http://schemas.openxmlformats.org/officeDocument/2006/relationships/theme" Target="../theme/theme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2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100.xml"/><Relationship Id="rId23" Type="http://schemas.openxmlformats.org/officeDocument/2006/relationships/slideLayout" Target="../slideLayouts/slideLayout108.xml"/><Relationship Id="rId28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95.xml"/><Relationship Id="rId19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9.xml"/><Relationship Id="rId22" Type="http://schemas.openxmlformats.org/officeDocument/2006/relationships/slideLayout" Target="../slideLayouts/slideLayout107.xml"/><Relationship Id="rId27" Type="http://schemas.openxmlformats.org/officeDocument/2006/relationships/slideLayout" Target="../slideLayouts/slideLayout1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580BF8-5EBD-4AF7-80A8-FED23ED80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2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887CD-9092-4E61-A17E-3EA048E01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0177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02A23-4FC0-4F52-BD96-CE31D17A7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30F36DA9-44FA-4600-BBCA-038F6753D98F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73537-4FCA-43A3-8C19-6AB939FC9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77C10-DD6C-4E54-B26B-49B2CEF06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E918CB1-E3B2-463E-9B29-155F2CC969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65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6" r:id="rId2"/>
    <p:sldLayoutId id="2147483730" r:id="rId3"/>
    <p:sldLayoutId id="2147483731" r:id="rId4"/>
    <p:sldLayoutId id="2147483732" r:id="rId5"/>
    <p:sldLayoutId id="2147483735" r:id="rId6"/>
    <p:sldLayoutId id="2147483733" r:id="rId7"/>
    <p:sldLayoutId id="2147483734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573C4-C0E4-4C59-98D1-C282D1977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F1FAF-BEAC-4073-85E6-106BBE556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742E1-DC85-4745-AC2C-8A5EE9A1A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9F66E-53DF-4002-8429-B7EF4B83F68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9E8A0-3129-4559-BC92-3958EB166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4E192-7A5B-4BE3-A77D-3C5EB4609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31DEC-B0D5-44BC-AA48-16A37FF6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83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090A97-B4B8-4912-9B64-20380952B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07793-D9F0-40FA-BA79-B4C407C70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C8DDA-AA31-4B3B-A919-E270D4B5F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E2784-0E04-49DE-876B-EDA52E6F62D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A1CC0-7B2F-4027-B8A7-46A8AD7E5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59A4C-4D61-43F1-AF7E-38E4D0A14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3D676-A717-4FD8-B6E5-3A8513FE5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75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83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434C40-3390-4A36-A946-6E712105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73C14-5C91-476F-96C4-42BE4E02B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1A7D-D0EA-4310-97C6-E9793A530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3898A-D4D1-4C83-8BC8-F4D50509A6D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E0D0D-C96D-479F-9BF2-3669E0001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44076-2B8A-4BF9-9E52-214C7C437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D4F51-4641-467A-A124-4FD55E96C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2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4C811-385C-453A-B7B3-6984E63F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3B04F-2CD5-4450-A0BC-3580CB6BB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2552D-746A-424E-B9BA-068D0F28E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441BB-DD4C-4986-800F-A4B46264C55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34ED0-718D-4090-9485-EAA16A575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32FCC-98EF-44F5-9866-13DAA25D4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C5496-0EB8-4DCC-B7E8-88EDEE25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84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0EEC4-0179-496E-A5CF-92EFB9C6B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0B8D4-985F-47D6-B24C-552DE2373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7273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tillium" panose="00000500000000000000" pitchFamily="50" charset="0"/>
          <a:ea typeface="Verdana" panose="020B060403050404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30F36DA9-44FA-4600-BBCA-038F6753D98F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E918CB1-E3B2-463E-9B29-155F2CC969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2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60C461-B06B-4666-BC00-AC77F6A21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111854"/>
            <a:ext cx="12188951" cy="1201927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Mobile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Technologies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9F72BF8-0391-4122-8A6C-F6AB5FA3C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573" y="110425"/>
            <a:ext cx="7482840" cy="820333"/>
          </a:xfrm>
        </p:spPr>
        <p:txBody>
          <a:bodyPr anchor="ctr"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CPRG303 – Mobile Application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4E4F08-A10C-451D-D2FC-080AD30C6653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4165B4-AB88-EA23-D0DF-CA668E231076}"/>
              </a:ext>
            </a:extLst>
          </p:cNvPr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C88A44C7-F3AA-7F00-9C9A-8CB16DEC0EAF}"/>
              </a:ext>
            </a:extLst>
          </p:cNvPr>
          <p:cNvSpPr txBox="1">
            <a:spLocks/>
          </p:cNvSpPr>
          <p:nvPr/>
        </p:nvSpPr>
        <p:spPr>
          <a:xfrm>
            <a:off x="0" y="3689699"/>
            <a:ext cx="12188824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sp>
        <p:nvSpPr>
          <p:cNvPr id="12" name="Subtitle 3">
            <a:extLst>
              <a:ext uri="{FF2B5EF4-FFF2-40B4-BE49-F238E27FC236}">
                <a16:creationId xmlns:a16="http://schemas.microsoft.com/office/drawing/2014/main" id="{EBA06988-3DB6-E43C-C474-7358A85AFB24}"/>
              </a:ext>
            </a:extLst>
          </p:cNvPr>
          <p:cNvSpPr txBox="1">
            <a:spLocks/>
          </p:cNvSpPr>
          <p:nvPr/>
        </p:nvSpPr>
        <p:spPr>
          <a:xfrm>
            <a:off x="268573" y="581954"/>
            <a:ext cx="7904756" cy="820333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CPRG303 – Mobile Application Development</a:t>
            </a:r>
            <a:endParaRPr lang="en-US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B7EF96-491A-4E8B-8D00-64FC57A4F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53033"/>
            <a:ext cx="1631852" cy="2223013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F9127BC4-708B-BBF4-9F83-E2B3FAFA8E99}"/>
              </a:ext>
            </a:extLst>
          </p:cNvPr>
          <p:cNvSpPr/>
          <p:nvPr/>
        </p:nvSpPr>
        <p:spPr>
          <a:xfrm>
            <a:off x="2" y="6328750"/>
            <a:ext cx="12188950" cy="52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49019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92E7F-8D8D-CF60-53AE-CE1873ACB26A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C318EF-79C1-8218-64CF-474600458808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D2600-12D6-83A4-89F7-D4AD0EBC66BB}"/>
              </a:ext>
            </a:extLst>
          </p:cNvPr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Agenda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D9D34D-2DD0-80DC-F6CA-01777A283F21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916D65-E4A5-3D18-DB6C-64286A5C5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3925"/>
            <a:ext cx="11362544" cy="5343197"/>
          </a:xfrm>
        </p:spPr>
        <p:txBody>
          <a:bodyPr>
            <a:normAutofit/>
          </a:bodyPr>
          <a:lstStyle/>
          <a:p>
            <a:pPr fontAlgn="t">
              <a:spcBef>
                <a:spcPts val="0"/>
              </a:spcBef>
              <a:spcAft>
                <a:spcPts val="1800"/>
              </a:spcAft>
              <a:buSzPct val="103000"/>
            </a:pPr>
            <a:r>
              <a:rPr lang="en-US" sz="3200" dirty="0"/>
              <a:t>Introduction to Mobile Apps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CA" sz="3200" dirty="0"/>
              <a:t>Mobile Operating Systems (iOS vs Android)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CA" sz="3200" dirty="0"/>
              <a:t>Mobile Development Tools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CA" sz="3200" dirty="0"/>
              <a:t>App Stores and Monetization 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3200" dirty="0"/>
              <a:t>Challenges and Opportunities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CA" sz="3200" dirty="0"/>
              <a:t>Trends in Mobile Technologies</a:t>
            </a:r>
          </a:p>
        </p:txBody>
      </p:sp>
    </p:spTree>
    <p:extLst>
      <p:ext uri="{BB962C8B-B14F-4D97-AF65-F5344CB8AC3E}">
        <p14:creationId xmlns:p14="http://schemas.microsoft.com/office/powerpoint/2010/main" val="2213196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FE1B0-D895-AF1C-0A83-2EE58E4A82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CA" sz="4800" b="1" dirty="0"/>
              <a:t>Introduction to Mobile App </a:t>
            </a:r>
          </a:p>
        </p:txBody>
      </p:sp>
    </p:spTree>
    <p:extLst>
      <p:ext uri="{BB962C8B-B14F-4D97-AF65-F5344CB8AC3E}">
        <p14:creationId xmlns:p14="http://schemas.microsoft.com/office/powerpoint/2010/main" val="390005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0A839-D40D-D4B8-0EE7-55F94CE4E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0975"/>
            <a:ext cx="11362544" cy="4470240"/>
          </a:xfrm>
        </p:spPr>
        <p:txBody>
          <a:bodyPr>
            <a:normAutofit fontScale="92500" lnSpcReduction="20000"/>
          </a:bodyPr>
          <a:lstStyle/>
          <a:p>
            <a:pPr fontAlgn="t">
              <a:spcAft>
                <a:spcPts val="600"/>
              </a:spcAft>
              <a:buSzPct val="103000"/>
            </a:pPr>
            <a:r>
              <a:rPr lang="en-US" sz="2800" dirty="0"/>
              <a:t>A software application: </a:t>
            </a:r>
          </a:p>
          <a:p>
            <a:pPr lvl="1" fontAlgn="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Run on smartphones and tablets</a:t>
            </a:r>
          </a:p>
          <a:p>
            <a:pPr lvl="1" fontAlgn="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Allows users to access to services, information, and device features such as the camera, GPS, and notifications.</a:t>
            </a:r>
          </a:p>
          <a:p>
            <a:pPr lvl="1" fontAlgn="t">
              <a:spcBef>
                <a:spcPts val="1200"/>
              </a:spcBef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Touch-screen interaction</a:t>
            </a:r>
          </a:p>
          <a:p>
            <a:pPr fontAlgn="t">
              <a:spcBef>
                <a:spcPts val="1800"/>
              </a:spcBef>
              <a:spcAft>
                <a:spcPts val="600"/>
              </a:spcAft>
              <a:buSzPct val="103000"/>
            </a:pPr>
            <a:r>
              <a:rPr lang="en-US" sz="2800" dirty="0"/>
              <a:t>Examples: </a:t>
            </a:r>
          </a:p>
          <a:p>
            <a:pPr lvl="1" fontAlgn="t">
              <a:spcAft>
                <a:spcPts val="1800"/>
              </a:spcAft>
            </a:pPr>
            <a:r>
              <a:rPr lang="en-US" sz="2800" dirty="0"/>
              <a:t>Instagram, Google Maps, Microsoft Teams, Mobile Banking Apps.</a:t>
            </a:r>
          </a:p>
          <a:p>
            <a:pPr>
              <a:spcAft>
                <a:spcPts val="1800"/>
              </a:spcAft>
            </a:pPr>
            <a:endParaRPr lang="en-CA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0F059-AAE7-CA9B-A347-B83385D0E93A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27D791-5510-868E-5CF2-8877404E59B1}"/>
              </a:ext>
            </a:extLst>
          </p:cNvPr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What Is </a:t>
            </a:r>
            <a:r>
              <a:rPr lang="en-US" sz="3600" b="1" i="0" dirty="0">
                <a:solidFill>
                  <a:srgbClr val="111827"/>
                </a:solidFill>
              </a:rPr>
              <a:t>Mobile App</a:t>
            </a:r>
            <a:r>
              <a:rPr sz="3600" b="1" i="0" dirty="0">
                <a:solidFill>
                  <a:srgbClr val="111827"/>
                </a:solidFill>
              </a:rPr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57CBA0-806D-900F-8EAD-F02BCFAB2C0C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285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9EC62-9CC0-F9F8-4D25-19DE96700B26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Shape 6">
            <a:extLst>
              <a:ext uri="{FF2B5EF4-FFF2-40B4-BE49-F238E27FC236}">
                <a16:creationId xmlns:a16="http://schemas.microsoft.com/office/drawing/2014/main" id="{8D9F19CB-C8F5-A772-27A9-1CFA705191D3}"/>
              </a:ext>
            </a:extLst>
          </p:cNvPr>
          <p:cNvSpPr/>
          <p:nvPr/>
        </p:nvSpPr>
        <p:spPr>
          <a:xfrm>
            <a:off x="685800" y="1417320"/>
            <a:ext cx="3383280" cy="411480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A2B23C4-64FD-F05E-A054-9E1CD60AFF51}"/>
              </a:ext>
            </a:extLst>
          </p:cNvPr>
          <p:cNvSpPr/>
          <p:nvPr/>
        </p:nvSpPr>
        <p:spPr>
          <a:xfrm>
            <a:off x="685800" y="1417320"/>
            <a:ext cx="73152" cy="411480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D544434-2AEC-1871-F3B0-6193E26ECBF1}"/>
              </a:ext>
            </a:extLst>
          </p:cNvPr>
          <p:cNvSpPr/>
          <p:nvPr/>
        </p:nvSpPr>
        <p:spPr>
          <a:xfrm>
            <a:off x="905256" y="160020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0CC"/>
                </a:solidFill>
              </a:rPr>
              <a:t>Always available</a:t>
            </a:r>
            <a:endParaRPr lang="en-US" sz="3000" dirty="0">
              <a:solidFill>
                <a:srgbClr val="0000CC"/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06351E7D-521A-929E-B8B0-B41D6A88BC45}"/>
              </a:ext>
            </a:extLst>
          </p:cNvPr>
          <p:cNvSpPr/>
          <p:nvPr/>
        </p:nvSpPr>
        <p:spPr>
          <a:xfrm>
            <a:off x="905256" y="2298893"/>
            <a:ext cx="29992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8324A"/>
                </a:solidFill>
              </a:rPr>
              <a:t>Mobile devices travel with users and support short, frequent interactions.</a:t>
            </a:r>
            <a:endParaRPr lang="en-US" sz="28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202B68E-68D6-777D-AF31-6D58225FF0BB}"/>
              </a:ext>
            </a:extLst>
          </p:cNvPr>
          <p:cNvSpPr/>
          <p:nvPr/>
        </p:nvSpPr>
        <p:spPr>
          <a:xfrm>
            <a:off x="4416552" y="1417320"/>
            <a:ext cx="3383280" cy="411480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0E775A6A-8FCB-7892-FD4B-430B116F4284}"/>
              </a:ext>
            </a:extLst>
          </p:cNvPr>
          <p:cNvSpPr/>
          <p:nvPr/>
        </p:nvSpPr>
        <p:spPr>
          <a:xfrm>
            <a:off x="4416552" y="1417320"/>
            <a:ext cx="73152" cy="4114800"/>
          </a:xfrm>
          <a:prstGeom prst="rect">
            <a:avLst/>
          </a:prstGeom>
          <a:solidFill>
            <a:srgbClr val="0C8A83"/>
          </a:solidFill>
          <a:ln w="12700">
            <a:solidFill>
              <a:srgbClr val="0C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E45E6420-21AA-F3F2-7D11-83F90D403F69}"/>
              </a:ext>
            </a:extLst>
          </p:cNvPr>
          <p:cNvSpPr/>
          <p:nvPr/>
        </p:nvSpPr>
        <p:spPr>
          <a:xfrm>
            <a:off x="4636008" y="160020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0CC"/>
                </a:solidFill>
              </a:rPr>
              <a:t>Context aware</a:t>
            </a:r>
            <a:endParaRPr lang="en-US" sz="3000" dirty="0">
              <a:solidFill>
                <a:srgbClr val="0000CC"/>
              </a:solidFill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FE4B557-7749-101B-F783-98AB47718216}"/>
              </a:ext>
            </a:extLst>
          </p:cNvPr>
          <p:cNvSpPr/>
          <p:nvPr/>
        </p:nvSpPr>
        <p:spPr>
          <a:xfrm>
            <a:off x="4636008" y="2298893"/>
            <a:ext cx="29992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8324A"/>
                </a:solidFill>
              </a:rPr>
              <a:t>Apps can use location, camera, motion, connectivity, and notifications.</a:t>
            </a:r>
            <a:endParaRPr lang="en-US" sz="2800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CD7E9FF0-A7F6-405B-C207-39FBBB569ACC}"/>
              </a:ext>
            </a:extLst>
          </p:cNvPr>
          <p:cNvSpPr/>
          <p:nvPr/>
        </p:nvSpPr>
        <p:spPr>
          <a:xfrm>
            <a:off x="8147304" y="1417320"/>
            <a:ext cx="3383280" cy="411480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3A9085E8-EBDA-A7D4-C266-11C7882EF2C6}"/>
              </a:ext>
            </a:extLst>
          </p:cNvPr>
          <p:cNvSpPr/>
          <p:nvPr/>
        </p:nvSpPr>
        <p:spPr>
          <a:xfrm>
            <a:off x="8147304" y="1417320"/>
            <a:ext cx="73152" cy="41148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1AEAB35A-10B4-9AA8-0A52-035CE7AEF5B9}"/>
              </a:ext>
            </a:extLst>
          </p:cNvPr>
          <p:cNvSpPr/>
          <p:nvPr/>
        </p:nvSpPr>
        <p:spPr>
          <a:xfrm>
            <a:off x="8366760" y="160020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0CC"/>
                </a:solidFill>
              </a:rPr>
              <a:t>Service channel</a:t>
            </a:r>
            <a:endParaRPr lang="en-US" sz="3000" dirty="0">
              <a:solidFill>
                <a:srgbClr val="0000CC"/>
              </a:solidFill>
            </a:endParaRPr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0D1A666F-7EF3-E3DA-AC0D-5CE06970676E}"/>
              </a:ext>
            </a:extLst>
          </p:cNvPr>
          <p:cNvSpPr/>
          <p:nvPr/>
        </p:nvSpPr>
        <p:spPr>
          <a:xfrm>
            <a:off x="8366760" y="2298893"/>
            <a:ext cx="299923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8324A"/>
                </a:solidFill>
              </a:rPr>
              <a:t>Organizations use apps to deliver communication, transactions, learning, and support.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B88AA-7CF1-C927-6F61-E18D2EABD080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6E9A8-480D-3863-3385-F5C4078EAA1B}"/>
              </a:ext>
            </a:extLst>
          </p:cNvPr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spc="-100" dirty="0">
                <a:latin typeface="+mj-lt"/>
                <a:ea typeface="+mj-ea"/>
                <a:cs typeface="+mj-cs"/>
              </a:rPr>
              <a:t>Wh</a:t>
            </a:r>
            <a:r>
              <a:rPr lang="en-US" sz="3600" b="1" i="0" dirty="0">
                <a:solidFill>
                  <a:srgbClr val="111827"/>
                </a:solidFill>
              </a:rPr>
              <a:t>y</a:t>
            </a:r>
            <a:r>
              <a:rPr sz="3600" b="1" i="0" dirty="0">
                <a:solidFill>
                  <a:srgbClr val="111827"/>
                </a:solidFill>
              </a:rPr>
              <a:t> </a:t>
            </a:r>
            <a:r>
              <a:rPr lang="en-US" sz="3600" b="1" i="0" dirty="0">
                <a:solidFill>
                  <a:srgbClr val="111827"/>
                </a:solidFill>
              </a:rPr>
              <a:t>Mobile App Matter</a:t>
            </a:r>
            <a:r>
              <a:rPr sz="3600" b="1" i="0" dirty="0">
                <a:solidFill>
                  <a:srgbClr val="111827"/>
                </a:solidFill>
              </a:rPr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A4B3FF-A4A1-701D-C9CB-F033E0CB55E6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12656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835095-548D-5062-158F-F0DF5049F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" y="292308"/>
            <a:ext cx="11520939" cy="565954"/>
          </a:xfrm>
        </p:spPr>
        <p:txBody>
          <a:bodyPr>
            <a:normAutofit/>
          </a:bodyPr>
          <a:lstStyle/>
          <a:p>
            <a:r>
              <a:rPr lang="en-CA" sz="3600" b="1" dirty="0"/>
              <a:t>Mobile App Types - Native Apps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97C99D-4FE7-07B0-B9F8-F80DE551C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704" y="1034324"/>
            <a:ext cx="11467475" cy="5229542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Developed specifically for a single platform (e.g., Android or iOS).</a:t>
            </a:r>
          </a:p>
          <a:p>
            <a:pPr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Utilize platform-specific programming languages and APIs.</a:t>
            </a:r>
          </a:p>
          <a:p>
            <a:pPr lvl="1">
              <a:spcAft>
                <a:spcPts val="1200"/>
              </a:spcAft>
            </a:pPr>
            <a:r>
              <a:rPr lang="en-US" sz="2800" dirty="0"/>
              <a:t>Android: Kotlin, Java, Android Studio  and iOS: Swift, Xcode</a:t>
            </a:r>
          </a:p>
          <a:p>
            <a:pPr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Provide direct access to device features and hardware capabilities.</a:t>
            </a:r>
          </a:p>
          <a:p>
            <a:pPr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Offer better performance and user experience.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Examples: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sz="2800" dirty="0"/>
              <a:t>Google Chrome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sz="2800" dirty="0"/>
              <a:t>MS Word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E438F2-B748-10A8-D465-CD48A0FC1B03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5E0A26-0466-D885-95E1-66FC097BAFBA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63541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B1907-00BE-346B-22F5-5C291B735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55" y="1319135"/>
            <a:ext cx="11497455" cy="500772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5100" dirty="0"/>
              <a:t>Accessed through web browsers.</a:t>
            </a:r>
          </a:p>
          <a:p>
            <a:pPr lvl="1">
              <a:lnSpc>
                <a:spcPct val="120000"/>
              </a:lnSpc>
              <a:spcAft>
                <a:spcPts val="1200"/>
              </a:spcAft>
            </a:pPr>
            <a:r>
              <a:rPr lang="en-CA" sz="4500" dirty="0"/>
              <a:t>Don't provide access to any features outside the web browser.</a:t>
            </a:r>
            <a:endParaRPr lang="en-US" sz="4500" dirty="0"/>
          </a:p>
          <a:p>
            <a:pPr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600" dirty="0"/>
              <a:t>Built using web technologies (HTML, CSS, JavaScript).</a:t>
            </a:r>
          </a:p>
          <a:p>
            <a:pPr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600" dirty="0"/>
              <a:t>Require an active internet connection.</a:t>
            </a:r>
          </a:p>
          <a:p>
            <a:pPr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600" dirty="0"/>
              <a:t>Compatible with multiple platforms and devices.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600" dirty="0"/>
              <a:t>Examples</a:t>
            </a:r>
            <a:r>
              <a:rPr lang="en-US" dirty="0"/>
              <a:t>:</a:t>
            </a:r>
          </a:p>
          <a:p>
            <a:pPr lvl="1">
              <a:lnSpc>
                <a:spcPct val="110000"/>
              </a:lnSpc>
            </a:pPr>
            <a:r>
              <a:rPr lang="en-US" sz="5100" dirty="0"/>
              <a:t>Brightspace D2L</a:t>
            </a:r>
          </a:p>
          <a:p>
            <a:pPr lvl="1">
              <a:lnSpc>
                <a:spcPct val="110000"/>
              </a:lnSpc>
            </a:pPr>
            <a:r>
              <a:rPr lang="en-US" sz="5100" dirty="0"/>
              <a:t>Google.com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12DBE1-10C0-ED7A-A575-60C3F385FF1B}"/>
              </a:ext>
            </a:extLst>
          </p:cNvPr>
          <p:cNvSpPr txBox="1">
            <a:spLocks/>
          </p:cNvSpPr>
          <p:nvPr/>
        </p:nvSpPr>
        <p:spPr>
          <a:xfrm>
            <a:off x="396240" y="126407"/>
            <a:ext cx="11795760" cy="746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sz="3600" b="1" spc="-100" dirty="0">
                <a:latin typeface="+mj-lt"/>
                <a:ea typeface="+mj-ea"/>
                <a:cs typeface="+mj-cs"/>
              </a:rPr>
              <a:t>Mobile App Types - Web Apps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0D20D5-A063-5EB4-8CD7-B89C030F2A01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00A86A-7BF5-18FA-58DB-07D88310ED21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16422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B0FE2-F2F8-AD87-C9FE-74A6E1D46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626" y="1126286"/>
            <a:ext cx="10784174" cy="500551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Built using web technologies (HTML, CSS, JavaScript).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Use a single codebase for multiple platforms.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Utilize frameworks like React Native, Flutter, Xamarin.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Offer cross-platform compatibility.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Examples:</a:t>
            </a:r>
          </a:p>
          <a:p>
            <a:pPr lvl="1"/>
            <a:r>
              <a:rPr lang="en-US" sz="2800" dirty="0"/>
              <a:t>MS Teams</a:t>
            </a:r>
          </a:p>
          <a:p>
            <a:pPr lvl="1"/>
            <a:r>
              <a:rPr lang="en-US" sz="2800" dirty="0"/>
              <a:t>Discord</a:t>
            </a:r>
          </a:p>
          <a:p>
            <a:endParaRPr lang="en-CA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81C1C3-1616-00D9-08A7-E575FE794BBA}"/>
              </a:ext>
            </a:extLst>
          </p:cNvPr>
          <p:cNvSpPr txBox="1">
            <a:spLocks/>
          </p:cNvSpPr>
          <p:nvPr/>
        </p:nvSpPr>
        <p:spPr>
          <a:xfrm>
            <a:off x="521208" y="21476"/>
            <a:ext cx="11670792" cy="826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sz="3600" b="1" spc="-100" dirty="0">
                <a:latin typeface="+mj-lt"/>
                <a:ea typeface="+mj-ea"/>
                <a:cs typeface="+mj-cs"/>
              </a:rPr>
              <a:t>Mobile App Types - Hybrid Apps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FC71A7-456A-B5E4-4954-940AE79200A5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3C60B2-F45F-9F4E-B1BE-408DB30CBC28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27810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6BE41A0-1F73-3920-C560-1F47B0F3DF86}"/>
              </a:ext>
            </a:extLst>
          </p:cNvPr>
          <p:cNvGrpSpPr/>
          <p:nvPr/>
        </p:nvGrpSpPr>
        <p:grpSpPr>
          <a:xfrm>
            <a:off x="2299421" y="1439107"/>
            <a:ext cx="7593159" cy="4297680"/>
            <a:chOff x="2116037" y="1439107"/>
            <a:chExt cx="7593159" cy="429768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5040855-1A0D-1BA3-42B2-2BDF4958F15D}"/>
                </a:ext>
              </a:extLst>
            </p:cNvPr>
            <p:cNvSpPr/>
            <p:nvPr/>
          </p:nvSpPr>
          <p:spPr>
            <a:xfrm>
              <a:off x="2116037" y="1439107"/>
              <a:ext cx="4297680" cy="4297680"/>
            </a:xfrm>
            <a:prstGeom prst="ellipse">
              <a:avLst/>
            </a:prstGeom>
            <a:solidFill>
              <a:schemeClr val="bg1"/>
            </a:solidFill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27AE2A-5A5A-FBBC-2532-4A8DF4796484}"/>
                </a:ext>
              </a:extLst>
            </p:cNvPr>
            <p:cNvSpPr/>
            <p:nvPr/>
          </p:nvSpPr>
          <p:spPr>
            <a:xfrm>
              <a:off x="5411516" y="1439107"/>
              <a:ext cx="4297680" cy="4297680"/>
            </a:xfrm>
            <a:prstGeom prst="ellipse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A2133C-04DA-FDF2-A3D1-C3A8C96BF076}"/>
              </a:ext>
            </a:extLst>
          </p:cNvPr>
          <p:cNvGrpSpPr/>
          <p:nvPr/>
        </p:nvGrpSpPr>
        <p:grpSpPr>
          <a:xfrm>
            <a:off x="1903116" y="1400196"/>
            <a:ext cx="8359456" cy="4378033"/>
            <a:chOff x="1903116" y="1439107"/>
            <a:chExt cx="8359456" cy="437803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6D767A-2952-31C0-505D-DAE4A2A39D6C}"/>
                </a:ext>
              </a:extLst>
            </p:cNvPr>
            <p:cNvSpPr txBox="1"/>
            <p:nvPr/>
          </p:nvSpPr>
          <p:spPr>
            <a:xfrm>
              <a:off x="1903116" y="1439107"/>
              <a:ext cx="4379195" cy="4297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CA" sz="4000" dirty="0"/>
                <a:t>HTML</a:t>
              </a:r>
              <a:br>
                <a:rPr lang="en-CA" sz="4000" dirty="0"/>
              </a:br>
              <a:r>
                <a:rPr lang="en-CA" sz="4000" dirty="0"/>
                <a:t>CSS</a:t>
              </a:r>
              <a:br>
                <a:rPr lang="en-CA" sz="4000" dirty="0"/>
              </a:br>
              <a:r>
                <a:rPr lang="en-CA" sz="4000" dirty="0"/>
                <a:t>JavaScript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D3521F-86FB-ABE9-D8D2-0AFFDB4CA3BC}"/>
                </a:ext>
              </a:extLst>
            </p:cNvPr>
            <p:cNvSpPr txBox="1"/>
            <p:nvPr/>
          </p:nvSpPr>
          <p:spPr>
            <a:xfrm>
              <a:off x="5883379" y="1439108"/>
              <a:ext cx="4379193" cy="437803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CA" sz="4000" dirty="0"/>
                <a:t>C++</a:t>
              </a:r>
              <a:br>
                <a:rPr lang="en-CA" sz="4000" dirty="0"/>
              </a:br>
              <a:r>
                <a:rPr lang="en-CA" sz="4000" dirty="0"/>
                <a:t>C#</a:t>
              </a:r>
              <a:br>
                <a:rPr lang="en-CA" sz="4000" dirty="0"/>
              </a:br>
              <a:r>
                <a:rPr lang="en-CA" sz="4000" dirty="0"/>
                <a:t>Java</a:t>
              </a:r>
              <a:br>
                <a:rPr lang="en-CA" sz="4000" dirty="0"/>
              </a:br>
              <a:r>
                <a:rPr lang="en-CA" sz="4000" dirty="0"/>
                <a:t>Objective-C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6D8D079-3A21-9DD1-8FF6-B692D115C908}"/>
              </a:ext>
            </a:extLst>
          </p:cNvPr>
          <p:cNvSpPr txBox="1"/>
          <p:nvPr/>
        </p:nvSpPr>
        <p:spPr>
          <a:xfrm>
            <a:off x="3711974" y="5746414"/>
            <a:ext cx="1172932" cy="584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3200" b="1" dirty="0">
                <a:solidFill>
                  <a:srgbClr val="C00000"/>
                </a:solidFill>
              </a:rPr>
              <a:t>Web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10E93-29B4-7238-C0E8-DD16FD79D7D5}"/>
              </a:ext>
            </a:extLst>
          </p:cNvPr>
          <p:cNvSpPr txBox="1"/>
          <p:nvPr/>
        </p:nvSpPr>
        <p:spPr>
          <a:xfrm>
            <a:off x="7194577" y="5746414"/>
            <a:ext cx="1670592" cy="584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3200" b="1" dirty="0">
                <a:solidFill>
                  <a:srgbClr val="C00000"/>
                </a:solidFill>
              </a:rPr>
              <a:t>Native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95AD94-E67A-C586-BCE9-E82E5D0C243C}"/>
              </a:ext>
            </a:extLst>
          </p:cNvPr>
          <p:cNvSpPr txBox="1"/>
          <p:nvPr/>
        </p:nvSpPr>
        <p:spPr>
          <a:xfrm>
            <a:off x="5381469" y="5736787"/>
            <a:ext cx="1504111" cy="584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3200" b="1" dirty="0">
                <a:solidFill>
                  <a:srgbClr val="C00000"/>
                </a:solidFill>
              </a:rPr>
              <a:t>Hybrid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B5769C3-2BA6-993E-6C30-5B20DEE53557}"/>
              </a:ext>
            </a:extLst>
          </p:cNvPr>
          <p:cNvSpPr txBox="1">
            <a:spLocks/>
          </p:cNvSpPr>
          <p:nvPr/>
        </p:nvSpPr>
        <p:spPr>
          <a:xfrm>
            <a:off x="457200" y="166914"/>
            <a:ext cx="11734800" cy="680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sz="3600" b="1" spc="-100" dirty="0">
                <a:latin typeface="+mj-lt"/>
                <a:ea typeface="+mj-ea"/>
                <a:cs typeface="+mj-cs"/>
              </a:rPr>
              <a:t>Mobile App Types - Web vs Hybrid vs Native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A1045A-82A5-2E4F-55DA-928FDE877124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93F367-43C5-D8AB-6375-101D32A3EB0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44142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C4987-E3A4-690D-013F-D3C837CD1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15" y="969582"/>
            <a:ext cx="11523388" cy="51624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/>
              <a:t>Native Apps: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Pros:</a:t>
            </a:r>
            <a:r>
              <a:rPr lang="en-US" sz="2400" dirty="0"/>
              <a:t> Optimal performance, access to device features, better user experience.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Cons</a:t>
            </a:r>
            <a:r>
              <a:rPr lang="en-US" sz="2400" dirty="0"/>
              <a:t>: Higher development cost, longer development time, multiple codebases.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400" b="1" dirty="0"/>
              <a:t>Hybrid Apps: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Pros</a:t>
            </a:r>
            <a:r>
              <a:rPr lang="en-US" sz="2400" dirty="0"/>
              <a:t>: Cross-platform compatibility, faster development, cost-effective.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Cons</a:t>
            </a:r>
            <a:r>
              <a:rPr lang="en-US" sz="2400" dirty="0"/>
              <a:t>: Performance limitations, platform-specific constraints, dependence on frameworks.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400" b="1" dirty="0"/>
              <a:t>Web Apps: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Pros</a:t>
            </a:r>
            <a:r>
              <a:rPr lang="en-US" sz="2400" dirty="0"/>
              <a:t>: Wide accessibility, platform independence, cost-effective.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Cons</a:t>
            </a:r>
            <a:r>
              <a:rPr lang="en-US" sz="2400" dirty="0"/>
              <a:t>: Limited access to device features, reliance on internet connection.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0005D0-D442-DD55-D9E2-0CF1056ABA81}"/>
              </a:ext>
            </a:extLst>
          </p:cNvPr>
          <p:cNvSpPr txBox="1">
            <a:spLocks/>
          </p:cNvSpPr>
          <p:nvPr/>
        </p:nvSpPr>
        <p:spPr>
          <a:xfrm>
            <a:off x="434714" y="111414"/>
            <a:ext cx="11821293" cy="826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sz="3600" b="1" spc="-100" dirty="0">
                <a:latin typeface="+mj-lt"/>
                <a:ea typeface="+mj-ea"/>
                <a:cs typeface="+mj-cs"/>
              </a:rPr>
              <a:t>Mobile App Types - Pros and Cons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AAE00-C39E-340C-3511-7781D8E1D404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C318E9-59A0-CB55-74CE-C346A7A2A76C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61743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3360EB0-7FC1-A306-EEEE-2DE805BF3A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628020"/>
              </p:ext>
            </p:extLst>
          </p:nvPr>
        </p:nvGraphicFramePr>
        <p:xfrm>
          <a:off x="1885526" y="1945640"/>
          <a:ext cx="841247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364">
                  <a:extLst>
                    <a:ext uri="{9D8B030D-6E8A-4147-A177-3AD203B41FA5}">
                      <a16:colId xmlns:a16="http://schemas.microsoft.com/office/drawing/2014/main" val="316756252"/>
                    </a:ext>
                  </a:extLst>
                </a:gridCol>
                <a:gridCol w="2282890">
                  <a:extLst>
                    <a:ext uri="{9D8B030D-6E8A-4147-A177-3AD203B41FA5}">
                      <a16:colId xmlns:a16="http://schemas.microsoft.com/office/drawing/2014/main" val="3044404519"/>
                    </a:ext>
                  </a:extLst>
                </a:gridCol>
                <a:gridCol w="1197663">
                  <a:extLst>
                    <a:ext uri="{9D8B030D-6E8A-4147-A177-3AD203B41FA5}">
                      <a16:colId xmlns:a16="http://schemas.microsoft.com/office/drawing/2014/main" val="3948617125"/>
                    </a:ext>
                  </a:extLst>
                </a:gridCol>
                <a:gridCol w="1098753">
                  <a:extLst>
                    <a:ext uri="{9D8B030D-6E8A-4147-A177-3AD203B41FA5}">
                      <a16:colId xmlns:a16="http://schemas.microsoft.com/office/drawing/2014/main" val="2658755575"/>
                    </a:ext>
                  </a:extLst>
                </a:gridCol>
                <a:gridCol w="2471809">
                  <a:extLst>
                    <a:ext uri="{9D8B030D-6E8A-4147-A177-3AD203B41FA5}">
                      <a16:colId xmlns:a16="http://schemas.microsoft.com/office/drawing/2014/main" val="4167685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CA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Hardware Abstraction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230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CA" b="1" dirty="0"/>
                        <a:t>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Low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❌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✅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702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CA" b="1" dirty="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791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CA" b="1" dirty="0"/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High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583297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E07877EF-527F-2A0B-6C70-67F7D214D87A}"/>
              </a:ext>
            </a:extLst>
          </p:cNvPr>
          <p:cNvSpPr txBox="1">
            <a:spLocks/>
          </p:cNvSpPr>
          <p:nvPr/>
        </p:nvSpPr>
        <p:spPr>
          <a:xfrm>
            <a:off x="396240" y="245505"/>
            <a:ext cx="11795760" cy="602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sz="3600" b="1" spc="-100" dirty="0">
                <a:latin typeface="+mj-lt"/>
                <a:ea typeface="+mj-ea"/>
                <a:cs typeface="+mj-cs"/>
              </a:rPr>
              <a:t>Mobile App Types - Pros and Cons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E59A93-CEF7-95C9-8AEC-3FAB61C7003D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2D4A01-A002-07F2-7D49-9D4DA5B74729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06814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261F-2B0E-9384-AF30-50D9BCFAF3C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8CE3-AF20-D50F-440F-AFFF1893E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276306"/>
            <a:ext cx="11795760" cy="569621"/>
          </a:xfrm>
        </p:spPr>
        <p:txBody>
          <a:bodyPr>
            <a:normAutofit/>
          </a:bodyPr>
          <a:lstStyle/>
          <a:p>
            <a:r>
              <a:rPr lang="en-CA" sz="3600" b="1" dirty="0"/>
              <a:t>App Development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D0186-92A7-D2BB-054B-0873B07B8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695" y="1585785"/>
            <a:ext cx="10889105" cy="4351338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Time and budget constraints</a:t>
            </a:r>
          </a:p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Target audience and platform preferences</a:t>
            </a:r>
          </a:p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Required features and performance expectations</a:t>
            </a:r>
          </a:p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Development team skills and expertise</a:t>
            </a:r>
          </a:p>
          <a:p>
            <a:pPr>
              <a:spcAft>
                <a:spcPts val="1800"/>
              </a:spcAft>
            </a:pPr>
            <a:endParaRPr lang="en-CA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7A8653-8838-2BDD-F416-2316DC871330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021346-01F2-9B90-F79A-4F9860C0C8F4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15187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53A0B-EC49-11E1-B923-6B5BFE35AE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algn="ctr"/>
            <a:r>
              <a:rPr lang="en-CA" b="1" dirty="0"/>
              <a:t>Modern Mobile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1364514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E69DEC-ADAD-9C3A-8383-2E085F599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9862"/>
            <a:ext cx="10561320" cy="631386"/>
          </a:xfrm>
        </p:spPr>
        <p:txBody>
          <a:bodyPr>
            <a:normAutofit/>
          </a:bodyPr>
          <a:lstStyle/>
          <a:p>
            <a:r>
              <a:rPr lang="en-CA" sz="3600" b="1" dirty="0"/>
              <a:t>iOS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746209-5385-1178-F6F4-929FB6DAB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Apple's mobile operating system designed for iPhones, iPads, and iPod Touch devices.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Known for its user-friendly interface, security features, and ecosystem of apps.</a:t>
            </a:r>
          </a:p>
          <a:p>
            <a:pPr>
              <a:spcAft>
                <a:spcPts val="2400"/>
              </a:spcAft>
            </a:pPr>
            <a:endParaRPr lang="en-CA" sz="3200" dirty="0"/>
          </a:p>
          <a:p>
            <a:pPr>
              <a:spcAft>
                <a:spcPts val="2400"/>
              </a:spcAft>
            </a:pPr>
            <a:endParaRPr lang="en-CA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00EBCB-334C-4861-CCEC-563CE9ACC982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9451E7-D9F7-7C84-957B-0594E0DA7B24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34685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41C5-ED28-9C3F-78CA-4EE733A33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621792"/>
          </a:xfrm>
        </p:spPr>
        <p:txBody>
          <a:bodyPr>
            <a:normAutofit/>
          </a:bodyPr>
          <a:lstStyle/>
          <a:p>
            <a:r>
              <a:rPr lang="en-CA" sz="3600" b="1" dirty="0"/>
              <a:t>iOS App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B2219-E3A5-31D3-975F-44E6632BB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iOS apps are developed using the Swift or Objective-C programming languages.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Developers </a:t>
            </a:r>
            <a:r>
              <a:rPr lang="en-US" sz="2800" b="1" dirty="0"/>
              <a:t>must</a:t>
            </a:r>
            <a:r>
              <a:rPr lang="en-US" sz="2800" dirty="0"/>
              <a:t> use Xcode, Apple's integrated development environment (IDE), for app creation.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The App Store review process ensures quality and security before app publication.</a:t>
            </a:r>
          </a:p>
          <a:p>
            <a:pPr>
              <a:spcAft>
                <a:spcPts val="2400"/>
              </a:spcAft>
            </a:pPr>
            <a:endParaRPr lang="en-CA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A6F7A0-D287-B71D-29FB-CC226F3CD680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9141C-5862-F8B6-23CC-64AA20A806B7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62755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64A4C5-1D0C-E8B5-88E6-441A85EA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Android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9F5949-D0E6-B4D7-FB7F-E27FB2BD0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0835640" cy="3748558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Google's mobile operating system designed for smartphones, tablets, and other devices.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It's renowned for its flexibility, customization options, and vast ecosystem of apps.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91CE30-FC7F-29E3-F4BD-5A7C9E983312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F355FD-9ED3-0E2B-DDEB-09CC2E9A5130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79990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B3C8-D1FE-8A5D-8388-82D86C61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219456"/>
            <a:ext cx="10497312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Android 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187F3-8D79-90F8-C044-42359F863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47567"/>
            <a:ext cx="12009120" cy="508867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400" b="1" dirty="0"/>
              <a:t>Open Source:</a:t>
            </a:r>
            <a:r>
              <a:rPr lang="en-US" sz="2400" dirty="0"/>
              <a:t> Android is built on an open-source platform, allowing customization and development by various manufacturers.</a:t>
            </a:r>
          </a:p>
          <a:p>
            <a:pPr>
              <a:spcBef>
                <a:spcPts val="600"/>
              </a:spcBef>
            </a:pPr>
            <a:r>
              <a:rPr lang="en-US" sz="2400" b="1" dirty="0"/>
              <a:t>Google Play Store:</a:t>
            </a:r>
            <a:r>
              <a:rPr lang="en-US" sz="2400" dirty="0"/>
              <a:t> The official marketplace for downloading and updating apps.</a:t>
            </a:r>
          </a:p>
          <a:p>
            <a:pPr>
              <a:spcBef>
                <a:spcPts val="600"/>
              </a:spcBef>
            </a:pPr>
            <a:r>
              <a:rPr lang="en-US" sz="2400" b="1" dirty="0"/>
              <a:t>Customization:</a:t>
            </a:r>
            <a:r>
              <a:rPr lang="en-US" sz="2400" dirty="0"/>
              <a:t> Users can personalize their devices with widgets, themes, and launchers.</a:t>
            </a:r>
          </a:p>
          <a:p>
            <a:pPr>
              <a:spcBef>
                <a:spcPts val="600"/>
              </a:spcBef>
            </a:pPr>
            <a:r>
              <a:rPr lang="en-US" sz="2400" b="1" dirty="0"/>
              <a:t>Security:</a:t>
            </a:r>
            <a:r>
              <a:rPr lang="en-US" sz="2400" dirty="0"/>
              <a:t> Security features include app sandboxing, runtime permissions, and Google Play Protect.</a:t>
            </a:r>
          </a:p>
          <a:p>
            <a:pPr>
              <a:spcBef>
                <a:spcPts val="600"/>
              </a:spcBef>
            </a:pPr>
            <a:r>
              <a:rPr lang="en-US" sz="2400" b="1" dirty="0"/>
              <a:t>Updates:</a:t>
            </a:r>
            <a:r>
              <a:rPr lang="en-US" sz="2400" dirty="0"/>
              <a:t> Regular OS updates with new features, improvements, and security patches.</a:t>
            </a:r>
          </a:p>
          <a:p>
            <a:pPr>
              <a:spcBef>
                <a:spcPts val="600"/>
              </a:spcBef>
            </a:pPr>
            <a:r>
              <a:rPr lang="en-US" sz="2400" b="1" dirty="0"/>
              <a:t>Google Services:</a:t>
            </a:r>
            <a:r>
              <a:rPr lang="en-US" sz="2400" dirty="0"/>
              <a:t> Integration with Google services like Gmail, Google Drive, and Google Maps.</a:t>
            </a:r>
          </a:p>
          <a:p>
            <a:pPr>
              <a:spcBef>
                <a:spcPts val="600"/>
              </a:spcBef>
            </a:pPr>
            <a:endParaRPr lang="en-CA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0D56B7-988B-43A1-35E8-85EE234B2895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7D449F-5864-4E9D-9A20-50856B97F1E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71791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080E-4397-0F18-A5A2-8B363A3A9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CA" sz="3200" b="1" dirty="0"/>
              <a:t>Android App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EF5CF-5A07-B0ED-A249-B98EF3C97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1745242" cy="5088672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en-US" sz="2800" dirty="0"/>
              <a:t>Android apps are developed using Java or Kotlin programming languages.</a:t>
            </a:r>
          </a:p>
          <a:p>
            <a:pPr>
              <a:spcAft>
                <a:spcPts val="2400"/>
              </a:spcAft>
            </a:pPr>
            <a:r>
              <a:rPr lang="en-US" sz="2800" dirty="0"/>
              <a:t>Android Studio, Google's official integrated development environment (IDE), is widely used.</a:t>
            </a:r>
          </a:p>
          <a:p>
            <a:pPr>
              <a:spcAft>
                <a:spcPts val="2400"/>
              </a:spcAft>
            </a:pPr>
            <a:r>
              <a:rPr lang="en-US" sz="2800" dirty="0"/>
              <a:t>Apps are published on the Google Play Store, following Google's review process.</a:t>
            </a:r>
          </a:p>
          <a:p>
            <a:pPr>
              <a:spcAft>
                <a:spcPts val="2400"/>
              </a:spcAft>
            </a:pPr>
            <a:endParaRPr lang="en-CA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FDA26D-5342-296E-52C3-B9BC9CA6DC74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23A508-22CF-909B-43E7-EB43A80B8DCF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84624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E3CE6C-B92A-319B-7976-C0F29987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219456"/>
            <a:ext cx="10622280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Android Device Diversity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5045C-2BCE-F081-65CD-ABC10BFBB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79" y="1183206"/>
            <a:ext cx="11824241" cy="5088672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Android powers a wide range of devices from various manufacturers.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Choice of hardware options, screen sizes, and device types.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Allows users to find a device that suits their preferences and budget.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C9F78-96A4-4C69-9CAA-11047516B4AD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50AC44-B62E-2297-572F-BB40005F4DD9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21316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5CE9E-240A-4102-ADA6-23CA3080EA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448099"/>
            <a:ext cx="7891991" cy="980901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Integrated Development Environments (IDEs)</a:t>
            </a:r>
          </a:p>
        </p:txBody>
      </p:sp>
    </p:spTree>
    <p:extLst>
      <p:ext uri="{BB962C8B-B14F-4D97-AF65-F5344CB8AC3E}">
        <p14:creationId xmlns:p14="http://schemas.microsoft.com/office/powerpoint/2010/main" val="1303443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0F0F1A-0998-C599-48F8-1272CC210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219456"/>
            <a:ext cx="10622280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Android Studio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150D79-7A3F-6FAC-B37E-C35158B1B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018316"/>
            <a:ext cx="10835640" cy="5088672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Official IDE for Android app development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Developed by Google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Intelligent code editor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Advanced debugging and profiling 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Layout editor for UI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Emulator for testing apps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Built-in support for Kotlin programming language</a:t>
            </a:r>
          </a:p>
          <a:p>
            <a:endParaRPr lang="en-CA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DA3481-BA71-A63E-4BB1-C880EE11CA4B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926FB7-4083-0BE7-1FC0-E850823E3712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5450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44FA-7027-13F3-7ED7-184D7F6D2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CA" sz="3600" b="1" dirty="0" err="1"/>
              <a:t>Xcode</a:t>
            </a:r>
            <a:endParaRPr lang="en-CA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F3BCA-9902-48AE-0866-66C5B16F7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083790"/>
            <a:ext cx="10835640" cy="5088672"/>
          </a:xfrm>
        </p:spPr>
        <p:txBody>
          <a:bodyPr>
            <a:normAutofit fontScale="92500"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Official IDE for iOS app development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Developed by Apple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Powerful code editor with syntax highlighting and autocomplete</a:t>
            </a:r>
          </a:p>
          <a:p>
            <a:pPr marL="742950" lvl="1" indent="-285750"/>
            <a:r>
              <a:rPr lang="en-US" sz="2800" dirty="0"/>
              <a:t>Built-in support for Swift programming language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Interface Builder for designing app interfaces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Simulator for testing apps on different iOS devices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Instruments for performance analysis and debugging</a:t>
            </a:r>
          </a:p>
          <a:p>
            <a:endParaRPr lang="en-CA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A85FE-DD55-FA61-774F-61AB1D5B7D31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03D381-6AD1-E18D-C456-FE07695CD1D0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02322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FFE6B-1B95-8866-C3A4-7D320CFE7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Visual Studio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94784-E1A7-9CAA-937B-BE7B00CBE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188720"/>
            <a:ext cx="10835640" cy="5088672"/>
          </a:xfrm>
        </p:spPr>
        <p:txBody>
          <a:bodyPr>
            <a:normAutofit lnSpcReduction="10000"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Cross-platform code editor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Popular choice for mobile app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Lightweight and customizable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Rich language support and extensions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Integrated terminal for command-line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Version control integration (Git)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Debugger for various programming languages</a:t>
            </a:r>
          </a:p>
          <a:p>
            <a:endParaRPr lang="en-CA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85812A-8E8B-F63A-BC56-612EC4C606A2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89ECEA-4D8F-E593-3E41-6BBCB7D96770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73154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FCEA1-355F-84A9-86A6-FCD63FB61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US" sz="3600" b="1" dirty="0"/>
              <a:t>Other Mobile App IDEs</a:t>
            </a:r>
            <a:endParaRPr lang="en-CA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F6D49-CE65-3FB9-AC42-3AE68C5D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1551920" cy="5088672"/>
          </a:xfrm>
        </p:spPr>
        <p:txBody>
          <a:bodyPr>
            <a:normAutofit lnSpcReduction="10000"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IntelliJ IDEA</a:t>
            </a:r>
            <a:r>
              <a:rPr lang="en-US" sz="2800" dirty="0"/>
              <a:t>: Supports Android development (Java, Kotlin) and other programming languages.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Eclipse</a:t>
            </a:r>
            <a:r>
              <a:rPr lang="en-US" sz="2800" dirty="0"/>
              <a:t>: Popular for Android development (Java).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Xamarin Studio: IDE </a:t>
            </a:r>
            <a:r>
              <a:rPr lang="en-US" sz="2800" dirty="0"/>
              <a:t>for cross-platform app development using Xamarin framework.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b="1" dirty="0" err="1"/>
              <a:t>AppCode</a:t>
            </a:r>
            <a:r>
              <a:rPr lang="en-US" sz="2800" dirty="0"/>
              <a:t>: </a:t>
            </a:r>
            <a:r>
              <a:rPr lang="en-US" sz="2800" b="1" dirty="0"/>
              <a:t>IDE</a:t>
            </a:r>
            <a:r>
              <a:rPr lang="en-US" sz="2800" dirty="0"/>
              <a:t> for iOS and macOS app development with support for Swift and Objective-C.</a:t>
            </a:r>
          </a:p>
          <a:p>
            <a:pPr>
              <a:spcAft>
                <a:spcPts val="2400"/>
              </a:spcAft>
            </a:pPr>
            <a:endParaRPr lang="en-CA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A0E42F-3677-2C0B-F6CE-1744D225DF5D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B1714C-820A-5439-B61F-3BDAE83C30F1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35811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2704-9C83-426D-CEDA-BDE360D88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IDE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236DB-EDE8-62B8-D30B-97C4401F7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1854222" cy="5088672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Target platform (Android, iOS, or cross-platform)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Programming languages and frameworks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Features required for app development (debugging, UI design, etc.)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Community support and available resources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Integration with other tools and services (emulators, simulators, etc.)</a:t>
            </a:r>
          </a:p>
          <a:p>
            <a:pPr>
              <a:spcAft>
                <a:spcPts val="2400"/>
              </a:spcAft>
            </a:pPr>
            <a:endParaRPr lang="en-CA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D9AB5-F03E-349D-9997-48EC39CC86A4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8DA3A2-949F-968D-91B3-B077E70E3358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73191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DD059-CE58-B398-BFD6-7B4491607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967" y="2448099"/>
            <a:ext cx="5262034" cy="980901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iOS vs. Android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06735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EF4DEB-BF29-9E86-7D75-C31DACA7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US" sz="3600" b="1" dirty="0"/>
              <a:t>Market Share</a:t>
            </a:r>
            <a:endParaRPr lang="en-CA" sz="36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39A821-085F-A55F-25FB-20E13736C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13385"/>
            <a:ext cx="11612880" cy="54274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Apple iOS: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Holds a significant market share in North America and some European countries.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Strong presence in premium smartphone and tablet markets.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Apple's App Store has strict guidelines and quality control.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Android: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Dominates global smartphone market share.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Diverse range of device manufacturers and price points.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Google Play Store has a larger number of apps available.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F3F156-91BA-3C5E-7F70-028A3038B26B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61BC26-1849-4455-D5E7-723A8ACDB8CF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54996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2FCA-7BB5-D6E7-E865-3E1EFD30B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219456"/>
            <a:ext cx="10622280" cy="969264"/>
          </a:xfrm>
        </p:spPr>
        <p:txBody>
          <a:bodyPr>
            <a:normAutofit/>
          </a:bodyPr>
          <a:lstStyle/>
          <a:p>
            <a:r>
              <a:rPr lang="en-US" sz="3600" b="1" dirty="0"/>
              <a:t>Target Audience</a:t>
            </a:r>
            <a:endParaRPr lang="en-CA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355E1-C60B-E924-E5B5-3FCC1D62B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79" y="988335"/>
            <a:ext cx="11839231" cy="52925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/>
              <a:t>Apple iOS: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Attracts a higher-income demographic.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Known for early tech adopters and brand loyalty.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Popular among creative professionals and tech-illiterate users.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Android: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Captures a wide range of users from diverse socioeconomic backgrounds.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Appeals to cost-conscious consumers and emerging markets.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Preferred by users who value customization and device variety.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CB3E50-3562-FAF4-2945-0897DA38BE30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498C-68D2-4F47-0AA1-991D0A67DB46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99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14079-B265-04C3-F494-69E6305CC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US" sz="3600" b="1" dirty="0"/>
              <a:t>App Deployment</a:t>
            </a:r>
            <a:endParaRPr lang="en-CA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AB348-0F95-1D46-7B0C-C0C21F896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08256"/>
            <a:ext cx="10835640" cy="50886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Apple iOS:</a:t>
            </a:r>
          </a:p>
          <a:p>
            <a:pPr marL="800100" lvl="1" indent="-342900"/>
            <a:r>
              <a:rPr lang="en-US" sz="2800" dirty="0"/>
              <a:t>App Store is the primary distribution platform.</a:t>
            </a:r>
          </a:p>
          <a:p>
            <a:pPr marL="800100" lvl="1" indent="-342900"/>
            <a:r>
              <a:rPr lang="en-US" sz="2800" dirty="0"/>
              <a:t>Stringent review process for app submission.</a:t>
            </a:r>
          </a:p>
          <a:p>
            <a:pPr marL="800100" lvl="1" indent="-342900"/>
            <a:r>
              <a:rPr lang="en-US" sz="2800" dirty="0"/>
              <a:t>Requires $99 USD per year licensing fee.</a:t>
            </a:r>
          </a:p>
          <a:p>
            <a:pPr marL="457200" lvl="1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Android:</a:t>
            </a:r>
          </a:p>
          <a:p>
            <a:pPr marL="800100" lvl="1" indent="-342900"/>
            <a:r>
              <a:rPr lang="en-US" sz="2800" dirty="0"/>
              <a:t>Google Play Store is the primary distribution platform.</a:t>
            </a:r>
          </a:p>
          <a:p>
            <a:pPr marL="800100" lvl="1" indent="-342900"/>
            <a:r>
              <a:rPr lang="en-US" sz="2800" dirty="0"/>
              <a:t>Less strict review process compared to App Store.</a:t>
            </a:r>
          </a:p>
          <a:p>
            <a:pPr marL="800100" lvl="1" indent="-342900"/>
            <a:r>
              <a:rPr lang="en-US" sz="2800" dirty="0"/>
              <a:t>Requires one-time $25 USD developer fee.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5823AD-8574-915B-8CE6-90F32B55C5E8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938079-45A0-34C9-E903-3A4746C6BB19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3622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EA0B3-68E2-F1F4-CBF2-424DA2B3DD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966" y="2448099"/>
            <a:ext cx="6796027" cy="980901"/>
          </a:xfrm>
        </p:spPr>
        <p:txBody>
          <a:bodyPr>
            <a:normAutofit fontScale="92500"/>
          </a:bodyPr>
          <a:lstStyle/>
          <a:p>
            <a:pPr algn="ctr"/>
            <a:r>
              <a:rPr lang="en-CA" b="1" dirty="0"/>
              <a:t>App Stores and Marketplaces</a:t>
            </a:r>
          </a:p>
        </p:txBody>
      </p:sp>
    </p:spTree>
    <p:extLst>
      <p:ext uri="{BB962C8B-B14F-4D97-AF65-F5344CB8AC3E}">
        <p14:creationId xmlns:p14="http://schemas.microsoft.com/office/powerpoint/2010/main" val="41061091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52BE3A-8D85-F3F4-C776-5391AC2B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219456"/>
            <a:ext cx="10622280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Key Players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D982CB3-3B83-ED80-2F58-18E77E728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093266"/>
            <a:ext cx="11612880" cy="5243526"/>
          </a:xfrm>
        </p:spPr>
        <p:txBody>
          <a:bodyPr>
            <a:normAutofit lnSpcReduction="10000"/>
          </a:bodyPr>
          <a:lstStyle/>
          <a:p>
            <a:pPr>
              <a:spcAft>
                <a:spcPts val="2400"/>
              </a:spcAft>
            </a:pPr>
            <a:r>
              <a:rPr lang="en-US" sz="2600" b="1" dirty="0"/>
              <a:t>Apple App Store:</a:t>
            </a:r>
            <a:r>
              <a:rPr lang="en-US" sz="2600" dirty="0"/>
              <a:t> Exclusive to iOS devices, offering a curated selection of apps for iPhones and iPads.</a:t>
            </a:r>
          </a:p>
          <a:p>
            <a:pPr>
              <a:spcAft>
                <a:spcPts val="2400"/>
              </a:spcAft>
            </a:pPr>
            <a:r>
              <a:rPr lang="en-US" sz="2600" b="1" dirty="0"/>
              <a:t>Google Play Store:</a:t>
            </a:r>
            <a:r>
              <a:rPr lang="en-US" sz="2600" dirty="0"/>
              <a:t> The primary app store for Android devices, providing a wide range of apps and games.</a:t>
            </a:r>
          </a:p>
          <a:p>
            <a:pPr>
              <a:spcAft>
                <a:spcPts val="2400"/>
              </a:spcAft>
            </a:pPr>
            <a:r>
              <a:rPr lang="en-US" sz="2600" b="1" dirty="0"/>
              <a:t>Microsoft Store:</a:t>
            </a:r>
            <a:r>
              <a:rPr lang="en-US" sz="2600" dirty="0"/>
              <a:t> Offers apps for Windows devices, including PCs, tablets, and Windows Phone (formerly).</a:t>
            </a:r>
          </a:p>
          <a:p>
            <a:pPr>
              <a:spcAft>
                <a:spcPts val="2400"/>
              </a:spcAft>
            </a:pPr>
            <a:r>
              <a:rPr lang="en-US" sz="2600" b="1" dirty="0"/>
              <a:t>Amazon Appstore:</a:t>
            </a:r>
            <a:r>
              <a:rPr lang="en-US" sz="2600" dirty="0"/>
              <a:t> Alternative app store available on Amazon devices, including Kindle Fire tablets.</a:t>
            </a:r>
          </a:p>
          <a:p>
            <a:pPr>
              <a:spcAft>
                <a:spcPts val="2400"/>
              </a:spcAft>
            </a:pPr>
            <a:endParaRPr lang="en-CA" sz="2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459C6C-5292-8F60-38D2-02A5BF75866D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DA21EA-26E3-F64B-8DA0-47AF27DEA9B0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55255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9849-C308-1709-3066-9A5D9557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App Review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687D4-4A7E-D948-426F-855207B38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79" y="1183206"/>
            <a:ext cx="11824241" cy="5088672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App stores review submitted apps to ensure they meet quality and security standards.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Reviews check for adherence to guidelines, appropriate content, and avoidance of malicious behavior.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Successful review results in app publication on the store.</a:t>
            </a:r>
          </a:p>
          <a:p>
            <a:pPr>
              <a:spcAft>
                <a:spcPts val="2400"/>
              </a:spcAft>
            </a:pPr>
            <a:endParaRPr lang="en-CA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435F-4DAC-0723-A936-445AE23493BA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09B6E4-3FFB-5095-79EE-7CD4161C3C73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96861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9EE3F-A63C-38F0-5828-1D4E681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Monetization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89731-CD90-C69F-CF0C-C75740697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08256"/>
            <a:ext cx="11612880" cy="5455338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US" sz="2600" b="1" dirty="0"/>
              <a:t>Free Apps:</a:t>
            </a:r>
            <a:r>
              <a:rPr lang="en-US" sz="2600" dirty="0"/>
              <a:t> Offered at no cost to users, with potential revenue from in-app purchases, ads, or premium versions.</a:t>
            </a:r>
          </a:p>
          <a:p>
            <a:pPr>
              <a:spcAft>
                <a:spcPts val="1800"/>
              </a:spcAft>
            </a:pPr>
            <a:r>
              <a:rPr lang="en-US" sz="2600" b="1" dirty="0"/>
              <a:t>Paid Apps:</a:t>
            </a:r>
            <a:r>
              <a:rPr lang="en-US" sz="2600" dirty="0"/>
              <a:t> Require users to purchase the app upfront, providing immediate revenue to developers.</a:t>
            </a:r>
          </a:p>
          <a:p>
            <a:pPr>
              <a:spcAft>
                <a:spcPts val="1800"/>
              </a:spcAft>
            </a:pPr>
            <a:r>
              <a:rPr lang="en-US" sz="2600" b="1" dirty="0"/>
              <a:t>Freemium Model:</a:t>
            </a:r>
            <a:r>
              <a:rPr lang="en-US" sz="2600" dirty="0"/>
              <a:t> Basic app is free, but additional features or content can be unlocked through in-app purchases.</a:t>
            </a:r>
          </a:p>
          <a:p>
            <a:pPr>
              <a:spcAft>
                <a:spcPts val="1800"/>
              </a:spcAft>
            </a:pPr>
            <a:r>
              <a:rPr lang="en-US" sz="2600" b="1" dirty="0"/>
              <a:t>Subscription:</a:t>
            </a:r>
            <a:r>
              <a:rPr lang="en-US" sz="2600" dirty="0"/>
              <a:t> Users pay regularly (monthly/yearly) to access premium features or content.</a:t>
            </a:r>
          </a:p>
          <a:p>
            <a:pPr>
              <a:spcAft>
                <a:spcPts val="1800"/>
              </a:spcAft>
            </a:pPr>
            <a:endParaRPr lang="en-CA" sz="2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967209-B064-91F1-5950-619AD7EF35EF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682D8D-842C-2100-4F7A-EB6B503FAD3C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76410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C5A7D-C0D8-3034-6A27-75BE6685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219456"/>
            <a:ext cx="10497312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Third-Party Marketplaces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3D41E-57F4-663A-46E6-6E28384F0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1612880" cy="5088672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In addition to official app stores, some platforms (Android) allow third-party app marketplaces.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Users can sideload apps from unofficial sources, but this may pose security risks.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Official app stores are generally safer due to their review processes.</a:t>
            </a:r>
          </a:p>
          <a:p>
            <a:pPr>
              <a:spcAft>
                <a:spcPts val="2400"/>
              </a:spcAft>
            </a:pPr>
            <a:endParaRPr lang="en-CA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0C8439-5070-FD35-B57B-5CAEC5BBE74A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F8E088-E88A-13CF-4100-B6FB32D991FA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157332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55DB7-D077-F702-6B78-AAA17224D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966" y="2448099"/>
            <a:ext cx="6361313" cy="980901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Challenges in Mobile App Development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5099818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DAEE1F-91F0-F28F-9CF1-A1C945C4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219456"/>
            <a:ext cx="10497312" cy="969264"/>
          </a:xfrm>
        </p:spPr>
        <p:txBody>
          <a:bodyPr>
            <a:normAutofit/>
          </a:bodyPr>
          <a:lstStyle/>
          <a:p>
            <a:r>
              <a:rPr lang="en-US" sz="3600" b="1" dirty="0"/>
              <a:t>Challenges in Mobile App Development (1)</a:t>
            </a:r>
            <a:endParaRPr lang="en-CA" sz="36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BC75AA-3131-0D55-3ED4-AD8C2EB0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1817096" cy="499356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600" b="1" dirty="0"/>
              <a:t>Diverse Platforms:</a:t>
            </a:r>
            <a:r>
              <a:rPr lang="en-US" sz="2600" dirty="0"/>
              <a:t> Developing for different OSes (iOS, Android) requires separate coding and design considerations.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600" b="1" dirty="0"/>
              <a:t>Device Fragmentation:</a:t>
            </a:r>
            <a:r>
              <a:rPr lang="en-US" sz="2600" dirty="0"/>
              <a:t> Varying screen sizes, resolutions, and hardware capabilities must be accounted for.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600" b="1" dirty="0"/>
              <a:t>User Experience:</a:t>
            </a:r>
            <a:r>
              <a:rPr lang="en-US" sz="2600" dirty="0"/>
              <a:t> Ensuring a seamless and intuitive user journey across devices and screen sizes.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600" b="1" dirty="0"/>
              <a:t>Security:</a:t>
            </a:r>
            <a:r>
              <a:rPr lang="en-US" sz="2600" dirty="0"/>
              <a:t> Protecting user data and ensuring app security against cyber threats.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endParaRPr lang="en-CA" sz="2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CC9937-2591-E9CB-3DC4-EA74EBA4CA8B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76CD85-196F-F1F4-1571-56E7C1E70C96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105757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DAEE1F-91F0-F28F-9CF1-A1C945C4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219456"/>
            <a:ext cx="10622280" cy="969264"/>
          </a:xfrm>
        </p:spPr>
        <p:txBody>
          <a:bodyPr>
            <a:normAutofit/>
          </a:bodyPr>
          <a:lstStyle/>
          <a:p>
            <a:r>
              <a:rPr lang="en-US" sz="3600" b="1" dirty="0"/>
              <a:t>Challenges in Mobile App Development (2)</a:t>
            </a:r>
            <a:endParaRPr lang="en-CA" sz="36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BC75AA-3131-0D55-3ED4-AD8C2EB0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08256"/>
            <a:ext cx="11734300" cy="5455338"/>
          </a:xfrm>
        </p:spPr>
        <p:txBody>
          <a:bodyPr>
            <a:normAutofit/>
          </a:bodyPr>
          <a:lstStyle/>
          <a:p>
            <a:pPr marL="514350" indent="-514350">
              <a:spcAft>
                <a:spcPts val="2400"/>
              </a:spcAft>
              <a:buFont typeface="+mj-lt"/>
              <a:buAutoNum type="arabicPeriod" startAt="5"/>
            </a:pPr>
            <a:r>
              <a:rPr lang="en-US" sz="2600" b="1" dirty="0"/>
              <a:t>App Performance:</a:t>
            </a:r>
            <a:r>
              <a:rPr lang="en-US" sz="2600" dirty="0"/>
              <a:t> Optimizing speed, responsiveness, and minimizing battery and memory usage.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 startAt="5"/>
            </a:pPr>
            <a:r>
              <a:rPr lang="en-US" sz="2600" b="1" dirty="0"/>
              <a:t>Rapid Technological Changes:</a:t>
            </a:r>
            <a:r>
              <a:rPr lang="en-US" sz="2600" dirty="0"/>
              <a:t> Staying updated with evolving technologies and frameworks.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 startAt="5"/>
            </a:pPr>
            <a:r>
              <a:rPr lang="en-US" sz="2600" b="1" dirty="0"/>
              <a:t>Market Saturation:</a:t>
            </a:r>
            <a:r>
              <a:rPr lang="en-US" sz="2600" dirty="0"/>
              <a:t> High competition and the need for unique value propositions.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 startAt="5"/>
            </a:pPr>
            <a:r>
              <a:rPr lang="en-US" sz="2600" b="1" dirty="0"/>
              <a:t>Testing and QA:</a:t>
            </a:r>
            <a:r>
              <a:rPr lang="en-US" sz="2600" dirty="0"/>
              <a:t> Ensuring apps function correctly across devices and use cases.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EB02C7-504F-3195-3A42-403BFCBB6417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B309FB-4F98-B9AA-E0A9-F00AAD85D4BA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924688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D95E3-575B-9129-DDCE-68A2E4A3D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US" sz="3600" b="1" dirty="0"/>
              <a:t>Opportunities in Mobile App Development</a:t>
            </a:r>
            <a:endParaRPr lang="en-CA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83094-C214-B470-4797-1F71BC662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829" y="1188720"/>
            <a:ext cx="11655302" cy="5155610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en-US" sz="2600" b="1" dirty="0"/>
              <a:t>Growing Market:</a:t>
            </a:r>
            <a:r>
              <a:rPr lang="en-US" sz="2600" dirty="0"/>
              <a:t> Increasing smartphone adoption creates a vast user base.</a:t>
            </a:r>
          </a:p>
          <a:p>
            <a:pPr>
              <a:spcAft>
                <a:spcPts val="2400"/>
              </a:spcAft>
            </a:pPr>
            <a:r>
              <a:rPr lang="en-US" sz="2600" b="1" dirty="0"/>
              <a:t>Innovation:</a:t>
            </a:r>
            <a:r>
              <a:rPr lang="en-US" sz="2600" dirty="0"/>
              <a:t> Leveraging AR/VR, AI, IoT, and other emerging technologies.</a:t>
            </a:r>
          </a:p>
          <a:p>
            <a:pPr>
              <a:spcAft>
                <a:spcPts val="2400"/>
              </a:spcAft>
            </a:pPr>
            <a:r>
              <a:rPr lang="en-US" sz="2600" b="1" dirty="0"/>
              <a:t>User Engagement:</a:t>
            </a:r>
            <a:r>
              <a:rPr lang="en-US" sz="2600" dirty="0"/>
              <a:t> Push notifications, personalization, and interactive features.</a:t>
            </a:r>
          </a:p>
          <a:p>
            <a:pPr>
              <a:spcAft>
                <a:spcPts val="2400"/>
              </a:spcAft>
            </a:pPr>
            <a:r>
              <a:rPr lang="en-US" sz="2600" b="1" dirty="0"/>
              <a:t>Monetization Models:</a:t>
            </a:r>
            <a:r>
              <a:rPr lang="en-US" sz="2600" dirty="0"/>
              <a:t> Diverse revenue streams like in-app purchases, ads, and subscriptions.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0EBC67-C61A-9D68-72D9-87AB7A0A7D14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FB70E6-ED78-DC31-5FEE-0458632EF8E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81349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12F46-64DD-BB8E-42DB-8F3E3B02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Balancing Challenges and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B393E-BA30-97CD-FE09-1B8E90029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1835184" cy="5088672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en-US" sz="2600" b="1" dirty="0"/>
              <a:t>User-Centric Approach:</a:t>
            </a:r>
            <a:r>
              <a:rPr lang="en-US" sz="2600" dirty="0"/>
              <a:t> Prioritize user needs and experiences.</a:t>
            </a:r>
          </a:p>
          <a:p>
            <a:pPr>
              <a:spcAft>
                <a:spcPts val="2400"/>
              </a:spcAft>
            </a:pPr>
            <a:r>
              <a:rPr lang="en-US" sz="2600" b="1" dirty="0"/>
              <a:t>Continuous Learning:</a:t>
            </a:r>
            <a:r>
              <a:rPr lang="en-US" sz="2600" dirty="0"/>
              <a:t> Stay updated with new tools, frameworks, and technologies.</a:t>
            </a:r>
          </a:p>
          <a:p>
            <a:pPr>
              <a:spcAft>
                <a:spcPts val="2400"/>
              </a:spcAft>
            </a:pPr>
            <a:r>
              <a:rPr lang="en-US" sz="2600" b="1" dirty="0"/>
              <a:t>Agile Development:</a:t>
            </a:r>
            <a:r>
              <a:rPr lang="en-US" sz="2600" dirty="0"/>
              <a:t> Flexibility to adapt to changing requirements and user feedback.</a:t>
            </a:r>
          </a:p>
          <a:p>
            <a:pPr>
              <a:spcAft>
                <a:spcPts val="2400"/>
              </a:spcAft>
            </a:pPr>
            <a:r>
              <a:rPr lang="en-US" sz="2600" b="1" dirty="0"/>
              <a:t>Security First:</a:t>
            </a:r>
            <a:r>
              <a:rPr lang="en-US" sz="2600" dirty="0"/>
              <a:t> Implement strong security measures to protect user data.</a:t>
            </a:r>
          </a:p>
          <a:p>
            <a:pPr>
              <a:spcAft>
                <a:spcPts val="2400"/>
              </a:spcAft>
            </a:pPr>
            <a:endParaRPr lang="en-CA" sz="2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A13F83-F675-A958-4AA6-D84053D846E3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B2B30C-BE77-977B-FDC3-C85655B85A59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933631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51D93-94D8-FDE6-D2A8-8621DC5063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967" y="2448099"/>
            <a:ext cx="5776696" cy="980901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Trends in Mobile Technologies</a:t>
            </a:r>
          </a:p>
        </p:txBody>
      </p:sp>
    </p:spTree>
    <p:extLst>
      <p:ext uri="{BB962C8B-B14F-4D97-AF65-F5344CB8AC3E}">
        <p14:creationId xmlns:p14="http://schemas.microsoft.com/office/powerpoint/2010/main" val="7173692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EFA839-0614-25BC-C82B-D1E5D2F3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219456"/>
            <a:ext cx="10622280" cy="969264"/>
          </a:xfrm>
        </p:spPr>
        <p:txBody>
          <a:bodyPr>
            <a:normAutofit/>
          </a:bodyPr>
          <a:lstStyle/>
          <a:p>
            <a:r>
              <a:rPr lang="en-US" sz="3600" b="1" dirty="0"/>
              <a:t>Augmented Reality (AR) and Virtual Reality (VR)</a:t>
            </a:r>
            <a:endParaRPr lang="en-CA" sz="36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8A7D3E-3A53-0411-15DB-9CCBEBFD0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1869212" cy="5088672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AR and VR technologies are enhancing user engagement and experiences.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Apps use AR for interactive features like virtual try-ons and location-based services.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VR apps offer immersive experiences in gaming, training, and education.</a:t>
            </a:r>
          </a:p>
          <a:p>
            <a:pPr>
              <a:spcAft>
                <a:spcPts val="2400"/>
              </a:spcAft>
            </a:pPr>
            <a:endParaRPr lang="en-CA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E45830-5730-B577-6AF8-585A91AAAA88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3B0612-3400-B1AE-FB7D-9DBCB0FDFF4E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541107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F2E6-ED8B-9A89-B234-B393A54D2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US" sz="3600" b="1" dirty="0"/>
              <a:t>AI and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EF10B-900E-C3FE-32FC-83565F54D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1612880" cy="5088672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AI-driven features enhance personalization, recommendation, and automation.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Chatbots and virtual assistants improve customer support and user interactions.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Machine learning powers predictive analytics and smarter decision-making.</a:t>
            </a:r>
          </a:p>
          <a:p>
            <a:pPr>
              <a:spcAft>
                <a:spcPts val="2400"/>
              </a:spcAft>
            </a:pPr>
            <a:endParaRPr lang="en-CA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84DE8-BC26-3A43-5ADF-F9F8E81A1381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63B582-2FA6-54CF-F5E2-30DFF3FC0E00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967897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7392A-A64B-D453-A089-BA07B08E8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Internet of Things (IoT)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1C9B2-5F4C-E7BD-50FC-D5B2F8169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1612880" cy="5088672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en-CA" sz="2800" dirty="0"/>
              <a:t>Smart home technologies are more mainstream.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IoT is expected to continue growing, integrating with emerging technologies.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5G connectivity will enhance speed and capacity for IoT networks.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AI and machine learning will drive smarter insights and decision-making.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E2A798-E5DF-0DF3-502B-53A40F442FEF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558B03-7491-D6E8-7A25-F0FA001443EE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360798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C984-4001-CFC1-8F8F-CCCB699D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"/>
            <a:ext cx="10561320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Privacy and Data Security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50ED77-B75A-A6BE-6169-D01FCA7A504D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A744EB-C61E-5991-7247-804FDA413C1F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199C64-CCCA-80EC-4634-4DE3A055079A}"/>
              </a:ext>
            </a:extLst>
          </p:cNvPr>
          <p:cNvSpPr txBox="1"/>
          <p:nvPr/>
        </p:nvSpPr>
        <p:spPr>
          <a:xfrm>
            <a:off x="457200" y="873252"/>
            <a:ext cx="1147497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Privacy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Gives users control over how their personal data is collected and shared.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 apps to request permission before accessing sensitive information.</a:t>
            </a:r>
          </a:p>
          <a:p>
            <a:pPr marL="342900" indent="-342900" fontAlgn="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Security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Protects user data from unauthorized access, theft, and cyberattacks.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technologies such as encryption and biometric authentication.</a:t>
            </a:r>
          </a:p>
          <a:p>
            <a:pPr marL="342900" indent="-342900" fontAlgn="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1" dirty="0"/>
              <a:t>Why It Matters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200" dirty="0"/>
              <a:t>Builds user trust and confidence in mobile applications.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200" dirty="0"/>
              <a:t>Helps organizations comply with privacy and security regulations.</a:t>
            </a:r>
          </a:p>
          <a:p>
            <a:pPr marL="342900" indent="-342900" fontAlgn="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1" dirty="0"/>
              <a:t>Current Trends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Biometric authentication (Face ID, fingerprint scanning)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Multi-factor authentication (MFA)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End-to-end encryption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Privacy-focused permissions</a:t>
            </a:r>
          </a:p>
        </p:txBody>
      </p:sp>
    </p:spTree>
    <p:extLst>
      <p:ext uri="{BB962C8B-B14F-4D97-AF65-F5344CB8AC3E}">
        <p14:creationId xmlns:p14="http://schemas.microsoft.com/office/powerpoint/2010/main" val="41246118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C984-4001-CFC1-8F8F-CCCB699D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219456"/>
            <a:ext cx="10622280" cy="969264"/>
          </a:xfrm>
        </p:spPr>
        <p:txBody>
          <a:bodyPr>
            <a:normAutofit/>
          </a:bodyPr>
          <a:lstStyle/>
          <a:p>
            <a:r>
              <a:rPr lang="en-CA" sz="3600" b="1" dirty="0"/>
              <a:t>Instant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86E85-5F95-B9F4-4864-3B7569541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1612880" cy="5088672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Instant apps allow users to experience an app without downloading it.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Saves storage space and provides quick access to specific features.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Increases user engagement and reduces app abandonment rates.</a:t>
            </a:r>
          </a:p>
          <a:p>
            <a:pPr>
              <a:spcAft>
                <a:spcPts val="2400"/>
              </a:spcAft>
            </a:pPr>
            <a:endParaRPr lang="en-CA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A43DE3-D3AD-0D5C-5477-8A42B21B15CB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76783A-9548-F967-4348-D2B5C2B975A4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885023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F076-AF93-06D9-CF74-553DC0EC4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219456"/>
            <a:ext cx="10622280" cy="969264"/>
          </a:xfrm>
        </p:spPr>
        <p:txBody>
          <a:bodyPr>
            <a:normAutofit/>
          </a:bodyPr>
          <a:lstStyle/>
          <a:p>
            <a:r>
              <a:rPr lang="en-US" sz="3600" b="1" dirty="0"/>
              <a:t>Wearable and Foldable Technology</a:t>
            </a:r>
            <a:endParaRPr lang="en-CA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8F95-3890-9CD8-1CB0-DF3DF6598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2009120" cy="5088672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Wearable and foldable technology offer innovative ways to enhance user experiences.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They cater to users' increasing demands for convenience, functionality, and style.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The future holds exciting possibilities for these evolving technologies.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6A8930-74A7-3987-7FF8-6A8DC761DADF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1B9C7B-61DD-FBD9-4186-400B15A02F18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46347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FDA0-DCB7-0041-21D8-A4DA2CFA74B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82F44-00CE-7962-0BF3-17AFA84A34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6328" y="2448355"/>
            <a:ext cx="7605197" cy="980646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FF96B-7D5C-8154-FDE3-680AC2C6F4EE}"/>
              </a:ext>
            </a:extLst>
          </p:cNvPr>
          <p:cNvSpPr txBox="1"/>
          <p:nvPr/>
        </p:nvSpPr>
        <p:spPr>
          <a:xfrm>
            <a:off x="286328" y="3566161"/>
            <a:ext cx="78885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CC"/>
                </a:solidFill>
              </a:rPr>
              <a:t>Next: Setting up the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307112167"/>
      </p:ext>
    </p:extLst>
  </p:cSld>
  <p:clrMapOvr>
    <a:masterClrMapping/>
  </p:clrMapOvr>
</p:sld>
</file>

<file path=ppt/theme/theme1.xml><?xml version="1.0" encoding="utf-8"?>
<a:theme xmlns:a="http://schemas.openxmlformats.org/drawingml/2006/main" name="1. SAIT Red Layouts">
  <a:themeElements>
    <a:clrScheme name="SAIT-Colours">
      <a:dk1>
        <a:srgbClr val="000000"/>
      </a:dk1>
      <a:lt1>
        <a:sysClr val="window" lastClr="FFFFFF"/>
      </a:lt1>
      <a:dk2>
        <a:srgbClr val="002060"/>
      </a:dk2>
      <a:lt2>
        <a:srgbClr val="D9E2F3"/>
      </a:lt2>
      <a:accent1>
        <a:srgbClr val="FF0000"/>
      </a:accent1>
      <a:accent2>
        <a:srgbClr val="C00000"/>
      </a:accent2>
      <a:accent3>
        <a:srgbClr val="7030A0"/>
      </a:accent3>
      <a:accent4>
        <a:srgbClr val="00B0F0"/>
      </a:accent4>
      <a:accent5>
        <a:srgbClr val="0070C0"/>
      </a:accent5>
      <a:accent6>
        <a:srgbClr val="FFC000"/>
      </a:accent6>
      <a:hlink>
        <a:srgbClr val="00B0F0"/>
      </a:hlink>
      <a:folHlink>
        <a:srgbClr val="7030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 SAIT Burgundy Layou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Sait Purple Layou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 SAIT Light Blue Layou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. SAIT Dark Blue Layou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. SAIT Grey Layou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8.xml><?xml version="1.0" encoding="utf-8"?>
<a:theme xmlns:a="http://schemas.openxmlformats.org/drawingml/2006/main" name="1. SAIT Red Layouts">
  <a:themeElements>
    <a:clrScheme name="SAIT-Colours">
      <a:dk1>
        <a:srgbClr val="000000"/>
      </a:dk1>
      <a:lt1>
        <a:sysClr val="window" lastClr="FFFFFF"/>
      </a:lt1>
      <a:dk2>
        <a:srgbClr val="002060"/>
      </a:dk2>
      <a:lt2>
        <a:srgbClr val="D9E2F3"/>
      </a:lt2>
      <a:accent1>
        <a:srgbClr val="FF0000"/>
      </a:accent1>
      <a:accent2>
        <a:srgbClr val="C00000"/>
      </a:accent2>
      <a:accent3>
        <a:srgbClr val="7030A0"/>
      </a:accent3>
      <a:accent4>
        <a:srgbClr val="00B0F0"/>
      </a:accent4>
      <a:accent5>
        <a:srgbClr val="0070C0"/>
      </a:accent5>
      <a:accent6>
        <a:srgbClr val="FFC000"/>
      </a:accent6>
      <a:hlink>
        <a:srgbClr val="00B0F0"/>
      </a:hlink>
      <a:folHlink>
        <a:srgbClr val="7030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2050</Words>
  <Application>Microsoft Office PowerPoint</Application>
  <PresentationFormat>Widescreen</PresentationFormat>
  <Paragraphs>318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47</vt:i4>
      </vt:variant>
    </vt:vector>
  </HeadingPairs>
  <TitlesOfParts>
    <vt:vector size="60" baseType="lpstr">
      <vt:lpstr>Arial</vt:lpstr>
      <vt:lpstr>Calibri</vt:lpstr>
      <vt:lpstr>Neue Haas Grotesk Text Pro</vt:lpstr>
      <vt:lpstr>Titillium</vt:lpstr>
      <vt:lpstr>Verdana</vt:lpstr>
      <vt:lpstr>Wingdings</vt:lpstr>
      <vt:lpstr>1. SAIT Red Layouts</vt:lpstr>
      <vt:lpstr>2. SAIT Burgundy Layouts</vt:lpstr>
      <vt:lpstr>3. Sait Purple Layouts</vt:lpstr>
      <vt:lpstr>4. SAIT Light Blue Layouts</vt:lpstr>
      <vt:lpstr>5. SAIT Dark Blue Layouts</vt:lpstr>
      <vt:lpstr>6. SAIT Grey Layouts</vt:lpstr>
      <vt:lpstr>Dune</vt:lpstr>
      <vt:lpstr>Mobile Technologies</vt:lpstr>
      <vt:lpstr>PowerPoint Presentation</vt:lpstr>
      <vt:lpstr>PowerPoint Presentation</vt:lpstr>
      <vt:lpstr>PowerPoint Presentation</vt:lpstr>
      <vt:lpstr>PowerPoint Presentation</vt:lpstr>
      <vt:lpstr>Mobile App Types - Native Apps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 Development Considerations</vt:lpstr>
      <vt:lpstr>PowerPoint Presentation</vt:lpstr>
      <vt:lpstr>iOS</vt:lpstr>
      <vt:lpstr>iOS App Development</vt:lpstr>
      <vt:lpstr>Android</vt:lpstr>
      <vt:lpstr>Android Key Features</vt:lpstr>
      <vt:lpstr>Android App Development</vt:lpstr>
      <vt:lpstr>Android Device Diversity</vt:lpstr>
      <vt:lpstr>PowerPoint Presentation</vt:lpstr>
      <vt:lpstr>Android Studio</vt:lpstr>
      <vt:lpstr>Xcode</vt:lpstr>
      <vt:lpstr>Visual Studio Code</vt:lpstr>
      <vt:lpstr>Other Mobile App IDEs</vt:lpstr>
      <vt:lpstr>IDE Considerations</vt:lpstr>
      <vt:lpstr>PowerPoint Presentation</vt:lpstr>
      <vt:lpstr>Market Share</vt:lpstr>
      <vt:lpstr>Target Audience</vt:lpstr>
      <vt:lpstr>App Deployment</vt:lpstr>
      <vt:lpstr>PowerPoint Presentation</vt:lpstr>
      <vt:lpstr>Key Players</vt:lpstr>
      <vt:lpstr>App Review Process</vt:lpstr>
      <vt:lpstr>Monetization Models</vt:lpstr>
      <vt:lpstr>Third-Party Marketplaces</vt:lpstr>
      <vt:lpstr>PowerPoint Presentation</vt:lpstr>
      <vt:lpstr>Challenges in Mobile App Development (1)</vt:lpstr>
      <vt:lpstr>Challenges in Mobile App Development (2)</vt:lpstr>
      <vt:lpstr>Opportunities in Mobile App Development</vt:lpstr>
      <vt:lpstr>Balancing Challenges and Opportunities</vt:lpstr>
      <vt:lpstr>PowerPoint Presentation</vt:lpstr>
      <vt:lpstr>Augmented Reality (AR) and Virtual Reality (VR)</vt:lpstr>
      <vt:lpstr>AI and Machine Learning</vt:lpstr>
      <vt:lpstr>Internet of Things (IoT)</vt:lpstr>
      <vt:lpstr>Privacy and Data Security</vt:lpstr>
      <vt:lpstr>Instant Apps</vt:lpstr>
      <vt:lpstr>Wearable and Foldable Technology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2026-08-25T00:47:44Z</dcterms:created>
  <dcterms:modified xsi:type="dcterms:W3CDTF">2026-08-31T00:45:51Z</dcterms:modified>
  <cp:contentStatus/>
</cp:coreProperties>
</file>