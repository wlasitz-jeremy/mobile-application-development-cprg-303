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446" r:id="rId4"/>
    <p:sldId id="259" r:id="rId5"/>
    <p:sldId id="260" r:id="rId6"/>
    <p:sldId id="447" r:id="rId7"/>
    <p:sldId id="448" r:id="rId8"/>
    <p:sldId id="263" r:id="rId9"/>
    <p:sldId id="264" r:id="rId10"/>
    <p:sldId id="449" r:id="rId11"/>
    <p:sldId id="266" r:id="rId12"/>
    <p:sldId id="450" r:id="rId13"/>
    <p:sldId id="268" r:id="rId14"/>
    <p:sldId id="269" r:id="rId15"/>
    <p:sldId id="452" r:id="rId16"/>
    <p:sldId id="271" r:id="rId17"/>
    <p:sldId id="272" r:id="rId18"/>
    <p:sldId id="273" r:id="rId19"/>
    <p:sldId id="274" r:id="rId20"/>
    <p:sldId id="453" r:id="rId21"/>
    <p:sldId id="276" r:id="rId22"/>
    <p:sldId id="451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528" autoAdjust="0"/>
  </p:normalViewPr>
  <p:slideViewPr>
    <p:cSldViewPr snapToGrid="0" snapToObjects="1">
      <p:cViewPr varScale="1">
        <p:scale>
          <a:sx n="37" d="100"/>
          <a:sy n="37" d="100"/>
        </p:scale>
        <p:origin x="1696" y="4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994C3-2512-4864-B5E1-827A82419F5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BB071-7359-45C3-AC3A-49F21FD24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4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56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88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59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77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B0373-356F-09AB-479F-9CF451C9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4795E-A5F2-D6C2-D7C7-14FA98AF2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C6D60-0716-79BC-D03A-8A1D5E770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1982D-7879-0491-776E-A13756BB4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95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6253-3AD3-2501-79AD-8AA7F16E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16BC5-1740-B2C1-E4AC-0B911DA82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0D19A-EED1-79A9-4609-66F7611CF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6A7D5-DB9F-3F94-8D7C-FD9E4BD77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33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73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59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6A185-329A-871E-BD69-56278F15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EFA81-1EFF-5B23-E911-157AA74A4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67B69-2A33-2D42-EFB2-16D11B00A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5897D-D80E-E92B-4D5F-7315DBA43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08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25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EA7B-1563-284C-9F81-05624C44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F09D6-D249-82E6-F0FB-805CF864F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8EC7C-0E60-6B80-38D5-859BD7E3B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0705F-3A0A-D70D-64C7-8279FEAEC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0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84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86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8174-D00C-FA67-778F-E6ACCBFF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03978-4453-EC48-A0D2-D549B34BC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9278E-32B2-308C-9A52-7AC10EB8F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2C6EA-FEC4-66F1-78A7-971AE1DC9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76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06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BB071-7359-45C3-AC3A-49F21FD247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99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BC3C-6884-E132-193C-C3C2D450B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7F972-D842-F849-6FDE-39355061A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5CC23-90B8-BB16-5A6E-668B8C3EF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="0" i="0" dirty="0">
              <a:solidFill>
                <a:srgbClr val="BFDB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E0784-5B61-890C-0396-60F29A8F2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4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8A39B7-CE2C-39CA-5EDE-5E5F28018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IT-Purple-Secondary-Title-Slide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87770-D3D9-4C5C-92CD-924C0A0FC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88B7614-7E88-4C6B-BB37-5515B7967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749" y="2448100"/>
            <a:ext cx="7056187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99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Secondary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64E6C8B-87F6-4C99-AC96-643D30EB23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3748" y="3589715"/>
            <a:ext cx="7056187" cy="98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99"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233431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78308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Development Environment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D377346E-AFB1-51C7-4476-FE9FAD2F6A24}"/>
              </a:ext>
            </a:extLst>
          </p:cNvPr>
          <p:cNvSpPr txBox="1">
            <a:spLocks/>
          </p:cNvSpPr>
          <p:nvPr/>
        </p:nvSpPr>
        <p:spPr>
          <a:xfrm>
            <a:off x="0" y="3689699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BBFCC749-21D3-31A6-7832-DF1A10C5C590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6D9551-8B3C-C1E3-4490-337D889EA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53033"/>
            <a:ext cx="1631852" cy="2223013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317D0575-CAB3-0323-8A82-84EE41BB3712}"/>
              </a:ext>
            </a:extLst>
          </p:cNvPr>
          <p:cNvSpPr/>
          <p:nvPr/>
        </p:nvSpPr>
        <p:spPr>
          <a:xfrm>
            <a:off x="2" y="6328750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Agenda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5F28DA-3B37-92AD-4F95-283A9E0CBCAD}"/>
              </a:ext>
            </a:extLst>
          </p:cNvPr>
          <p:cNvSpPr/>
          <p:nvPr/>
        </p:nvSpPr>
        <p:spPr>
          <a:xfrm>
            <a:off x="502920" y="132588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18C7E9-FE99-71F8-4036-F2A731B340A6}"/>
              </a:ext>
            </a:extLst>
          </p:cNvPr>
          <p:cNvSpPr txBox="1"/>
          <p:nvPr/>
        </p:nvSpPr>
        <p:spPr>
          <a:xfrm>
            <a:off x="502920" y="129287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BB9F47-89D9-41E6-135C-C2090F3ADB0C}"/>
              </a:ext>
            </a:extLst>
          </p:cNvPr>
          <p:cNvSpPr txBox="1"/>
          <p:nvPr/>
        </p:nvSpPr>
        <p:spPr>
          <a:xfrm>
            <a:off x="1234440" y="1307592"/>
            <a:ext cx="4378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What a dev environment is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69C93B2-0DC0-CFFE-18F8-22E1E3B8BA55}"/>
              </a:ext>
            </a:extLst>
          </p:cNvPr>
          <p:cNvSpPr/>
          <p:nvPr/>
        </p:nvSpPr>
        <p:spPr>
          <a:xfrm>
            <a:off x="502920" y="192938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3344E8-BC4A-E750-1346-8E889E3AE149}"/>
              </a:ext>
            </a:extLst>
          </p:cNvPr>
          <p:cNvSpPr txBox="1"/>
          <p:nvPr/>
        </p:nvSpPr>
        <p:spPr>
          <a:xfrm>
            <a:off x="502920" y="189637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70874A-EC57-246A-34DC-695163E827F5}"/>
              </a:ext>
            </a:extLst>
          </p:cNvPr>
          <p:cNvSpPr txBox="1"/>
          <p:nvPr/>
        </p:nvSpPr>
        <p:spPr>
          <a:xfrm>
            <a:off x="1234440" y="1911095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</a:rPr>
              <a:t>Node.js &amp; </a:t>
            </a:r>
            <a:r>
              <a:rPr sz="2800" b="1" i="0" dirty="0" err="1">
                <a:solidFill>
                  <a:srgbClr val="111827"/>
                </a:solidFill>
              </a:rPr>
              <a:t>npm</a:t>
            </a:r>
            <a:endParaRPr sz="2800" b="1" i="0" dirty="0">
              <a:solidFill>
                <a:srgbClr val="111827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E92275-AA97-EFAC-1E39-78C32F6233CB}"/>
              </a:ext>
            </a:extLst>
          </p:cNvPr>
          <p:cNvSpPr/>
          <p:nvPr/>
        </p:nvSpPr>
        <p:spPr>
          <a:xfrm>
            <a:off x="502920" y="253288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EAFFC8-E0D6-3ACF-128A-8AC49C8F0FD9}"/>
              </a:ext>
            </a:extLst>
          </p:cNvPr>
          <p:cNvSpPr txBox="1"/>
          <p:nvPr/>
        </p:nvSpPr>
        <p:spPr>
          <a:xfrm>
            <a:off x="502920" y="249987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7B653A-E458-0559-BD38-9B321A578B93}"/>
              </a:ext>
            </a:extLst>
          </p:cNvPr>
          <p:cNvSpPr txBox="1"/>
          <p:nvPr/>
        </p:nvSpPr>
        <p:spPr>
          <a:xfrm>
            <a:off x="1234440" y="2514600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Git &amp; Git Bash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82C8313-7C23-E4A6-F813-CD513ECC8CBE}"/>
              </a:ext>
            </a:extLst>
          </p:cNvPr>
          <p:cNvSpPr/>
          <p:nvPr/>
        </p:nvSpPr>
        <p:spPr>
          <a:xfrm>
            <a:off x="502920" y="3136391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DEB9AA-AEA2-8E55-2BDE-F65DB211D447}"/>
              </a:ext>
            </a:extLst>
          </p:cNvPr>
          <p:cNvSpPr txBox="1"/>
          <p:nvPr/>
        </p:nvSpPr>
        <p:spPr>
          <a:xfrm>
            <a:off x="502920" y="3103381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F05821-7EA3-9CF1-6D36-641C5FFC7C43}"/>
              </a:ext>
            </a:extLst>
          </p:cNvPr>
          <p:cNvSpPr txBox="1"/>
          <p:nvPr/>
        </p:nvSpPr>
        <p:spPr>
          <a:xfrm>
            <a:off x="1234440" y="3118103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Expo &amp; React Native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8D50566-867D-FF61-3FC3-1A5BE30E33B1}"/>
              </a:ext>
            </a:extLst>
          </p:cNvPr>
          <p:cNvSpPr/>
          <p:nvPr/>
        </p:nvSpPr>
        <p:spPr>
          <a:xfrm>
            <a:off x="502920" y="3739896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119764-F7C8-FB64-1093-EFA8C9E8D619}"/>
              </a:ext>
            </a:extLst>
          </p:cNvPr>
          <p:cNvSpPr txBox="1"/>
          <p:nvPr/>
        </p:nvSpPr>
        <p:spPr>
          <a:xfrm>
            <a:off x="502920" y="3706886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A36519-DF7D-E204-0F5D-3CC7CACC9D68}"/>
              </a:ext>
            </a:extLst>
          </p:cNvPr>
          <p:cNvSpPr txBox="1"/>
          <p:nvPr/>
        </p:nvSpPr>
        <p:spPr>
          <a:xfrm>
            <a:off x="1234440" y="3721608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</a:rPr>
              <a:t>Expo Go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8EDB44-5CAD-FCF2-2827-7F3BC0960608}"/>
              </a:ext>
            </a:extLst>
          </p:cNvPr>
          <p:cNvSpPr/>
          <p:nvPr/>
        </p:nvSpPr>
        <p:spPr>
          <a:xfrm>
            <a:off x="502920" y="434340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2CE7A0-B445-080C-CFBF-25D3BA5DE5D8}"/>
              </a:ext>
            </a:extLst>
          </p:cNvPr>
          <p:cNvSpPr txBox="1"/>
          <p:nvPr/>
        </p:nvSpPr>
        <p:spPr>
          <a:xfrm>
            <a:off x="502920" y="431039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B18C56-8BDC-8BEC-E93A-770B3421022A}"/>
              </a:ext>
            </a:extLst>
          </p:cNvPr>
          <p:cNvSpPr txBox="1"/>
          <p:nvPr/>
        </p:nvSpPr>
        <p:spPr>
          <a:xfrm>
            <a:off x="1234440" y="4325112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Android Studio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97265A-A2B3-5C68-C856-CAAC3D0E3C1E}"/>
              </a:ext>
            </a:extLst>
          </p:cNvPr>
          <p:cNvSpPr/>
          <p:nvPr/>
        </p:nvSpPr>
        <p:spPr>
          <a:xfrm>
            <a:off x="502920" y="494690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9016653-03C5-BBFF-ADD1-93DA9DC4235C}"/>
              </a:ext>
            </a:extLst>
          </p:cNvPr>
          <p:cNvSpPr txBox="1"/>
          <p:nvPr/>
        </p:nvSpPr>
        <p:spPr>
          <a:xfrm>
            <a:off x="502920" y="491389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91FA2A-B305-AC73-FECE-C5F297BB1F14}"/>
              </a:ext>
            </a:extLst>
          </p:cNvPr>
          <p:cNvSpPr txBox="1"/>
          <p:nvPr/>
        </p:nvSpPr>
        <p:spPr>
          <a:xfrm>
            <a:off x="1234440" y="4928616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Xcode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3B68B22-6707-CEEF-A04F-7E52DAB8FE39}"/>
              </a:ext>
            </a:extLst>
          </p:cNvPr>
          <p:cNvSpPr/>
          <p:nvPr/>
        </p:nvSpPr>
        <p:spPr>
          <a:xfrm>
            <a:off x="502920" y="555040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8DF405-A081-5038-668B-6CDD99DA3563}"/>
              </a:ext>
            </a:extLst>
          </p:cNvPr>
          <p:cNvSpPr txBox="1"/>
          <p:nvPr/>
        </p:nvSpPr>
        <p:spPr>
          <a:xfrm>
            <a:off x="502920" y="551739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FA90D61-6D52-4080-6A9D-3E377A70C44C}"/>
              </a:ext>
            </a:extLst>
          </p:cNvPr>
          <p:cNvSpPr txBox="1"/>
          <p:nvPr/>
        </p:nvSpPr>
        <p:spPr>
          <a:xfrm>
            <a:off x="1234440" y="5532120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VS Code + version cheat-sheet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86777-D436-D87E-7573-0035F5587D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Introduction - Big Picture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10D2D-0409-3F7E-B4B9-7C385B98EBD5}"/>
              </a:ext>
            </a:extLst>
          </p:cNvPr>
          <p:cNvSpPr txBox="1"/>
          <p:nvPr/>
        </p:nvSpPr>
        <p:spPr>
          <a:xfrm>
            <a:off x="434489" y="3207435"/>
            <a:ext cx="74554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0" i="0" dirty="0">
                <a:solidFill>
                  <a:srgbClr val="0000CC"/>
                </a:solidFill>
              </a:rPr>
              <a:t>What are we actually installing, and why?</a:t>
            </a:r>
          </a:p>
        </p:txBody>
      </p:sp>
    </p:spTree>
    <p:extLst>
      <p:ext uri="{BB962C8B-B14F-4D97-AF65-F5344CB8AC3E}">
        <p14:creationId xmlns:p14="http://schemas.microsoft.com/office/powerpoint/2010/main" val="416318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What Is a Development Environment?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defTabSz="914400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Set of software tools and resources used by developers to create, test, debug, and run applications.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3566160" cy="28381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85800" y="2964764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76712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VS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9034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>
                <a:solidFill>
                  <a:srgbClr val="6B7280"/>
                </a:solidFill>
              </a:rPr>
              <a:t>Where you type your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743200"/>
            <a:ext cx="3566160" cy="28381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356616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572000" y="2964764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</a:rP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76712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Node.js + Expo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79034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>
                <a:solidFill>
                  <a:srgbClr val="6B7280"/>
                </a:solidFill>
              </a:rPr>
              <a:t>Turns your code into a running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3566160" cy="28381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229600" y="2743200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458200" y="2964764"/>
            <a:ext cx="3108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576712"/>
            <a:ext cx="3108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11827"/>
                </a:solidFill>
              </a:rPr>
              <a:t>Phone / Emulator /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579034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B7280"/>
                </a:solidFill>
              </a:rPr>
              <a:t>See the app as a user would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How the Pieces Fit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77108"/>
            <a:ext cx="2468880" cy="2279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548640" y="1477109"/>
            <a:ext cx="24688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85800" y="1797149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11827"/>
                </a:solidFill>
              </a:rPr>
              <a:t>Your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45789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6B7280"/>
                </a:solidFill>
              </a:rPr>
              <a:t>app/</a:t>
            </a:r>
            <a:r>
              <a:rPr sz="2800" b="0" i="0" dirty="0" err="1">
                <a:solidFill>
                  <a:srgbClr val="6B7280"/>
                </a:solidFill>
              </a:rPr>
              <a:t>index.tsx</a:t>
            </a:r>
            <a:endParaRPr sz="2800" b="0" i="0" dirty="0">
              <a:solidFill>
                <a:srgbClr val="6B728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35808" y="2256515"/>
            <a:ext cx="5029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77108"/>
            <a:ext cx="2468880" cy="2279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ectangle 11"/>
          <p:cNvSpPr/>
          <p:nvPr/>
        </p:nvSpPr>
        <p:spPr>
          <a:xfrm>
            <a:off x="3520440" y="1477109"/>
            <a:ext cx="246888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657600" y="1797149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11827"/>
                </a:solidFill>
              </a:rPr>
              <a:t>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45789"/>
            <a:ext cx="21945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B7280"/>
                </a:solidFill>
              </a:rPr>
              <a:t>runs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256515"/>
            <a:ext cx="5029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477108"/>
            <a:ext cx="2468880" cy="2279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6492240" y="1477109"/>
            <a:ext cx="246888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629400" y="1797149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11827"/>
                </a:solidFill>
              </a:rPr>
              <a:t>Expo / Metro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45789"/>
            <a:ext cx="21945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B7280"/>
                </a:solidFill>
              </a:rPr>
              <a:t>bundles + serves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256515"/>
            <a:ext cx="5029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1477108"/>
            <a:ext cx="2468880" cy="2279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9464040" y="1477109"/>
            <a:ext cx="246888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9601200" y="1797149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11827"/>
                </a:solidFill>
              </a:rPr>
              <a:t>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345789"/>
            <a:ext cx="21945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B7280"/>
                </a:solidFill>
              </a:rPr>
              <a:t>phone · emulator ·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11556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You save a file  →  Expo notices instantly  →  the running app refreshes in about a second.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This instant-update loop is called Fast Refresh, and it's why building with Expo feels so quick.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BB42A-3A42-FF3B-9058-444831A0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D5B217-480E-A97E-C019-07DEB3BE9E28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57F82-E6FF-A0E7-047E-8A97BF0CC28C}"/>
              </a:ext>
            </a:extLst>
          </p:cNvPr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Tools</a:t>
            </a:r>
            <a:r>
              <a:rPr lang="en-US" sz="3600" b="1" i="0" dirty="0">
                <a:solidFill>
                  <a:srgbClr val="111827"/>
                </a:solidFill>
              </a:rPr>
              <a:t> Overview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5C290-4508-EE05-7D16-BB49E5A23E50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280C9F52-4AD5-3E55-EAB1-501EE3156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895292"/>
              </p:ext>
            </p:extLst>
          </p:nvPr>
        </p:nvGraphicFramePr>
        <p:xfrm>
          <a:off x="297710" y="1184497"/>
          <a:ext cx="11657539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955">
                  <a:extLst>
                    <a:ext uri="{9D8B030D-6E8A-4147-A177-3AD203B41FA5}">
                      <a16:colId xmlns:a16="http://schemas.microsoft.com/office/drawing/2014/main" val="957920467"/>
                    </a:ext>
                  </a:extLst>
                </a:gridCol>
                <a:gridCol w="6273953">
                  <a:extLst>
                    <a:ext uri="{9D8B030D-6E8A-4147-A177-3AD203B41FA5}">
                      <a16:colId xmlns:a16="http://schemas.microsoft.com/office/drawing/2014/main" val="4245499455"/>
                    </a:ext>
                  </a:extLst>
                </a:gridCol>
                <a:gridCol w="3272631">
                  <a:extLst>
                    <a:ext uri="{9D8B030D-6E8A-4147-A177-3AD203B41FA5}">
                      <a16:colId xmlns:a16="http://schemas.microsoft.com/office/drawing/2014/main" val="3315876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2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Node.js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Runs JS outside a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Windows and macOS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365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npm</a:t>
                      </a:r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/ </a:t>
                      </a:r>
                      <a:r>
                        <a:rPr lang="en-US" sz="2400" b="1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npx</a:t>
                      </a:r>
                      <a:endParaRPr lang="en-US" sz="2400" b="1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Installs packages and runs development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Windows and macOS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235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Git + Git Bash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Tracks code changes and provides a terminal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Windows and macOS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48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Expo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the React Native framework used to build the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Windows and macOS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0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Expo Go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Runs and previews the project on a physical 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Mobile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0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Android Studio 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an emulator for testing Android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Windows and macOS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03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Xcode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a simulator for testing iOS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macOS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88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VSC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an editor for writing and managing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Windows and macOS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676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494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3924-6AC3-A092-1453-5626653AFC72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F650E-727B-96A0-03E4-64BBAD1AF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Node.js – </a:t>
            </a:r>
            <a:r>
              <a:rPr lang="en-CA" b="1" dirty="0" err="1"/>
              <a:t>npm</a:t>
            </a:r>
            <a:r>
              <a:rPr lang="en-CA" b="1" dirty="0"/>
              <a:t> - </a:t>
            </a:r>
            <a:r>
              <a:rPr lang="en-CA" b="1" dirty="0" err="1"/>
              <a:t>npx</a:t>
            </a:r>
            <a:endParaRPr lang="en-CA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06068-0749-2C13-08ED-E1917B8866AE}"/>
              </a:ext>
            </a:extLst>
          </p:cNvPr>
          <p:cNvSpPr txBox="1"/>
          <p:nvPr/>
        </p:nvSpPr>
        <p:spPr>
          <a:xfrm>
            <a:off x="284739" y="3240817"/>
            <a:ext cx="76051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0000CC"/>
                </a:solidFill>
              </a:rPr>
              <a:t>The engine and the package manager</a:t>
            </a:r>
          </a:p>
        </p:txBody>
      </p:sp>
    </p:spTree>
    <p:extLst>
      <p:ext uri="{BB962C8B-B14F-4D97-AF65-F5344CB8AC3E}">
        <p14:creationId xmlns:p14="http://schemas.microsoft.com/office/powerpoint/2010/main" val="318986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13338"/>
            <a:ext cx="114926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Node.js </a:t>
            </a:r>
            <a:r>
              <a:rPr lang="en-US" sz="2800" b="0" i="0" dirty="0">
                <a:solidFill>
                  <a:srgbClr val="111827"/>
                </a:solidFill>
              </a:rPr>
              <a:t>allows </a:t>
            </a:r>
            <a:r>
              <a:rPr sz="2800" b="0" i="0" dirty="0">
                <a:solidFill>
                  <a:srgbClr val="111827"/>
                </a:solidFill>
              </a:rPr>
              <a:t>run</a:t>
            </a:r>
            <a:r>
              <a:rPr lang="en-US" sz="2800" b="0" i="0" dirty="0">
                <a:solidFill>
                  <a:srgbClr val="111827"/>
                </a:solidFill>
              </a:rPr>
              <a:t>ning</a:t>
            </a:r>
            <a:r>
              <a:rPr sz="2800" b="0" i="0" dirty="0">
                <a:solidFill>
                  <a:srgbClr val="111827"/>
                </a:solidFill>
              </a:rPr>
              <a:t> JS </a:t>
            </a:r>
            <a:r>
              <a:rPr lang="en-US" sz="2800" b="0" i="0" dirty="0">
                <a:solidFill>
                  <a:srgbClr val="111827"/>
                </a:solidFill>
              </a:rPr>
              <a:t>out of a </a:t>
            </a:r>
            <a:r>
              <a:rPr sz="2800" b="0" i="0" dirty="0">
                <a:solidFill>
                  <a:srgbClr val="111827"/>
                </a:solidFill>
              </a:rPr>
              <a:t>browser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11827"/>
                </a:solidFill>
              </a:rPr>
              <a:t>All the frameworks as </a:t>
            </a:r>
            <a:r>
              <a:rPr sz="2800" b="0" i="0" dirty="0">
                <a:solidFill>
                  <a:srgbClr val="111827"/>
                </a:solidFill>
              </a:rPr>
              <a:t>Expo runs on top of Node.js. </a:t>
            </a:r>
            <a:r>
              <a:rPr lang="en-US" sz="2800" b="0" i="0" dirty="0">
                <a:solidFill>
                  <a:srgbClr val="111827"/>
                </a:solidFill>
              </a:rPr>
              <a:t>It is the foundation.</a:t>
            </a:r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If Node isn't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installed, nothing else works. 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Install LTS not the current version</a:t>
            </a:r>
            <a:endParaRPr sz="2800" b="0" i="0" dirty="0">
              <a:solidFill>
                <a:srgbClr val="111827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399" y="4213980"/>
            <a:ext cx="10578202" cy="145881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400" dirty="0">
                <a:solidFill>
                  <a:srgbClr val="FFFFFF"/>
                </a:solidFill>
                <a:latin typeface="Consolas"/>
              </a:rPr>
              <a:t># After installing, check it worked (type these in Git Bash):</a:t>
            </a:r>
          </a:p>
          <a:p>
            <a:pPr algn="l"/>
            <a:r>
              <a:rPr sz="2400" dirty="0">
                <a:solidFill>
                  <a:srgbClr val="FFFFFF"/>
                </a:solidFill>
                <a:latin typeface="Consolas"/>
              </a:rPr>
              <a:t>node -v      →  v24.19.0</a:t>
            </a:r>
          </a:p>
          <a:p>
            <a:pPr algn="l"/>
            <a:r>
              <a:rPr sz="2400" dirty="0" err="1">
                <a:solidFill>
                  <a:srgbClr val="FFFFFF"/>
                </a:solidFill>
                <a:latin typeface="Consolas"/>
              </a:rPr>
              <a:t>npm</a:t>
            </a:r>
            <a:r>
              <a:rPr sz="2400" dirty="0">
                <a:solidFill>
                  <a:srgbClr val="FFFFFF"/>
                </a:solidFill>
                <a:latin typeface="Consolas"/>
              </a:rPr>
              <a:t> -v       →  11.x.x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9760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111827"/>
                </a:solidFill>
              </a:rPr>
              <a:t>npm</a:t>
            </a:r>
            <a:r>
              <a:rPr sz="3600" b="1" i="0" dirty="0">
                <a:solidFill>
                  <a:srgbClr val="111827"/>
                </a:solidFill>
              </a:rPr>
              <a:t> &amp; </a:t>
            </a:r>
            <a:r>
              <a:rPr sz="3600" b="1" i="0" dirty="0" err="1">
                <a:solidFill>
                  <a:srgbClr val="111827"/>
                </a:solidFill>
              </a:rPr>
              <a:t>npx</a:t>
            </a:r>
            <a:r>
              <a:rPr sz="3600" b="1" i="0" dirty="0">
                <a:solidFill>
                  <a:srgbClr val="111827"/>
                </a:solidFill>
              </a:rPr>
              <a:t> — Getting &amp; Running Packages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0" cy="500774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2435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 err="1">
                <a:solidFill>
                  <a:srgbClr val="2563EB"/>
                </a:solidFill>
              </a:rPr>
              <a:t>n</a:t>
            </a:r>
            <a:r>
              <a:rPr sz="2800" b="1" i="0" dirty="0" err="1">
                <a:solidFill>
                  <a:srgbClr val="2563EB"/>
                </a:solidFill>
              </a:rPr>
              <a:t>pm</a:t>
            </a:r>
            <a:r>
              <a:rPr lang="en-US" sz="2800" b="1" i="0" dirty="0">
                <a:solidFill>
                  <a:srgbClr val="2563EB"/>
                </a:solidFill>
              </a:rPr>
              <a:t>: Node Package Manager</a:t>
            </a:r>
            <a:endParaRPr sz="2800" b="1" i="0" dirty="0">
              <a:solidFill>
                <a:srgbClr val="2563E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011681"/>
            <a:ext cx="53035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Downloads and installs the code libraries</a:t>
            </a:r>
            <a:r>
              <a:rPr lang="en-US" sz="2400" b="0" i="0" dirty="0">
                <a:solidFill>
                  <a:srgbClr val="111827"/>
                </a:solidFill>
              </a:rPr>
              <a:t> the</a:t>
            </a:r>
            <a:r>
              <a:rPr sz="2400" b="0" i="0" dirty="0">
                <a:solidFill>
                  <a:srgbClr val="111827"/>
                </a:solidFill>
              </a:rPr>
              <a:t> project depends on. 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It comes bundled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with Node.js — you don't install it separately.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Every project keeps its own list of packages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in a file called </a:t>
            </a:r>
            <a:r>
              <a:rPr sz="2400" b="0" i="0" dirty="0" err="1">
                <a:solidFill>
                  <a:srgbClr val="111827"/>
                </a:solidFill>
              </a:rPr>
              <a:t>package.json</a:t>
            </a:r>
            <a:r>
              <a:rPr sz="2400" b="0" i="0" dirty="0">
                <a:solidFill>
                  <a:srgbClr val="111827"/>
                </a:solidFill>
              </a:rPr>
              <a:t> (Day 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70341"/>
            <a:ext cx="493776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400">
                <a:solidFill>
                  <a:srgbClr val="FFFFFF"/>
                </a:solidFill>
                <a:latin typeface="Consolas"/>
              </a:rPr>
              <a:t>npm 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39"/>
            <a:ext cx="5486400" cy="500774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48640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42435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 err="1">
                <a:solidFill>
                  <a:srgbClr val="7C3AED"/>
                </a:solidFill>
              </a:rPr>
              <a:t>n</a:t>
            </a:r>
            <a:r>
              <a:rPr sz="2800" b="1" i="0" dirty="0" err="1">
                <a:solidFill>
                  <a:srgbClr val="7C3AED"/>
                </a:solidFill>
              </a:rPr>
              <a:t>px</a:t>
            </a:r>
            <a:r>
              <a:rPr lang="en-US" sz="2800" b="1" i="0" dirty="0">
                <a:solidFill>
                  <a:srgbClr val="7C3AED"/>
                </a:solidFill>
              </a:rPr>
              <a:t>: Node Package Executer</a:t>
            </a:r>
            <a:endParaRPr sz="2800" b="1" i="0" dirty="0">
              <a:solidFill>
                <a:srgbClr val="7C3AED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39" y="2011681"/>
            <a:ext cx="53035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Runs a package once without permanently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installing it. 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Perfect for one-off commands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like creating a brand-new project.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111827"/>
                </a:solidFill>
              </a:rPr>
              <a:t>We use it on Day 2 to scaffold your first app.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59" y="5370341"/>
            <a:ext cx="493776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l"/>
            <a:r>
              <a:rPr sz="2400">
                <a:solidFill>
                  <a:srgbClr val="FFFFFF"/>
                </a:solidFill>
                <a:latin typeface="Consolas"/>
              </a:rPr>
              <a:t>npx create-expo-app@latest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2F20-7501-4423-980F-BBF10B553620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CE66D-1180-3A94-4489-001EFC812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Git &amp; Git Bash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45F14-B127-3441-7FE4-3E77BCC3DE9D}"/>
              </a:ext>
            </a:extLst>
          </p:cNvPr>
          <p:cNvSpPr txBox="1"/>
          <p:nvPr/>
        </p:nvSpPr>
        <p:spPr>
          <a:xfrm>
            <a:off x="434489" y="3207435"/>
            <a:ext cx="74554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0" i="0" dirty="0">
                <a:solidFill>
                  <a:srgbClr val="0000CC"/>
                </a:solidFill>
              </a:rPr>
              <a:t>Version Control and the terminal we type into</a:t>
            </a:r>
          </a:p>
        </p:txBody>
      </p:sp>
    </p:spTree>
    <p:extLst>
      <p:ext uri="{BB962C8B-B14F-4D97-AF65-F5344CB8AC3E}">
        <p14:creationId xmlns:p14="http://schemas.microsoft.com/office/powerpoint/2010/main" val="1626242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Git &amp; Git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199" y="1143000"/>
            <a:ext cx="11520738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800" b="1" i="0" dirty="0">
                <a:solidFill>
                  <a:srgbClr val="111827"/>
                </a:solidFill>
              </a:rPr>
              <a:t>Git</a:t>
            </a:r>
            <a:r>
              <a:rPr sz="2800" b="0" i="0" dirty="0">
                <a:solidFill>
                  <a:srgbClr val="111827"/>
                </a:solidFill>
              </a:rPr>
              <a:t> is version control — it saves snapshots of your project so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you can track changes and never lose work. 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742950" lvl="1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You'll use it later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to pull the Campus Hub starter code.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sz="2800" b="1" i="0" dirty="0">
                <a:solidFill>
                  <a:srgbClr val="111827"/>
                </a:solidFill>
              </a:rPr>
              <a:t>Git Bash </a:t>
            </a:r>
            <a:r>
              <a:rPr sz="2800" b="0" i="0" dirty="0">
                <a:solidFill>
                  <a:srgbClr val="111827"/>
                </a:solidFill>
              </a:rPr>
              <a:t>is a terminal that comes with Git for Windows. 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It gives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Windows the same Unix-style commands 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Mac and Linux already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have — so every student types the exact same commands.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91440" rtlCol="0" anchor="ctr"/>
          <a:lstStyle/>
          <a:p>
            <a:pPr algn="ctr"/>
            <a:r>
              <a:rPr sz="2800">
                <a:solidFill>
                  <a:srgbClr val="FFFFFF"/>
                </a:solidFill>
                <a:latin typeface="Consolas"/>
              </a:rPr>
              <a:t>git --version      →  git version 2.55.0.windows.1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AE71-B8C9-3B4A-6248-7454D3F26640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F986B-F295-5DB7-8669-01E8B744E3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Expo and React Native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36BB3-1935-34A3-6E63-59F6A3D17526}"/>
              </a:ext>
            </a:extLst>
          </p:cNvPr>
          <p:cNvSpPr txBox="1"/>
          <p:nvPr/>
        </p:nvSpPr>
        <p:spPr>
          <a:xfrm>
            <a:off x="434489" y="3207435"/>
            <a:ext cx="74554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0" i="0" dirty="0">
                <a:solidFill>
                  <a:srgbClr val="0000CC"/>
                </a:solidFill>
              </a:rPr>
              <a:t>The framework we build with</a:t>
            </a:r>
          </a:p>
        </p:txBody>
      </p:sp>
    </p:spTree>
    <p:extLst>
      <p:ext uri="{BB962C8B-B14F-4D97-AF65-F5344CB8AC3E}">
        <p14:creationId xmlns:p14="http://schemas.microsoft.com/office/powerpoint/2010/main" val="173173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React Native + Expo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743" y="1143000"/>
            <a:ext cx="9251889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600" b="1" i="0" dirty="0">
                <a:solidFill>
                  <a:srgbClr val="111827"/>
                </a:solidFill>
              </a:rPr>
              <a:t>React Native </a:t>
            </a:r>
            <a:r>
              <a:rPr sz="2600" b="0" i="0" dirty="0">
                <a:solidFill>
                  <a:srgbClr val="111827"/>
                </a:solidFill>
              </a:rPr>
              <a:t>lets you build real iOS and Android apps using</a:t>
            </a:r>
            <a:r>
              <a:rPr lang="en-US" sz="2600" b="0" i="0" dirty="0">
                <a:solidFill>
                  <a:srgbClr val="111827"/>
                </a:solidFill>
              </a:rPr>
              <a:t> </a:t>
            </a:r>
            <a:r>
              <a:rPr sz="2600" b="0" i="0" dirty="0">
                <a:solidFill>
                  <a:srgbClr val="111827"/>
                </a:solidFill>
              </a:rPr>
              <a:t>JavaScript and React — one codebase, both platforms.</a:t>
            </a:r>
          </a:p>
          <a:p>
            <a:pPr marL="285750" indent="-285750" algn="l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sz="2600" b="1" i="0" dirty="0">
                <a:solidFill>
                  <a:srgbClr val="111827"/>
                </a:solidFill>
              </a:rPr>
              <a:t>Expo</a:t>
            </a:r>
            <a:r>
              <a:rPr sz="2600" b="0" i="0" dirty="0">
                <a:solidFill>
                  <a:srgbClr val="111827"/>
                </a:solidFill>
              </a:rPr>
              <a:t> is a </a:t>
            </a:r>
            <a:r>
              <a:rPr lang="en-US" sz="2600" b="0" i="0" dirty="0">
                <a:solidFill>
                  <a:srgbClr val="111827"/>
                </a:solidFill>
              </a:rPr>
              <a:t>React-Native </a:t>
            </a:r>
            <a:r>
              <a:rPr sz="2600" b="0" i="0" dirty="0">
                <a:solidFill>
                  <a:srgbClr val="111827"/>
                </a:solidFill>
              </a:rPr>
              <a:t>framework.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600" b="0" i="0" dirty="0">
                <a:solidFill>
                  <a:srgbClr val="111827"/>
                </a:solidFill>
              </a:rPr>
              <a:t>It handles the hard setup (build tools, native config) so we can</a:t>
            </a:r>
            <a:r>
              <a:rPr lang="en-US" sz="2600" b="0" i="0" dirty="0">
                <a:solidFill>
                  <a:srgbClr val="111827"/>
                </a:solidFill>
              </a:rPr>
              <a:t> </a:t>
            </a:r>
            <a:r>
              <a:rPr sz="2600" b="0" i="0" dirty="0">
                <a:solidFill>
                  <a:srgbClr val="111827"/>
                </a:solidFill>
              </a:rPr>
              <a:t>focus on writing app code. </a:t>
            </a:r>
            <a:endParaRPr lang="en-US" sz="2600" b="0" i="0" dirty="0">
              <a:solidFill>
                <a:srgbClr val="111827"/>
              </a:solidFill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600" b="0" i="0" dirty="0">
                <a:solidFill>
                  <a:srgbClr val="111827"/>
                </a:solidFill>
              </a:rPr>
              <a:t>It's the fastest way to go from zero</a:t>
            </a:r>
            <a:r>
              <a:rPr lang="en-US" sz="2600" b="0" i="0" dirty="0">
                <a:solidFill>
                  <a:srgbClr val="111827"/>
                </a:solidFill>
              </a:rPr>
              <a:t> </a:t>
            </a:r>
            <a:r>
              <a:rPr sz="2600" b="0" i="0" dirty="0">
                <a:solidFill>
                  <a:srgbClr val="111827"/>
                </a:solidFill>
              </a:rPr>
              <a:t>to a running mobile app — perfect for learning.</a:t>
            </a:r>
            <a:endParaRPr lang="en-US" sz="2600" b="0" i="0" dirty="0">
              <a:solidFill>
                <a:srgbClr val="111827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You don't install Expo separately today.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Expo is added automatically into each project when you run create-expo-app (Day 2). </a:t>
            </a:r>
            <a:endParaRPr lang="en-US" sz="2800" b="1" dirty="0">
              <a:solidFill>
                <a:srgbClr val="111827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sz="2600" b="0" i="0" dirty="0">
              <a:solidFill>
                <a:srgbClr val="111827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52F4C5-5925-51FE-7174-49D86DA36504}"/>
              </a:ext>
            </a:extLst>
          </p:cNvPr>
          <p:cNvGrpSpPr/>
          <p:nvPr/>
        </p:nvGrpSpPr>
        <p:grpSpPr>
          <a:xfrm>
            <a:off x="9817140" y="2034540"/>
            <a:ext cx="2144618" cy="2788920"/>
            <a:chOff x="9222076" y="1234440"/>
            <a:chExt cx="2482244" cy="2788920"/>
          </a:xfrm>
        </p:grpSpPr>
        <p:sp>
          <p:nvSpPr>
            <p:cNvPr id="6" name="Rectangle 5"/>
            <p:cNvSpPr/>
            <p:nvPr/>
          </p:nvSpPr>
          <p:spPr>
            <a:xfrm>
              <a:off x="9222076" y="1234440"/>
              <a:ext cx="2482244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9222076" y="1234440"/>
              <a:ext cx="2482244" cy="9144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52042" y="1463040"/>
              <a:ext cx="22236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6B7280"/>
                  </a:solidFill>
                </a:rPr>
                <a:t>Versions we use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252042" y="1874519"/>
              <a:ext cx="222367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>
                  <a:solidFill>
                    <a:srgbClr val="7C3AED"/>
                  </a:solidFill>
                </a:rPr>
                <a:t>Expo SDK 57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252042" y="2514600"/>
              <a:ext cx="2223677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>
                  <a:solidFill>
                    <a:srgbClr val="111827"/>
                  </a:solidFill>
                </a:rPr>
                <a:t>React Native 0.86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252042" y="2926080"/>
              <a:ext cx="2223677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>
                  <a:solidFill>
                    <a:srgbClr val="111827"/>
                  </a:solidFill>
                </a:rPr>
                <a:t>React 19.2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252042" y="3429000"/>
              <a:ext cx="2223677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50" b="0" i="1">
                  <a:solidFill>
                    <a:srgbClr val="6B7280"/>
                  </a:solidFill>
                </a:rPr>
                <a:t>Installed per-project — not global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Expo Go — Your Project on a Real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" y="1100796"/>
            <a:ext cx="1148064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600" b="0" i="0" dirty="0">
                <a:solidFill>
                  <a:srgbClr val="111827"/>
                </a:solidFill>
              </a:rPr>
              <a:t>Expo Go is a free app for iPhone and Android. It runs in-progress project on </a:t>
            </a:r>
            <a:r>
              <a:rPr lang="en-US" sz="2600" b="0" i="0" dirty="0">
                <a:solidFill>
                  <a:srgbClr val="111827"/>
                </a:solidFill>
              </a:rPr>
              <a:t>a physical</a:t>
            </a:r>
            <a:r>
              <a:rPr sz="2600" b="0" i="0" dirty="0">
                <a:solidFill>
                  <a:srgbClr val="111827"/>
                </a:solidFill>
              </a:rPr>
              <a:t> phone</a:t>
            </a:r>
            <a:r>
              <a:rPr lang="en-US" sz="2600" b="0" i="0" dirty="0">
                <a:solidFill>
                  <a:srgbClr val="111827"/>
                </a:solidFill>
              </a:rPr>
              <a:t>  </a:t>
            </a:r>
            <a:r>
              <a:rPr sz="2600" b="0" i="0" dirty="0">
                <a:solidFill>
                  <a:srgbClr val="111827"/>
                </a:solidFill>
              </a:rPr>
              <a:t>without any complicated build step</a:t>
            </a:r>
            <a:endParaRPr lang="en-US" sz="2600" b="0" i="0" dirty="0">
              <a:solidFill>
                <a:srgbClr val="111827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11827"/>
                </a:solidFill>
              </a:rPr>
              <a:t>Just</a:t>
            </a:r>
            <a:r>
              <a:rPr sz="2600" b="0" i="0" dirty="0">
                <a:solidFill>
                  <a:srgbClr val="111827"/>
                </a:solidFill>
              </a:rPr>
              <a:t> scan a QR code and your app opens instantly. </a:t>
            </a:r>
            <a:endParaRPr lang="en-US" sz="2600" b="0" i="0" dirty="0">
              <a:solidFill>
                <a:srgbClr val="111827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sz="2600" b="0" i="0" dirty="0">
                <a:solidFill>
                  <a:srgbClr val="111827"/>
                </a:solidFill>
              </a:rPr>
              <a:t>It's the</a:t>
            </a:r>
            <a:r>
              <a:rPr lang="en-US" sz="2600" b="0" i="0" dirty="0">
                <a:solidFill>
                  <a:srgbClr val="111827"/>
                </a:solidFill>
              </a:rPr>
              <a:t> </a:t>
            </a:r>
            <a:r>
              <a:rPr sz="2600" b="0" i="0" dirty="0">
                <a:solidFill>
                  <a:srgbClr val="111827"/>
                </a:solidFill>
              </a:rPr>
              <a:t>easiest preview option, and the one most students use day to day.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EBE412E-A90E-1BDE-B85D-1225A5081AC2}"/>
              </a:ext>
            </a:extLst>
          </p:cNvPr>
          <p:cNvGrpSpPr/>
          <p:nvPr/>
        </p:nvGrpSpPr>
        <p:grpSpPr>
          <a:xfrm>
            <a:off x="457200" y="2996421"/>
            <a:ext cx="11210544" cy="2437226"/>
            <a:chOff x="457200" y="2996421"/>
            <a:chExt cx="11210544" cy="2437226"/>
          </a:xfrm>
        </p:grpSpPr>
        <p:sp>
          <p:nvSpPr>
            <p:cNvPr id="6" name="Rectangle 5"/>
            <p:cNvSpPr/>
            <p:nvPr/>
          </p:nvSpPr>
          <p:spPr>
            <a:xfrm>
              <a:off x="457200" y="2996421"/>
              <a:ext cx="2651760" cy="243722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" y="2996421"/>
              <a:ext cx="2651760" cy="9144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85800" y="3225021"/>
              <a:ext cx="502920" cy="4572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3253566"/>
              <a:ext cx="502920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3865101"/>
              <a:ext cx="228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>
                  <a:solidFill>
                    <a:srgbClr val="111827"/>
                  </a:solidFill>
                </a:rPr>
                <a:t>Install Expo Go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4368021"/>
              <a:ext cx="233172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i="0" dirty="0">
                  <a:solidFill>
                    <a:srgbClr val="0000CC"/>
                  </a:solidFill>
                </a:rPr>
                <a:t>App Store (iOS) or Google Play (Android)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10128" y="2996421"/>
              <a:ext cx="2651760" cy="243722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10128" y="2996421"/>
              <a:ext cx="2651760" cy="9144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38728" y="3225021"/>
              <a:ext cx="502920" cy="4572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38728" y="3253566"/>
              <a:ext cx="502920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38728" y="3865101"/>
              <a:ext cx="228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>
                  <a:solidFill>
                    <a:srgbClr val="111827"/>
                  </a:solidFill>
                </a:rPr>
                <a:t>Same Wi-Fi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38728" y="4368021"/>
              <a:ext cx="233172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i="0">
                  <a:solidFill>
                    <a:srgbClr val="0000CC"/>
                  </a:solidFill>
                </a:rPr>
                <a:t>Phone and computer on the same network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163056" y="2996421"/>
              <a:ext cx="2651760" cy="243722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163056" y="2996421"/>
              <a:ext cx="2651760" cy="9144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391656" y="3225021"/>
              <a:ext cx="502920" cy="4572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91656" y="3253566"/>
              <a:ext cx="502920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391656" y="3865101"/>
              <a:ext cx="228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>
                  <a:solidFill>
                    <a:srgbClr val="111827"/>
                  </a:solidFill>
                </a:rPr>
                <a:t>Scan the QR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91656" y="4368021"/>
              <a:ext cx="233172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i="0">
                  <a:solidFill>
                    <a:srgbClr val="0000CC"/>
                  </a:solidFill>
                </a:rPr>
                <a:t>The QR code appears when you run npm start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015984" y="2996421"/>
              <a:ext cx="2651760" cy="243722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015984" y="2996421"/>
              <a:ext cx="2651760" cy="9144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244584" y="3225021"/>
              <a:ext cx="502920" cy="4572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244584" y="3253566"/>
              <a:ext cx="502920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244584" y="3865101"/>
              <a:ext cx="228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>
                  <a:solidFill>
                    <a:srgbClr val="111827"/>
                  </a:solidFill>
                </a:rPr>
                <a:t>App opens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244584" y="4368021"/>
              <a:ext cx="233172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i="0">
                  <a:solidFill>
                    <a:srgbClr val="0000CC"/>
                  </a:solidFill>
                </a:rPr>
                <a:t>Your project runs live on your phone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57200" y="5817810"/>
            <a:ext cx="112105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600" b="0" dirty="0"/>
              <a:t>iOS 15.1+ or Android 7+ required. Expo Go works with SDK 57 projects.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A3D6-BE23-1EBC-F682-C594DFAB632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8ABC1-3F0C-CE87-0DA6-6D7601D8DE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Emulators &amp; Simulators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55CDB-0625-9FC5-42E6-81EE5368BC7F}"/>
              </a:ext>
            </a:extLst>
          </p:cNvPr>
          <p:cNvSpPr txBox="1"/>
          <p:nvPr/>
        </p:nvSpPr>
        <p:spPr>
          <a:xfrm>
            <a:off x="284739" y="3341075"/>
            <a:ext cx="76051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0000CC"/>
                </a:solidFill>
              </a:rPr>
              <a:t>Running a phone on your computer screen</a:t>
            </a:r>
          </a:p>
        </p:txBody>
      </p:sp>
    </p:spTree>
    <p:extLst>
      <p:ext uri="{BB962C8B-B14F-4D97-AF65-F5344CB8AC3E}">
        <p14:creationId xmlns:p14="http://schemas.microsoft.com/office/powerpoint/2010/main" val="1620599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Android Studio — The Android Emulator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9429" y="1002320"/>
            <a:ext cx="1166844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An emulator is a full Android phone running in a window on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your computer — no physical device needed. 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It's great for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testing and for anyone who doesn't have an Android phone.</a:t>
            </a:r>
          </a:p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We install Android Studio mainly for two things: the Android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emulator (the AVD) and the Android SDK it manages. Works on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both Windows and Mac.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11827"/>
                </a:solidFill>
              </a:rPr>
              <a:t>You'll create one virtual device (an AVD) in the activity: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Pixel 8 (or similar) with the latest system image is a safe, well-supported choice.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First launch is slow — the emulator boots like a real phone. That's normal.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Needs a fair bit of disk and RAM; close heavy apps while it runs.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11827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Xcode — The iOS Simulator (Mac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69144"/>
            <a:ext cx="11603608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Apple's development toolkit. For us, its key piece is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the iOS Simulator — an iPhone running in a window on a Mac.</a:t>
            </a:r>
          </a:p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It comes from the Mac App Store. It's a large download, so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start it early. You also install “Command Line Tools”, which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include Git and other utilities.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No Mac? No problem. Everything in this course can be completed on Windows using the Android emulator and Expo Go. iOS preview is a bonus for students who own a Mac — it is never required to pass an task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BDE39-EDB5-B17E-B13D-7804CDC4D9CB}"/>
              </a:ext>
            </a:extLst>
          </p:cNvPr>
          <p:cNvSpPr txBox="1"/>
          <p:nvPr/>
        </p:nvSpPr>
        <p:spPr>
          <a:xfrm>
            <a:off x="685800" y="5098322"/>
            <a:ext cx="10972800" cy="954107"/>
          </a:xfrm>
          <a:prstGeom prst="rect">
            <a:avLst/>
          </a:prstGeom>
          <a:solidFill>
            <a:srgbClr val="FF0000"/>
          </a:solidFill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chemeClr val="bg1"/>
                </a:solidFill>
              </a:rPr>
              <a:t>⚠  Xcode runs only on macOS. Windows users cannot install it — use the Android emulator or Expo Go instead.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9760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Three Ways to Preview Your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137036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You only need one to work — having options is a safety 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7958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7958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57998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Web 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52358"/>
            <a:ext cx="17373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85800" y="2172986"/>
            <a:ext cx="17373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Press 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5318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Fastest. Opens in Chrome. Great for quick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3064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 dirty="0">
                <a:solidFill>
                  <a:srgbClr val="0000CC"/>
                </a:solidFill>
              </a:rPr>
              <a:t>Both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37958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37958"/>
            <a:ext cx="356616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557998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</a:rPr>
              <a:t>Expo 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52358"/>
            <a:ext cx="173736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4572000" y="2172986"/>
            <a:ext cx="17373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Scan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75318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Your real phone. Most realistic + easiest.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0119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 dirty="0">
                <a:solidFill>
                  <a:srgbClr val="0000CC"/>
                </a:solidFill>
              </a:rPr>
              <a:t>Both</a:t>
            </a:r>
            <a:endParaRPr sz="2200" b="0" i="1" dirty="0">
              <a:solidFill>
                <a:srgbClr val="0000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29600" y="1237958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237958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1557998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7C3AED"/>
                </a:solidFill>
              </a:rPr>
              <a:t>Emulator / Simulator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152358"/>
            <a:ext cx="1737360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8458200" y="2172986"/>
            <a:ext cx="17373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Press a / </a:t>
            </a:r>
            <a:r>
              <a:rPr sz="2400" b="1" i="0" dirty="0" err="1">
                <a:solidFill>
                  <a:srgbClr val="FFFFFF"/>
                </a:solidFill>
              </a:rPr>
              <a:t>i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58200" y="2975318"/>
            <a:ext cx="3337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Android Studio (a) or Xcode (</a:t>
            </a:r>
            <a:r>
              <a:rPr sz="2400" b="0" i="0" dirty="0" err="1">
                <a:solidFill>
                  <a:srgbClr val="111827"/>
                </a:solidFill>
              </a:rPr>
              <a:t>i</a:t>
            </a:r>
            <a:r>
              <a:rPr sz="2400" b="0" i="0" dirty="0">
                <a:solidFill>
                  <a:srgbClr val="111827"/>
                </a:solidFill>
              </a:rPr>
              <a:t>). No phone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30119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 dirty="0">
                <a:solidFill>
                  <a:srgbClr val="0000CC"/>
                </a:solidFill>
              </a:rPr>
              <a:t>a=Both, </a:t>
            </a:r>
            <a:r>
              <a:rPr sz="2400" b="0" i="1" dirty="0" err="1">
                <a:solidFill>
                  <a:srgbClr val="0000CC"/>
                </a:solidFill>
              </a:rPr>
              <a:t>i</a:t>
            </a:r>
            <a:r>
              <a:rPr sz="2400" b="0" i="1" dirty="0">
                <a:solidFill>
                  <a:srgbClr val="0000CC"/>
                </a:solidFill>
              </a:rPr>
              <a:t>=Mac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VS Code — Where You Write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199" y="1143000"/>
            <a:ext cx="11731625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800" b="0" i="0" dirty="0" err="1">
                <a:solidFill>
                  <a:srgbClr val="111827"/>
                </a:solidFill>
              </a:rPr>
              <a:t>ViS</a:t>
            </a:r>
            <a:r>
              <a:rPr sz="2800" b="0" i="0" dirty="0">
                <a:solidFill>
                  <a:srgbClr val="111827"/>
                </a:solidFill>
              </a:rPr>
              <a:t> Code is a free, lightweight code editor from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Microsoft. It's the standard editor for this course and across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the industry.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111827"/>
                </a:solidFill>
              </a:rPr>
              <a:t>It has a built-in terminal, so you can type your Expo commands</a:t>
            </a:r>
            <a:r>
              <a:rPr lang="en-US" sz="2800" b="0" i="0" dirty="0">
                <a:solidFill>
                  <a:srgbClr val="111827"/>
                </a:solidFill>
              </a:rPr>
              <a:t> </a:t>
            </a:r>
            <a:r>
              <a:rPr sz="2800" b="0" i="0" dirty="0">
                <a:solidFill>
                  <a:srgbClr val="111827"/>
                </a:solidFill>
              </a:rPr>
              <a:t>right next to your code — no switching windows.</a:t>
            </a:r>
            <a:endParaRPr lang="en-US" sz="2800" b="0" i="0" dirty="0">
              <a:solidFill>
                <a:srgbClr val="111827"/>
              </a:solidFill>
            </a:endParaRP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11827"/>
                </a:solidFill>
              </a:rPr>
              <a:t>Helpful extensions to add: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11827"/>
                </a:solidFill>
              </a:rPr>
              <a:t>ESLint</a:t>
            </a:r>
            <a:r>
              <a:rPr lang="en-US" sz="2800" dirty="0">
                <a:solidFill>
                  <a:srgbClr val="111827"/>
                </a:solidFill>
              </a:rPr>
              <a:t> — flags mistakes as you type.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Prettier — auto-formats your code on save.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React Native Tools — snippets and debugging help.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11827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1182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11182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800" b="0" i="0" dirty="0">
              <a:solidFill>
                <a:srgbClr val="111827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80051" y="5416060"/>
            <a:ext cx="80928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dirty="0">
                <a:solidFill>
                  <a:srgbClr val="0000CC"/>
                </a:solidFill>
              </a:rPr>
              <a:t>Already have a preferred editor? That's fine — but the course demos all use VS Code.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922B5-184C-7524-5F28-B7E6E1FD8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AC8098-3300-957B-0961-83C4B1B6DC43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85953-0EBB-26CF-63DF-D4422297B09B}"/>
              </a:ext>
            </a:extLst>
          </p:cNvPr>
          <p:cNvSpPr txBox="1"/>
          <p:nvPr/>
        </p:nvSpPr>
        <p:spPr>
          <a:xfrm>
            <a:off x="457200" y="213828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Version Cheat-Sheet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1D7B3-28C7-6484-4E37-337CB0D691D5}"/>
              </a:ext>
            </a:extLst>
          </p:cNvPr>
          <p:cNvSpPr txBox="1"/>
          <p:nvPr/>
        </p:nvSpPr>
        <p:spPr>
          <a:xfrm>
            <a:off x="457200" y="896112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/>
              <a:t>The exact versions we standardize on — confirmed current for Fall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B1A5A8-4292-A65F-60E6-9A125DFA5954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10D67F1-9E13-CE19-8F4F-26BD688C3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37912"/>
              </p:ext>
            </p:extLst>
          </p:nvPr>
        </p:nvGraphicFramePr>
        <p:xfrm>
          <a:off x="292163" y="1562569"/>
          <a:ext cx="11482495" cy="4580920"/>
        </p:xfrm>
        <a:graphic>
          <a:graphicData uri="http://schemas.openxmlformats.org/drawingml/2006/table">
            <a:tbl>
              <a:tblPr/>
              <a:tblGrid>
                <a:gridCol w="2211886">
                  <a:extLst>
                    <a:ext uri="{9D8B030D-6E8A-4147-A177-3AD203B41FA5}">
                      <a16:colId xmlns:a16="http://schemas.microsoft.com/office/drawing/2014/main" val="2762286325"/>
                    </a:ext>
                  </a:extLst>
                </a:gridCol>
                <a:gridCol w="3024554">
                  <a:extLst>
                    <a:ext uri="{9D8B030D-6E8A-4147-A177-3AD203B41FA5}">
                      <a16:colId xmlns:a16="http://schemas.microsoft.com/office/drawing/2014/main" val="478758379"/>
                    </a:ext>
                  </a:extLst>
                </a:gridCol>
                <a:gridCol w="6246055">
                  <a:extLst>
                    <a:ext uri="{9D8B030D-6E8A-4147-A177-3AD203B41FA5}">
                      <a16:colId xmlns:a16="http://schemas.microsoft.com/office/drawing/2014/main" val="43856731"/>
                    </a:ext>
                  </a:extLst>
                </a:gridCol>
              </a:tblGrid>
              <a:tr h="329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</a:rPr>
                        <a:t>Tool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</a:rPr>
                        <a:t>Version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</a:rPr>
                        <a:t>Where to Get It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039842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effectLst/>
                        </a:rPr>
                        <a:t>Node.js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rgbClr val="0000CC"/>
                          </a:solidFill>
                          <a:effectLst/>
                        </a:rPr>
                        <a:t>24 LTS (24.19.0)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</a:rPr>
                        <a:t>nodejs.org (download the LTS version)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40529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 err="1">
                          <a:solidFill>
                            <a:schemeClr val="bg1"/>
                          </a:solidFill>
                          <a:effectLst/>
                        </a:rPr>
                        <a:t>npm</a:t>
                      </a:r>
                      <a:endParaRPr lang="en-US" sz="22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rgbClr val="0000CC"/>
                          </a:solidFill>
                          <a:effectLst/>
                        </a:rPr>
                        <a:t>11.x (Ship with Node.js)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Installed automatically with Node.js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501467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effectLst/>
                        </a:rPr>
                        <a:t>Git for Windows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rgbClr val="0000CC"/>
                          </a:solidFill>
                          <a:effectLst/>
                        </a:rPr>
                        <a:t>2.55.0.3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git-scm.com / gitforwindows.org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353486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effectLst/>
                        </a:rPr>
                        <a:t>Expo SDK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rgbClr val="0000CC"/>
                          </a:solidFill>
                          <a:effectLst/>
                        </a:rPr>
                        <a:t>57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</a:rPr>
                        <a:t>Added automatically when creating an Expo project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820946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effectLst/>
                        </a:rPr>
                        <a:t>React Native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rgbClr val="0000CC"/>
                          </a:solidFill>
                          <a:effectLst/>
                        </a:rPr>
                        <a:t>0.86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</a:rPr>
                        <a:t>Installed with Expo SDK 57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406550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effectLst/>
                        </a:rPr>
                        <a:t>Android Studio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rgbClr val="0000CC"/>
                          </a:solidFill>
                          <a:effectLst/>
                        </a:rPr>
                        <a:t>Quail 3 (2026.1.3)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</a:rPr>
                        <a:t>developer.android.com/studio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323435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effectLst/>
                        </a:rPr>
                        <a:t>Xcode (Mac only)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rgbClr val="0000CC"/>
                          </a:solidFill>
                          <a:effectLst/>
                        </a:rPr>
                        <a:t>26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</a:rPr>
                        <a:t>Mac App Store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052854"/>
                  </a:ext>
                </a:extLst>
              </a:tr>
              <a:tr h="329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effectLst/>
                        </a:rPr>
                        <a:t>VS Code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rgbClr val="0000CC"/>
                          </a:solidFill>
                          <a:effectLst/>
                        </a:rPr>
                        <a:t>Latest</a:t>
                      </a: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200" dirty="0">
                          <a:effectLst/>
                        </a:rPr>
                        <a:t>code.visualstudio.com</a:t>
                      </a:r>
                      <a:endParaRPr lang="en-US" sz="2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2290" marR="82290" marT="41145" marB="41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460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055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98474" y="274320"/>
            <a:ext cx="122874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</a:rPr>
              <a:t>Activity: Set Up Your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6437" y="1569719"/>
            <a:ext cx="11338559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sz="3200" b="0" i="0" dirty="0">
                <a:solidFill>
                  <a:schemeClr val="bg1"/>
                </a:solidFill>
              </a:rPr>
              <a:t>Follow the </a:t>
            </a:r>
            <a:r>
              <a:rPr lang="en-US" sz="3200" b="0" i="0" dirty="0">
                <a:solidFill>
                  <a:schemeClr val="bg1"/>
                </a:solidFill>
              </a:rPr>
              <a:t>step-by-step “</a:t>
            </a:r>
            <a:r>
              <a:rPr lang="en-US" sz="3200" b="1" i="0" dirty="0">
                <a:solidFill>
                  <a:srgbClr val="FFFF00"/>
                </a:solidFill>
              </a:rPr>
              <a:t>Mobile </a:t>
            </a:r>
            <a:r>
              <a:rPr lang="en-US" sz="3200" b="1" dirty="0">
                <a:solidFill>
                  <a:srgbClr val="FFFF00"/>
                </a:solidFill>
              </a:rPr>
              <a:t>App Development Environment </a:t>
            </a:r>
            <a:r>
              <a:rPr lang="en-US" sz="3200" b="1" i="0" dirty="0">
                <a:solidFill>
                  <a:srgbClr val="FFFF00"/>
                </a:solidFill>
              </a:rPr>
              <a:t>Setup</a:t>
            </a:r>
            <a:r>
              <a:rPr lang="en-US" sz="3200" b="0" i="0" dirty="0">
                <a:solidFill>
                  <a:schemeClr val="bg1"/>
                </a:solidFill>
              </a:rPr>
              <a:t>”  document</a:t>
            </a:r>
            <a:r>
              <a:rPr sz="3200" b="0" i="0" dirty="0">
                <a:solidFill>
                  <a:schemeClr val="bg1"/>
                </a:solidFill>
              </a:rPr>
              <a:t> </a:t>
            </a:r>
            <a:r>
              <a:rPr lang="en-US" sz="3200" b="0" i="0" dirty="0">
                <a:solidFill>
                  <a:schemeClr val="bg1"/>
                </a:solidFill>
              </a:rPr>
              <a:t>to i</a:t>
            </a:r>
            <a:r>
              <a:rPr sz="3200" b="0" i="0" dirty="0">
                <a:solidFill>
                  <a:schemeClr val="bg1"/>
                </a:solidFill>
              </a:rPr>
              <a:t>nstall Node, Git, VS Code, Expo Go, and your</a:t>
            </a:r>
            <a:r>
              <a:rPr lang="en-US" sz="3200" b="0" i="0" dirty="0">
                <a:solidFill>
                  <a:schemeClr val="bg1"/>
                </a:solidFill>
              </a:rPr>
              <a:t> </a:t>
            </a:r>
            <a:r>
              <a:rPr sz="3200" b="0" i="0" dirty="0">
                <a:solidFill>
                  <a:schemeClr val="bg1"/>
                </a:solidFill>
              </a:rPr>
              <a:t>emulator (Android Studio, plus Xcode on Mac). </a:t>
            </a:r>
            <a:endParaRPr lang="en-US" sz="3200" b="0" i="0" dirty="0">
              <a:solidFill>
                <a:schemeClr val="bg1"/>
              </a:solidFill>
            </a:endParaRPr>
          </a:p>
          <a:p>
            <a:pPr marL="342900" indent="-342900" algn="l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sz="3200" b="0" i="0" dirty="0">
                <a:solidFill>
                  <a:schemeClr val="bg1"/>
                </a:solidFill>
              </a:rPr>
              <a:t>Verify each one with the check commands.</a:t>
            </a:r>
          </a:p>
          <a:p>
            <a:pPr marL="342900" indent="-3429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sz="3200" b="0" i="0" dirty="0">
                <a:solidFill>
                  <a:schemeClr val="bg1"/>
                </a:solidFill>
              </a:rPr>
              <a:t>Finish the checklist at the end — you'll need a working </a:t>
            </a:r>
            <a:r>
              <a:rPr lang="en-US" sz="3200" dirty="0">
                <a:solidFill>
                  <a:schemeClr val="bg1"/>
                </a:solidFill>
              </a:rPr>
              <a:t>development environment f</a:t>
            </a:r>
            <a:r>
              <a:rPr sz="3200" b="0" i="0" dirty="0">
                <a:solidFill>
                  <a:schemeClr val="bg1"/>
                </a:solidFill>
              </a:rPr>
              <a:t>or </a:t>
            </a:r>
            <a:r>
              <a:rPr lang="en-US" sz="3200" b="0" i="0" dirty="0">
                <a:solidFill>
                  <a:schemeClr val="bg1"/>
                </a:solidFill>
              </a:rPr>
              <a:t>the following days</a:t>
            </a:r>
            <a:r>
              <a:rPr sz="3200" b="0" i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50496"/>
            <a:ext cx="7712197" cy="523220"/>
          </a:xfrm>
          <a:prstGeom prst="rect">
            <a:avLst/>
          </a:prstGeom>
          <a:solidFill>
            <a:srgbClr val="0000CC"/>
          </a:solidFill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Goal:  node -v, </a:t>
            </a:r>
            <a:r>
              <a:rPr sz="2800" b="1" i="0" dirty="0" err="1">
                <a:solidFill>
                  <a:srgbClr val="FFFFFF"/>
                </a:solidFill>
              </a:rPr>
              <a:t>npm</a:t>
            </a:r>
            <a:r>
              <a:rPr sz="2800" b="1" i="0" dirty="0">
                <a:solidFill>
                  <a:srgbClr val="FFFFFF"/>
                </a:solidFill>
              </a:rPr>
              <a:t> -v, and git --version all respond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FDA0-DCB7-0041-21D8-A4DA2CFA74B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82F44-00CE-7962-0BF3-17AFA84A34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4739" y="2448355"/>
            <a:ext cx="7605197" cy="980646"/>
          </a:xfrm>
        </p:spPr>
        <p:txBody>
          <a:bodyPr>
            <a:noAutofit/>
          </a:bodyPr>
          <a:lstStyle/>
          <a:p>
            <a:pPr algn="ctr"/>
            <a:r>
              <a:rPr lang="en-CA" b="1" dirty="0"/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FF96B-7D5C-8154-FDE3-680AC2C6F4EE}"/>
              </a:ext>
            </a:extLst>
          </p:cNvPr>
          <p:cNvSpPr txBox="1"/>
          <p:nvPr/>
        </p:nvSpPr>
        <p:spPr>
          <a:xfrm>
            <a:off x="284739" y="3566160"/>
            <a:ext cx="7888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0000CC"/>
                </a:solidFill>
              </a:rPr>
              <a:t>Next: creating and running your first Expo project</a:t>
            </a:r>
          </a:p>
        </p:txBody>
      </p:sp>
    </p:spTree>
    <p:extLst>
      <p:ext uri="{BB962C8B-B14F-4D97-AF65-F5344CB8AC3E}">
        <p14:creationId xmlns:p14="http://schemas.microsoft.com/office/powerpoint/2010/main" val="30711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1509</Words>
  <Application>Microsoft Office PowerPoint</Application>
  <PresentationFormat>Custom</PresentationFormat>
  <Paragraphs>231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Consolas</vt:lpstr>
      <vt:lpstr>Segoe UI</vt:lpstr>
      <vt:lpstr>Titillium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2026-08-25T00:54:02Z</dcterms:created>
  <dcterms:modified xsi:type="dcterms:W3CDTF">2026-08-25T00:54:13Z</dcterms:modified>
  <cp:category/>
</cp:coreProperties>
</file>