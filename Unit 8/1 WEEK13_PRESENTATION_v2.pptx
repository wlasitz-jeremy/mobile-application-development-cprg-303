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4BE87-F66D-48F6-848D-74AA074B4C7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A1227-2BA0-49AF-A07A-EBBB21656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- If the expression evaluates to true → the row is returned</a:t>
            </a:r>
          </a:p>
          <a:p>
            <a:r>
              <a:rPr lang="en-US" dirty="0"/>
              <a:t>  - If the expression evaluates to false → the row is silently dropped, as if it doesn't exist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A1227-2BA0-49AF-A07A-EBBB21656C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0116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WEEK 13 OF 14  · 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05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Week 13: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116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60A5FA"/>
                </a:solidFill>
                <a:latin typeface="Calibri"/>
              </a:rPr>
              <a:t>Supabase Database +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2461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BEAFE"/>
                </a:solidFill>
                <a:latin typeface="Calibri"/>
              </a:rPr>
              <a:t>Real Courses  ·  Real Grades  ·  Real Time  —  The Hardcoded Era Is 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4041648"/>
            <a:ext cx="438912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Campus Hub  ·  Mobile Development  ·  React Native + Expo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6232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10512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0984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55264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45736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Camera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9992" y="51663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34272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Calibri"/>
              </a:rPr>
              <a:t>W13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BEAFE"/>
                </a:solidFill>
                <a:latin typeface="Calibri"/>
              </a:rPr>
              <a:t>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24744" y="516636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79024" y="5449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4" y="5715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4 hours  ·  2 sessions  ·  The app gets a real 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2120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548640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1338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Day 1  —  Database Design +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971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Why a join table? — The grade problem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Create 4 tables in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Supabase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SQL Editor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Row Level Security — database-enforced isolation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Seed courses, deadlines, announcements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Build lib/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db.ts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— the database layer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Update courses list — real data + optimistic 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47472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1097280"/>
            <a:ext cx="5394960" cy="52120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9672" y="1097280"/>
            <a:ext cx="5394960" cy="548640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11338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Day 2  —  Real-Time + All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2871216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Polling vs Real-Time — why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WebSockets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win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Live grade updates with no tap needed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Course detail — real grade + attendance %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Home dashboard — live deadline + attendance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useRef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pattern — stable callbacks in effects</a:t>
            </a:r>
          </a:p>
          <a:p>
            <a:pPr algn="l"/>
            <a:r>
              <a:rPr sz="1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Full app demo — every screen driven by real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The app has auth but the data is fake — everyone sees the same hardcoded 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5394960" cy="5303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51560"/>
            <a:ext cx="5394960" cy="475488"/>
          </a:xfrm>
          <a:prstGeom prst="roundRect">
            <a:avLst>
              <a:gd name="adj" fmla="val 3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698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Before (Week 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Hardcoded COURSES array in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api.ts</a:t>
            </a:r>
            <a:endParaRPr sz="140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Grade "B+" is the same for every student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Attendance "36/42" is a lie — not real data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Same courses on every device, every login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No connection between the user and their data</a:t>
            </a:r>
          </a:p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Changing data = editing the source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1051560"/>
            <a:ext cx="5394960" cy="5303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19672" y="1051560"/>
            <a:ext cx="5394960" cy="475488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0698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After (Week 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802636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Real Postgres tables in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Supabase</a:t>
            </a:r>
            <a:endParaRPr sz="140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Your grade is YOUR row — not shared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Attendance comes from the database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Each student sees only their own courses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Change a value in </a:t>
            </a:r>
            <a:r>
              <a:rPr sz="1400" dirty="0" err="1">
                <a:solidFill>
                  <a:srgbClr val="111827"/>
                </a:solidFill>
                <a:latin typeface="Calibri"/>
              </a:rPr>
              <a:t>Supabase</a:t>
            </a:r>
            <a:r>
              <a:rPr sz="1400" dirty="0">
                <a:solidFill>
                  <a:srgbClr val="111827"/>
                </a:solidFill>
                <a:latin typeface="Calibri"/>
              </a:rPr>
              <a:t> → app updates live</a:t>
            </a:r>
          </a:p>
          <a:p>
            <a:pPr algn="l"/>
            <a:r>
              <a:rPr sz="14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400" dirty="0">
                <a:solidFill>
                  <a:srgbClr val="111827"/>
                </a:solidFill>
                <a:latin typeface="Calibri"/>
              </a:rPr>
              <a:t>The hardcoded era is 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474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a Relational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Like a spreadsheet — but on a server, persistent, shared, and enforces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2743200" cy="5120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80160" y="13258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6032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Like a spreadsheet — rows are records, columns are fields. Each table stores one type of 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43000"/>
            <a:ext cx="2743200" cy="5120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06240" y="13258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6032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Tables can reference each other through foreign keys — linking courses to enrollments to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143000"/>
            <a:ext cx="2743200" cy="5120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0" y="13258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6032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Constraints like UNIQUE and NOT NULL make invalid data structurally impossible.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143000"/>
            <a:ext cx="2743200" cy="5120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58400" y="13258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Persistent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032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Data survives app restarts, updates, and deploys. One change — everyone sees it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Wrong Design — Grade on the Courses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"Grade" is per-student, not per-course. One wrong table ruins everything.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46634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Wrong Design — grade on courses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0292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courses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39112"/>
            <a:ext cx="50292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675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315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grade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86584"/>
            <a:ext cx="50292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675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Mobile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315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???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" y="3977640"/>
            <a:ext cx="5175504" cy="286207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385" y="34930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DC2626"/>
                </a:solidFill>
                <a:latin typeface="Calibri"/>
              </a:rPr>
              <a:t>Why this breaks: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87952"/>
            <a:ext cx="408736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30 students take CPRG-303</a:t>
            </a:r>
          </a:p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There is ONE row for the course</a:t>
            </a:r>
          </a:p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There is ONE grade column</a:t>
            </a:r>
          </a:p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It can hold ONE value</a:t>
            </a:r>
          </a:p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Updating Student A overwrites Student B</a:t>
            </a:r>
          </a:p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This is a structural impossibility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097280"/>
            <a:ext cx="5029200" cy="50292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115568"/>
            <a:ext cx="46634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Correct Design — grade on enrollments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691640"/>
            <a:ext cx="50292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69164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enrollments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039112"/>
            <a:ext cx="50292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user_id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467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course_id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1072" y="2039112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grade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386584"/>
            <a:ext cx="50292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467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1072" y="2386584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B+  ← Student 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734056"/>
            <a:ext cx="50292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2734056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4672" y="2734056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1072" y="2734056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A-  ← Student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081528"/>
            <a:ext cx="50292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48272" y="3081528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4672" y="3081528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1072" y="3081528"/>
            <a:ext cx="160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C+  ← Student 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5016" y="3977640"/>
            <a:ext cx="5099304" cy="271576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34930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Why this works: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4187952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Each student gets their own row</a:t>
            </a:r>
          </a:p>
          <a:p>
            <a:pPr algn="l"/>
            <a:r>
              <a:rPr sz="13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Updating Student A only touches UUID-A</a:t>
            </a:r>
          </a:p>
          <a:p>
            <a:pPr algn="l"/>
            <a:r>
              <a:rPr sz="13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UUID-B and UUID-C are untouched</a:t>
            </a:r>
          </a:p>
          <a:p>
            <a:pPr algn="l"/>
            <a:r>
              <a:rPr sz="13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The data is private per student</a:t>
            </a:r>
          </a:p>
          <a:p>
            <a:pPr algn="l"/>
            <a:r>
              <a:rPr sz="1300" b="1" dirty="0">
                <a:solidFill>
                  <a:srgbClr val="16A34A"/>
                </a:solidFill>
                <a:latin typeface="Calibri"/>
              </a:rPr>
              <a:t>•  </a:t>
            </a:r>
            <a:r>
              <a:rPr sz="1300" dirty="0">
                <a:solidFill>
                  <a:srgbClr val="111827"/>
                </a:solidFill>
                <a:latin typeface="Calibri"/>
              </a:rPr>
              <a:t>This is the correct data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768596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Report Card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Why a join table? Think about how a school actually organizes grades.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560320" cy="2377440"/>
          </a:xfrm>
          <a:prstGeom prst="roundRect">
            <a:avLst>
              <a:gd name="adj" fmla="val 3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Calibri"/>
              </a:rPr>
              <a:t>Knows the course catalog.
CPRG-303 exists.
Has a title, instructor,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1280160"/>
            <a:ext cx="2560320" cy="2377440"/>
          </a:xfrm>
          <a:prstGeom prst="roundRect">
            <a:avLst>
              <a:gd name="adj" fmla="val 30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938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9572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9FE"/>
                </a:solidFill>
                <a:latin typeface="Calibri"/>
              </a:rPr>
              <a:t>Has a name, email, UUID.
Is a real human.
Has nothing to do with grades.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3474720" cy="237744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444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Report Card  =  enrollments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395728"/>
            <a:ext cx="31455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CE7"/>
                </a:solidFill>
                <a:latin typeface="Calibri"/>
              </a:rPr>
              <a:t>Connects the student to the course.
Holds the grade.
Holds attendance.
Every student has their own.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496312"/>
            <a:ext cx="16276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53712" y="2423160"/>
            <a:ext cx="201168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93945" y="2463393"/>
            <a:ext cx="160934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34179" y="2503627"/>
            <a:ext cx="120700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74412" y="2543860"/>
            <a:ext cx="80467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14646" y="2584094"/>
            <a:ext cx="40233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21671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connects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2414016"/>
            <a:ext cx="80467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57032" y="2423160"/>
            <a:ext cx="201168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97265" y="2463393"/>
            <a:ext cx="160934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37499" y="2503627"/>
            <a:ext cx="120700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77732" y="2543860"/>
            <a:ext cx="80467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7966" y="2584094"/>
            <a:ext cx="40233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26080" y="2862072"/>
            <a:ext cx="1627632" cy="54864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53712" y="2788920"/>
            <a:ext cx="201168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93945" y="2829153"/>
            <a:ext cx="160934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34179" y="2869387"/>
            <a:ext cx="120700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74412" y="2909620"/>
            <a:ext cx="80467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14646" y="2949854"/>
            <a:ext cx="40233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0" y="253288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92EE5"/>
                </a:solidFill>
                <a:latin typeface="Calibri"/>
              </a:rPr>
              <a:t>connects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840480"/>
            <a:ext cx="11567160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0233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In Campus Hub: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4462272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462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School  =  courses table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46120" y="4462272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4462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Student  =  auth.users 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462272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4462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Report Card  =  enrollments table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462272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35440" y="4462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Grade  =  enrollments.grade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Foreign Keys — How Tables Reference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A foreign key is a column that points to a row in another table. The database enforces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20040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courses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3200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490472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id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4272" y="1490472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1072" y="1490472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37944"/>
            <a:ext cx="32004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837944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4272" y="1837944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CPRG-216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1072" y="1837944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Database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85416"/>
            <a:ext cx="3200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185416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4272" y="2185416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1072" y="2185416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Mobile Dev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32888"/>
            <a:ext cx="32004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2532888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4272" y="2532888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1072" y="2532888"/>
            <a:ext cx="993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Web Dev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3200400" cy="347472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749039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auth.users  (managed by Supabase)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96511"/>
            <a:ext cx="3200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4096511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id (PK)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4096511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43983"/>
            <a:ext cx="320040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443983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4443983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alice@...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91455"/>
            <a:ext cx="320040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4791455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4791455"/>
            <a:ext cx="1527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bob@...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1737360"/>
            <a:ext cx="47548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98848" y="173736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enrollments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2084832"/>
            <a:ext cx="47548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62272" y="208483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user_id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8" y="208483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course_id (FK)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208483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grade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08483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attended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2084832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432304"/>
            <a:ext cx="47548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62272" y="2432304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3248" y="2432304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2432304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2432304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2432304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779776"/>
            <a:ext cx="47548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62272" y="2779776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3248" y="2779776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2779776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2779776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6" y="2779776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127248"/>
            <a:ext cx="47548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62272" y="3127248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UUID-A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13248" y="3127248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3127248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3127248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3127248"/>
            <a:ext cx="877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1143000"/>
            <a:ext cx="23774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710928" y="114300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deadlines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1490472"/>
            <a:ext cx="23774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149047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course_id (FK)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63072" y="149047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title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0" y="1837944"/>
            <a:ext cx="2377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74352" y="1837944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63072" y="1837944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Assignment 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01200" y="2185416"/>
            <a:ext cx="23774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74352" y="2185416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63072" y="2185416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Quiz 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2221992"/>
            <a:ext cx="62179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142232" y="2148840"/>
            <a:ext cx="201168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182465" y="2189073"/>
            <a:ext cx="160934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222699" y="2229307"/>
            <a:ext cx="120700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262932" y="2269540"/>
            <a:ext cx="80467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303166" y="2309774"/>
            <a:ext cx="40233" cy="4023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20440" y="18928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Calibri"/>
              </a:rPr>
              <a:t>course_id 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0440" y="4233672"/>
            <a:ext cx="621792" cy="54864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142232" y="4160520"/>
            <a:ext cx="201168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182465" y="4200753"/>
            <a:ext cx="160934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222699" y="4240987"/>
            <a:ext cx="120700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262932" y="4281220"/>
            <a:ext cx="80467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03166" y="4321454"/>
            <a:ext cx="40233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20440" y="39044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92EE5"/>
                </a:solidFill>
                <a:latin typeface="Calibri"/>
              </a:rPr>
              <a:t>user_id 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89720" y="2221992"/>
            <a:ext cx="16459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354312" y="2148840"/>
            <a:ext cx="201168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394545" y="2189073"/>
            <a:ext cx="160934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434779" y="2229307"/>
            <a:ext cx="120700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475012" y="2269540"/>
            <a:ext cx="80467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515246" y="2309774"/>
            <a:ext cx="40233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389120" y="4754880"/>
            <a:ext cx="7589520" cy="187451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0" y="48463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What a foreign key guarantees: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5230368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You cannot enroll in a course that does not exist — the database rejects the insert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If a user is deleted, all their enrollments are automatically deleted too (cascade)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Unique(user_id, course_id) — one enrollment row per student per course, enforced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4 Tables of Campus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Every table has one job. Data is stored exactly once, in the right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188720"/>
            <a:ext cx="2926080" cy="2103120"/>
          </a:xfrm>
          <a:prstGeom prst="roundRect">
            <a:avLst>
              <a:gd name="adj" fmla="val 20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1887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auth.users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E9FE"/>
                </a:solidFill>
                <a:latin typeface="Calibri"/>
              </a:rPr>
              <a:t>• id (UUID, primary key)
• email
• password (hashed)
Managed by Supabase Auth.
Never touch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3657600"/>
            <a:ext cx="2926080" cy="274320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36576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33087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Calibri"/>
              </a:rPr>
              <a:t>• id (UUID, PK)
• code  (CPRG-303)
• title
• instructor
• schedule
• room
Shared catalog. Same for everyone.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83080"/>
            <a:ext cx="3749039" cy="3657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7830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enrollments  ← the join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8600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CE7"/>
                </a:solidFill>
                <a:latin typeface="Calibri"/>
              </a:rPr>
              <a:t>• id (UUID, PK)
• user_id  → auth.users
• course_id  → courses
• grade
• attendance_attended
• attendance_total
• created_at
One row per student per course.
Holds per-student data.
This is the join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188720"/>
            <a:ext cx="3291840" cy="22860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11887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deadlines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664208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Calibri"/>
              </a:rPr>
              <a:t>• id (UUID, PK)
• course_id  → courses
• title
• due_date
Belongs to a course.
All enrolled students see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794760"/>
            <a:ext cx="3291840" cy="2560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7947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announcements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270248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FBF1"/>
                </a:solidFill>
                <a:latin typeface="Calibri"/>
              </a:rPr>
              <a:t>• id (UUID, PK)
• course_id  → courses
• body (the message text)
• created_at
Belongs to a course.
All enrolled students see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76272"/>
            <a:ext cx="713232" cy="54864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13632" y="2103120"/>
            <a:ext cx="201168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53865" y="2143353"/>
            <a:ext cx="160934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94099" y="2183587"/>
            <a:ext cx="120700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34332" y="2223820"/>
            <a:ext cx="80467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74566" y="2264054"/>
            <a:ext cx="40233" cy="40233"/>
          </a:xfrm>
          <a:prstGeom prst="rect">
            <a:avLst/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18470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92EE5"/>
                </a:solidFill>
                <a:latin typeface="Calibri"/>
              </a:rPr>
              <a:t>user_id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370832"/>
            <a:ext cx="71323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13632" y="4297680"/>
            <a:ext cx="201168" cy="40233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53865" y="4337913"/>
            <a:ext cx="160934" cy="40233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994099" y="4378147"/>
            <a:ext cx="120700" cy="40233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34332" y="4418380"/>
            <a:ext cx="80467" cy="40233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74566" y="4458614"/>
            <a:ext cx="40233" cy="40233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40416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40AF"/>
                </a:solidFill>
                <a:latin typeface="Calibri"/>
              </a:rPr>
              <a:t>course_id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633472"/>
            <a:ext cx="39319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48471" y="2560320"/>
            <a:ext cx="201168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88704" y="2600553"/>
            <a:ext cx="160934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428938" y="2640787"/>
            <a:ext cx="120700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469171" y="2681020"/>
            <a:ext cx="80467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509405" y="2721254"/>
            <a:ext cx="40233" cy="4023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79" y="23042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Calibri"/>
              </a:rPr>
              <a:t>course_id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4736592"/>
            <a:ext cx="39319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48471" y="4663440"/>
            <a:ext cx="201168" cy="402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88704" y="4703673"/>
            <a:ext cx="160934" cy="402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28938" y="4743907"/>
            <a:ext cx="120700" cy="402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69171" y="4784140"/>
            <a:ext cx="80467" cy="402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509405" y="4824374"/>
            <a:ext cx="40233" cy="402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55279" y="440740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Calibri"/>
              </a:rPr>
              <a:t>course_id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Row Level Security (RLS)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The database enforces "you can only see your own data" — not your app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Without 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19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App sends: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103120"/>
            <a:ext cx="4937760" cy="5029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4572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SELECT * FROM enrollments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97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Database returns: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090672"/>
            <a:ext cx="4937760" cy="320040"/>
          </a:xfrm>
          <a:prstGeom prst="rect">
            <a:avLst/>
          </a:prstGeom>
          <a:solidFill>
            <a:srgbClr val="4B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UUID-A  →  grade: 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419856"/>
            <a:ext cx="4937760" cy="320040"/>
          </a:xfrm>
          <a:prstGeom prst="rect">
            <a:avLst/>
          </a:prstGeom>
          <a:solidFill>
            <a:srgbClr val="4B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UUID-B  →  grade: A-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3749040"/>
            <a:ext cx="4937760" cy="320040"/>
          </a:xfrm>
          <a:prstGeom prst="rect">
            <a:avLst/>
          </a:prstGeom>
          <a:solidFill>
            <a:srgbClr val="4B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UUID-C  →  grade: C+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078224"/>
            <a:ext cx="4937760" cy="320040"/>
          </a:xfrm>
          <a:prstGeom prst="rect">
            <a:avLst/>
          </a:prstGeom>
          <a:solidFill>
            <a:srgbClr val="4B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782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UUID-D  →  grade: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407408"/>
            <a:ext cx="4937760" cy="320040"/>
          </a:xfrm>
          <a:prstGeom prst="rect">
            <a:avLst/>
          </a:prstGeom>
          <a:solidFill>
            <a:srgbClr val="4B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UUID-E  →  grade: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736592"/>
            <a:ext cx="4937760" cy="3200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  <a:latin typeface="Calibri"/>
              </a:rPr>
              <a:t>+ 295 more rows  →  grade: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1206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2626"/>
                </a:solidFill>
                <a:latin typeface="Calibri"/>
              </a:rPr>
              <a:t>Everyone's grade is exposed. A bug in the app code is all it takes to leak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474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19672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With RLS  (our policy)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719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App sends same query: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103120"/>
            <a:ext cx="4937760" cy="5029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2212848"/>
            <a:ext cx="4572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SELECT * FROM enrollments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2670048"/>
            <a:ext cx="4937760" cy="475488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268833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🔒  DB checks:  auth.uid() = user_id  for EVERY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246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Database returns only: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639312"/>
            <a:ext cx="4937760" cy="365760"/>
          </a:xfrm>
          <a:prstGeom prst="rect">
            <a:avLst/>
          </a:prstGeom>
          <a:solidFill>
            <a:srgbClr val="05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3639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UUID-A  →  grade: B+  ← ONLY your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160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A34A"/>
                </a:solidFill>
                <a:latin typeface="Calibri"/>
              </a:rPr>
              <a:t>Even if a developer forgets to filter. Even if someone sends a raw HTTP request. Even if the app has a bug.
The database blocks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RLS Knows Who You Are — auth.uid()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Your UUID travels with every request inside a signed JWT token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143000"/>
            <a:ext cx="2212848" cy="457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9264" y="1280160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28016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You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Email + password submitted to Supabase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2252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27632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1143000"/>
            <a:ext cx="2212848" cy="457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10128" y="1280160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128016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1945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92EE5"/>
                </a:solidFill>
                <a:latin typeface="Calibri"/>
              </a:rPr>
              <a:t>JWT Issued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65176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Supabase creates a signed token containing your UUID. The signature prevents forgery.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88336" y="12252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8336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1627632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143000"/>
            <a:ext cx="2212848" cy="457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50992" y="1280160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50992" y="128016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1945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Calibri"/>
              </a:rPr>
              <a:t>JWT Travels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65176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Every request your app makes includes the JWT in the HTTP headers — automatically.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12252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627632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1143000"/>
            <a:ext cx="2212848" cy="457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91856" y="1280160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91856" y="128016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945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alibri"/>
              </a:rPr>
              <a:t>DB Evaluates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265176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Postgres reads your UUID from the JWT. auth.uid() returns it for every query.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70064" y="12252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0064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8904" y="1627632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19488" y="1143000"/>
            <a:ext cx="2212848" cy="457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332720" y="1280160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20" y="128016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9216" y="21945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Calibri"/>
              </a:rPr>
              <a:t>Row 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9216" y="265176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auth.uid() = user_id is checked per row. Only your rows pass. All others invisible.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0928" y="12252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10928" y="1225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6032" y="5852160"/>
            <a:ext cx="11686032" cy="6858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5961888"/>
            <a:ext cx="113202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⚡  A forged JWT fails signature verification before it ever reaches Postgres. Only Supabase can issue valid tokens. RLS cannot be bypassed from outside.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4 RLS Policies — Each Table Has Its Own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Not all tables need the same level of privacy. Each policy is tailored to the table's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097280"/>
            <a:ext cx="2798064" cy="5257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" y="1097280"/>
            <a:ext cx="2798064" cy="47548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courses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64208"/>
            <a:ext cx="2578608" cy="7315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73936"/>
            <a:ext cx="22128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using (true)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8716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WHO can read: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79776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Any signed-in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1868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WHAT they can read: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11296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Any course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9651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WHY: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8912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The catalog is public within the app. CPRG-303 exists for everyone. Nothing private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097280"/>
            <a:ext cx="2798064" cy="5257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27832" y="1097280"/>
            <a:ext cx="2798064" cy="47548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111556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enrollments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664208"/>
            <a:ext cx="2578608" cy="7315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1773936"/>
            <a:ext cx="22128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using (auth.uid() = user_id)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48716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WHO can read: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779776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You — UUID-A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21868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WHAT they can read: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511296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Only rows where
user_id = UUID-A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09651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WHY: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8912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Grades are private. The database checks your UUID against every row's user_id. No match = invisible.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1097280"/>
            <a:ext cx="2798064" cy="5257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9632" y="1097280"/>
            <a:ext cx="2798064" cy="47548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111556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deadlines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664208"/>
            <a:ext cx="2578608" cy="7315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773936"/>
            <a:ext cx="22128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exists (select 1 from enrollments
where course_id = deadlines.course_id
and user_id = auth.uid())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48716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WHO can read: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779776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You — if enrolled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21868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WHAT they can read: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511296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Deadlines for courses
you are enrolled 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09651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WHY: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38912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user_id on deadlines. The DB runs a subquery: "Is this person enrolled in the course this deadline belongs to?"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71432" y="1097280"/>
            <a:ext cx="2798064" cy="5257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71432" y="1097280"/>
            <a:ext cx="2798064" cy="47548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1115568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announcements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1664208"/>
            <a:ext cx="2578608" cy="7315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64040" y="1773936"/>
            <a:ext cx="22128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Same subquery as deadlines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248716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WHO can read: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779776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You — if enrolled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321868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WHAT they can read: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3511296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Announcements for
your courses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096512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WHY: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38912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Same logic as deadlines. Belongs to a course. Visible only to enrolled students.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AFE"/>
                </a:solidFill>
                <a:latin typeface="Calibri"/>
              </a:rPr>
              <a:t>DAY 1  —  STARTING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Schema · RLS · Seed · lib/db.ts · Courses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Calibri"/>
              </a:rPr>
              <a:t>Open Supabase → SQL Editor. Time to build the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Supabase Query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Every method in the chain maps to a SQL clause — read it like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344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3441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3657600" cy="6400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289304"/>
            <a:ext cx="3474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.from("enrollments")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3441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23444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289304"/>
            <a:ext cx="3108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FROM enrollments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34440"/>
            <a:ext cx="3337560" cy="640080"/>
          </a:xfrm>
          <a:prstGeom prst="roundRect">
            <a:avLst>
              <a:gd name="adj" fmla="val 1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127101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Which table?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35000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2350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240280"/>
            <a:ext cx="3657600" cy="6400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295144"/>
            <a:ext cx="3474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.select("id, grade, courses(...)")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500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4028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2295144"/>
            <a:ext cx="3108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SELECT + JOIN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2240280"/>
            <a:ext cx="3337560" cy="6400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27685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Which columns?
+ JOIN via FK?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" y="33558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33558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246120"/>
            <a:ext cx="3657600" cy="6400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300984"/>
            <a:ext cx="3474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.eq("user_id", userId)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355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324612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3300984"/>
            <a:ext cx="3108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WHERE user_id =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3246120"/>
            <a:ext cx="3337560" cy="64008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0" y="328269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Filter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43616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" y="4361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251960"/>
            <a:ext cx="3657600" cy="6400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306824"/>
            <a:ext cx="3474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.order("created_at")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3616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425196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2080" y="4306824"/>
            <a:ext cx="3108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ORDER BY created_at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49640" y="4251960"/>
            <a:ext cx="3337560" cy="6400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0" y="428853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Sort result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" y="53675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6032" y="53675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257800"/>
            <a:ext cx="3657600" cy="6400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312664"/>
            <a:ext cx="3474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alibri"/>
              </a:rPr>
              <a:t>.single()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3675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74920" y="525780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12080" y="5312664"/>
            <a:ext cx="3108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Calibri"/>
              </a:rPr>
              <a:t>LIMIT 1 + throw if empty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5257800"/>
            <a:ext cx="3337560" cy="6400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0" y="5294376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Expect exactly 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Nested Select — How We JOIN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Writing  courses( id, code, title )  inside .select() tells Supabase to JOIN the courses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4747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88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enrollments  (queried)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3474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36192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536192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1536192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536192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course_id (FK)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83664"/>
            <a:ext cx="3474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1883664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enr-001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1883664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1883664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18/20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1883664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31136"/>
            <a:ext cx="34747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23113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enr-002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23113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2" y="223113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23113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3317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Supabase sees FK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770632"/>
            <a:ext cx="1170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65192" y="2697480"/>
            <a:ext cx="201168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05425" y="2737713"/>
            <a:ext cx="160934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45659" y="2777947"/>
            <a:ext cx="120700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85892" y="2818180"/>
            <a:ext cx="80467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26126" y="2858414"/>
            <a:ext cx="40233" cy="4023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auto JOINs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1188720"/>
            <a:ext cx="329184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67528" y="11887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courses  (joined)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1536192"/>
            <a:ext cx="32918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30952" y="153619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153619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153619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title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9832" y="1536192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instructor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1883664"/>
            <a:ext cx="32918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30952" y="1883664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1883664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1883664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Mobile Dev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832" y="1883664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A. Jones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2231136"/>
            <a:ext cx="32918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30952" y="223113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223113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6872" y="223113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Mobile Dev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9832" y="2231136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A. Jones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3657600"/>
            <a:ext cx="8275320" cy="384048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3657600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Result your app receives — nested object: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069080"/>
            <a:ext cx="82753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4048" y="406908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data[0]  (flat after .map())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416552"/>
            <a:ext cx="8275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enrollmentId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2669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grade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591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513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code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6435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title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43572" y="4416552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instructor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764024"/>
            <a:ext cx="8275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747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enr-001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2669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B+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591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aaaa-0002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513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CPRG-303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6435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Mobile Dev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3572" y="4764024"/>
            <a:ext cx="130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A. Jones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0" y="1188720"/>
            <a:ext cx="3246120" cy="338328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69680" y="1298448"/>
            <a:ext cx="2880360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Calibri"/>
              </a:rPr>
              <a:t>The .map() call flattens the nested result.
Before map:
  row.courses.code
After map:
  item.code
Screens never have to dig into a nested object.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single()  vs  maybeSingle() — When to Use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"I expect exactly one" vs "There might be none" — the choice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Calibri"/>
              </a:rPr>
              <a:t>How many rows do you expect?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7336" y="1682496"/>
            <a:ext cx="54864" cy="320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53328" y="2002536"/>
            <a:ext cx="45720" cy="182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9048" y="2048256"/>
            <a:ext cx="45720" cy="137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4768" y="2093976"/>
            <a:ext cx="45720" cy="914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0488" y="2139696"/>
            <a:ext cx="4572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2212848"/>
            <a:ext cx="3383280" cy="59436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212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Calibri"/>
              </a:rPr>
              <a:t>I know the row MUST exist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26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Calibri"/>
              </a:rPr>
              <a:t>← .single()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310128"/>
            <a:ext cx="4572000" cy="3017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" y="3310128"/>
            <a:ext cx="4572000" cy="47548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32841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✓  Use .single()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What it does: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Returns the single row</a:t>
            </a:r>
          </a:p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Throws if ZERO rows returned</a:t>
            </a:r>
          </a:p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Throws if MORE THAN ONE returned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Example: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424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Your enrollment in a specific course — it must exist
(you are on that course's detail screen)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Calibri"/>
              </a:rPr>
              <a:t>.maybeSingle()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310128"/>
            <a:ext cx="4572000" cy="3017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0" y="3310128"/>
            <a:ext cx="4572000" cy="47548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332841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⚠  Use .maybeSingle()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85876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What it does: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0624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Returns the row OR null</a:t>
            </a:r>
          </a:p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Returns null if ZERO rows (no error)</a:t>
            </a:r>
          </a:p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•  </a:t>
            </a:r>
            <a:r>
              <a:rPr sz="1300">
                <a:solidFill>
                  <a:srgbClr val="111827"/>
                </a:solidFill>
                <a:latin typeface="Calibri"/>
              </a:rPr>
              <a:t>Throws if MORE THAN ONE returned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39496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Example: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7424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The next upcoming deadline — might be none
(student is all caught up)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8346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...or might not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lib/db.ts — The Database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Screens call named functions. All Supabase details are hidden inside db.ts.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606040" cy="2743200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353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📱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courses/index.tsx
courses/[id].tsx
home.tsx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651760"/>
            <a:ext cx="2743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44952" y="2578608"/>
            <a:ext cx="201168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5185" y="2618841"/>
            <a:ext cx="160934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25419" y="2659075"/>
            <a:ext cx="120700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65652" y="2699308"/>
            <a:ext cx="80467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5886" y="2739542"/>
            <a:ext cx="40233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91840" y="1234440"/>
            <a:ext cx="2606040" cy="27432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1353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🔌 db.ts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993392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getEnrolledCourses()
getCourseDetail()
getDashboardData()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651760"/>
            <a:ext cx="2743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71032" y="2578608"/>
            <a:ext cx="201168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11265" y="2618841"/>
            <a:ext cx="160934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51499" y="2659075"/>
            <a:ext cx="120700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1732" y="2699308"/>
            <a:ext cx="80467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31966" y="2739542"/>
            <a:ext cx="40233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0" y="1234440"/>
            <a:ext cx="2606040" cy="27432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1353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☁️ Supabase
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993392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.from().select()
.eq().order()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651760"/>
            <a:ext cx="2743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97112" y="2578608"/>
            <a:ext cx="201168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37345" y="2618841"/>
            <a:ext cx="160934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77579" y="2659075"/>
            <a:ext cx="120700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17812" y="2699308"/>
            <a:ext cx="80467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58046" y="2739542"/>
            <a:ext cx="40233" cy="40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0" y="1234440"/>
            <a:ext cx="2606040" cy="2743200"/>
          </a:xfrm>
          <a:prstGeom prst="roundRect">
            <a:avLst>
              <a:gd name="adj" fmla="val 25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08592" y="1353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🗄️ Postgres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1993392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DE9FE"/>
                </a:solidFill>
                <a:latin typeface="Calibri"/>
              </a:rPr>
              <a:t>enrollments
courses
deadlines
announcements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60520"/>
            <a:ext cx="114757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315968"/>
            <a:ext cx="1147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The layer pattern has not changed — only the source of data: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773168"/>
            <a:ext cx="5029200" cy="402336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773168"/>
            <a:ext cx="4700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Week 10: api.getCourses()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77316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4773168"/>
            <a:ext cx="5669280" cy="402336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4773168"/>
            <a:ext cx="5340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  <a:latin typeface="Calibri"/>
              </a:rPr>
              <a:t>Week 13: db.getEnrolledCourses(user.id)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248656"/>
            <a:ext cx="5029200" cy="402336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5248656"/>
            <a:ext cx="4700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Week 10: api.getCourseById(id)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9552" y="524865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5248656"/>
            <a:ext cx="5669280" cy="402336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248656"/>
            <a:ext cx="5340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  <a:latin typeface="Calibri"/>
              </a:rPr>
              <a:t>Week 13: db.getCourseDetail(id, user.id)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724144"/>
            <a:ext cx="5029200" cy="402336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5724144"/>
            <a:ext cx="4700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Week 10: api.getDashboard()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9552" y="572414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5724144"/>
            <a:ext cx="5669280" cy="402336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0" y="5724144"/>
            <a:ext cx="5340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  <a:latin typeface="Calibri"/>
              </a:rPr>
              <a:t>Week 13: db.getDashboardData(user.id)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Optimistic Updates — No Blank Screen on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Keep showing the existing data while loading fresh data — the user never sees nothing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Pessimistic (old approach)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7373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User pulls to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6517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setCourses([])  ← BLANK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375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5661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657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Waiting for fetch...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519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44805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A34A"/>
                </a:solidFill>
                <a:latin typeface="Calibri"/>
              </a:rPr>
              <a:t>Courses reappear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468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2626"/>
                </a:solidFill>
                <a:latin typeface="Calibri"/>
              </a:rPr>
              <a:t>User sees: data → BLANK → data. Jarring. Punishes the user for refreshing.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474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19672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Optimistic (stale-while-revalidate)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7373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User pulls to refresh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231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Calibr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6517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2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Courses STAY VISIBLE  ← old data shown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3375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Calibr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5661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3657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9488"/>
                </a:solidFill>
                <a:latin typeface="Calibri"/>
              </a:rPr>
              <a:t>Pull spinner at top — fetching...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25196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Calibr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480560"/>
            <a:ext cx="4937760" cy="6858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0372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A34A"/>
                </a:solidFill>
                <a:latin typeface="Calibri"/>
              </a:rPr>
              <a:t>Data silently updates in 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68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A34A"/>
                </a:solidFill>
                <a:latin typeface="Calibri"/>
              </a:rPr>
              <a:t>User sees: data → data (updated). No blank. No jarring flash. Feels instant.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AFE"/>
                </a:solidFill>
                <a:latin typeface="Calibri"/>
              </a:rPr>
              <a:t>DAY 2  —  STARTING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Real-Time Subscriptions · Course Detail · Home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Calibri"/>
              </a:rPr>
              <a:t>Open Table Editor. You are about to change a grade and watch the app react — live.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Polling vs Real-Time — Two Ways to Stay Updated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One wastes resources constantly. The other waits silently and reacts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⏱  Polling  (the naive approach)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19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0s  — App asks: "Any changes?"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30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0s  — Server: "Here's everything" (300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420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(5 seconds of silence...)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9535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5s  — App asks: "Any changes?"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64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5s  — Server: "Here's everything" (nothing changed)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776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(5 more seconds...)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187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10s — Grade changes in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599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(up to 5 more seconds...)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010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15s — App finally sees the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5468112"/>
            <a:ext cx="4937760" cy="5943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04688"/>
            <a:ext cx="4608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⚡ Cost: 1 request every 5s even when nothing changed. 12/min. 720/hr. Wasted.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474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19672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⚡  Real-Time WebSocket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719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0s  — App connects and says "I'm watching"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130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(WebSocket stays open — like a phone call on hold)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5420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(1 minute of silence — zero network cost)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9535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(2 minutes of silence — zero network cost)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364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(3 minutes — grade changes in DB)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776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~3min 0.1s — Supabase pushes a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187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~3min 0.1s — App re-fetches and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99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Total wait: ~100ms from change to screen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010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Total wasted requests: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468112"/>
            <a:ext cx="4937760" cy="5943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5504688"/>
            <a:ext cx="4608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⚡ Cost: near zero until a change happens. ~100ms latency. No wasted requests.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HTTP vs WebSocket — The Connection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HTTP: one question, one answer, hang up. WebSocket: stay on the 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Calibri"/>
              </a:rPr>
              <a:t>HTTP  —  Short-lived, one-directional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App → "GET /courses"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212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Calibri"/>
              </a:rPr>
              <a:t>Server →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536192"/>
            <a:ext cx="54864" cy="7315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2267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481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App → "GET /courses"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1488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2212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Calibri"/>
              </a:rPr>
              <a:t>Server →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536192"/>
            <a:ext cx="54864" cy="7315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2267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closed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64208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1481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App → "GET /courses"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1488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212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Calibri"/>
              </a:rPr>
              <a:t>Server →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44200" y="1536192"/>
            <a:ext cx="54864" cy="7315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33888" y="2267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6517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The server can NEVER contact the app unless the app asks first.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27248"/>
            <a:ext cx="11640312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327355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Calibri"/>
              </a:rPr>
              <a:t>WebSocket  —  Persistent, two-directional 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58768"/>
            <a:ext cx="105156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367588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Calibri"/>
              </a:rPr>
              <a:t>App connects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675887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Calibri"/>
              </a:rPr>
              <a:t>still open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023360"/>
            <a:ext cx="457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(silence)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023360"/>
            <a:ext cx="457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(silence)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4023360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97706"/>
                </a:solidFill>
                <a:latin typeface="Calibri"/>
              </a:rPr>
              <a:t>Grade changed!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4023360"/>
            <a:ext cx="4572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0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(silence)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9194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↓  Server pushes to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590288"/>
            <a:ext cx="54864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548640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Calibri"/>
              </a:rPr>
              <a:t>The server can push a message at any time. The app reacts instantly. No asking required.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Real-Time Subscription — What Each Part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Four parts work together: connect → listen → react →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143000"/>
            <a:ext cx="2798064" cy="5349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0624" y="1280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175564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180136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alibri"/>
              </a:rPr>
              <a:t>.channel("name")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239572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Opens a named WebSocket connection to Supabase. The name is just a label — use something descriptive so you can identify it later.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143000"/>
            <a:ext cx="2798064" cy="5349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92424" y="1280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2424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280160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LISTEN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2424" y="175564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83864" y="180136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alibri"/>
              </a:rPr>
              <a:t>.on("postgres_changes", { ... 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39572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Tells Supabase what to watch for:
• Which table (enrollments)
• Which events (* = INSERT, UPDATE, DELETE)
• Which rows (filter: user_id=eq.UUID)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143000"/>
            <a:ext cx="2798064" cy="5349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64224" y="1280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280160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REACT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175564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180136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alibri"/>
              </a:rPr>
              <a:t>callback  () =&gt; { reload()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9572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This function runs the instant Supabase detects a matching change. We re-fetch the full list — simpler and more reliable than trying to merge a diff.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1143000"/>
            <a:ext cx="2798064" cy="5349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36024" y="1280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36024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280160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CLEAN 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6024" y="175564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27464" y="1801368"/>
            <a:ext cx="23042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alibri"/>
              </a:rPr>
              <a:t>return () =&gt; removeChannel()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39572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When the screen unmounts, the WebSocket is closed. Without this, the subscription keeps running in the background — wasting battery and potentially crashing the app.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Stale Closure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A subscription set up once captures an old snapshot of your functions — they never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✗  The Problem — Stale 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75564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175564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8470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(v1) defined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57860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488" y="257860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67004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useEffect [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670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Subscription set up.
Callback captures loadCourses (v1)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40156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488" y="340156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49300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930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(v2) defined — but subscription does not update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22452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422452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431596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3159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(v5) defined — subscription still has v1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04748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5488" y="504748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513892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DB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1389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  <a:latin typeface="Calibri"/>
              </a:rPr>
              <a:t>Callback fires → calls loadCourses (v1) ← STALE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1097280"/>
            <a:ext cx="5394960" cy="5303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19672" y="1097280"/>
            <a:ext cx="5394960" cy="47548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1115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✓  The Fix — useRef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175564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720840" y="175564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75704" y="184708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8470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(v1) defined
Ref updated → ref.current = v1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257860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720840" y="257860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75704" y="267004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useEffect [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A34A"/>
                </a:solidFill>
                <a:latin typeface="Calibri"/>
              </a:rPr>
              <a:t>Subscription set up.
Callback reads from ref — not from closure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340156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720840" y="340156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75704" y="349300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34930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(v2) defined
Ref updated → ref.current = v2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20840" y="422452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720840" y="422452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75704" y="431596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Render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3159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loadCourses (v5) defined
Ref updated → ref.current = v5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20840" y="504748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720840" y="504748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5138928"/>
            <a:ext cx="896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DB changes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1389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6A34A"/>
                </a:solidFill>
                <a:latin typeface="Calibri"/>
              </a:rPr>
              <a:t>Callback fires → reads ref.current → calls v5 ✓ CURRENT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429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useRef — The Mutable Container That Never Gets Stale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A ref is a box with a lid. You can update what's inside. The box itself never moves.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7498079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The Analogy: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Imagine a physical inbox on a desk. Every morning, your colleague puts the latest version of a document in it. The inbox never moves. The document inside changes daily.
A ref is that inbox. Your subscription callback looks in the inbox — always gets today's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46120"/>
            <a:ext cx="5394960" cy="3154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" y="3246120"/>
            <a:ext cx="5394960" cy="438912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useEffect (no deps) — runs EVERY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328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Job: keep the ref fresh.
Every time the component re-renders and creates a new version of loadCourses, this effect immediately updates the ref to point to the latest version.
One line: ref.current = loadCourses
That's it. One line. That's all it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8736" y="3246120"/>
            <a:ext cx="6025896" cy="3154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88736" y="3246120"/>
            <a:ext cx="6025896" cy="438912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useEffect([]) — runs ONCE on 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767328"/>
            <a:ext cx="5669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Job: set up the WebSocket subscription.
Runs once. The subscription callback does not call loadCourses directly — it calls ref.current?.().
Because the ref is always current, the callback always calls the latest version. Stale closure: solved.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143000"/>
            <a:ext cx="4114800" cy="192024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1252728"/>
            <a:ext cx="37490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Calibri"/>
              </a:rPr>
              <a:t>Key rule:
Updating a ref does NOT trigger a re-render.
Reading a ref always gives the current value.
That is why it is safe to update on every render — zero performance cost.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Full App Architecture — Week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Every layer has one job. Data flows one direction. Real-time flows the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1640312" cy="658368"/>
          </a:xfrm>
          <a:prstGeom prst="roundRect">
            <a:avLst>
              <a:gd name="adj" fmla="val 1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📱  React Native 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133856"/>
            <a:ext cx="6172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home.tsx  ·  courses/index.tsx  ·  courses/[id].tsx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65960"/>
            <a:ext cx="11640312" cy="658368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002536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🔌  Database Layer (lib/db.ts)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02536"/>
            <a:ext cx="6172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getEnrolledCourses()  ·  getCourseDetail()  ·  getDashboardData()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34640"/>
            <a:ext cx="11640312" cy="658368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871216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☁️  Supabase Client + 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71216"/>
            <a:ext cx="6172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FBF1"/>
                </a:solidFill>
                <a:latin typeface="Calibri"/>
              </a:rPr>
              <a:t>.from().select().eq()  ·  .channel().on().subscribe()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703320"/>
            <a:ext cx="11640312" cy="658368"/>
          </a:xfrm>
          <a:prstGeom prst="roundRect">
            <a:avLst>
              <a:gd name="adj" fmla="val 15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739896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🗄️  Postgres  +  RLS  + 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739896"/>
            <a:ext cx="6172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courses  ·  enrollments  ·  deadlines  ·  announcements  ·  auth.uid()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17739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264261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351129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Calibri"/>
              </a:rPr>
              <a:t>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133856"/>
            <a:ext cx="2560320" cy="237744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12252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⚡ Real-Time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1627632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Calibri"/>
              </a:rPr>
              <a:t>Postgres change
→ Supabase detects
→ WebSocket push
→ Callback fires
→ Screen re-fetches
→ UI updates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72000"/>
            <a:ext cx="11640312" cy="5029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590288"/>
            <a:ext cx="1127455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📡  Normal query path:  Screen calls db.ts → Supabase Client → Postgres → RLS filters → data returned → setState → re-render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23036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Files changed this week: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NEW: database/schema.sql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21991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95143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NEW: database/seed.sql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9663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42815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NEW: lib/db.ts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17336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MOD: courses/index.tsx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8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MOD: courses/[id].tsx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596128"/>
            <a:ext cx="1865376" cy="4572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85832" y="5614416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MOD: home.tsx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Common Mistakes — And How to Spot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Every mistake below has a clear symptom. Know the symptom, find the 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09728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" y="109728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15214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Empty courses list, no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57276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Cause: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6537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No enrollment rows for your UUID in the enrollments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2374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1635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Go to Authentication → Users, copy your UUID, run the enrollment insert from seed.sql.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109728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33672" y="109728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15214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Courses don't update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57276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Cause: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86537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schema.sql's realtime publication line did not run, or Realtime is not enabled.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52374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81635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Database → Replication in Supabase. Check enrollments is in the publication.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1" y="109728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11311" y="109728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115214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App crashes when opening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157276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Cause: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186537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.single() throws because there is no enrollment row for this course + user combination.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52374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81635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Check the enrollments table — does a row exist for your UUID and that course_id?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" y="370332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6032" y="370332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75818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"NaN%" attendance shown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17880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Cause: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7141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attendance_total is 0. Dividing by zero gives NaN, which renders as nothing.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1297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42239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Guard: attendanceTotal &gt; 0 ? Math.round(...) : 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370332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233672" y="370332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1688" y="375818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nextDeadline crashes home screen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417880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Cause: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447141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nextDeadline is null. The mock API always had a deadline. Real data might not.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51297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542239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Use ternary: data?.nextDeadline ? show deadline card : show "no upcoming deadlines"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11311" y="3703320"/>
            <a:ext cx="3803904" cy="2450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211311" y="3703320"/>
            <a:ext cx="3803904" cy="402336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7" y="3758184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Real-time callback uses stale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17880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Cause: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47141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The subscription callback calls loadCourses directly — captures a stale closure.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512978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Fix: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5422392"/>
            <a:ext cx="3547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Use the useRef pattern. Call loadCoursesRef.current?.() not loadCourses() directly.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Calibri"/>
              </a:rPr>
              <a:t>Apply what you learned — independently, without step-by-step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164592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1645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5806440" cy="2468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143000"/>
            <a:ext cx="5806440" cy="47548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21615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Part 1: Set Up Your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3444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Calibri"/>
              </a:rP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09928"/>
            <a:ext cx="54681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Run schema.sql and seed.sql in SQL Editor. Find your UUID in Authentication → Users. Run the enrollment insert. Verify: Courses tab shows 3 courses, Home shows your next deadline.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143000"/>
            <a:ext cx="5806440" cy="2468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59" y="1143000"/>
            <a:ext cx="5806440" cy="47548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3" y="121615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Part 2: Extend the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39" y="12344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39" y="123444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1709928"/>
            <a:ext cx="54681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Add a 4th course in Table Editor. Add an enrollment row for yourself. Add a deadline and announcement. Verify the new course appears in the app with zero code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794760"/>
            <a:ext cx="5806440" cy="2468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" y="3794760"/>
            <a:ext cx="5806440" cy="47548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386791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⭐  Part 3: Real-Time on Course Detail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88620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88620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Calibri"/>
              </a:rPr>
              <a:t>Bonus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361688"/>
            <a:ext cx="54681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The course detail screen needs a pull-to-refresh to see grade updates. Add a real-time subscription. Same pattern as courses/index.tsx. Filter by course_id. Watch the grade update live on the detail screen.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794760"/>
            <a:ext cx="5806440" cy="2468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09359" y="3794760"/>
            <a:ext cx="5806440" cy="475488"/>
          </a:xfrm>
          <a:prstGeom prst="roundRect">
            <a:avLst>
              <a:gd name="adj" fmla="val 25000"/>
            </a:avLst>
          </a:prstGeom>
          <a:solidFill>
            <a:srgbClr val="792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3" y="386791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⭐⭐  Part 4: Real-Time Home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39" y="388620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39" y="388620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97706"/>
                </a:solidFill>
                <a:latin typeface="Calibri"/>
              </a:rPr>
              <a:t>Double Bonus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4361688"/>
            <a:ext cx="546811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Add a real-time subscription to home.tsx. Same enrollment table, same user_id filter. Bonus question: getDashboardData also depends on deadlines. How would you handle a new deadline appearing live?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AFE"/>
                </a:solidFill>
                <a:latin typeface="Calibri"/>
              </a:rPr>
              <a:t>NEXT WEEK  —  WEEK 14 OF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Notifications +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3730752" cy="3291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🔔  Push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21024"/>
            <a:ext cx="336499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Use Expo Notifications to alert students when a deadline is approaching. Integrate with the deadlines table you built this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926080"/>
            <a:ext cx="3730752" cy="3291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3063240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📦  App Store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3621024"/>
            <a:ext cx="336499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Build a production bundle with EAS Build. Configure app.json for iOS and Android. Submit to TestFlight and Google Play Console.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2926080"/>
            <a:ext cx="3730752" cy="3291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7616" y="3063240"/>
            <a:ext cx="3364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Calibri"/>
              </a:rPr>
              <a:t>🚀 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3621024"/>
            <a:ext cx="336499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Deploy Supabase to production. Environment variables, security review, and everything needed to ship a real app to real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550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Everything built in Weeks 7–13 — routing, forms, storage, auth, database — ships as a real app to the App Store and Google Play.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4237</Words>
  <Application>Microsoft Office PowerPoint</Application>
  <PresentationFormat>Custom</PresentationFormat>
  <Paragraphs>623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Al-Haifi</cp:lastModifiedBy>
  <cp:revision>2</cp:revision>
  <dcterms:created xsi:type="dcterms:W3CDTF">2013-01-27T09:14:16Z</dcterms:created>
  <dcterms:modified xsi:type="dcterms:W3CDTF">2026-04-08T04:56:17Z</dcterms:modified>
  <cp:category/>
</cp:coreProperties>
</file>